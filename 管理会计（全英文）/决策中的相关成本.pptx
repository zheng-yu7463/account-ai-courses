
<file path=[Content_Types].xml><?xml version="1.0" encoding="utf-8"?>
<Types xmlns="http://schemas.openxmlformats.org/package/2006/content-types">
  <Default Extension="fntdata" ContentType="application/x-fontdata"/>
  <Default Extension="jpg" ContentType="image/jp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5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95" r:id="rId15"/>
    <p:sldId id="269" r:id="rId16"/>
    <p:sldId id="270" r:id="rId17"/>
    <p:sldId id="296" r:id="rId18"/>
    <p:sldId id="297" r:id="rId19"/>
    <p:sldId id="271" r:id="rId20"/>
    <p:sldId id="298" r:id="rId21"/>
    <p:sldId id="273" r:id="rId22"/>
    <p:sldId id="299" r:id="rId23"/>
    <p:sldId id="300" r:id="rId24"/>
    <p:sldId id="274" r:id="rId25"/>
    <p:sldId id="301" r:id="rId26"/>
    <p:sldId id="275" r:id="rId27"/>
    <p:sldId id="276" r:id="rId28"/>
    <p:sldId id="277" r:id="rId29"/>
    <p:sldId id="278" r:id="rId30"/>
    <p:sldId id="279" r:id="rId31"/>
    <p:sldId id="302" r:id="rId32"/>
    <p:sldId id="280" r:id="rId33"/>
    <p:sldId id="281" r:id="rId34"/>
    <p:sldId id="282" r:id="rId35"/>
    <p:sldId id="283" r:id="rId36"/>
    <p:sldId id="304" r:id="rId37"/>
    <p:sldId id="303" r:id="rId38"/>
    <p:sldId id="305" r:id="rId39"/>
    <p:sldId id="306" r:id="rId40"/>
    <p:sldId id="307" r:id="rId41"/>
    <p:sldId id="285" r:id="rId42"/>
    <p:sldId id="286" r:id="rId43"/>
    <p:sldId id="287" r:id="rId44"/>
    <p:sldId id="288" r:id="rId45"/>
    <p:sldId id="289" r:id="rId46"/>
    <p:sldId id="308" r:id="rId47"/>
    <p:sldId id="309" r:id="rId48"/>
    <p:sldId id="310" r:id="rId49"/>
    <p:sldId id="311" r:id="rId50"/>
    <p:sldId id="312" r:id="rId51"/>
    <p:sldId id="313" r:id="rId52"/>
    <p:sldId id="290" r:id="rId53"/>
    <p:sldId id="291" r:id="rId54"/>
    <p:sldId id="292" r:id="rId55"/>
    <p:sldId id="293" r:id="rId56"/>
    <p:sldId id="314" r:id="rId57"/>
    <p:sldId id="315" r:id="rId58"/>
  </p:sldIdLst>
  <p:sldSz cx="9144000" cy="5143500" type="screen16x9"/>
  <p:notesSz cx="5143500" cy="9144000"/>
  <p:embeddedFontLst>
    <p:embeddedFont>
      <p:font typeface="等线" panose="02010600030101010101" pitchFamily="2" charset="-122"/>
      <p:regular r:id="rId60"/>
      <p:bold r:id="rId61"/>
    </p:embeddedFont>
    <p:embeddedFont>
      <p:font typeface="Calibri" panose="020F0502020204030204" pitchFamily="34" charset="0"/>
      <p:regular r:id="rId62"/>
      <p:bold r:id="rId63"/>
      <p:italic r:id="rId64"/>
      <p:boldItalic r:id="rId65"/>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84E427A-3D55-4303-BF80-6455036E1DE7}" styleName="主题样式 1 - 强调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5758FB7-9AC5-4552-8A53-C91805E547FA}" styleName="主题样式 1 - 强调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08FB837D-C827-4EFA-A057-4D05807E0F7C}" styleName="主题样式 1 - 强调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D113A9D2-9D6B-4929-AA2D-F23B5EE8CBE7}" styleName="主题样式 2 - 强调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775DCB02-9BB8-47FD-8907-85C794F793BA}" styleName="主题样式 1 - 强调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C2FFA5D-87B4-456A-9821-1D502468CF0F}" styleName="主题样式 1 - 强调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38B1855-1B75-4FBE-930C-398BA8C253C6}" styleName="主题样式 2 - 强调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72833802-FEF1-4C79-8D5D-14CF1EAF98D9}" styleName="浅色样式 2 - 强调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C7853C-536D-4A76-A0AE-DD22124D55A5}" styleName="主题样式 1 - 强调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7" d="100"/>
          <a:sy n="87" d="100"/>
        </p:scale>
        <p:origin x="680" y="4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font" Target="fonts/font4.fntdata"/><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1.fntdata"/><Relationship Id="rId65"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font" Target="fonts/font5.fntdata"/><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864129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317423271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63671612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9440389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219645210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54080757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96039002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368544586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7342123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427631193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83446953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246512532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345373849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96327791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315672916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91054153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59209049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204741201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428214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73977023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280244467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37475998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0.svg"/><Relationship Id="rId3" Type="http://schemas.openxmlformats.org/officeDocument/2006/relationships/image" Target="../media/image9.png"/><Relationship Id="rId7" Type="http://schemas.openxmlformats.org/officeDocument/2006/relationships/image" Target="../media/image14.png"/><Relationship Id="rId12"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2.png"/><Relationship Id="rId11" Type="http://schemas.openxmlformats.org/officeDocument/2006/relationships/image" Target="../media/image18.svg"/><Relationship Id="rId5" Type="http://schemas.openxmlformats.org/officeDocument/2006/relationships/image" Target="../media/image11.png"/><Relationship Id="rId10" Type="http://schemas.openxmlformats.org/officeDocument/2006/relationships/image" Target="../media/image17.png"/><Relationship Id="rId4" Type="http://schemas.openxmlformats.org/officeDocument/2006/relationships/image" Target="../media/image10.png"/><Relationship Id="rId9" Type="http://schemas.openxmlformats.org/officeDocument/2006/relationships/image" Target="../media/image16.sv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8" Type="http://schemas.openxmlformats.org/officeDocument/2006/relationships/image" Target="../media/image22.svg"/><Relationship Id="rId13" Type="http://schemas.openxmlformats.org/officeDocument/2006/relationships/image" Target="../media/image27.png"/><Relationship Id="rId3" Type="http://schemas.openxmlformats.org/officeDocument/2006/relationships/image" Target="../media/image9.png"/><Relationship Id="rId7" Type="http://schemas.openxmlformats.org/officeDocument/2006/relationships/image" Target="../media/image21.png"/><Relationship Id="rId12" Type="http://schemas.openxmlformats.org/officeDocument/2006/relationships/image" Target="../media/image26.sv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2.png"/><Relationship Id="rId11" Type="http://schemas.openxmlformats.org/officeDocument/2006/relationships/image" Target="../media/image25.png"/><Relationship Id="rId5" Type="http://schemas.openxmlformats.org/officeDocument/2006/relationships/image" Target="../media/image11.png"/><Relationship Id="rId10" Type="http://schemas.openxmlformats.org/officeDocument/2006/relationships/image" Target="../media/image24.svg"/><Relationship Id="rId4" Type="http://schemas.openxmlformats.org/officeDocument/2006/relationships/image" Target="../media/image10.png"/><Relationship Id="rId9" Type="http://schemas.openxmlformats.org/officeDocument/2006/relationships/image" Target="../media/image23.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28.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29.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30.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30.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31.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8" Type="http://schemas.openxmlformats.org/officeDocument/2006/relationships/image" Target="../media/image33.svg"/><Relationship Id="rId3" Type="http://schemas.openxmlformats.org/officeDocument/2006/relationships/image" Target="../media/image9.png"/><Relationship Id="rId7" Type="http://schemas.openxmlformats.org/officeDocument/2006/relationships/image" Target="../media/image32.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34.png"/></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12.png"/><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image" Target="../media/image12.png"/><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9.png"/><Relationship Id="rId7" Type="http://schemas.openxmlformats.org/officeDocument/2006/relationships/image" Target="../media/image35.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37.svg"/></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38.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38.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39.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39.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39.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26.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40.pn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9.png"/><Relationship Id="rId7" Type="http://schemas.openxmlformats.org/officeDocument/2006/relationships/image" Target="../media/image41.pn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12.png"/><Relationship Id="rId11" Type="http://schemas.openxmlformats.org/officeDocument/2006/relationships/image" Target="../media/image45.svg"/><Relationship Id="rId5" Type="http://schemas.openxmlformats.org/officeDocument/2006/relationships/image" Target="../media/image11.png"/><Relationship Id="rId10" Type="http://schemas.openxmlformats.org/officeDocument/2006/relationships/image" Target="../media/image44.png"/><Relationship Id="rId4" Type="http://schemas.openxmlformats.org/officeDocument/2006/relationships/image" Target="../media/image10.png"/><Relationship Id="rId9" Type="http://schemas.openxmlformats.org/officeDocument/2006/relationships/image" Target="../media/image43.svg"/></Relationships>
</file>

<file path=ppt/slides/_rels/slide29.xml.rels><?xml version="1.0" encoding="UTF-8" standalone="yes"?>
<Relationships xmlns="http://schemas.openxmlformats.org/package/2006/relationships"><Relationship Id="rId8" Type="http://schemas.openxmlformats.org/officeDocument/2006/relationships/image" Target="../media/image47.svg"/><Relationship Id="rId3" Type="http://schemas.openxmlformats.org/officeDocument/2006/relationships/image" Target="../media/image9.png"/><Relationship Id="rId7" Type="http://schemas.openxmlformats.org/officeDocument/2006/relationships/image" Target="../media/image46.png"/><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48.png"/></Relationships>
</file>

<file path=ppt/slides/_rels/slide30.xml.rels><?xml version="1.0" encoding="UTF-8" standalone="yes"?>
<Relationships xmlns="http://schemas.openxmlformats.org/package/2006/relationships"><Relationship Id="rId8" Type="http://schemas.openxmlformats.org/officeDocument/2006/relationships/image" Target="../media/image50.svg"/><Relationship Id="rId3" Type="http://schemas.openxmlformats.org/officeDocument/2006/relationships/image" Target="../media/image9.png"/><Relationship Id="rId7" Type="http://schemas.openxmlformats.org/officeDocument/2006/relationships/image" Target="../media/image49.png"/><Relationship Id="rId2" Type="http://schemas.openxmlformats.org/officeDocument/2006/relationships/notesSlide" Target="../notesSlides/notesSlide30.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10" Type="http://schemas.openxmlformats.org/officeDocument/2006/relationships/image" Target="../media/image52.svg"/><Relationship Id="rId4" Type="http://schemas.openxmlformats.org/officeDocument/2006/relationships/image" Target="../media/image10.png"/><Relationship Id="rId9" Type="http://schemas.openxmlformats.org/officeDocument/2006/relationships/image" Target="../media/image51.png"/></Relationships>
</file>

<file path=ppt/slides/_rels/slide3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1.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png"/></Relationships>
</file>

<file path=ppt/slides/_rels/slide32.xml.rels><?xml version="1.0" encoding="UTF-8" standalone="yes"?>
<Relationships xmlns="http://schemas.openxmlformats.org/package/2006/relationships"><Relationship Id="rId8" Type="http://schemas.openxmlformats.org/officeDocument/2006/relationships/image" Target="../media/image54.png"/><Relationship Id="rId3" Type="http://schemas.openxmlformats.org/officeDocument/2006/relationships/image" Target="../media/image9.png"/><Relationship Id="rId7" Type="http://schemas.openxmlformats.org/officeDocument/2006/relationships/image" Target="../media/image53.png"/><Relationship Id="rId2" Type="http://schemas.openxmlformats.org/officeDocument/2006/relationships/notesSlide" Target="../notesSlides/notesSlide32.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55.svg"/></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4.xml.rels><?xml version="1.0" encoding="UTF-8" standalone="yes"?>
<Relationships xmlns="http://schemas.openxmlformats.org/package/2006/relationships"><Relationship Id="rId8" Type="http://schemas.openxmlformats.org/officeDocument/2006/relationships/image" Target="../media/image47.svg"/><Relationship Id="rId3" Type="http://schemas.openxmlformats.org/officeDocument/2006/relationships/image" Target="../media/image9.png"/><Relationship Id="rId7" Type="http://schemas.openxmlformats.org/officeDocument/2006/relationships/image" Target="../media/image46.png"/><Relationship Id="rId2" Type="http://schemas.openxmlformats.org/officeDocument/2006/relationships/notesSlide" Target="../notesSlides/notesSlide34.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48.png"/></Relationships>
</file>

<file path=ppt/slides/_rels/slide35.xml.rels><?xml version="1.0" encoding="UTF-8" standalone="yes"?>
<Relationships xmlns="http://schemas.openxmlformats.org/package/2006/relationships"><Relationship Id="rId8" Type="http://schemas.openxmlformats.org/officeDocument/2006/relationships/image" Target="../media/image54.png"/><Relationship Id="rId3" Type="http://schemas.openxmlformats.org/officeDocument/2006/relationships/image" Target="../media/image9.png"/><Relationship Id="rId7" Type="http://schemas.openxmlformats.org/officeDocument/2006/relationships/image" Target="../media/image53.png"/><Relationship Id="rId2" Type="http://schemas.openxmlformats.org/officeDocument/2006/relationships/notesSlide" Target="../notesSlides/notesSlide35.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55.svg"/></Relationships>
</file>

<file path=ppt/slides/_rels/slide36.xml.rels><?xml version="1.0" encoding="UTF-8" standalone="yes"?>
<Relationships xmlns="http://schemas.openxmlformats.org/package/2006/relationships"><Relationship Id="rId8" Type="http://schemas.openxmlformats.org/officeDocument/2006/relationships/image" Target="../media/image55.svg"/><Relationship Id="rId3" Type="http://schemas.openxmlformats.org/officeDocument/2006/relationships/image" Target="../media/image10.png"/><Relationship Id="rId7" Type="http://schemas.openxmlformats.org/officeDocument/2006/relationships/image" Target="../media/image54.png"/><Relationship Id="rId2" Type="http://schemas.openxmlformats.org/officeDocument/2006/relationships/notesSlide" Target="../notesSlides/notesSlide36.xml"/><Relationship Id="rId1" Type="http://schemas.openxmlformats.org/officeDocument/2006/relationships/slideLayout" Target="../slideLayouts/slideLayout1.xml"/><Relationship Id="rId6" Type="http://schemas.openxmlformats.org/officeDocument/2006/relationships/image" Target="../media/image53.png"/><Relationship Id="rId5" Type="http://schemas.openxmlformats.org/officeDocument/2006/relationships/image" Target="../media/image12.png"/><Relationship Id="rId4" Type="http://schemas.openxmlformats.org/officeDocument/2006/relationships/image" Target="../media/image11.png"/></Relationships>
</file>

<file path=ppt/slides/_rels/slide37.xml.rels><?xml version="1.0" encoding="UTF-8" standalone="yes"?>
<Relationships xmlns="http://schemas.openxmlformats.org/package/2006/relationships"><Relationship Id="rId8" Type="http://schemas.openxmlformats.org/officeDocument/2006/relationships/image" Target="../media/image55.svg"/><Relationship Id="rId3" Type="http://schemas.openxmlformats.org/officeDocument/2006/relationships/image" Target="../media/image10.png"/><Relationship Id="rId7" Type="http://schemas.openxmlformats.org/officeDocument/2006/relationships/image" Target="../media/image54.png"/><Relationship Id="rId2" Type="http://schemas.openxmlformats.org/officeDocument/2006/relationships/notesSlide" Target="../notesSlides/notesSlide37.xml"/><Relationship Id="rId1" Type="http://schemas.openxmlformats.org/officeDocument/2006/relationships/slideLayout" Target="../slideLayouts/slideLayout1.xml"/><Relationship Id="rId6" Type="http://schemas.openxmlformats.org/officeDocument/2006/relationships/image" Target="../media/image53.png"/><Relationship Id="rId5" Type="http://schemas.openxmlformats.org/officeDocument/2006/relationships/image" Target="../media/image12.png"/><Relationship Id="rId4" Type="http://schemas.openxmlformats.org/officeDocument/2006/relationships/image" Target="../media/image11.png"/></Relationships>
</file>

<file path=ppt/slides/_rels/slide38.xml.rels><?xml version="1.0" encoding="UTF-8" standalone="yes"?>
<Relationships xmlns="http://schemas.openxmlformats.org/package/2006/relationships"><Relationship Id="rId8" Type="http://schemas.openxmlformats.org/officeDocument/2006/relationships/image" Target="../media/image55.svg"/><Relationship Id="rId3" Type="http://schemas.openxmlformats.org/officeDocument/2006/relationships/image" Target="../media/image10.png"/><Relationship Id="rId7" Type="http://schemas.openxmlformats.org/officeDocument/2006/relationships/image" Target="../media/image54.png"/><Relationship Id="rId2" Type="http://schemas.openxmlformats.org/officeDocument/2006/relationships/notesSlide" Target="../notesSlides/notesSlide38.xml"/><Relationship Id="rId1" Type="http://schemas.openxmlformats.org/officeDocument/2006/relationships/slideLayout" Target="../slideLayouts/slideLayout1.xml"/><Relationship Id="rId6" Type="http://schemas.openxmlformats.org/officeDocument/2006/relationships/image" Target="../media/image53.png"/><Relationship Id="rId5" Type="http://schemas.openxmlformats.org/officeDocument/2006/relationships/image" Target="../media/image12.png"/><Relationship Id="rId4" Type="http://schemas.openxmlformats.org/officeDocument/2006/relationships/image" Target="../media/image11.png"/></Relationships>
</file>

<file path=ppt/slides/_rels/slide39.xml.rels><?xml version="1.0" encoding="UTF-8" standalone="yes"?>
<Relationships xmlns="http://schemas.openxmlformats.org/package/2006/relationships"><Relationship Id="rId8" Type="http://schemas.openxmlformats.org/officeDocument/2006/relationships/image" Target="../media/image55.svg"/><Relationship Id="rId3" Type="http://schemas.openxmlformats.org/officeDocument/2006/relationships/image" Target="../media/image10.png"/><Relationship Id="rId7" Type="http://schemas.openxmlformats.org/officeDocument/2006/relationships/image" Target="../media/image54.png"/><Relationship Id="rId2" Type="http://schemas.openxmlformats.org/officeDocument/2006/relationships/notesSlide" Target="../notesSlides/notesSlide39.xml"/><Relationship Id="rId1" Type="http://schemas.openxmlformats.org/officeDocument/2006/relationships/slideLayout" Target="../slideLayouts/slideLayout1.xml"/><Relationship Id="rId6" Type="http://schemas.openxmlformats.org/officeDocument/2006/relationships/image" Target="../media/image53.png"/><Relationship Id="rId5" Type="http://schemas.openxmlformats.org/officeDocument/2006/relationships/image" Target="../media/image12.png"/><Relationship Id="rId4" Type="http://schemas.openxmlformats.org/officeDocument/2006/relationships/image" Target="../media/image11.png"/></Relationships>
</file>

<file path=ppt/slides/_rels/slide40.xml.rels><?xml version="1.0" encoding="UTF-8" standalone="yes"?>
<Relationships xmlns="http://schemas.openxmlformats.org/package/2006/relationships"><Relationship Id="rId8" Type="http://schemas.openxmlformats.org/officeDocument/2006/relationships/image" Target="../media/image55.svg"/><Relationship Id="rId3" Type="http://schemas.openxmlformats.org/officeDocument/2006/relationships/image" Target="../media/image10.png"/><Relationship Id="rId7" Type="http://schemas.openxmlformats.org/officeDocument/2006/relationships/image" Target="../media/image54.png"/><Relationship Id="rId2" Type="http://schemas.openxmlformats.org/officeDocument/2006/relationships/notesSlide" Target="../notesSlides/notesSlide40.xml"/><Relationship Id="rId1" Type="http://schemas.openxmlformats.org/officeDocument/2006/relationships/slideLayout" Target="../slideLayouts/slideLayout1.xml"/><Relationship Id="rId6" Type="http://schemas.openxmlformats.org/officeDocument/2006/relationships/image" Target="../media/image53.png"/><Relationship Id="rId5" Type="http://schemas.openxmlformats.org/officeDocument/2006/relationships/image" Target="../media/image12.png"/><Relationship Id="rId4" Type="http://schemas.openxmlformats.org/officeDocument/2006/relationships/image" Target="../media/image11.png"/></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2.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9.png"/><Relationship Id="rId7" Type="http://schemas.openxmlformats.org/officeDocument/2006/relationships/image" Target="../media/image41.png"/><Relationship Id="rId2" Type="http://schemas.openxmlformats.org/officeDocument/2006/relationships/notesSlide" Target="../notesSlides/notesSlide42.xml"/><Relationship Id="rId1" Type="http://schemas.openxmlformats.org/officeDocument/2006/relationships/slideLayout" Target="../slideLayouts/slideLayout1.xml"/><Relationship Id="rId6" Type="http://schemas.openxmlformats.org/officeDocument/2006/relationships/image" Target="../media/image12.png"/><Relationship Id="rId11" Type="http://schemas.openxmlformats.org/officeDocument/2006/relationships/image" Target="../media/image45.svg"/><Relationship Id="rId5" Type="http://schemas.openxmlformats.org/officeDocument/2006/relationships/image" Target="../media/image11.png"/><Relationship Id="rId10" Type="http://schemas.openxmlformats.org/officeDocument/2006/relationships/image" Target="../media/image44.png"/><Relationship Id="rId4" Type="http://schemas.openxmlformats.org/officeDocument/2006/relationships/image" Target="../media/image10.png"/><Relationship Id="rId9" Type="http://schemas.openxmlformats.org/officeDocument/2006/relationships/image" Target="../media/image43.svg"/></Relationships>
</file>

<file path=ppt/slides/_rels/slide43.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28.png"/><Relationship Id="rId2" Type="http://schemas.openxmlformats.org/officeDocument/2006/relationships/notesSlide" Target="../notesSlides/notesSlide43.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44.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29.png"/><Relationship Id="rId2" Type="http://schemas.openxmlformats.org/officeDocument/2006/relationships/notesSlide" Target="../notesSlides/notesSlide44.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4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5.xml"/><Relationship Id="rId1" Type="http://schemas.openxmlformats.org/officeDocument/2006/relationships/slideLayout" Target="../slideLayouts/slideLayout1.xml"/><Relationship Id="rId5" Type="http://schemas.openxmlformats.org/officeDocument/2006/relationships/image" Target="../media/image56.jpg"/><Relationship Id="rId4" Type="http://schemas.openxmlformats.org/officeDocument/2006/relationships/image" Target="../media/image12.png"/></Relationships>
</file>

<file path=ppt/slides/_rels/slide4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6.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png"/></Relationships>
</file>

<file path=ppt/slides/_rels/slide4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7.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png"/></Relationships>
</file>

<file path=ppt/slides/_rels/slide4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8.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png"/></Relationships>
</file>

<file path=ppt/slides/_rels/slide4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9.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png"/></Relationships>
</file>

<file path=ppt/slides/_rels/slide5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0.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png"/></Relationships>
</file>

<file path=ppt/slides/_rels/slide5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1.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png"/></Relationships>
</file>

<file path=ppt/slides/_rels/slide5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3.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31.png"/><Relationship Id="rId2" Type="http://schemas.openxmlformats.org/officeDocument/2006/relationships/notesSlide" Target="../notesSlides/notesSlide53.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54.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0.svg"/><Relationship Id="rId3" Type="http://schemas.openxmlformats.org/officeDocument/2006/relationships/image" Target="../media/image9.png"/><Relationship Id="rId7" Type="http://schemas.openxmlformats.org/officeDocument/2006/relationships/image" Target="../media/image14.png"/><Relationship Id="rId12" Type="http://schemas.openxmlformats.org/officeDocument/2006/relationships/image" Target="../media/image19.png"/><Relationship Id="rId2" Type="http://schemas.openxmlformats.org/officeDocument/2006/relationships/notesSlide" Target="../notesSlides/notesSlide54.xml"/><Relationship Id="rId1" Type="http://schemas.openxmlformats.org/officeDocument/2006/relationships/slideLayout" Target="../slideLayouts/slideLayout1.xml"/><Relationship Id="rId6" Type="http://schemas.openxmlformats.org/officeDocument/2006/relationships/image" Target="../media/image12.png"/><Relationship Id="rId11" Type="http://schemas.openxmlformats.org/officeDocument/2006/relationships/image" Target="../media/image18.svg"/><Relationship Id="rId5" Type="http://schemas.openxmlformats.org/officeDocument/2006/relationships/image" Target="../media/image11.png"/><Relationship Id="rId10" Type="http://schemas.openxmlformats.org/officeDocument/2006/relationships/image" Target="../media/image17.png"/><Relationship Id="rId4" Type="http://schemas.openxmlformats.org/officeDocument/2006/relationships/image" Target="../media/image10.png"/><Relationship Id="rId9" Type="http://schemas.openxmlformats.org/officeDocument/2006/relationships/image" Target="../media/image16.svg"/></Relationships>
</file>

<file path=ppt/slides/_rels/slide55.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57.png"/><Relationship Id="rId2" Type="http://schemas.openxmlformats.org/officeDocument/2006/relationships/notesSlide" Target="../notesSlides/notesSlide55.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5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6.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5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7.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img.tukuppt.com/aippt_tpl_uploads/25/07/01/686397e7ae3fc.png"/>
          <p:cNvPicPr>
            <a:picLocks noChangeAspect="1"/>
          </p:cNvPicPr>
          <p:nvPr/>
        </p:nvPicPr>
        <p:blipFill>
          <a:blip r:embed="rId4"/>
          <a:srcRect/>
          <a:stretch/>
        </p:blipFill>
        <p:spPr>
          <a:xfrm>
            <a:off x="8990249" y="-45971"/>
            <a:ext cx="457200" cy="457262"/>
          </a:xfrm>
          <a:prstGeom prst="rect">
            <a:avLst/>
          </a:prstGeom>
        </p:spPr>
      </p:pic>
      <p:pic>
        <p:nvPicPr>
          <p:cNvPr id="3" name="Image 1" descr="//img.tukuppt.com/aippt_tpl_uploads/25/07/01/686397e7a6107.png"/>
          <p:cNvPicPr>
            <a:picLocks noChangeAspect="1"/>
          </p:cNvPicPr>
          <p:nvPr/>
        </p:nvPicPr>
        <p:blipFill>
          <a:blip r:embed="rId5"/>
          <a:srcRect/>
          <a:stretch/>
        </p:blipFill>
        <p:spPr>
          <a:xfrm>
            <a:off x="4055525" y="-312514"/>
            <a:ext cx="6071588" cy="5942568"/>
          </a:xfrm>
          <a:prstGeom prst="rect">
            <a:avLst/>
          </a:prstGeom>
        </p:spPr>
      </p:pic>
      <p:pic>
        <p:nvPicPr>
          <p:cNvPr id="4" name="Image 2" descr="//img.tukuppt.com/aippt_tpl_uploads/25/07/01/686397e7ae2a6.png"/>
          <p:cNvPicPr>
            <a:picLocks noChangeAspect="1"/>
          </p:cNvPicPr>
          <p:nvPr/>
        </p:nvPicPr>
        <p:blipFill>
          <a:blip r:embed="rId6"/>
          <a:srcRect/>
          <a:stretch/>
        </p:blipFill>
        <p:spPr>
          <a:xfrm>
            <a:off x="2766327" y="2430557"/>
            <a:ext cx="4952140" cy="4952140"/>
          </a:xfrm>
          <a:prstGeom prst="rect">
            <a:avLst/>
          </a:prstGeom>
        </p:spPr>
      </p:pic>
      <p:sp>
        <p:nvSpPr>
          <p:cNvPr id="5" name="Text 0"/>
          <p:cNvSpPr txBox="1"/>
          <p:nvPr/>
        </p:nvSpPr>
        <p:spPr>
          <a:xfrm>
            <a:off x="198909" y="1537212"/>
            <a:ext cx="5043488" cy="1495425"/>
          </a:xfrm>
          <a:prstGeom prst="rect">
            <a:avLst/>
          </a:prstGeom>
          <a:noFill/>
          <a:ln/>
        </p:spPr>
        <p:txBody>
          <a:bodyPr wrap="square" lIns="0" tIns="0" rIns="0" bIns="0" rtlCol="0" anchor="t">
            <a:spAutoFit/>
          </a:bodyPr>
          <a:lstStyle/>
          <a:p>
            <a:pPr marL="0" indent="0" algn="l">
              <a:lnSpc>
                <a:spcPct val="96000"/>
              </a:lnSpc>
              <a:buNone/>
            </a:pPr>
            <a:r>
              <a:rPr lang="zh-CN" altLang="en-US" sz="4913" dirty="0">
                <a:solidFill>
                  <a:srgbClr val="0067B4"/>
                </a:solidFill>
                <a:latin typeface="SourceHanSansSC-Heavy"/>
                <a:ea typeface="SourceHanSansSC-Heavy"/>
                <a:cs typeface="SourceHanSansSC-Heavy"/>
              </a:rPr>
              <a:t>决策中的相关成本</a:t>
            </a:r>
            <a:endParaRPr lang="en-US" sz="4913" dirty="0"/>
          </a:p>
        </p:txBody>
      </p:sp>
      <p:sp>
        <p:nvSpPr>
          <p:cNvPr id="9" name="Shape 4"/>
          <p:cNvSpPr/>
          <p:nvPr/>
        </p:nvSpPr>
        <p:spPr>
          <a:xfrm>
            <a:off x="198909" y="912747"/>
            <a:ext cx="1222256" cy="519459"/>
          </a:xfrm>
          <a:custGeom>
            <a:avLst/>
            <a:gdLst/>
            <a:ahLst/>
            <a:cxnLst/>
            <a:rect l="l" t="t" r="r" b="b"/>
            <a:pathLst>
              <a:path w="1222256" h="519459">
                <a:moveTo>
                  <a:pt x="0" y="0"/>
                </a:moveTo>
                <a:lnTo>
                  <a:pt x="1222256" y="0"/>
                </a:lnTo>
                <a:lnTo>
                  <a:pt x="1222256" y="519459"/>
                </a:lnTo>
                <a:lnTo>
                  <a:pt x="0" y="519459"/>
                </a:lnTo>
                <a:close/>
              </a:path>
            </a:pathLst>
          </a:custGeom>
          <a:solidFill>
            <a:srgbClr val="0067B4"/>
          </a:solidFill>
          <a:ln/>
        </p:spPr>
      </p:sp>
      <p:sp>
        <p:nvSpPr>
          <p:cNvPr id="10" name="Text 5"/>
          <p:cNvSpPr txBox="1"/>
          <p:nvPr/>
        </p:nvSpPr>
        <p:spPr>
          <a:xfrm>
            <a:off x="276637" y="967689"/>
            <a:ext cx="1066800" cy="409575"/>
          </a:xfrm>
          <a:prstGeom prst="rect">
            <a:avLst/>
          </a:prstGeom>
          <a:noFill/>
          <a:ln/>
        </p:spPr>
        <p:txBody>
          <a:bodyPr wrap="square" lIns="0" tIns="0" rIns="0" bIns="0" rtlCol="0" anchor="t">
            <a:spAutoFit/>
          </a:bodyPr>
          <a:lstStyle/>
          <a:p>
            <a:pPr marL="0" indent="0" algn="ctr">
              <a:lnSpc>
                <a:spcPct val="96000"/>
              </a:lnSpc>
              <a:buNone/>
            </a:pPr>
            <a:r>
              <a:rPr lang="en-US" sz="2700" dirty="0">
                <a:solidFill>
                  <a:srgbClr val="FFFFFF"/>
                </a:solidFill>
                <a:latin typeface="SourceHanSansSC-Heavy"/>
                <a:ea typeface="SourceHanSansSC-Heavy"/>
                <a:cs typeface="SourceHanSansSC-Heavy"/>
              </a:rPr>
              <a:t>2025</a:t>
            </a:r>
            <a:endParaRPr lang="en-US" sz="2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248573" y="230471"/>
            <a:ext cx="8633732" cy="4730183"/>
          </a:xfrm>
          <a:custGeom>
            <a:avLst/>
            <a:gdLst/>
            <a:ahLst/>
            <a:cxnLst/>
            <a:rect l="l" t="t" r="r" b="b"/>
            <a:pathLst>
              <a:path w="8633732" h="4730183">
                <a:moveTo>
                  <a:pt x="0" y="0"/>
                </a:moveTo>
                <a:lnTo>
                  <a:pt x="8633732" y="0"/>
                </a:lnTo>
                <a:lnTo>
                  <a:pt x="8633732" y="4730183"/>
                </a:lnTo>
                <a:lnTo>
                  <a:pt x="0" y="4730183"/>
                </a:lnTo>
                <a:close/>
              </a:path>
            </a:pathLst>
          </a:custGeom>
          <a:solidFill>
            <a:srgbClr val="FFFFFF"/>
          </a:solidFill>
          <a:ln/>
          <a:effectLst>
            <a:outerShdw blurRad="38100" dist="26941" dir="2700000" algn="bl" rotWithShape="0">
              <a:srgbClr val="B4B4B4">
                <a:alpha val="100000"/>
              </a:srgbClr>
            </a:outerShdw>
          </a:effectLst>
        </p:spPr>
      </p:sp>
      <p:pic>
        <p:nvPicPr>
          <p:cNvPr id="3"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28053" y="123606"/>
            <a:ext cx="3009608" cy="4977784"/>
          </a:xfrm>
          <a:prstGeom prst="rect">
            <a:avLst/>
          </a:prstGeom>
        </p:spPr>
      </p:pic>
      <p:pic>
        <p:nvPicPr>
          <p:cNvPr id="4"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493634" y="393854"/>
            <a:ext cx="4951542" cy="323211"/>
          </a:xfrm>
          <a:prstGeom prst="rect">
            <a:avLst/>
          </a:prstGeom>
        </p:spPr>
      </p:pic>
      <p:sp>
        <p:nvSpPr>
          <p:cNvPr id="5" name="Shape 1"/>
          <p:cNvSpPr/>
          <p:nvPr/>
        </p:nvSpPr>
        <p:spPr>
          <a:xfrm>
            <a:off x="3922551" y="393854"/>
            <a:ext cx="367393" cy="387075"/>
          </a:xfrm>
          <a:custGeom>
            <a:avLst/>
            <a:gdLst/>
            <a:ahLst/>
            <a:cxnLst/>
            <a:rect l="l" t="t" r="r" b="b"/>
            <a:pathLst>
              <a:path w="367393" h="387075">
                <a:moveTo>
                  <a:pt x="0" y="0"/>
                </a:moveTo>
                <a:lnTo>
                  <a:pt x="367393" y="0"/>
                </a:lnTo>
                <a:lnTo>
                  <a:pt x="367393" y="387075"/>
                </a:lnTo>
                <a:lnTo>
                  <a:pt x="0" y="387075"/>
                </a:lnTo>
                <a:close/>
              </a:path>
            </a:pathLst>
          </a:custGeom>
          <a:solidFill>
            <a:srgbClr val="147BC8"/>
          </a:solidFill>
          <a:ln/>
        </p:spPr>
      </p:sp>
      <p:sp>
        <p:nvSpPr>
          <p:cNvPr id="6" name="Text 2"/>
          <p:cNvSpPr txBox="1"/>
          <p:nvPr/>
        </p:nvSpPr>
        <p:spPr>
          <a:xfrm>
            <a:off x="3863359" y="436716"/>
            <a:ext cx="495300" cy="276225"/>
          </a:xfrm>
          <a:prstGeom prst="rect">
            <a:avLst/>
          </a:prstGeom>
          <a:noFill/>
          <a:ln/>
        </p:spPr>
        <p:txBody>
          <a:bodyPr wrap="square" lIns="0" tIns="0" rIns="0" bIns="0" rtlCol="0" anchor="t">
            <a:spAutoFit/>
          </a:bodyPr>
          <a:lstStyle/>
          <a:p>
            <a:pPr marL="0" indent="0" algn="ctr">
              <a:lnSpc>
                <a:spcPct val="96000"/>
              </a:lnSpc>
              <a:buNone/>
            </a:pPr>
            <a:r>
              <a:rPr lang="en-US" sz="1800" b="1" kern="0" spc="75" dirty="0">
                <a:solidFill>
                  <a:srgbClr val="FFFFFF"/>
                </a:solidFill>
                <a:latin typeface="SourceHanSansSC-Regular"/>
                <a:ea typeface="SourceHanSansSC-Regular"/>
                <a:cs typeface="SourceHanSansSC-Regular"/>
              </a:rPr>
              <a:t>01</a:t>
            </a:r>
            <a:endParaRPr lang="en-US" sz="1800" dirty="0"/>
          </a:p>
        </p:txBody>
      </p:sp>
      <p:sp>
        <p:nvSpPr>
          <p:cNvPr id="7" name="Text 3"/>
          <p:cNvSpPr txBox="1"/>
          <p:nvPr/>
        </p:nvSpPr>
        <p:spPr>
          <a:xfrm>
            <a:off x="4306272" y="408141"/>
            <a:ext cx="3743325" cy="276225"/>
          </a:xfrm>
          <a:prstGeom prst="rect">
            <a:avLst/>
          </a:prstGeom>
          <a:noFill/>
          <a:ln/>
        </p:spPr>
        <p:txBody>
          <a:bodyPr wrap="square" lIns="0" tIns="0" rIns="0" bIns="0" rtlCol="0" anchor="t">
            <a:spAutoFit/>
          </a:bodyPr>
          <a:lstStyle/>
          <a:p>
            <a:pPr marL="0" indent="0" algn="ctr">
              <a:lnSpc>
                <a:spcPct val="96000"/>
              </a:lnSpc>
              <a:buNone/>
            </a:pPr>
            <a:r>
              <a:rPr lang="zh-CN" altLang="en-US" sz="1575" b="1" kern="0" spc="75" dirty="0">
                <a:solidFill>
                  <a:srgbClr val="FFFFFF"/>
                </a:solidFill>
                <a:latin typeface="SourceHanSansSC-Regular"/>
                <a:ea typeface="SourceHanSansSC-Regular"/>
                <a:cs typeface="SourceHanSansSC-Regular"/>
              </a:rPr>
              <a:t>学习目标概述</a:t>
            </a:r>
            <a:endParaRPr lang="en-US" sz="1800" dirty="0"/>
          </a:p>
        </p:txBody>
      </p:sp>
      <p:pic>
        <p:nvPicPr>
          <p:cNvPr id="8" name="Image 2"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493634" y="895326"/>
            <a:ext cx="4951542" cy="323211"/>
          </a:xfrm>
          <a:prstGeom prst="rect">
            <a:avLst/>
          </a:prstGeom>
        </p:spPr>
      </p:pic>
      <p:sp>
        <p:nvSpPr>
          <p:cNvPr id="9" name="Shape 4"/>
          <p:cNvSpPr/>
          <p:nvPr/>
        </p:nvSpPr>
        <p:spPr>
          <a:xfrm>
            <a:off x="3922551" y="895326"/>
            <a:ext cx="367393" cy="387075"/>
          </a:xfrm>
          <a:custGeom>
            <a:avLst/>
            <a:gdLst/>
            <a:ahLst/>
            <a:cxnLst/>
            <a:rect l="l" t="t" r="r" b="b"/>
            <a:pathLst>
              <a:path w="367393" h="387075">
                <a:moveTo>
                  <a:pt x="0" y="0"/>
                </a:moveTo>
                <a:lnTo>
                  <a:pt x="367393" y="0"/>
                </a:lnTo>
                <a:lnTo>
                  <a:pt x="367393" y="387075"/>
                </a:lnTo>
                <a:lnTo>
                  <a:pt x="0" y="387075"/>
                </a:lnTo>
                <a:close/>
              </a:path>
            </a:pathLst>
          </a:custGeom>
          <a:solidFill>
            <a:srgbClr val="147BC8"/>
          </a:solidFill>
          <a:ln/>
        </p:spPr>
      </p:sp>
      <p:sp>
        <p:nvSpPr>
          <p:cNvPr id="10" name="Text 5"/>
          <p:cNvSpPr txBox="1"/>
          <p:nvPr/>
        </p:nvSpPr>
        <p:spPr>
          <a:xfrm>
            <a:off x="3863359" y="938188"/>
            <a:ext cx="495300" cy="276225"/>
          </a:xfrm>
          <a:prstGeom prst="rect">
            <a:avLst/>
          </a:prstGeom>
          <a:noFill/>
          <a:ln/>
        </p:spPr>
        <p:txBody>
          <a:bodyPr wrap="square" lIns="0" tIns="0" rIns="0" bIns="0" rtlCol="0" anchor="t">
            <a:spAutoFit/>
          </a:bodyPr>
          <a:lstStyle/>
          <a:p>
            <a:pPr marL="0" indent="0" algn="ctr">
              <a:lnSpc>
                <a:spcPct val="96000"/>
              </a:lnSpc>
              <a:buNone/>
            </a:pPr>
            <a:r>
              <a:rPr lang="en-US" sz="1800" b="1" kern="0" spc="75" dirty="0">
                <a:solidFill>
                  <a:srgbClr val="FFFFFF"/>
                </a:solidFill>
                <a:latin typeface="SourceHanSansSC-Regular"/>
                <a:ea typeface="SourceHanSansSC-Regular"/>
                <a:cs typeface="SourceHanSansSC-Regular"/>
              </a:rPr>
              <a:t>02</a:t>
            </a:r>
            <a:endParaRPr lang="en-US" sz="1800" dirty="0"/>
          </a:p>
        </p:txBody>
      </p:sp>
      <p:sp>
        <p:nvSpPr>
          <p:cNvPr id="11" name="Text 6"/>
          <p:cNvSpPr txBox="1"/>
          <p:nvPr/>
        </p:nvSpPr>
        <p:spPr>
          <a:xfrm>
            <a:off x="4306272" y="909613"/>
            <a:ext cx="3743325" cy="276225"/>
          </a:xfrm>
          <a:prstGeom prst="rect">
            <a:avLst/>
          </a:prstGeom>
          <a:noFill/>
          <a:ln/>
        </p:spPr>
        <p:txBody>
          <a:bodyPr wrap="square" lIns="0" tIns="0" rIns="0" bIns="0" rtlCol="0" anchor="t">
            <a:spAutoFit/>
          </a:bodyPr>
          <a:lstStyle/>
          <a:p>
            <a:pPr marL="0" indent="0" algn="ctr">
              <a:lnSpc>
                <a:spcPct val="96000"/>
              </a:lnSpc>
              <a:buNone/>
            </a:pPr>
            <a:r>
              <a:rPr lang="zh-CN" altLang="en-US" sz="1575" b="1" kern="0" spc="75" dirty="0">
                <a:solidFill>
                  <a:srgbClr val="FFFFFF"/>
                </a:solidFill>
                <a:latin typeface="SourceHanSansSC-Regular"/>
                <a:ea typeface="SourceHanSansSC-Regular"/>
                <a:cs typeface="SourceHanSansSC-Regular"/>
              </a:rPr>
              <a:t>决策中的成本概念</a:t>
            </a:r>
            <a:endParaRPr lang="en-US" sz="1800" dirty="0"/>
          </a:p>
        </p:txBody>
      </p:sp>
      <p:pic>
        <p:nvPicPr>
          <p:cNvPr id="12" name="Image 3"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493634" y="1401025"/>
            <a:ext cx="4951542" cy="323211"/>
          </a:xfrm>
          <a:prstGeom prst="rect">
            <a:avLst/>
          </a:prstGeom>
        </p:spPr>
      </p:pic>
      <p:sp>
        <p:nvSpPr>
          <p:cNvPr id="13" name="Shape 7"/>
          <p:cNvSpPr/>
          <p:nvPr/>
        </p:nvSpPr>
        <p:spPr>
          <a:xfrm>
            <a:off x="3922551" y="1401025"/>
            <a:ext cx="367393" cy="387075"/>
          </a:xfrm>
          <a:custGeom>
            <a:avLst/>
            <a:gdLst/>
            <a:ahLst/>
            <a:cxnLst/>
            <a:rect l="l" t="t" r="r" b="b"/>
            <a:pathLst>
              <a:path w="367393" h="387075">
                <a:moveTo>
                  <a:pt x="0" y="0"/>
                </a:moveTo>
                <a:lnTo>
                  <a:pt x="367393" y="0"/>
                </a:lnTo>
                <a:lnTo>
                  <a:pt x="367393" y="387075"/>
                </a:lnTo>
                <a:lnTo>
                  <a:pt x="0" y="387075"/>
                </a:lnTo>
                <a:close/>
              </a:path>
            </a:pathLst>
          </a:custGeom>
          <a:solidFill>
            <a:srgbClr val="147BC8"/>
          </a:solidFill>
          <a:ln/>
        </p:spPr>
      </p:sp>
      <p:sp>
        <p:nvSpPr>
          <p:cNvPr id="14" name="Text 8"/>
          <p:cNvSpPr txBox="1"/>
          <p:nvPr/>
        </p:nvSpPr>
        <p:spPr>
          <a:xfrm>
            <a:off x="3863359" y="1443888"/>
            <a:ext cx="495300" cy="276225"/>
          </a:xfrm>
          <a:prstGeom prst="rect">
            <a:avLst/>
          </a:prstGeom>
          <a:noFill/>
          <a:ln/>
        </p:spPr>
        <p:txBody>
          <a:bodyPr wrap="square" lIns="0" tIns="0" rIns="0" bIns="0" rtlCol="0" anchor="t">
            <a:spAutoFit/>
          </a:bodyPr>
          <a:lstStyle/>
          <a:p>
            <a:pPr marL="0" indent="0" algn="ctr">
              <a:lnSpc>
                <a:spcPct val="96000"/>
              </a:lnSpc>
              <a:buNone/>
            </a:pPr>
            <a:r>
              <a:rPr lang="en-US" sz="1800" b="1" kern="0" spc="75" dirty="0">
                <a:solidFill>
                  <a:srgbClr val="FFFFFF"/>
                </a:solidFill>
                <a:latin typeface="SourceHanSansSC-Regular"/>
                <a:ea typeface="SourceHanSansSC-Regular"/>
                <a:cs typeface="SourceHanSansSC-Regular"/>
              </a:rPr>
              <a:t>03</a:t>
            </a:r>
            <a:endParaRPr lang="en-US" sz="1800" dirty="0"/>
          </a:p>
        </p:txBody>
      </p:sp>
      <p:sp>
        <p:nvSpPr>
          <p:cNvPr id="15" name="Text 9"/>
          <p:cNvSpPr txBox="1"/>
          <p:nvPr/>
        </p:nvSpPr>
        <p:spPr>
          <a:xfrm>
            <a:off x="4306272" y="1415313"/>
            <a:ext cx="3743325" cy="276225"/>
          </a:xfrm>
          <a:prstGeom prst="rect">
            <a:avLst/>
          </a:prstGeom>
          <a:noFill/>
          <a:ln/>
        </p:spPr>
        <p:txBody>
          <a:bodyPr wrap="square" lIns="0" tIns="0" rIns="0" bIns="0" rtlCol="0" anchor="t">
            <a:spAutoFit/>
          </a:bodyPr>
          <a:lstStyle/>
          <a:p>
            <a:pPr marL="0" indent="0" algn="ctr">
              <a:lnSpc>
                <a:spcPct val="96000"/>
              </a:lnSpc>
              <a:buNone/>
            </a:pPr>
            <a:r>
              <a:rPr lang="zh-CN" altLang="en-US" sz="1575" b="1" kern="0" spc="75" dirty="0">
                <a:solidFill>
                  <a:srgbClr val="FFFFFF"/>
                </a:solidFill>
                <a:latin typeface="SourceHanSansSC-Regular"/>
                <a:ea typeface="SourceHanSansSC-Regular"/>
                <a:cs typeface="SourceHanSansSC-Regular"/>
              </a:rPr>
              <a:t>相关成本分析过程</a:t>
            </a:r>
            <a:endParaRPr lang="en-US" sz="1800" dirty="0"/>
          </a:p>
        </p:txBody>
      </p:sp>
      <p:pic>
        <p:nvPicPr>
          <p:cNvPr id="16" name="Image 4"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493634" y="1902497"/>
            <a:ext cx="4951542" cy="323211"/>
          </a:xfrm>
          <a:prstGeom prst="rect">
            <a:avLst/>
          </a:prstGeom>
        </p:spPr>
      </p:pic>
      <p:sp>
        <p:nvSpPr>
          <p:cNvPr id="17" name="Shape 10"/>
          <p:cNvSpPr/>
          <p:nvPr/>
        </p:nvSpPr>
        <p:spPr>
          <a:xfrm>
            <a:off x="3922551" y="1902497"/>
            <a:ext cx="367393" cy="387075"/>
          </a:xfrm>
          <a:custGeom>
            <a:avLst/>
            <a:gdLst/>
            <a:ahLst/>
            <a:cxnLst/>
            <a:rect l="l" t="t" r="r" b="b"/>
            <a:pathLst>
              <a:path w="367393" h="387075">
                <a:moveTo>
                  <a:pt x="0" y="0"/>
                </a:moveTo>
                <a:lnTo>
                  <a:pt x="367393" y="0"/>
                </a:lnTo>
                <a:lnTo>
                  <a:pt x="367393" y="387075"/>
                </a:lnTo>
                <a:lnTo>
                  <a:pt x="0" y="387075"/>
                </a:lnTo>
                <a:close/>
              </a:path>
            </a:pathLst>
          </a:custGeom>
          <a:solidFill>
            <a:srgbClr val="147BC8"/>
          </a:solidFill>
          <a:ln/>
        </p:spPr>
      </p:sp>
      <p:sp>
        <p:nvSpPr>
          <p:cNvPr id="18" name="Text 11"/>
          <p:cNvSpPr txBox="1"/>
          <p:nvPr/>
        </p:nvSpPr>
        <p:spPr>
          <a:xfrm>
            <a:off x="3863359" y="1945360"/>
            <a:ext cx="495300" cy="276225"/>
          </a:xfrm>
          <a:prstGeom prst="rect">
            <a:avLst/>
          </a:prstGeom>
          <a:noFill/>
          <a:ln/>
        </p:spPr>
        <p:txBody>
          <a:bodyPr wrap="square" lIns="0" tIns="0" rIns="0" bIns="0" rtlCol="0" anchor="t">
            <a:spAutoFit/>
          </a:bodyPr>
          <a:lstStyle/>
          <a:p>
            <a:pPr marL="0" indent="0" algn="ctr">
              <a:lnSpc>
                <a:spcPct val="96000"/>
              </a:lnSpc>
              <a:buNone/>
            </a:pPr>
            <a:r>
              <a:rPr lang="en-US" sz="1800" b="1" kern="0" spc="75" dirty="0">
                <a:solidFill>
                  <a:srgbClr val="FFFFFF"/>
                </a:solidFill>
                <a:latin typeface="SourceHanSansSC-Regular"/>
                <a:ea typeface="SourceHanSansSC-Regular"/>
                <a:cs typeface="SourceHanSansSC-Regular"/>
              </a:rPr>
              <a:t>04</a:t>
            </a:r>
            <a:endParaRPr lang="en-US" sz="1800" dirty="0"/>
          </a:p>
        </p:txBody>
      </p:sp>
      <p:sp>
        <p:nvSpPr>
          <p:cNvPr id="19" name="Text 12"/>
          <p:cNvSpPr txBox="1"/>
          <p:nvPr/>
        </p:nvSpPr>
        <p:spPr>
          <a:xfrm>
            <a:off x="4306272" y="1916785"/>
            <a:ext cx="3743325" cy="276225"/>
          </a:xfrm>
          <a:prstGeom prst="rect">
            <a:avLst/>
          </a:prstGeom>
          <a:noFill/>
          <a:ln/>
        </p:spPr>
        <p:txBody>
          <a:bodyPr wrap="square" lIns="0" tIns="0" rIns="0" bIns="0" rtlCol="0" anchor="t">
            <a:spAutoFit/>
          </a:bodyPr>
          <a:lstStyle/>
          <a:p>
            <a:pPr marL="0" indent="0" algn="ctr">
              <a:lnSpc>
                <a:spcPct val="96000"/>
              </a:lnSpc>
              <a:buNone/>
            </a:pPr>
            <a:r>
              <a:rPr lang="zh-CN" altLang="en-US" sz="1575" b="1" kern="0" spc="75" dirty="0">
                <a:solidFill>
                  <a:srgbClr val="FFFFFF"/>
                </a:solidFill>
                <a:latin typeface="SourceHanSansSC-Regular"/>
                <a:ea typeface="SourceHanSansSC-Regular"/>
                <a:cs typeface="SourceHanSansSC-Regular"/>
              </a:rPr>
              <a:t>案例分析：辛西娅的出行决策</a:t>
            </a:r>
            <a:endParaRPr lang="en-US" sz="1800" dirty="0"/>
          </a:p>
        </p:txBody>
      </p:sp>
      <p:pic>
        <p:nvPicPr>
          <p:cNvPr id="20" name="Image 5"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493634" y="2416118"/>
            <a:ext cx="4951542" cy="323211"/>
          </a:xfrm>
          <a:prstGeom prst="rect">
            <a:avLst/>
          </a:prstGeom>
        </p:spPr>
      </p:pic>
      <p:sp>
        <p:nvSpPr>
          <p:cNvPr id="21" name="Shape 13"/>
          <p:cNvSpPr/>
          <p:nvPr/>
        </p:nvSpPr>
        <p:spPr>
          <a:xfrm>
            <a:off x="3922551" y="2416118"/>
            <a:ext cx="367393" cy="387075"/>
          </a:xfrm>
          <a:custGeom>
            <a:avLst/>
            <a:gdLst/>
            <a:ahLst/>
            <a:cxnLst/>
            <a:rect l="l" t="t" r="r" b="b"/>
            <a:pathLst>
              <a:path w="367393" h="387075">
                <a:moveTo>
                  <a:pt x="0" y="0"/>
                </a:moveTo>
                <a:lnTo>
                  <a:pt x="367393" y="0"/>
                </a:lnTo>
                <a:lnTo>
                  <a:pt x="367393" y="387075"/>
                </a:lnTo>
                <a:lnTo>
                  <a:pt x="0" y="387075"/>
                </a:lnTo>
                <a:close/>
              </a:path>
            </a:pathLst>
          </a:custGeom>
          <a:solidFill>
            <a:srgbClr val="147BC8"/>
          </a:solidFill>
          <a:ln/>
        </p:spPr>
      </p:sp>
      <p:sp>
        <p:nvSpPr>
          <p:cNvPr id="22" name="Text 14"/>
          <p:cNvSpPr txBox="1"/>
          <p:nvPr/>
        </p:nvSpPr>
        <p:spPr>
          <a:xfrm>
            <a:off x="3863359" y="2458981"/>
            <a:ext cx="495300" cy="276225"/>
          </a:xfrm>
          <a:prstGeom prst="rect">
            <a:avLst/>
          </a:prstGeom>
          <a:noFill/>
          <a:ln/>
        </p:spPr>
        <p:txBody>
          <a:bodyPr wrap="square" lIns="0" tIns="0" rIns="0" bIns="0" rtlCol="0" anchor="t">
            <a:spAutoFit/>
          </a:bodyPr>
          <a:lstStyle/>
          <a:p>
            <a:pPr marL="0" indent="0" algn="ctr">
              <a:lnSpc>
                <a:spcPct val="96000"/>
              </a:lnSpc>
              <a:buNone/>
            </a:pPr>
            <a:r>
              <a:rPr lang="en-US" sz="1800" b="1" kern="0" spc="75" dirty="0">
                <a:solidFill>
                  <a:srgbClr val="FFFFFF"/>
                </a:solidFill>
                <a:latin typeface="SourceHanSansSC-Regular"/>
                <a:ea typeface="SourceHanSansSC-Regular"/>
                <a:cs typeface="SourceHanSansSC-Regular"/>
              </a:rPr>
              <a:t>05</a:t>
            </a:r>
            <a:endParaRPr lang="en-US" sz="1800" dirty="0"/>
          </a:p>
        </p:txBody>
      </p:sp>
      <p:sp>
        <p:nvSpPr>
          <p:cNvPr id="23" name="Text 15"/>
          <p:cNvSpPr txBox="1"/>
          <p:nvPr/>
        </p:nvSpPr>
        <p:spPr>
          <a:xfrm>
            <a:off x="4306272" y="2430406"/>
            <a:ext cx="3743325" cy="276225"/>
          </a:xfrm>
          <a:prstGeom prst="rect">
            <a:avLst/>
          </a:prstGeom>
          <a:noFill/>
          <a:ln/>
        </p:spPr>
        <p:txBody>
          <a:bodyPr wrap="square" lIns="0" tIns="0" rIns="0" bIns="0" rtlCol="0" anchor="t">
            <a:spAutoFit/>
          </a:bodyPr>
          <a:lstStyle/>
          <a:p>
            <a:pPr marL="0" indent="0" algn="ctr">
              <a:lnSpc>
                <a:spcPct val="96000"/>
              </a:lnSpc>
              <a:buNone/>
            </a:pPr>
            <a:r>
              <a:rPr lang="zh-CN" altLang="en-US" sz="1575" b="1" kern="0" spc="75" dirty="0">
                <a:solidFill>
                  <a:srgbClr val="FFFFFF"/>
                </a:solidFill>
                <a:latin typeface="SourceHanSansSC-Regular"/>
                <a:ea typeface="SourceHanSansSC-Regular"/>
                <a:cs typeface="SourceHanSansSC-Regular"/>
              </a:rPr>
              <a:t>增加/停产分部决策</a:t>
            </a:r>
            <a:endParaRPr lang="en-US" sz="1800" dirty="0"/>
          </a:p>
        </p:txBody>
      </p:sp>
      <p:pic>
        <p:nvPicPr>
          <p:cNvPr id="24" name="Image 6"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493634" y="2917590"/>
            <a:ext cx="4951542" cy="323211"/>
          </a:xfrm>
          <a:prstGeom prst="rect">
            <a:avLst/>
          </a:prstGeom>
        </p:spPr>
      </p:pic>
      <p:sp>
        <p:nvSpPr>
          <p:cNvPr id="25" name="Shape 16"/>
          <p:cNvSpPr/>
          <p:nvPr/>
        </p:nvSpPr>
        <p:spPr>
          <a:xfrm>
            <a:off x="3922551" y="2917590"/>
            <a:ext cx="367393" cy="387075"/>
          </a:xfrm>
          <a:custGeom>
            <a:avLst/>
            <a:gdLst/>
            <a:ahLst/>
            <a:cxnLst/>
            <a:rect l="l" t="t" r="r" b="b"/>
            <a:pathLst>
              <a:path w="367393" h="387075">
                <a:moveTo>
                  <a:pt x="0" y="0"/>
                </a:moveTo>
                <a:lnTo>
                  <a:pt x="367393" y="0"/>
                </a:lnTo>
                <a:lnTo>
                  <a:pt x="367393" y="387075"/>
                </a:lnTo>
                <a:lnTo>
                  <a:pt x="0" y="387075"/>
                </a:lnTo>
                <a:close/>
              </a:path>
            </a:pathLst>
          </a:custGeom>
          <a:solidFill>
            <a:srgbClr val="147BC8"/>
          </a:solidFill>
          <a:ln/>
        </p:spPr>
      </p:sp>
      <p:sp>
        <p:nvSpPr>
          <p:cNvPr id="26" name="Text 17"/>
          <p:cNvSpPr txBox="1"/>
          <p:nvPr/>
        </p:nvSpPr>
        <p:spPr>
          <a:xfrm>
            <a:off x="3863359" y="2960453"/>
            <a:ext cx="495300" cy="276225"/>
          </a:xfrm>
          <a:prstGeom prst="rect">
            <a:avLst/>
          </a:prstGeom>
          <a:noFill/>
          <a:ln/>
        </p:spPr>
        <p:txBody>
          <a:bodyPr wrap="square" lIns="0" tIns="0" rIns="0" bIns="0" rtlCol="0" anchor="t">
            <a:spAutoFit/>
          </a:bodyPr>
          <a:lstStyle/>
          <a:p>
            <a:pPr marL="0" indent="0" algn="ctr">
              <a:lnSpc>
                <a:spcPct val="96000"/>
              </a:lnSpc>
              <a:buNone/>
            </a:pPr>
            <a:r>
              <a:rPr lang="en-US" sz="1800" b="1" kern="0" spc="75" dirty="0">
                <a:solidFill>
                  <a:srgbClr val="FFFFFF"/>
                </a:solidFill>
                <a:latin typeface="SourceHanSansSC-Regular"/>
                <a:ea typeface="SourceHanSansSC-Regular"/>
                <a:cs typeface="SourceHanSansSC-Regular"/>
              </a:rPr>
              <a:t>06</a:t>
            </a:r>
            <a:endParaRPr lang="en-US" sz="1800" dirty="0"/>
          </a:p>
        </p:txBody>
      </p:sp>
      <p:sp>
        <p:nvSpPr>
          <p:cNvPr id="27" name="Text 18"/>
          <p:cNvSpPr txBox="1"/>
          <p:nvPr/>
        </p:nvSpPr>
        <p:spPr>
          <a:xfrm>
            <a:off x="4306272" y="2931878"/>
            <a:ext cx="3743325" cy="276225"/>
          </a:xfrm>
          <a:prstGeom prst="rect">
            <a:avLst/>
          </a:prstGeom>
          <a:noFill/>
          <a:ln/>
        </p:spPr>
        <p:txBody>
          <a:bodyPr wrap="square" lIns="0" tIns="0" rIns="0" bIns="0" rtlCol="0" anchor="t">
            <a:spAutoFit/>
          </a:bodyPr>
          <a:lstStyle/>
          <a:p>
            <a:pPr marL="0" indent="0" algn="ctr">
              <a:lnSpc>
                <a:spcPct val="96000"/>
              </a:lnSpc>
              <a:buNone/>
            </a:pPr>
            <a:r>
              <a:rPr lang="zh-CN" altLang="en-US" sz="1575" b="1" kern="0" spc="75" dirty="0">
                <a:solidFill>
                  <a:srgbClr val="FFFFFF"/>
                </a:solidFill>
                <a:latin typeface="SourceHanSansSC-Regular"/>
                <a:ea typeface="SourceHanSansSC-Regular"/>
                <a:cs typeface="SourceHanSansSC-Regular"/>
              </a:rPr>
              <a:t>自制或外购决策</a:t>
            </a:r>
            <a:endParaRPr lang="en-US" sz="1800" dirty="0"/>
          </a:p>
        </p:txBody>
      </p:sp>
      <p:pic>
        <p:nvPicPr>
          <p:cNvPr id="28" name="Image 7"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493634" y="3423290"/>
            <a:ext cx="4951542" cy="323211"/>
          </a:xfrm>
          <a:prstGeom prst="rect">
            <a:avLst/>
          </a:prstGeom>
        </p:spPr>
      </p:pic>
      <p:sp>
        <p:nvSpPr>
          <p:cNvPr id="29" name="Shape 19"/>
          <p:cNvSpPr/>
          <p:nvPr/>
        </p:nvSpPr>
        <p:spPr>
          <a:xfrm>
            <a:off x="3922551" y="3423290"/>
            <a:ext cx="367393" cy="387075"/>
          </a:xfrm>
          <a:custGeom>
            <a:avLst/>
            <a:gdLst/>
            <a:ahLst/>
            <a:cxnLst/>
            <a:rect l="l" t="t" r="r" b="b"/>
            <a:pathLst>
              <a:path w="367393" h="387075">
                <a:moveTo>
                  <a:pt x="0" y="0"/>
                </a:moveTo>
                <a:lnTo>
                  <a:pt x="367393" y="0"/>
                </a:lnTo>
                <a:lnTo>
                  <a:pt x="367393" y="387075"/>
                </a:lnTo>
                <a:lnTo>
                  <a:pt x="0" y="387075"/>
                </a:lnTo>
                <a:close/>
              </a:path>
            </a:pathLst>
          </a:custGeom>
          <a:solidFill>
            <a:srgbClr val="147BC8"/>
          </a:solidFill>
          <a:ln/>
        </p:spPr>
      </p:sp>
      <p:sp>
        <p:nvSpPr>
          <p:cNvPr id="30" name="Text 20"/>
          <p:cNvSpPr txBox="1"/>
          <p:nvPr/>
        </p:nvSpPr>
        <p:spPr>
          <a:xfrm>
            <a:off x="3863359" y="3466152"/>
            <a:ext cx="495300" cy="276225"/>
          </a:xfrm>
          <a:prstGeom prst="rect">
            <a:avLst/>
          </a:prstGeom>
          <a:noFill/>
          <a:ln/>
        </p:spPr>
        <p:txBody>
          <a:bodyPr wrap="square" lIns="0" tIns="0" rIns="0" bIns="0" rtlCol="0" anchor="t">
            <a:spAutoFit/>
          </a:bodyPr>
          <a:lstStyle/>
          <a:p>
            <a:pPr marL="0" indent="0" algn="ctr">
              <a:lnSpc>
                <a:spcPct val="96000"/>
              </a:lnSpc>
              <a:buNone/>
            </a:pPr>
            <a:r>
              <a:rPr lang="en-US" sz="1800" b="1" kern="0" spc="75" dirty="0">
                <a:solidFill>
                  <a:srgbClr val="FFFFFF"/>
                </a:solidFill>
                <a:latin typeface="SourceHanSansSC-Regular"/>
                <a:ea typeface="SourceHanSansSC-Regular"/>
                <a:cs typeface="SourceHanSansSC-Regular"/>
              </a:rPr>
              <a:t>07</a:t>
            </a:r>
            <a:endParaRPr lang="en-US" sz="1800" dirty="0"/>
          </a:p>
        </p:txBody>
      </p:sp>
      <p:sp>
        <p:nvSpPr>
          <p:cNvPr id="31" name="Text 21"/>
          <p:cNvSpPr txBox="1"/>
          <p:nvPr/>
        </p:nvSpPr>
        <p:spPr>
          <a:xfrm>
            <a:off x="4306272" y="3437577"/>
            <a:ext cx="3743325" cy="276225"/>
          </a:xfrm>
          <a:prstGeom prst="rect">
            <a:avLst/>
          </a:prstGeom>
          <a:noFill/>
          <a:ln/>
        </p:spPr>
        <p:txBody>
          <a:bodyPr wrap="square" lIns="0" tIns="0" rIns="0" bIns="0" rtlCol="0" anchor="t">
            <a:spAutoFit/>
          </a:bodyPr>
          <a:lstStyle/>
          <a:p>
            <a:pPr marL="0" indent="0" algn="ctr">
              <a:lnSpc>
                <a:spcPct val="96000"/>
              </a:lnSpc>
              <a:buNone/>
            </a:pPr>
            <a:r>
              <a:rPr lang="zh-CN" altLang="en-US" sz="1575" b="1" kern="0" spc="75" dirty="0">
                <a:solidFill>
                  <a:srgbClr val="FFFFFF"/>
                </a:solidFill>
                <a:latin typeface="SourceHanSansSC-Regular"/>
                <a:ea typeface="SourceHanSansSC-Regular"/>
                <a:cs typeface="SourceHanSansSC-Regular"/>
              </a:rPr>
              <a:t>特殊订单决策</a:t>
            </a:r>
            <a:endParaRPr lang="en-US" sz="1800" dirty="0"/>
          </a:p>
        </p:txBody>
      </p:sp>
      <p:pic>
        <p:nvPicPr>
          <p:cNvPr id="32" name="Image 8"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493634" y="3924762"/>
            <a:ext cx="4951542" cy="323211"/>
          </a:xfrm>
          <a:prstGeom prst="rect">
            <a:avLst/>
          </a:prstGeom>
        </p:spPr>
      </p:pic>
      <p:sp>
        <p:nvSpPr>
          <p:cNvPr id="33" name="Shape 22"/>
          <p:cNvSpPr/>
          <p:nvPr/>
        </p:nvSpPr>
        <p:spPr>
          <a:xfrm>
            <a:off x="3922551" y="3924762"/>
            <a:ext cx="367393" cy="387075"/>
          </a:xfrm>
          <a:custGeom>
            <a:avLst/>
            <a:gdLst/>
            <a:ahLst/>
            <a:cxnLst/>
            <a:rect l="l" t="t" r="r" b="b"/>
            <a:pathLst>
              <a:path w="367393" h="387075">
                <a:moveTo>
                  <a:pt x="0" y="0"/>
                </a:moveTo>
                <a:lnTo>
                  <a:pt x="367393" y="0"/>
                </a:lnTo>
                <a:lnTo>
                  <a:pt x="367393" y="387075"/>
                </a:lnTo>
                <a:lnTo>
                  <a:pt x="0" y="387075"/>
                </a:lnTo>
                <a:close/>
              </a:path>
            </a:pathLst>
          </a:custGeom>
          <a:solidFill>
            <a:srgbClr val="147BC8"/>
          </a:solidFill>
          <a:ln/>
        </p:spPr>
      </p:sp>
      <p:sp>
        <p:nvSpPr>
          <p:cNvPr id="34" name="Text 23"/>
          <p:cNvSpPr txBox="1"/>
          <p:nvPr/>
        </p:nvSpPr>
        <p:spPr>
          <a:xfrm>
            <a:off x="3863359" y="3967624"/>
            <a:ext cx="495300" cy="276225"/>
          </a:xfrm>
          <a:prstGeom prst="rect">
            <a:avLst/>
          </a:prstGeom>
          <a:noFill/>
          <a:ln/>
        </p:spPr>
        <p:txBody>
          <a:bodyPr wrap="square" lIns="0" tIns="0" rIns="0" bIns="0" rtlCol="0" anchor="t">
            <a:spAutoFit/>
          </a:bodyPr>
          <a:lstStyle/>
          <a:p>
            <a:pPr marL="0" indent="0" algn="ctr">
              <a:lnSpc>
                <a:spcPct val="96000"/>
              </a:lnSpc>
              <a:buNone/>
            </a:pPr>
            <a:r>
              <a:rPr lang="en-US" sz="1800" b="1" kern="0" spc="75" dirty="0">
                <a:solidFill>
                  <a:srgbClr val="FFFFFF"/>
                </a:solidFill>
                <a:latin typeface="SourceHanSansSC-Regular"/>
                <a:ea typeface="SourceHanSansSC-Regular"/>
                <a:cs typeface="SourceHanSansSC-Regular"/>
              </a:rPr>
              <a:t>08</a:t>
            </a:r>
            <a:endParaRPr lang="en-US" sz="1800" dirty="0"/>
          </a:p>
        </p:txBody>
      </p:sp>
      <p:sp>
        <p:nvSpPr>
          <p:cNvPr id="35" name="Text 24"/>
          <p:cNvSpPr txBox="1"/>
          <p:nvPr/>
        </p:nvSpPr>
        <p:spPr>
          <a:xfrm>
            <a:off x="4306272" y="3939049"/>
            <a:ext cx="3743325" cy="276225"/>
          </a:xfrm>
          <a:prstGeom prst="rect">
            <a:avLst/>
          </a:prstGeom>
          <a:noFill/>
          <a:ln/>
        </p:spPr>
        <p:txBody>
          <a:bodyPr wrap="square" lIns="0" tIns="0" rIns="0" bIns="0" rtlCol="0" anchor="t">
            <a:spAutoFit/>
          </a:bodyPr>
          <a:lstStyle/>
          <a:p>
            <a:pPr marL="0" indent="0" algn="ctr">
              <a:lnSpc>
                <a:spcPct val="96000"/>
              </a:lnSpc>
              <a:buNone/>
            </a:pPr>
            <a:r>
              <a:rPr lang="zh-CN" altLang="en-US" sz="1575" b="1" kern="0" spc="75" dirty="0">
                <a:solidFill>
                  <a:srgbClr val="FFFFFF"/>
                </a:solidFill>
                <a:latin typeface="SourceHanSansSC-Regular"/>
                <a:ea typeface="SourceHanSansSC-Regular"/>
                <a:cs typeface="SourceHanSansSC-Regular"/>
              </a:rPr>
              <a:t>约束资源利用决策</a:t>
            </a:r>
            <a:endParaRPr lang="en-US" sz="1800" dirty="0"/>
          </a:p>
        </p:txBody>
      </p:sp>
      <p:pic>
        <p:nvPicPr>
          <p:cNvPr id="36" name="Image 9"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493634" y="4435807"/>
            <a:ext cx="4951542" cy="323211"/>
          </a:xfrm>
          <a:prstGeom prst="rect">
            <a:avLst/>
          </a:prstGeom>
        </p:spPr>
      </p:pic>
      <p:sp>
        <p:nvSpPr>
          <p:cNvPr id="37" name="Shape 25"/>
          <p:cNvSpPr/>
          <p:nvPr/>
        </p:nvSpPr>
        <p:spPr>
          <a:xfrm>
            <a:off x="3922551" y="4435807"/>
            <a:ext cx="367393" cy="387075"/>
          </a:xfrm>
          <a:custGeom>
            <a:avLst/>
            <a:gdLst/>
            <a:ahLst/>
            <a:cxnLst/>
            <a:rect l="l" t="t" r="r" b="b"/>
            <a:pathLst>
              <a:path w="367393" h="387075">
                <a:moveTo>
                  <a:pt x="0" y="0"/>
                </a:moveTo>
                <a:lnTo>
                  <a:pt x="367393" y="0"/>
                </a:lnTo>
                <a:lnTo>
                  <a:pt x="367393" y="387075"/>
                </a:lnTo>
                <a:lnTo>
                  <a:pt x="0" y="387075"/>
                </a:lnTo>
                <a:close/>
              </a:path>
            </a:pathLst>
          </a:custGeom>
          <a:solidFill>
            <a:srgbClr val="147BC8"/>
          </a:solidFill>
          <a:ln/>
        </p:spPr>
      </p:sp>
      <p:sp>
        <p:nvSpPr>
          <p:cNvPr id="38" name="Text 26"/>
          <p:cNvSpPr txBox="1"/>
          <p:nvPr/>
        </p:nvSpPr>
        <p:spPr>
          <a:xfrm>
            <a:off x="3863359" y="4478670"/>
            <a:ext cx="495300" cy="276225"/>
          </a:xfrm>
          <a:prstGeom prst="rect">
            <a:avLst/>
          </a:prstGeom>
          <a:noFill/>
          <a:ln/>
        </p:spPr>
        <p:txBody>
          <a:bodyPr wrap="square" lIns="0" tIns="0" rIns="0" bIns="0" rtlCol="0" anchor="t">
            <a:spAutoFit/>
          </a:bodyPr>
          <a:lstStyle/>
          <a:p>
            <a:pPr marL="0" indent="0" algn="ctr">
              <a:lnSpc>
                <a:spcPct val="96000"/>
              </a:lnSpc>
              <a:buNone/>
            </a:pPr>
            <a:r>
              <a:rPr lang="en-US" sz="1800" b="1" kern="0" spc="75" dirty="0">
                <a:solidFill>
                  <a:srgbClr val="FFFFFF"/>
                </a:solidFill>
                <a:latin typeface="SourceHanSansSC-Regular"/>
                <a:ea typeface="SourceHanSansSC-Regular"/>
                <a:cs typeface="SourceHanSansSC-Regular"/>
              </a:rPr>
              <a:t>09</a:t>
            </a:r>
            <a:endParaRPr lang="en-US" sz="1800" dirty="0"/>
          </a:p>
        </p:txBody>
      </p:sp>
      <p:sp>
        <p:nvSpPr>
          <p:cNvPr id="39" name="Text 27"/>
          <p:cNvSpPr txBox="1"/>
          <p:nvPr/>
        </p:nvSpPr>
        <p:spPr>
          <a:xfrm>
            <a:off x="4306272" y="4450095"/>
            <a:ext cx="3743325" cy="276225"/>
          </a:xfrm>
          <a:prstGeom prst="rect">
            <a:avLst/>
          </a:prstGeom>
          <a:noFill/>
          <a:ln/>
        </p:spPr>
        <p:txBody>
          <a:bodyPr wrap="square" lIns="0" tIns="0" rIns="0" bIns="0" rtlCol="0" anchor="t">
            <a:spAutoFit/>
          </a:bodyPr>
          <a:lstStyle/>
          <a:p>
            <a:pPr marL="0" indent="0" algn="ctr">
              <a:lnSpc>
                <a:spcPct val="96000"/>
              </a:lnSpc>
              <a:buNone/>
            </a:pPr>
            <a:r>
              <a:rPr lang="zh-CN" altLang="en-US" sz="1575" b="1" kern="0" spc="75" dirty="0">
                <a:solidFill>
                  <a:srgbClr val="FFFFFF"/>
                </a:solidFill>
                <a:latin typeface="SourceHanSansSC-Regular"/>
                <a:ea typeface="SourceHanSansSC-Regular"/>
                <a:cs typeface="SourceHanSansSC-Regular"/>
              </a:rPr>
              <a:t>联产品决策</a:t>
            </a:r>
            <a:endParaRPr lang="en-US" sz="1800" dirty="0"/>
          </a:p>
        </p:txBody>
      </p:sp>
      <p:sp>
        <p:nvSpPr>
          <p:cNvPr id="40" name="Text 28"/>
          <p:cNvSpPr txBox="1"/>
          <p:nvPr/>
        </p:nvSpPr>
        <p:spPr>
          <a:xfrm>
            <a:off x="663640" y="1691538"/>
            <a:ext cx="881063" cy="1600200"/>
          </a:xfrm>
          <a:prstGeom prst="rect">
            <a:avLst/>
          </a:prstGeom>
          <a:noFill/>
          <a:ln/>
        </p:spPr>
        <p:txBody>
          <a:bodyPr wrap="square" lIns="0" tIns="0" rIns="0" bIns="0" rtlCol="0" anchor="t">
            <a:spAutoFit/>
          </a:bodyPr>
          <a:lstStyle/>
          <a:p>
            <a:pPr marL="0" indent="0" algn="ctr">
              <a:lnSpc>
                <a:spcPct val="96000"/>
              </a:lnSpc>
              <a:buNone/>
            </a:pPr>
            <a:r>
              <a:rPr lang="zh-CN" altLang="en-US" sz="5250" dirty="0">
                <a:solidFill>
                  <a:srgbClr val="FFFFFF"/>
                </a:solidFill>
                <a:latin typeface="SourceHanSansSC-Bold"/>
                <a:ea typeface="SourceHanSansSC-Bold"/>
                <a:cs typeface="SourceHanSansSC-Bold"/>
              </a:rPr>
              <a:t>目录</a:t>
            </a:r>
            <a:endParaRPr lang="en-US" sz="5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img.tukuppt.com/aippt_tpl_uploads/25/07/01/686397e7a6107.png"/>
          <p:cNvPicPr>
            <a:picLocks noChangeAspect="1"/>
          </p:cNvPicPr>
          <p:nvPr/>
        </p:nvPicPr>
        <p:blipFill>
          <a:blip r:embed="rId4"/>
          <a:srcRect/>
          <a:stretch/>
        </p:blipFill>
        <p:spPr>
          <a:xfrm flipH="1">
            <a:off x="-1744075" y="-312485"/>
            <a:ext cx="6071588" cy="5942568"/>
          </a:xfrm>
          <a:prstGeom prst="rect">
            <a:avLst/>
          </a:prstGeom>
        </p:spPr>
      </p:pic>
      <p:sp>
        <p:nvSpPr>
          <p:cNvPr id="3" name="Text 0"/>
          <p:cNvSpPr txBox="1"/>
          <p:nvPr/>
        </p:nvSpPr>
        <p:spPr>
          <a:xfrm>
            <a:off x="4118077" y="1908001"/>
            <a:ext cx="4105275" cy="1371600"/>
          </a:xfrm>
          <a:prstGeom prst="rect">
            <a:avLst/>
          </a:prstGeom>
          <a:noFill/>
          <a:ln/>
        </p:spPr>
        <p:txBody>
          <a:bodyPr wrap="square" lIns="0" tIns="0" rIns="0" bIns="0" rtlCol="0" anchor="t">
            <a:spAutoFit/>
          </a:bodyPr>
          <a:lstStyle/>
          <a:p>
            <a:pPr marL="0" indent="0" algn="l">
              <a:lnSpc>
                <a:spcPct val="96000"/>
              </a:lnSpc>
              <a:buNone/>
            </a:pPr>
            <a:r>
              <a:rPr lang="zh-CN" altLang="en-US" sz="4500" dirty="0">
                <a:solidFill>
                  <a:srgbClr val="0067B4"/>
                </a:solidFill>
                <a:latin typeface="SourceHanSansSC-Heavy"/>
                <a:ea typeface="SourceHanSansSC-Heavy"/>
                <a:cs typeface="SourceHanSansSC-Heavy"/>
              </a:rPr>
              <a:t>学习目标概述</a:t>
            </a:r>
            <a:endParaRPr lang="en-US" sz="4500" dirty="0"/>
          </a:p>
        </p:txBody>
      </p:sp>
      <p:sp>
        <p:nvSpPr>
          <p:cNvPr id="4" name="Text 1"/>
          <p:cNvSpPr txBox="1"/>
          <p:nvPr/>
        </p:nvSpPr>
        <p:spPr>
          <a:xfrm>
            <a:off x="4118077" y="1357413"/>
            <a:ext cx="1038225" cy="409575"/>
          </a:xfrm>
          <a:prstGeom prst="rect">
            <a:avLst/>
          </a:prstGeom>
          <a:noFill/>
          <a:ln/>
        </p:spPr>
        <p:txBody>
          <a:bodyPr wrap="square" lIns="0" tIns="0" rIns="0" bIns="0" rtlCol="0" anchor="t">
            <a:spAutoFit/>
          </a:bodyPr>
          <a:lstStyle/>
          <a:p>
            <a:pPr marL="0" indent="0" algn="ctr">
              <a:lnSpc>
                <a:spcPct val="96000"/>
              </a:lnSpc>
              <a:buNone/>
            </a:pPr>
            <a:r>
              <a:rPr lang="en" altLang="en-US" sz="2700" dirty="0">
                <a:solidFill>
                  <a:srgbClr val="000000"/>
                </a:solidFill>
                <a:latin typeface="SourceHanSansSC-Heavy"/>
                <a:ea typeface="SourceHanSansSC-Heavy"/>
                <a:cs typeface="SourceHanSansSC-Heavy"/>
              </a:rPr>
              <a:t>PART-</a:t>
            </a:r>
            <a:endParaRPr lang="en-US" sz="2700" dirty="0"/>
          </a:p>
        </p:txBody>
      </p:sp>
      <p:sp>
        <p:nvSpPr>
          <p:cNvPr id="5" name="Text 2"/>
          <p:cNvSpPr txBox="1"/>
          <p:nvPr/>
        </p:nvSpPr>
        <p:spPr>
          <a:xfrm>
            <a:off x="5156302" y="1357413"/>
            <a:ext cx="1038225" cy="409575"/>
          </a:xfrm>
          <a:prstGeom prst="rect">
            <a:avLst/>
          </a:prstGeom>
          <a:noFill/>
          <a:ln/>
        </p:spPr>
        <p:txBody>
          <a:bodyPr wrap="square" lIns="0" tIns="0" rIns="0" bIns="0" rtlCol="0" anchor="t">
            <a:spAutoFit/>
          </a:bodyPr>
          <a:lstStyle/>
          <a:p>
            <a:pPr marL="0" indent="0" algn="l">
              <a:lnSpc>
                <a:spcPct val="96000"/>
              </a:lnSpc>
              <a:buNone/>
            </a:pPr>
            <a:r>
              <a:rPr lang="en-US" sz="2700" dirty="0">
                <a:solidFill>
                  <a:srgbClr val="000000"/>
                </a:solidFill>
                <a:latin typeface="SourceHanSansSC-Heavy"/>
                <a:ea typeface="SourceHanSansSC-Heavy"/>
                <a:cs typeface="SourceHanSansSC-Heavy"/>
              </a:rPr>
              <a:t>01</a:t>
            </a:r>
            <a:endParaRPr lang="en-US" sz="2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img.tukuppt.com/aippt_uploads/34576449/25/07/03/6866a18678cda.png!/fwfh2/960x960"/>
          <p:cNvPicPr>
            <a:picLocks noChangeAspect="1"/>
          </p:cNvPicPr>
          <p:nvPr/>
        </p:nvPicPr>
        <p:blipFill>
          <a:blip r:embed="rId3"/>
          <a:stretch>
            <a:fillRect/>
          </a:stretch>
        </p:blipFill>
        <p:spPr>
          <a:xfrm>
            <a:off x="0" y="0"/>
            <a:ext cx="9140180" cy="5131830"/>
          </a:xfrm>
          <a:prstGeom prst="rect">
            <a:avLst/>
          </a:prstGeom>
        </p:spPr>
      </p:pic>
      <p:sp>
        <p:nvSpPr>
          <p:cNvPr id="3" name="Shape 0"/>
          <p:cNvSpPr/>
          <p:nvPr/>
        </p:nvSpPr>
        <p:spPr>
          <a:xfrm>
            <a:off x="979384" y="287863"/>
            <a:ext cx="2872893" cy="412023"/>
          </a:xfrm>
          <a:custGeom>
            <a:avLst/>
            <a:gdLst/>
            <a:ahLst/>
            <a:cxnLst/>
            <a:rect l="l" t="t" r="r" b="b"/>
            <a:pathLst>
              <a:path w="2872893" h="412023">
                <a:moveTo>
                  <a:pt x="68568" y="0"/>
                </a:moveTo>
                <a:lnTo>
                  <a:pt x="2803673" y="0"/>
                </a:lnTo>
                <a:cubicBezTo>
                  <a:pt x="2841542" y="0"/>
                  <a:pt x="2872241" y="30699"/>
                  <a:pt x="2872241" y="68568"/>
                </a:cubicBezTo>
                <a:lnTo>
                  <a:pt x="2872241" y="342840"/>
                </a:lnTo>
                <a:cubicBezTo>
                  <a:pt x="2872241" y="380710"/>
                  <a:pt x="2841542" y="411409"/>
                  <a:pt x="2803673" y="411409"/>
                </a:cubicBezTo>
                <a:lnTo>
                  <a:pt x="68568" y="411409"/>
                </a:lnTo>
                <a:cubicBezTo>
                  <a:pt x="30699" y="411409"/>
                  <a:pt x="0" y="380710"/>
                  <a:pt x="0" y="342840"/>
                </a:cubicBezTo>
                <a:lnTo>
                  <a:pt x="0" y="68568"/>
                </a:lnTo>
                <a:cubicBezTo>
                  <a:pt x="0" y="30724"/>
                  <a:pt x="30724" y="0"/>
                  <a:pt x="68568" y="0"/>
                </a:cubicBezTo>
                <a:close/>
              </a:path>
            </a:pathLst>
          </a:custGeom>
          <a:solidFill>
            <a:srgbClr val="0067B4"/>
          </a:solidFill>
          <a:ln/>
          <a:effectLst>
            <a:outerShdw dist="38093" dir="2700000" algn="bl" rotWithShape="0">
              <a:srgbClr val="000000">
                <a:alpha val="38824"/>
              </a:srgbClr>
            </a:outerShdw>
          </a:effectLst>
        </p:spPr>
      </p:sp>
      <p:sp>
        <p:nvSpPr>
          <p:cNvPr id="4" name="Shape 1"/>
          <p:cNvSpPr/>
          <p:nvPr/>
        </p:nvSpPr>
        <p:spPr>
          <a:xfrm>
            <a:off x="1188456" y="329442"/>
            <a:ext cx="2735844" cy="339064"/>
          </a:xfrm>
          <a:custGeom>
            <a:avLst/>
            <a:gdLst/>
            <a:ahLst/>
            <a:cxnLst/>
            <a:rect l="l" t="t" r="r" b="b"/>
            <a:pathLst>
              <a:path w="2735844" h="339064">
                <a:moveTo>
                  <a:pt x="0" y="0"/>
                </a:moveTo>
                <a:lnTo>
                  <a:pt x="2735844" y="0"/>
                </a:lnTo>
                <a:lnTo>
                  <a:pt x="2735844" y="339064"/>
                </a:lnTo>
                <a:lnTo>
                  <a:pt x="0" y="339064"/>
                </a:lnTo>
                <a:close/>
              </a:path>
            </a:pathLst>
          </a:custGeom>
          <a:noFill/>
          <a:ln/>
        </p:spPr>
      </p:sp>
      <p:sp>
        <p:nvSpPr>
          <p:cNvPr id="5" name="Text 2"/>
          <p:cNvSpPr txBox="1"/>
          <p:nvPr/>
        </p:nvSpPr>
        <p:spPr>
          <a:xfrm>
            <a:off x="1188456" y="329442"/>
            <a:ext cx="2735844" cy="339064"/>
          </a:xfrm>
          <a:prstGeom prst="rect">
            <a:avLst/>
          </a:prstGeom>
          <a:noFill/>
          <a:ln/>
        </p:spPr>
        <p:txBody>
          <a:bodyPr wrap="square" lIns="1252" tIns="653" rIns="1252" bIns="653" rtlCol="0" anchor="t">
            <a:spAutoFit/>
          </a:bodyPr>
          <a:lstStyle/>
          <a:p>
            <a:pPr marL="0" indent="0" algn="l">
              <a:buNone/>
            </a:pPr>
            <a:r>
              <a:rPr lang="zh-CN" altLang="en-US" sz="1601" dirty="0">
                <a:solidFill>
                  <a:srgbClr val="64CBFF"/>
                </a:solidFill>
                <a:latin typeface="SourceHanSansSC-Medium"/>
                <a:ea typeface="SourceHanSansSC-Medium"/>
                <a:cs typeface="SourceHanSansSC-Medium"/>
              </a:rPr>
              <a:t>目标简介</a:t>
            </a:r>
            <a:endParaRPr lang="en-US" sz="1601" dirty="0"/>
          </a:p>
        </p:txBody>
      </p:sp>
      <p:sp>
        <p:nvSpPr>
          <p:cNvPr id="6" name="Shape 3"/>
          <p:cNvSpPr/>
          <p:nvPr/>
        </p:nvSpPr>
        <p:spPr>
          <a:xfrm>
            <a:off x="471488" y="198466"/>
            <a:ext cx="461756" cy="542999"/>
          </a:xfrm>
          <a:custGeom>
            <a:avLst/>
            <a:gdLst/>
            <a:ahLst/>
            <a:cxnLst/>
            <a:rect l="l" t="t" r="r" b="b"/>
            <a:pathLst>
              <a:path w="461756" h="542999">
                <a:moveTo>
                  <a:pt x="77457" y="0"/>
                </a:moveTo>
                <a:lnTo>
                  <a:pt x="384743" y="0"/>
                </a:lnTo>
                <a:cubicBezTo>
                  <a:pt x="427521" y="0"/>
                  <a:pt x="462200" y="34678"/>
                  <a:pt x="462200" y="77457"/>
                </a:cubicBezTo>
                <a:lnTo>
                  <a:pt x="462200" y="466009"/>
                </a:lnTo>
                <a:cubicBezTo>
                  <a:pt x="462200" y="508787"/>
                  <a:pt x="427521" y="543466"/>
                  <a:pt x="384743" y="543466"/>
                </a:cubicBezTo>
                <a:lnTo>
                  <a:pt x="77457" y="543466"/>
                </a:lnTo>
                <a:cubicBezTo>
                  <a:pt x="34678" y="543466"/>
                  <a:pt x="0" y="508787"/>
                  <a:pt x="0" y="466009"/>
                </a:cubicBezTo>
                <a:lnTo>
                  <a:pt x="0" y="77457"/>
                </a:lnTo>
                <a:cubicBezTo>
                  <a:pt x="0" y="34678"/>
                  <a:pt x="34678" y="0"/>
                  <a:pt x="77457" y="0"/>
                </a:cubicBezTo>
                <a:close/>
              </a:path>
            </a:pathLst>
          </a:custGeom>
          <a:solidFill>
            <a:srgbClr val="0067B4"/>
          </a:solidFill>
          <a:ln/>
          <a:effectLst>
            <a:outerShdw dist="38093" dir="2700000" algn="bl" rotWithShape="0">
              <a:srgbClr val="000000">
                <a:alpha val="38824"/>
              </a:srgbClr>
            </a:outerShdw>
          </a:effectLst>
        </p:spPr>
      </p:sp>
      <p:sp>
        <p:nvSpPr>
          <p:cNvPr id="7" name="Shape 4"/>
          <p:cNvSpPr/>
          <p:nvPr/>
        </p:nvSpPr>
        <p:spPr>
          <a:xfrm>
            <a:off x="482166" y="206110"/>
            <a:ext cx="433263" cy="535355"/>
          </a:xfrm>
          <a:custGeom>
            <a:avLst/>
            <a:gdLst/>
            <a:ahLst/>
            <a:cxnLst/>
            <a:rect l="l" t="t" r="r" b="b"/>
            <a:pathLst>
              <a:path w="433263" h="535355">
                <a:moveTo>
                  <a:pt x="73647" y="0"/>
                </a:moveTo>
                <a:lnTo>
                  <a:pt x="366966" y="0"/>
                </a:lnTo>
                <a:cubicBezTo>
                  <a:pt x="396171" y="0"/>
                  <a:pt x="421567" y="15237"/>
                  <a:pt x="432995" y="35554"/>
                </a:cubicBezTo>
                <a:cubicBezTo>
                  <a:pt x="186658" y="119359"/>
                  <a:pt x="11428" y="311096"/>
                  <a:pt x="1270" y="535847"/>
                </a:cubicBezTo>
                <a:cubicBezTo>
                  <a:pt x="0" y="533307"/>
                  <a:pt x="0" y="532038"/>
                  <a:pt x="0" y="529498"/>
                </a:cubicBezTo>
                <a:lnTo>
                  <a:pt x="0" y="60949"/>
                </a:lnTo>
                <a:cubicBezTo>
                  <a:pt x="0" y="26665"/>
                  <a:pt x="33014" y="0"/>
                  <a:pt x="73647" y="0"/>
                </a:cubicBezTo>
                <a:close/>
              </a:path>
            </a:pathLst>
          </a:custGeom>
          <a:gradFill>
            <a:gsLst>
              <a:gs pos="0">
                <a:srgbClr val="64CBFF">
                  <a:alpha val="34902"/>
                </a:srgbClr>
              </a:gs>
              <a:gs pos="100000">
                <a:srgbClr val="2F5897">
                  <a:alpha val="100000"/>
                </a:srgbClr>
              </a:gs>
            </a:gsLst>
            <a:lin ang="1200000" scaled="1"/>
          </a:gradFill>
          <a:ln/>
        </p:spPr>
      </p:sp>
      <p:pic>
        <p:nvPicPr>
          <p:cNvPr id="8" name="Image 1" descr="//img.tukuppt.com/aippt_tpl_uploads/25/07/01/686397e7ae4cf.png"/>
          <p:cNvPicPr>
            <a:picLocks noChangeAspect="1"/>
          </p:cNvPicPr>
          <p:nvPr/>
        </p:nvPicPr>
        <p:blipFill>
          <a:blip r:embed="rId4"/>
          <a:srcRect/>
          <a:stretch/>
        </p:blipFill>
        <p:spPr>
          <a:xfrm flipH="1">
            <a:off x="787710" y="346921"/>
            <a:ext cx="255659" cy="98905"/>
          </a:xfrm>
          <a:prstGeom prst="rect">
            <a:avLst/>
          </a:prstGeom>
        </p:spPr>
      </p:pic>
      <p:pic>
        <p:nvPicPr>
          <p:cNvPr id="9" name="Image 2" descr="//img.tukuppt.com/aippt_tpl_uploads/25/07/01/686397e7ae4cf.png"/>
          <p:cNvPicPr>
            <a:picLocks noChangeAspect="1"/>
          </p:cNvPicPr>
          <p:nvPr/>
        </p:nvPicPr>
        <p:blipFill>
          <a:blip r:embed="rId4"/>
          <a:srcRect/>
          <a:stretch/>
        </p:blipFill>
        <p:spPr>
          <a:xfrm flipH="1">
            <a:off x="787710" y="549201"/>
            <a:ext cx="255659" cy="98905"/>
          </a:xfrm>
          <a:prstGeom prst="rect">
            <a:avLst/>
          </a:prstGeom>
        </p:spPr>
      </p:pic>
      <p:pic>
        <p:nvPicPr>
          <p:cNvPr id="10" name="Image 3" descr="//img.tukuppt.com/aippt_tpl_uploads/25/07/01/686397e7b8f81.png"/>
          <p:cNvPicPr>
            <a:picLocks noChangeAspect="1"/>
          </p:cNvPicPr>
          <p:nvPr/>
        </p:nvPicPr>
        <p:blipFill>
          <a:blip r:embed="rId5"/>
          <a:srcRect/>
          <a:stretch/>
        </p:blipFill>
        <p:spPr>
          <a:xfrm>
            <a:off x="539206" y="312920"/>
            <a:ext cx="321318" cy="321734"/>
          </a:xfrm>
          <a:prstGeom prst="rect">
            <a:avLst/>
          </a:prstGeom>
        </p:spPr>
      </p:pic>
      <p:pic>
        <p:nvPicPr>
          <p:cNvPr id="11" name="Image 4" descr="//img.tukuppt.com/aippt_tpl_uploads/25/07/01/686397e7af1a3.png!/fwfh2/960x960"/>
          <p:cNvPicPr>
            <a:picLocks noChangeAspect="1"/>
          </p:cNvPicPr>
          <p:nvPr/>
        </p:nvPicPr>
        <p:blipFill>
          <a:blip r:embed="rId6"/>
          <a:srcRect l="36452" t="56544" b="34700"/>
          <a:stretch/>
        </p:blipFill>
        <p:spPr>
          <a:xfrm>
            <a:off x="-4836" y="-812736"/>
            <a:ext cx="9148837" cy="1019042"/>
          </a:xfrm>
          <a:prstGeom prst="rect">
            <a:avLst/>
          </a:prstGeom>
        </p:spPr>
      </p:pic>
      <p:pic>
        <p:nvPicPr>
          <p:cNvPr id="12" name="Image 5" descr="//img.tukuppt.com/aippt_tpl_uploads/25/07/01/686397e7af1a3.png!/fwfh2/960x960"/>
          <p:cNvPicPr>
            <a:picLocks noChangeAspect="1"/>
          </p:cNvPicPr>
          <p:nvPr/>
        </p:nvPicPr>
        <p:blipFill>
          <a:blip r:embed="rId6"/>
          <a:srcRect l="36452" t="56544" b="34700"/>
          <a:stretch/>
        </p:blipFill>
        <p:spPr>
          <a:xfrm>
            <a:off x="-61352" y="4937888"/>
            <a:ext cx="9313872" cy="1019042"/>
          </a:xfrm>
          <a:prstGeom prst="rect">
            <a:avLst/>
          </a:prstGeom>
        </p:spPr>
      </p:pic>
      <p:sp>
        <p:nvSpPr>
          <p:cNvPr id="13" name="Text 5"/>
          <p:cNvSpPr txBox="1"/>
          <p:nvPr/>
        </p:nvSpPr>
        <p:spPr>
          <a:xfrm>
            <a:off x="4526302" y="1178455"/>
            <a:ext cx="3810000" cy="656104"/>
          </a:xfrm>
          <a:prstGeom prst="rect">
            <a:avLst/>
          </a:prstGeom>
          <a:noFill/>
          <a:ln/>
        </p:spPr>
        <p:txBody>
          <a:bodyPr wrap="square" lIns="0" tIns="0" rIns="0" bIns="0" rtlCol="0" anchor="ctr">
            <a:spAutoFit/>
          </a:bodyPr>
          <a:lstStyle/>
          <a:p>
            <a:pPr marL="0" indent="0" algn="l">
              <a:buNone/>
            </a:pPr>
            <a:r>
              <a:rPr lang="zh-CN" altLang="en-US" sz="1800" b="1" dirty="0">
                <a:solidFill>
                  <a:srgbClr val="0067B4"/>
                </a:solidFill>
                <a:latin typeface="SourceHanSansSC-Regular"/>
                <a:ea typeface="SourceHanSansSC-Regular"/>
                <a:cs typeface="SourceHanSansSC-Regular"/>
              </a:rPr>
              <a:t>目标内容</a:t>
            </a:r>
            <a:endParaRPr lang="en-US" sz="1800" dirty="0"/>
          </a:p>
        </p:txBody>
      </p:sp>
      <p:sp>
        <p:nvSpPr>
          <p:cNvPr id="14" name="Text 6"/>
          <p:cNvSpPr txBox="1"/>
          <p:nvPr/>
        </p:nvSpPr>
        <p:spPr>
          <a:xfrm>
            <a:off x="4526302" y="2166641"/>
            <a:ext cx="3843338" cy="1500188"/>
          </a:xfrm>
          <a:prstGeom prst="rect">
            <a:avLst/>
          </a:prstGeom>
          <a:noFill/>
          <a:ln/>
        </p:spPr>
        <p:txBody>
          <a:bodyPr wrap="square" lIns="0" tIns="0" rIns="0" bIns="0" rtlCol="0" anchor="t">
            <a:spAutoFit/>
          </a:bodyPr>
          <a:lstStyle/>
          <a:p>
            <a:pPr marL="0" indent="0" algn="l">
              <a:lnSpc>
                <a:spcPct val="120000"/>
              </a:lnSpc>
              <a:buNone/>
            </a:pPr>
            <a:r>
              <a:rPr lang="zh-CN" altLang="en-US" sz="1125" dirty="0">
                <a:solidFill>
                  <a:srgbClr val="3F3F3F"/>
                </a:solidFill>
                <a:latin typeface="SourceHanSansSC-Regular"/>
                <a:ea typeface="SourceHanSansSC-Regular"/>
                <a:cs typeface="SourceHanSansSC-Regular"/>
              </a:rPr>
              <a:t>明确在决策过程中需要达成的各项学习目标，包括识别相关成本与收益、编制不同类型的分析报告等，为后续的决策分析奠定基础。这些目标涵盖了多个决策场景，如出行方式选择、业务分部增减、自制或外购、特殊订单处理、约束资源利用以及联产品加工等，帮助学习者全面掌握决策中相关成本的应用。</a:t>
            </a:r>
            <a:endParaRPr lang="en-US" sz="204" dirty="0"/>
          </a:p>
        </p:txBody>
      </p:sp>
      <p:sp>
        <p:nvSpPr>
          <p:cNvPr id="15" name="Shape 7"/>
          <p:cNvSpPr/>
          <p:nvPr/>
        </p:nvSpPr>
        <p:spPr>
          <a:xfrm>
            <a:off x="4535827" y="1956975"/>
            <a:ext cx="647288" cy="55681"/>
          </a:xfrm>
          <a:custGeom>
            <a:avLst/>
            <a:gdLst/>
            <a:ahLst/>
            <a:cxnLst/>
            <a:rect l="l" t="t" r="r" b="b"/>
            <a:pathLst>
              <a:path w="647288" h="55681">
                <a:moveTo>
                  <a:pt x="0" y="0"/>
                </a:moveTo>
                <a:lnTo>
                  <a:pt x="647288" y="0"/>
                </a:lnTo>
                <a:lnTo>
                  <a:pt x="647288" y="55681"/>
                </a:lnTo>
                <a:lnTo>
                  <a:pt x="0" y="55681"/>
                </a:lnTo>
                <a:close/>
              </a:path>
            </a:pathLst>
          </a:custGeom>
          <a:solidFill>
            <a:srgbClr val="0067B4"/>
          </a:solidFill>
          <a:ln/>
        </p:spPr>
      </p:sp>
      <p:pic>
        <p:nvPicPr>
          <p:cNvPr id="16" name="Image 6" descr="//img.tukuppt.com/aippt_uploads/1852105/24/07/05/668761cb1fce9.jpg!/fwfh2/960x960"/>
          <p:cNvPicPr>
            <a:picLocks noChangeAspect="1"/>
          </p:cNvPicPr>
          <p:nvPr/>
        </p:nvPicPr>
        <p:blipFill>
          <a:blip r:embed="rId7"/>
          <a:stretch>
            <a:fillRect/>
          </a:stretch>
        </p:blipFill>
        <p:spPr>
          <a:xfrm>
            <a:off x="669134" y="1241095"/>
            <a:ext cx="3434800" cy="3434800"/>
          </a:xfrm>
          <a:prstGeom prst="rect">
            <a:avLst/>
          </a:prstGeom>
        </p:spPr>
      </p:pic>
      <p:sp>
        <p:nvSpPr>
          <p:cNvPr id="17" name="Shape 8"/>
          <p:cNvSpPr/>
          <p:nvPr/>
        </p:nvSpPr>
        <p:spPr>
          <a:xfrm>
            <a:off x="7691934" y="4572773"/>
            <a:ext cx="153122" cy="153122"/>
          </a:xfrm>
          <a:custGeom>
            <a:avLst/>
            <a:gdLst/>
            <a:ahLst/>
            <a:cxnLst/>
            <a:rect l="l" t="t" r="r" b="b"/>
            <a:pathLst>
              <a:path w="153122" h="153122">
                <a:moveTo>
                  <a:pt x="76561" y="0"/>
                </a:moveTo>
                <a:cubicBezTo>
                  <a:pt x="118816" y="0"/>
                  <a:pt x="153122" y="34306"/>
                  <a:pt x="153122" y="76561"/>
                </a:cubicBezTo>
                <a:cubicBezTo>
                  <a:pt x="153122" y="118816"/>
                  <a:pt x="118816" y="153122"/>
                  <a:pt x="76561" y="153122"/>
                </a:cubicBezTo>
                <a:cubicBezTo>
                  <a:pt x="34306" y="153122"/>
                  <a:pt x="0" y="118816"/>
                  <a:pt x="0" y="76561"/>
                </a:cubicBezTo>
                <a:cubicBezTo>
                  <a:pt x="0" y="34306"/>
                  <a:pt x="34306" y="0"/>
                  <a:pt x="76561" y="0"/>
                </a:cubicBezTo>
                <a:close/>
              </a:path>
            </a:pathLst>
          </a:custGeom>
          <a:solidFill>
            <a:srgbClr val="0067B4"/>
          </a:solidFill>
          <a:ln/>
        </p:spPr>
      </p:sp>
      <p:sp>
        <p:nvSpPr>
          <p:cNvPr id="18" name="Shape 9"/>
          <p:cNvSpPr/>
          <p:nvPr/>
        </p:nvSpPr>
        <p:spPr>
          <a:xfrm>
            <a:off x="7954226" y="4572773"/>
            <a:ext cx="153122" cy="153122"/>
          </a:xfrm>
          <a:custGeom>
            <a:avLst/>
            <a:gdLst/>
            <a:ahLst/>
            <a:cxnLst/>
            <a:rect l="l" t="t" r="r" b="b"/>
            <a:pathLst>
              <a:path w="153122" h="153122">
                <a:moveTo>
                  <a:pt x="76561" y="0"/>
                </a:moveTo>
                <a:cubicBezTo>
                  <a:pt x="118816" y="0"/>
                  <a:pt x="153122" y="34306"/>
                  <a:pt x="153122" y="76561"/>
                </a:cubicBezTo>
                <a:cubicBezTo>
                  <a:pt x="153122" y="118816"/>
                  <a:pt x="118816" y="153122"/>
                  <a:pt x="76561" y="153122"/>
                </a:cubicBezTo>
                <a:cubicBezTo>
                  <a:pt x="34306" y="153122"/>
                  <a:pt x="0" y="118816"/>
                  <a:pt x="0" y="76561"/>
                </a:cubicBezTo>
                <a:cubicBezTo>
                  <a:pt x="0" y="34306"/>
                  <a:pt x="34306" y="0"/>
                  <a:pt x="76561" y="0"/>
                </a:cubicBezTo>
                <a:close/>
              </a:path>
            </a:pathLst>
          </a:custGeom>
          <a:solidFill>
            <a:srgbClr val="0067B4">
              <a:alpha val="50000"/>
            </a:srgbClr>
          </a:solidFill>
          <a:ln/>
        </p:spPr>
      </p:sp>
      <p:sp>
        <p:nvSpPr>
          <p:cNvPr id="19" name="Shape 10"/>
          <p:cNvSpPr/>
          <p:nvPr/>
        </p:nvSpPr>
        <p:spPr>
          <a:xfrm>
            <a:off x="8216518" y="4572773"/>
            <a:ext cx="153122" cy="153122"/>
          </a:xfrm>
          <a:custGeom>
            <a:avLst/>
            <a:gdLst/>
            <a:ahLst/>
            <a:cxnLst/>
            <a:rect l="l" t="t" r="r" b="b"/>
            <a:pathLst>
              <a:path w="153122" h="153122">
                <a:moveTo>
                  <a:pt x="76561" y="0"/>
                </a:moveTo>
                <a:cubicBezTo>
                  <a:pt x="118816" y="0"/>
                  <a:pt x="153122" y="34306"/>
                  <a:pt x="153122" y="76561"/>
                </a:cubicBezTo>
                <a:cubicBezTo>
                  <a:pt x="153122" y="118816"/>
                  <a:pt x="118816" y="153122"/>
                  <a:pt x="76561" y="153122"/>
                </a:cubicBezTo>
                <a:cubicBezTo>
                  <a:pt x="34306" y="153122"/>
                  <a:pt x="0" y="118816"/>
                  <a:pt x="0" y="76561"/>
                </a:cubicBezTo>
                <a:cubicBezTo>
                  <a:pt x="0" y="34306"/>
                  <a:pt x="34306" y="0"/>
                  <a:pt x="76561" y="0"/>
                </a:cubicBezTo>
                <a:close/>
              </a:path>
            </a:pathLst>
          </a:custGeom>
          <a:solidFill>
            <a:srgbClr val="0067B4">
              <a:alpha val="25000"/>
            </a:srgbClr>
          </a:solidFill>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img.tukuppt.com/aippt_tpl_uploads/25/07/01/686397e7a6107.png"/>
          <p:cNvPicPr>
            <a:picLocks noChangeAspect="1"/>
          </p:cNvPicPr>
          <p:nvPr/>
        </p:nvPicPr>
        <p:blipFill>
          <a:blip r:embed="rId4"/>
          <a:srcRect/>
          <a:stretch/>
        </p:blipFill>
        <p:spPr>
          <a:xfrm flipH="1">
            <a:off x="-1744075" y="-312485"/>
            <a:ext cx="6071588" cy="5942568"/>
          </a:xfrm>
          <a:prstGeom prst="rect">
            <a:avLst/>
          </a:prstGeom>
        </p:spPr>
      </p:pic>
      <p:sp>
        <p:nvSpPr>
          <p:cNvPr id="3" name="Text 0"/>
          <p:cNvSpPr txBox="1"/>
          <p:nvPr/>
        </p:nvSpPr>
        <p:spPr>
          <a:xfrm>
            <a:off x="4118077" y="1908001"/>
            <a:ext cx="4105275" cy="1371600"/>
          </a:xfrm>
          <a:prstGeom prst="rect">
            <a:avLst/>
          </a:prstGeom>
          <a:noFill/>
          <a:ln/>
        </p:spPr>
        <p:txBody>
          <a:bodyPr wrap="square" lIns="0" tIns="0" rIns="0" bIns="0" rtlCol="0" anchor="t">
            <a:spAutoFit/>
          </a:bodyPr>
          <a:lstStyle/>
          <a:p>
            <a:pPr marL="0" indent="0" algn="l">
              <a:lnSpc>
                <a:spcPct val="96000"/>
              </a:lnSpc>
              <a:buNone/>
            </a:pPr>
            <a:r>
              <a:rPr lang="zh-CN" altLang="en-US" sz="4500" dirty="0">
                <a:solidFill>
                  <a:srgbClr val="0067B4"/>
                </a:solidFill>
                <a:latin typeface="SourceHanSansSC-Heavy"/>
                <a:ea typeface="SourceHanSansSC-Heavy"/>
                <a:cs typeface="SourceHanSansSC-Heavy"/>
              </a:rPr>
              <a:t>决策中的成本概念</a:t>
            </a:r>
            <a:endParaRPr lang="en-US" sz="4500" dirty="0"/>
          </a:p>
        </p:txBody>
      </p:sp>
      <p:sp>
        <p:nvSpPr>
          <p:cNvPr id="4" name="Text 1"/>
          <p:cNvSpPr txBox="1"/>
          <p:nvPr/>
        </p:nvSpPr>
        <p:spPr>
          <a:xfrm>
            <a:off x="4118077" y="1357413"/>
            <a:ext cx="1038225" cy="409575"/>
          </a:xfrm>
          <a:prstGeom prst="rect">
            <a:avLst/>
          </a:prstGeom>
          <a:noFill/>
          <a:ln/>
        </p:spPr>
        <p:txBody>
          <a:bodyPr wrap="square" lIns="0" tIns="0" rIns="0" bIns="0" rtlCol="0" anchor="t">
            <a:spAutoFit/>
          </a:bodyPr>
          <a:lstStyle/>
          <a:p>
            <a:pPr marL="0" indent="0" algn="ctr">
              <a:lnSpc>
                <a:spcPct val="96000"/>
              </a:lnSpc>
              <a:buNone/>
            </a:pPr>
            <a:r>
              <a:rPr lang="en" altLang="en-US" sz="2700" dirty="0">
                <a:solidFill>
                  <a:srgbClr val="000000"/>
                </a:solidFill>
                <a:latin typeface="SourceHanSansSC-Heavy"/>
                <a:ea typeface="SourceHanSansSC-Heavy"/>
                <a:cs typeface="SourceHanSansSC-Heavy"/>
              </a:rPr>
              <a:t>PART-</a:t>
            </a:r>
            <a:endParaRPr lang="en-US" sz="2700" dirty="0"/>
          </a:p>
        </p:txBody>
      </p:sp>
      <p:sp>
        <p:nvSpPr>
          <p:cNvPr id="5" name="Text 2"/>
          <p:cNvSpPr txBox="1"/>
          <p:nvPr/>
        </p:nvSpPr>
        <p:spPr>
          <a:xfrm>
            <a:off x="5156302" y="1357413"/>
            <a:ext cx="1038225" cy="409575"/>
          </a:xfrm>
          <a:prstGeom prst="rect">
            <a:avLst/>
          </a:prstGeom>
          <a:noFill/>
          <a:ln/>
        </p:spPr>
        <p:txBody>
          <a:bodyPr wrap="square" lIns="0" tIns="0" rIns="0" bIns="0" rtlCol="0" anchor="t">
            <a:spAutoFit/>
          </a:bodyPr>
          <a:lstStyle/>
          <a:p>
            <a:pPr marL="0" indent="0" algn="l">
              <a:lnSpc>
                <a:spcPct val="96000"/>
              </a:lnSpc>
              <a:buNone/>
            </a:pPr>
            <a:r>
              <a:rPr lang="en-US" sz="2700" dirty="0">
                <a:solidFill>
                  <a:srgbClr val="000000"/>
                </a:solidFill>
                <a:latin typeface="SourceHanSansSC-Heavy"/>
                <a:ea typeface="SourceHanSansSC-Heavy"/>
                <a:cs typeface="SourceHanSansSC-Heavy"/>
              </a:rPr>
              <a:t>02</a:t>
            </a:r>
            <a:endParaRPr lang="en-US" sz="2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img.tukuppt.com/aippt_uploads/34576449/25/07/03/6866a18678cda.png!/fwfh2/960x960"/>
          <p:cNvPicPr>
            <a:picLocks noChangeAspect="1"/>
          </p:cNvPicPr>
          <p:nvPr/>
        </p:nvPicPr>
        <p:blipFill>
          <a:blip r:embed="rId3"/>
          <a:stretch>
            <a:fillRect/>
          </a:stretch>
        </p:blipFill>
        <p:spPr>
          <a:xfrm>
            <a:off x="0" y="0"/>
            <a:ext cx="9140180" cy="5131830"/>
          </a:xfrm>
          <a:prstGeom prst="rect">
            <a:avLst/>
          </a:prstGeom>
        </p:spPr>
      </p:pic>
      <p:sp>
        <p:nvSpPr>
          <p:cNvPr id="3" name="Shape 0"/>
          <p:cNvSpPr/>
          <p:nvPr/>
        </p:nvSpPr>
        <p:spPr>
          <a:xfrm>
            <a:off x="979384" y="287863"/>
            <a:ext cx="2872893" cy="412023"/>
          </a:xfrm>
          <a:custGeom>
            <a:avLst/>
            <a:gdLst/>
            <a:ahLst/>
            <a:cxnLst/>
            <a:rect l="l" t="t" r="r" b="b"/>
            <a:pathLst>
              <a:path w="2872893" h="412023">
                <a:moveTo>
                  <a:pt x="68568" y="0"/>
                </a:moveTo>
                <a:lnTo>
                  <a:pt x="2803673" y="0"/>
                </a:lnTo>
                <a:cubicBezTo>
                  <a:pt x="2841542" y="0"/>
                  <a:pt x="2872241" y="30699"/>
                  <a:pt x="2872241" y="68568"/>
                </a:cubicBezTo>
                <a:lnTo>
                  <a:pt x="2872241" y="342840"/>
                </a:lnTo>
                <a:cubicBezTo>
                  <a:pt x="2872241" y="380710"/>
                  <a:pt x="2841542" y="411409"/>
                  <a:pt x="2803673" y="411409"/>
                </a:cubicBezTo>
                <a:lnTo>
                  <a:pt x="68568" y="411409"/>
                </a:lnTo>
                <a:cubicBezTo>
                  <a:pt x="30699" y="411409"/>
                  <a:pt x="0" y="380710"/>
                  <a:pt x="0" y="342840"/>
                </a:cubicBezTo>
                <a:lnTo>
                  <a:pt x="0" y="68568"/>
                </a:lnTo>
                <a:cubicBezTo>
                  <a:pt x="0" y="30724"/>
                  <a:pt x="30724" y="0"/>
                  <a:pt x="68568" y="0"/>
                </a:cubicBezTo>
                <a:close/>
              </a:path>
            </a:pathLst>
          </a:custGeom>
          <a:solidFill>
            <a:srgbClr val="0067B4"/>
          </a:solidFill>
          <a:ln/>
          <a:effectLst>
            <a:outerShdw dist="38093" dir="2700000" algn="bl" rotWithShape="0">
              <a:srgbClr val="000000">
                <a:alpha val="38824"/>
              </a:srgbClr>
            </a:outerShdw>
          </a:effectLst>
        </p:spPr>
      </p:sp>
      <p:sp>
        <p:nvSpPr>
          <p:cNvPr id="4" name="Shape 1"/>
          <p:cNvSpPr/>
          <p:nvPr/>
        </p:nvSpPr>
        <p:spPr>
          <a:xfrm>
            <a:off x="1188456" y="329442"/>
            <a:ext cx="2735844" cy="339064"/>
          </a:xfrm>
          <a:custGeom>
            <a:avLst/>
            <a:gdLst/>
            <a:ahLst/>
            <a:cxnLst/>
            <a:rect l="l" t="t" r="r" b="b"/>
            <a:pathLst>
              <a:path w="2735844" h="339064">
                <a:moveTo>
                  <a:pt x="0" y="0"/>
                </a:moveTo>
                <a:lnTo>
                  <a:pt x="2735844" y="0"/>
                </a:lnTo>
                <a:lnTo>
                  <a:pt x="2735844" y="339064"/>
                </a:lnTo>
                <a:lnTo>
                  <a:pt x="0" y="339064"/>
                </a:lnTo>
                <a:close/>
              </a:path>
            </a:pathLst>
          </a:custGeom>
          <a:noFill/>
          <a:ln/>
        </p:spPr>
      </p:sp>
      <p:sp>
        <p:nvSpPr>
          <p:cNvPr id="5" name="Text 2"/>
          <p:cNvSpPr txBox="1"/>
          <p:nvPr/>
        </p:nvSpPr>
        <p:spPr>
          <a:xfrm>
            <a:off x="1188456" y="329442"/>
            <a:ext cx="2735844" cy="339064"/>
          </a:xfrm>
          <a:prstGeom prst="rect">
            <a:avLst/>
          </a:prstGeom>
          <a:noFill/>
          <a:ln/>
        </p:spPr>
        <p:txBody>
          <a:bodyPr wrap="square" lIns="1252" tIns="653" rIns="1252" bIns="653" rtlCol="0" anchor="t">
            <a:spAutoFit/>
          </a:bodyPr>
          <a:lstStyle/>
          <a:p>
            <a:pPr marL="0" indent="0" algn="l">
              <a:buNone/>
            </a:pPr>
            <a:r>
              <a:rPr lang="zh-CN" altLang="en-US" sz="1601" dirty="0">
                <a:solidFill>
                  <a:srgbClr val="64CBFF"/>
                </a:solidFill>
                <a:latin typeface="SourceHanSansSC-Medium"/>
                <a:ea typeface="SourceHanSansSC-Medium"/>
                <a:cs typeface="SourceHanSansSC-Medium"/>
              </a:rPr>
              <a:t>相关成本定义</a:t>
            </a:r>
            <a:endParaRPr lang="en-US" sz="1601" dirty="0"/>
          </a:p>
        </p:txBody>
      </p:sp>
      <p:sp>
        <p:nvSpPr>
          <p:cNvPr id="6" name="Shape 3"/>
          <p:cNvSpPr/>
          <p:nvPr/>
        </p:nvSpPr>
        <p:spPr>
          <a:xfrm>
            <a:off x="471488" y="198466"/>
            <a:ext cx="461756" cy="542999"/>
          </a:xfrm>
          <a:custGeom>
            <a:avLst/>
            <a:gdLst/>
            <a:ahLst/>
            <a:cxnLst/>
            <a:rect l="l" t="t" r="r" b="b"/>
            <a:pathLst>
              <a:path w="461756" h="542999">
                <a:moveTo>
                  <a:pt x="77457" y="0"/>
                </a:moveTo>
                <a:lnTo>
                  <a:pt x="384743" y="0"/>
                </a:lnTo>
                <a:cubicBezTo>
                  <a:pt x="427521" y="0"/>
                  <a:pt x="462200" y="34678"/>
                  <a:pt x="462200" y="77457"/>
                </a:cubicBezTo>
                <a:lnTo>
                  <a:pt x="462200" y="466009"/>
                </a:lnTo>
                <a:cubicBezTo>
                  <a:pt x="462200" y="508787"/>
                  <a:pt x="427521" y="543466"/>
                  <a:pt x="384743" y="543466"/>
                </a:cubicBezTo>
                <a:lnTo>
                  <a:pt x="77457" y="543466"/>
                </a:lnTo>
                <a:cubicBezTo>
                  <a:pt x="34678" y="543466"/>
                  <a:pt x="0" y="508787"/>
                  <a:pt x="0" y="466009"/>
                </a:cubicBezTo>
                <a:lnTo>
                  <a:pt x="0" y="77457"/>
                </a:lnTo>
                <a:cubicBezTo>
                  <a:pt x="0" y="34678"/>
                  <a:pt x="34678" y="0"/>
                  <a:pt x="77457" y="0"/>
                </a:cubicBezTo>
                <a:close/>
              </a:path>
            </a:pathLst>
          </a:custGeom>
          <a:solidFill>
            <a:srgbClr val="0067B4"/>
          </a:solidFill>
          <a:ln/>
          <a:effectLst>
            <a:outerShdw dist="38093" dir="2700000" algn="bl" rotWithShape="0">
              <a:srgbClr val="000000">
                <a:alpha val="38824"/>
              </a:srgbClr>
            </a:outerShdw>
          </a:effectLst>
        </p:spPr>
      </p:sp>
      <p:sp>
        <p:nvSpPr>
          <p:cNvPr id="7" name="Shape 4"/>
          <p:cNvSpPr/>
          <p:nvPr/>
        </p:nvSpPr>
        <p:spPr>
          <a:xfrm>
            <a:off x="482166" y="206110"/>
            <a:ext cx="433263" cy="535355"/>
          </a:xfrm>
          <a:custGeom>
            <a:avLst/>
            <a:gdLst/>
            <a:ahLst/>
            <a:cxnLst/>
            <a:rect l="l" t="t" r="r" b="b"/>
            <a:pathLst>
              <a:path w="433263" h="535355">
                <a:moveTo>
                  <a:pt x="73647" y="0"/>
                </a:moveTo>
                <a:lnTo>
                  <a:pt x="366966" y="0"/>
                </a:lnTo>
                <a:cubicBezTo>
                  <a:pt x="396171" y="0"/>
                  <a:pt x="421567" y="15237"/>
                  <a:pt x="432995" y="35554"/>
                </a:cubicBezTo>
                <a:cubicBezTo>
                  <a:pt x="186658" y="119359"/>
                  <a:pt x="11428" y="311096"/>
                  <a:pt x="1270" y="535847"/>
                </a:cubicBezTo>
                <a:cubicBezTo>
                  <a:pt x="0" y="533307"/>
                  <a:pt x="0" y="532038"/>
                  <a:pt x="0" y="529498"/>
                </a:cubicBezTo>
                <a:lnTo>
                  <a:pt x="0" y="60949"/>
                </a:lnTo>
                <a:cubicBezTo>
                  <a:pt x="0" y="26665"/>
                  <a:pt x="33014" y="0"/>
                  <a:pt x="73647" y="0"/>
                </a:cubicBezTo>
                <a:close/>
              </a:path>
            </a:pathLst>
          </a:custGeom>
          <a:gradFill>
            <a:gsLst>
              <a:gs pos="0">
                <a:srgbClr val="64CBFF">
                  <a:alpha val="34902"/>
                </a:srgbClr>
              </a:gs>
              <a:gs pos="100000">
                <a:srgbClr val="2F5897">
                  <a:alpha val="100000"/>
                </a:srgbClr>
              </a:gs>
            </a:gsLst>
            <a:lin ang="1200000" scaled="1"/>
          </a:gradFill>
          <a:ln/>
        </p:spPr>
      </p:sp>
      <p:pic>
        <p:nvPicPr>
          <p:cNvPr id="8" name="Image 1" descr="//img.tukuppt.com/aippt_tpl_uploads/25/07/01/686397e7ae4cf.png"/>
          <p:cNvPicPr>
            <a:picLocks noChangeAspect="1"/>
          </p:cNvPicPr>
          <p:nvPr/>
        </p:nvPicPr>
        <p:blipFill>
          <a:blip r:embed="rId4"/>
          <a:srcRect/>
          <a:stretch/>
        </p:blipFill>
        <p:spPr>
          <a:xfrm flipH="1">
            <a:off x="787710" y="346921"/>
            <a:ext cx="255659" cy="98905"/>
          </a:xfrm>
          <a:prstGeom prst="rect">
            <a:avLst/>
          </a:prstGeom>
        </p:spPr>
      </p:pic>
      <p:pic>
        <p:nvPicPr>
          <p:cNvPr id="9" name="Image 2" descr="//img.tukuppt.com/aippt_tpl_uploads/25/07/01/686397e7ae4cf.png"/>
          <p:cNvPicPr>
            <a:picLocks noChangeAspect="1"/>
          </p:cNvPicPr>
          <p:nvPr/>
        </p:nvPicPr>
        <p:blipFill>
          <a:blip r:embed="rId4"/>
          <a:srcRect/>
          <a:stretch/>
        </p:blipFill>
        <p:spPr>
          <a:xfrm flipH="1">
            <a:off x="787710" y="549201"/>
            <a:ext cx="255659" cy="98905"/>
          </a:xfrm>
          <a:prstGeom prst="rect">
            <a:avLst/>
          </a:prstGeom>
        </p:spPr>
      </p:pic>
      <p:pic>
        <p:nvPicPr>
          <p:cNvPr id="10" name="Image 3" descr="//img.tukuppt.com/aippt_tpl_uploads/25/07/01/686397e7b8f81.png"/>
          <p:cNvPicPr>
            <a:picLocks noChangeAspect="1"/>
          </p:cNvPicPr>
          <p:nvPr/>
        </p:nvPicPr>
        <p:blipFill>
          <a:blip r:embed="rId5"/>
          <a:srcRect/>
          <a:stretch/>
        </p:blipFill>
        <p:spPr>
          <a:xfrm>
            <a:off x="539206" y="312920"/>
            <a:ext cx="321318" cy="321734"/>
          </a:xfrm>
          <a:prstGeom prst="rect">
            <a:avLst/>
          </a:prstGeom>
        </p:spPr>
      </p:pic>
      <p:pic>
        <p:nvPicPr>
          <p:cNvPr id="11" name="Image 4" descr="//img.tukuppt.com/aippt_tpl_uploads/25/07/01/686397e7af1a3.png!/fwfh2/960x960"/>
          <p:cNvPicPr>
            <a:picLocks noChangeAspect="1"/>
          </p:cNvPicPr>
          <p:nvPr/>
        </p:nvPicPr>
        <p:blipFill>
          <a:blip r:embed="rId6"/>
          <a:srcRect l="36452" t="56544" b="34700"/>
          <a:stretch/>
        </p:blipFill>
        <p:spPr>
          <a:xfrm>
            <a:off x="-4836" y="-812736"/>
            <a:ext cx="9148837" cy="1019042"/>
          </a:xfrm>
          <a:prstGeom prst="rect">
            <a:avLst/>
          </a:prstGeom>
        </p:spPr>
      </p:pic>
      <p:pic>
        <p:nvPicPr>
          <p:cNvPr id="12" name="Image 5" descr="//img.tukuppt.com/aippt_tpl_uploads/25/07/01/686397e7af1a3.png!/fwfh2/960x960"/>
          <p:cNvPicPr>
            <a:picLocks noChangeAspect="1"/>
          </p:cNvPicPr>
          <p:nvPr/>
        </p:nvPicPr>
        <p:blipFill>
          <a:blip r:embed="rId6"/>
          <a:srcRect l="36452" t="56544" b="34700"/>
          <a:stretch/>
        </p:blipFill>
        <p:spPr>
          <a:xfrm>
            <a:off x="-61352" y="4937888"/>
            <a:ext cx="9313872" cy="1019042"/>
          </a:xfrm>
          <a:prstGeom prst="rect">
            <a:avLst/>
          </a:prstGeom>
        </p:spPr>
      </p:pic>
      <p:sp>
        <p:nvSpPr>
          <p:cNvPr id="13" name="Shape 5"/>
          <p:cNvSpPr/>
          <p:nvPr/>
        </p:nvSpPr>
        <p:spPr>
          <a:xfrm>
            <a:off x="812789" y="1515496"/>
            <a:ext cx="5182864" cy="2840734"/>
          </a:xfrm>
          <a:custGeom>
            <a:avLst/>
            <a:gdLst/>
            <a:ahLst/>
            <a:cxnLst/>
            <a:rect l="l" t="t" r="r" b="b"/>
            <a:pathLst>
              <a:path w="5182864" h="2840734">
                <a:moveTo>
                  <a:pt x="0" y="0"/>
                </a:moveTo>
                <a:lnTo>
                  <a:pt x="5182864" y="0"/>
                </a:lnTo>
                <a:lnTo>
                  <a:pt x="5182864" y="2840734"/>
                </a:lnTo>
                <a:lnTo>
                  <a:pt x="0" y="2840734"/>
                </a:lnTo>
                <a:close/>
              </a:path>
            </a:pathLst>
          </a:custGeom>
          <a:blipFill rotWithShape="0">
            <a:blip r:embed="rId7">
              <a:alphaModFix/>
            </a:blip>
            <a:stretch>
              <a:fillRect t="-10593" b="-10593"/>
            </a:stretch>
          </a:blipFill>
          <a:ln/>
        </p:spPr>
      </p:sp>
      <p:sp>
        <p:nvSpPr>
          <p:cNvPr id="14" name="Shape 6"/>
          <p:cNvSpPr/>
          <p:nvPr/>
        </p:nvSpPr>
        <p:spPr>
          <a:xfrm>
            <a:off x="5329742" y="736414"/>
            <a:ext cx="3142521" cy="4087246"/>
          </a:xfrm>
          <a:custGeom>
            <a:avLst/>
            <a:gdLst/>
            <a:ahLst/>
            <a:cxnLst/>
            <a:rect l="l" t="t" r="r" b="b"/>
            <a:pathLst>
              <a:path w="3142521" h="4087246">
                <a:moveTo>
                  <a:pt x="0" y="0"/>
                </a:moveTo>
                <a:lnTo>
                  <a:pt x="3142521" y="0"/>
                </a:lnTo>
                <a:lnTo>
                  <a:pt x="3142521" y="4087246"/>
                </a:lnTo>
                <a:lnTo>
                  <a:pt x="0" y="4087246"/>
                </a:lnTo>
                <a:close/>
              </a:path>
            </a:pathLst>
          </a:custGeom>
          <a:solidFill>
            <a:srgbClr val="3F3F3F"/>
          </a:solidFill>
          <a:ln/>
        </p:spPr>
      </p:sp>
      <p:sp>
        <p:nvSpPr>
          <p:cNvPr id="15" name="Shape 7"/>
          <p:cNvSpPr/>
          <p:nvPr/>
        </p:nvSpPr>
        <p:spPr>
          <a:xfrm>
            <a:off x="409313" y="2532386"/>
            <a:ext cx="806952" cy="806952"/>
          </a:xfrm>
          <a:custGeom>
            <a:avLst/>
            <a:gdLst/>
            <a:ahLst/>
            <a:cxnLst/>
            <a:rect l="l" t="t" r="r" b="b"/>
            <a:pathLst>
              <a:path w="806952" h="806952">
                <a:moveTo>
                  <a:pt x="403476" y="0"/>
                </a:moveTo>
                <a:cubicBezTo>
                  <a:pt x="626161" y="0"/>
                  <a:pt x="806952" y="180792"/>
                  <a:pt x="806952" y="403476"/>
                </a:cubicBezTo>
                <a:cubicBezTo>
                  <a:pt x="806952" y="626161"/>
                  <a:pt x="626161" y="806952"/>
                  <a:pt x="403476" y="806952"/>
                </a:cubicBezTo>
                <a:cubicBezTo>
                  <a:pt x="180792" y="806952"/>
                  <a:pt x="0" y="626161"/>
                  <a:pt x="0" y="403476"/>
                </a:cubicBezTo>
                <a:cubicBezTo>
                  <a:pt x="0" y="180792"/>
                  <a:pt x="180792" y="0"/>
                  <a:pt x="403476" y="0"/>
                </a:cubicBezTo>
                <a:close/>
              </a:path>
            </a:pathLst>
          </a:custGeom>
          <a:solidFill>
            <a:srgbClr val="0067B4"/>
          </a:solidFill>
          <a:ln/>
        </p:spPr>
      </p:sp>
      <p:pic>
        <p:nvPicPr>
          <p:cNvPr id="16" name="Image 6"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97141" y="2720214"/>
            <a:ext cx="431298" cy="431298"/>
          </a:xfrm>
          <a:prstGeom prst="rect">
            <a:avLst/>
          </a:prstGeom>
        </p:spPr>
      </p:pic>
      <p:sp>
        <p:nvSpPr>
          <p:cNvPr id="17" name="Text 8"/>
          <p:cNvSpPr txBox="1"/>
          <p:nvPr/>
        </p:nvSpPr>
        <p:spPr>
          <a:xfrm>
            <a:off x="5859935" y="1554810"/>
            <a:ext cx="2082136" cy="611544"/>
          </a:xfrm>
          <a:prstGeom prst="rect">
            <a:avLst/>
          </a:prstGeom>
          <a:noFill/>
          <a:ln/>
        </p:spPr>
        <p:txBody>
          <a:bodyPr wrap="square" lIns="0" tIns="0" rIns="0" bIns="0" rtlCol="0" anchor="ctr">
            <a:spAutoFit/>
          </a:bodyPr>
          <a:lstStyle/>
          <a:p>
            <a:pPr marL="0" indent="0" algn="l">
              <a:buNone/>
            </a:pPr>
            <a:r>
              <a:rPr lang="zh-CN" altLang="en-US" sz="1350" b="1" dirty="0">
                <a:solidFill>
                  <a:srgbClr val="FFFFFF"/>
                </a:solidFill>
                <a:latin typeface="SourceHanSansSC-Regular"/>
                <a:ea typeface="SourceHanSansSC-Regular"/>
                <a:cs typeface="SourceHanSansSC-Regular"/>
              </a:rPr>
              <a:t>成本特性</a:t>
            </a:r>
            <a:endParaRPr lang="en-US" sz="1350" dirty="0"/>
          </a:p>
        </p:txBody>
      </p:sp>
      <p:sp>
        <p:nvSpPr>
          <p:cNvPr id="18" name="Text 9"/>
          <p:cNvSpPr txBox="1"/>
          <p:nvPr/>
        </p:nvSpPr>
        <p:spPr>
          <a:xfrm>
            <a:off x="5859935" y="2217818"/>
            <a:ext cx="2062065" cy="1504027"/>
          </a:xfrm>
          <a:prstGeom prst="rect">
            <a:avLst/>
          </a:prstGeom>
          <a:noFill/>
          <a:ln/>
        </p:spPr>
        <p:txBody>
          <a:bodyPr wrap="square" lIns="0" tIns="0" rIns="0" bIns="0" rtlCol="0" anchor="t">
            <a:spAutoFit/>
          </a:bodyPr>
          <a:lstStyle/>
          <a:p>
            <a:pPr marL="0" indent="0" algn="l">
              <a:buNone/>
            </a:pPr>
            <a:r>
              <a:rPr lang="zh-CN" altLang="en-US" sz="900" dirty="0">
                <a:solidFill>
                  <a:srgbClr val="FFFFFF"/>
                </a:solidFill>
                <a:latin typeface="SourceHanSansSC-Regular"/>
                <a:ea typeface="SourceHanSansSC-Regular"/>
                <a:cs typeface="SourceHanSansSC-Regular"/>
              </a:rPr>
              <a:t>相关成本是指在不同备选方案之间会存在差异的成本。它在决策中具有重要意义，因为只有成本存在差异，才会对决策结果产生影响。例如，在选择不同的生产方案或出行方式时，相关成本的差异将直接影响最终的选择。</a:t>
            </a:r>
            <a:endParaRPr lang="en-US" sz="900" dirty="0"/>
          </a:p>
        </p:txBody>
      </p:sp>
      <p:sp>
        <p:nvSpPr>
          <p:cNvPr id="19" name="Shape 10"/>
          <p:cNvSpPr/>
          <p:nvPr/>
        </p:nvSpPr>
        <p:spPr>
          <a:xfrm>
            <a:off x="6487697" y="4005238"/>
            <a:ext cx="1043133" cy="701983"/>
          </a:xfrm>
          <a:custGeom>
            <a:avLst/>
            <a:gdLst/>
            <a:ahLst/>
            <a:cxnLst/>
            <a:rect l="l" t="t" r="r" b="b"/>
            <a:pathLst>
              <a:path w="1043133" h="701983">
                <a:moveTo>
                  <a:pt x="87630" y="0"/>
                </a:moveTo>
                <a:lnTo>
                  <a:pt x="955357" y="0"/>
                </a:lnTo>
                <a:quadBezTo>
                  <a:pt x="1042988" y="0"/>
                  <a:pt x="1042988" y="87630"/>
                </a:quadBezTo>
                <a:lnTo>
                  <a:pt x="1042988" y="614363"/>
                </a:lnTo>
                <a:quadBezTo>
                  <a:pt x="1042988" y="701993"/>
                  <a:pt x="955357" y="701993"/>
                </a:quadBezTo>
                <a:lnTo>
                  <a:pt x="87630" y="701993"/>
                </a:lnTo>
                <a:quadBezTo>
                  <a:pt x="0" y="701993"/>
                  <a:pt x="0" y="614363"/>
                </a:quadBezTo>
                <a:lnTo>
                  <a:pt x="0" y="87630"/>
                </a:lnTo>
                <a:quadBezTo>
                  <a:pt x="0" y="0"/>
                  <a:pt x="87630" y="0"/>
                </a:quadBezTo>
                <a:close/>
              </a:path>
            </a:pathLst>
          </a:custGeom>
          <a:solidFill>
            <a:srgbClr val="FFFFFF"/>
          </a:solidFill>
          <a:ln/>
        </p:spPr>
      </p:sp>
      <p:sp>
        <p:nvSpPr>
          <p:cNvPr id="20" name="Shape 11"/>
          <p:cNvSpPr/>
          <p:nvPr/>
        </p:nvSpPr>
        <p:spPr>
          <a:xfrm>
            <a:off x="7691553" y="4005238"/>
            <a:ext cx="1043133" cy="701983"/>
          </a:xfrm>
          <a:custGeom>
            <a:avLst/>
            <a:gdLst/>
            <a:ahLst/>
            <a:cxnLst/>
            <a:rect l="l" t="t" r="r" b="b"/>
            <a:pathLst>
              <a:path w="1043133" h="701983">
                <a:moveTo>
                  <a:pt x="87630" y="0"/>
                </a:moveTo>
                <a:lnTo>
                  <a:pt x="955357" y="0"/>
                </a:lnTo>
                <a:quadBezTo>
                  <a:pt x="1042988" y="0"/>
                  <a:pt x="1042988" y="87630"/>
                </a:quadBezTo>
                <a:lnTo>
                  <a:pt x="1042988" y="614363"/>
                </a:lnTo>
                <a:quadBezTo>
                  <a:pt x="1042988" y="701993"/>
                  <a:pt x="955357" y="701993"/>
                </a:quadBezTo>
                <a:lnTo>
                  <a:pt x="87630" y="701993"/>
                </a:lnTo>
                <a:quadBezTo>
                  <a:pt x="0" y="701993"/>
                  <a:pt x="0" y="614363"/>
                </a:quadBezTo>
                <a:lnTo>
                  <a:pt x="0" y="87630"/>
                </a:lnTo>
                <a:quadBezTo>
                  <a:pt x="0" y="0"/>
                  <a:pt x="87630" y="0"/>
                </a:quadBezTo>
                <a:close/>
              </a:path>
            </a:pathLst>
          </a:custGeom>
          <a:solidFill>
            <a:srgbClr val="FFFFFF"/>
          </a:solidFill>
          <a:ln/>
          <a:effectLst>
            <a:outerShdw blurRad="38100" dist="21299" dir="3806097" algn="bl" rotWithShape="0">
              <a:srgbClr val="555555">
                <a:alpha val="100000"/>
              </a:srgbClr>
            </a:outerShdw>
          </a:effectLst>
        </p:spPr>
      </p:sp>
      <p:pic>
        <p:nvPicPr>
          <p:cNvPr id="21" name="Image 7" descr="preencoded.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731289" y="4078255"/>
            <a:ext cx="588752" cy="588752"/>
          </a:xfrm>
          <a:prstGeom prst="rect">
            <a:avLst/>
          </a:prstGeom>
        </p:spPr>
      </p:pic>
      <p:pic>
        <p:nvPicPr>
          <p:cNvPr id="22" name="Image 8" descr="preencoded.png"/>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7974509" y="4117619"/>
            <a:ext cx="477222" cy="47722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img.tukuppt.com/aippt_uploads/34576449/25/07/03/6866a18678cda.png!/fwfh2/960x960"/>
          <p:cNvPicPr>
            <a:picLocks noChangeAspect="1"/>
          </p:cNvPicPr>
          <p:nvPr/>
        </p:nvPicPr>
        <p:blipFill>
          <a:blip r:embed="rId3"/>
          <a:stretch>
            <a:fillRect/>
          </a:stretch>
        </p:blipFill>
        <p:spPr>
          <a:xfrm>
            <a:off x="0" y="0"/>
            <a:ext cx="9140180" cy="5131830"/>
          </a:xfrm>
          <a:prstGeom prst="rect">
            <a:avLst/>
          </a:prstGeom>
        </p:spPr>
      </p:pic>
      <p:sp>
        <p:nvSpPr>
          <p:cNvPr id="3" name="Shape 0"/>
          <p:cNvSpPr/>
          <p:nvPr/>
        </p:nvSpPr>
        <p:spPr>
          <a:xfrm>
            <a:off x="979384" y="287863"/>
            <a:ext cx="2872893" cy="412023"/>
          </a:xfrm>
          <a:custGeom>
            <a:avLst/>
            <a:gdLst/>
            <a:ahLst/>
            <a:cxnLst/>
            <a:rect l="l" t="t" r="r" b="b"/>
            <a:pathLst>
              <a:path w="2872893" h="412023">
                <a:moveTo>
                  <a:pt x="68568" y="0"/>
                </a:moveTo>
                <a:lnTo>
                  <a:pt x="2803673" y="0"/>
                </a:lnTo>
                <a:cubicBezTo>
                  <a:pt x="2841542" y="0"/>
                  <a:pt x="2872241" y="30699"/>
                  <a:pt x="2872241" y="68568"/>
                </a:cubicBezTo>
                <a:lnTo>
                  <a:pt x="2872241" y="342840"/>
                </a:lnTo>
                <a:cubicBezTo>
                  <a:pt x="2872241" y="380710"/>
                  <a:pt x="2841542" y="411409"/>
                  <a:pt x="2803673" y="411409"/>
                </a:cubicBezTo>
                <a:lnTo>
                  <a:pt x="68568" y="411409"/>
                </a:lnTo>
                <a:cubicBezTo>
                  <a:pt x="30699" y="411409"/>
                  <a:pt x="0" y="380710"/>
                  <a:pt x="0" y="342840"/>
                </a:cubicBezTo>
                <a:lnTo>
                  <a:pt x="0" y="68568"/>
                </a:lnTo>
                <a:cubicBezTo>
                  <a:pt x="0" y="30724"/>
                  <a:pt x="30724" y="0"/>
                  <a:pt x="68568" y="0"/>
                </a:cubicBezTo>
                <a:close/>
              </a:path>
            </a:pathLst>
          </a:custGeom>
          <a:solidFill>
            <a:srgbClr val="0067B4"/>
          </a:solidFill>
          <a:ln/>
          <a:effectLst>
            <a:outerShdw dist="38093" dir="2700000" algn="bl" rotWithShape="0">
              <a:srgbClr val="000000">
                <a:alpha val="38824"/>
              </a:srgbClr>
            </a:outerShdw>
          </a:effectLst>
        </p:spPr>
      </p:sp>
      <p:sp>
        <p:nvSpPr>
          <p:cNvPr id="4" name="Shape 1"/>
          <p:cNvSpPr/>
          <p:nvPr/>
        </p:nvSpPr>
        <p:spPr>
          <a:xfrm>
            <a:off x="1188456" y="329442"/>
            <a:ext cx="2735844" cy="339064"/>
          </a:xfrm>
          <a:custGeom>
            <a:avLst/>
            <a:gdLst/>
            <a:ahLst/>
            <a:cxnLst/>
            <a:rect l="l" t="t" r="r" b="b"/>
            <a:pathLst>
              <a:path w="2735844" h="339064">
                <a:moveTo>
                  <a:pt x="0" y="0"/>
                </a:moveTo>
                <a:lnTo>
                  <a:pt x="2735844" y="0"/>
                </a:lnTo>
                <a:lnTo>
                  <a:pt x="2735844" y="339064"/>
                </a:lnTo>
                <a:lnTo>
                  <a:pt x="0" y="339064"/>
                </a:lnTo>
                <a:close/>
              </a:path>
            </a:pathLst>
          </a:custGeom>
          <a:noFill/>
          <a:ln/>
        </p:spPr>
      </p:sp>
      <p:sp>
        <p:nvSpPr>
          <p:cNvPr id="5" name="Text 2"/>
          <p:cNvSpPr txBox="1"/>
          <p:nvPr/>
        </p:nvSpPr>
        <p:spPr>
          <a:xfrm>
            <a:off x="1188456" y="329442"/>
            <a:ext cx="2735844" cy="339064"/>
          </a:xfrm>
          <a:prstGeom prst="rect">
            <a:avLst/>
          </a:prstGeom>
          <a:noFill/>
          <a:ln/>
        </p:spPr>
        <p:txBody>
          <a:bodyPr wrap="square" lIns="1252" tIns="653" rIns="1252" bIns="653" rtlCol="0" anchor="t">
            <a:spAutoFit/>
          </a:bodyPr>
          <a:lstStyle/>
          <a:p>
            <a:pPr marL="0" indent="0" algn="l">
              <a:buNone/>
            </a:pPr>
            <a:r>
              <a:rPr lang="zh-CN" altLang="en-US" sz="1601" dirty="0">
                <a:solidFill>
                  <a:srgbClr val="64CBFF"/>
                </a:solidFill>
                <a:latin typeface="SourceHanSansSC-Medium"/>
                <a:ea typeface="SourceHanSansSC-Medium"/>
                <a:cs typeface="SourceHanSansSC-Medium"/>
              </a:rPr>
              <a:t>可避免与不可避免成本</a:t>
            </a:r>
            <a:endParaRPr lang="en-US" sz="1601" dirty="0"/>
          </a:p>
        </p:txBody>
      </p:sp>
      <p:sp>
        <p:nvSpPr>
          <p:cNvPr id="6" name="Shape 3"/>
          <p:cNvSpPr/>
          <p:nvPr/>
        </p:nvSpPr>
        <p:spPr>
          <a:xfrm>
            <a:off x="471488" y="198466"/>
            <a:ext cx="461756" cy="542999"/>
          </a:xfrm>
          <a:custGeom>
            <a:avLst/>
            <a:gdLst/>
            <a:ahLst/>
            <a:cxnLst/>
            <a:rect l="l" t="t" r="r" b="b"/>
            <a:pathLst>
              <a:path w="461756" h="542999">
                <a:moveTo>
                  <a:pt x="77457" y="0"/>
                </a:moveTo>
                <a:lnTo>
                  <a:pt x="384743" y="0"/>
                </a:lnTo>
                <a:cubicBezTo>
                  <a:pt x="427521" y="0"/>
                  <a:pt x="462200" y="34678"/>
                  <a:pt x="462200" y="77457"/>
                </a:cubicBezTo>
                <a:lnTo>
                  <a:pt x="462200" y="466009"/>
                </a:lnTo>
                <a:cubicBezTo>
                  <a:pt x="462200" y="508787"/>
                  <a:pt x="427521" y="543466"/>
                  <a:pt x="384743" y="543466"/>
                </a:cubicBezTo>
                <a:lnTo>
                  <a:pt x="77457" y="543466"/>
                </a:lnTo>
                <a:cubicBezTo>
                  <a:pt x="34678" y="543466"/>
                  <a:pt x="0" y="508787"/>
                  <a:pt x="0" y="466009"/>
                </a:cubicBezTo>
                <a:lnTo>
                  <a:pt x="0" y="77457"/>
                </a:lnTo>
                <a:cubicBezTo>
                  <a:pt x="0" y="34678"/>
                  <a:pt x="34678" y="0"/>
                  <a:pt x="77457" y="0"/>
                </a:cubicBezTo>
                <a:close/>
              </a:path>
            </a:pathLst>
          </a:custGeom>
          <a:solidFill>
            <a:srgbClr val="0067B4"/>
          </a:solidFill>
          <a:ln/>
          <a:effectLst>
            <a:outerShdw dist="38093" dir="2700000" algn="bl" rotWithShape="0">
              <a:srgbClr val="000000">
                <a:alpha val="38824"/>
              </a:srgbClr>
            </a:outerShdw>
          </a:effectLst>
        </p:spPr>
      </p:sp>
      <p:sp>
        <p:nvSpPr>
          <p:cNvPr id="7" name="Shape 4"/>
          <p:cNvSpPr/>
          <p:nvPr/>
        </p:nvSpPr>
        <p:spPr>
          <a:xfrm>
            <a:off x="482166" y="206110"/>
            <a:ext cx="433263" cy="535355"/>
          </a:xfrm>
          <a:custGeom>
            <a:avLst/>
            <a:gdLst/>
            <a:ahLst/>
            <a:cxnLst/>
            <a:rect l="l" t="t" r="r" b="b"/>
            <a:pathLst>
              <a:path w="433263" h="535355">
                <a:moveTo>
                  <a:pt x="73647" y="0"/>
                </a:moveTo>
                <a:lnTo>
                  <a:pt x="366966" y="0"/>
                </a:lnTo>
                <a:cubicBezTo>
                  <a:pt x="396171" y="0"/>
                  <a:pt x="421567" y="15237"/>
                  <a:pt x="432995" y="35554"/>
                </a:cubicBezTo>
                <a:cubicBezTo>
                  <a:pt x="186658" y="119359"/>
                  <a:pt x="11428" y="311096"/>
                  <a:pt x="1270" y="535847"/>
                </a:cubicBezTo>
                <a:cubicBezTo>
                  <a:pt x="0" y="533307"/>
                  <a:pt x="0" y="532038"/>
                  <a:pt x="0" y="529498"/>
                </a:cubicBezTo>
                <a:lnTo>
                  <a:pt x="0" y="60949"/>
                </a:lnTo>
                <a:cubicBezTo>
                  <a:pt x="0" y="26665"/>
                  <a:pt x="33014" y="0"/>
                  <a:pt x="73647" y="0"/>
                </a:cubicBezTo>
                <a:close/>
              </a:path>
            </a:pathLst>
          </a:custGeom>
          <a:gradFill>
            <a:gsLst>
              <a:gs pos="0">
                <a:srgbClr val="64CBFF">
                  <a:alpha val="34902"/>
                </a:srgbClr>
              </a:gs>
              <a:gs pos="100000">
                <a:srgbClr val="2F5897">
                  <a:alpha val="100000"/>
                </a:srgbClr>
              </a:gs>
            </a:gsLst>
            <a:lin ang="1200000" scaled="1"/>
          </a:gradFill>
          <a:ln/>
        </p:spPr>
      </p:sp>
      <p:pic>
        <p:nvPicPr>
          <p:cNvPr id="8" name="Image 1" descr="//img.tukuppt.com/aippt_tpl_uploads/25/07/01/686397e7ae4cf.png"/>
          <p:cNvPicPr>
            <a:picLocks noChangeAspect="1"/>
          </p:cNvPicPr>
          <p:nvPr/>
        </p:nvPicPr>
        <p:blipFill>
          <a:blip r:embed="rId4"/>
          <a:srcRect/>
          <a:stretch/>
        </p:blipFill>
        <p:spPr>
          <a:xfrm flipH="1">
            <a:off x="787710" y="346921"/>
            <a:ext cx="255659" cy="98905"/>
          </a:xfrm>
          <a:prstGeom prst="rect">
            <a:avLst/>
          </a:prstGeom>
        </p:spPr>
      </p:pic>
      <p:pic>
        <p:nvPicPr>
          <p:cNvPr id="9" name="Image 2" descr="//img.tukuppt.com/aippt_tpl_uploads/25/07/01/686397e7ae4cf.png"/>
          <p:cNvPicPr>
            <a:picLocks noChangeAspect="1"/>
          </p:cNvPicPr>
          <p:nvPr/>
        </p:nvPicPr>
        <p:blipFill>
          <a:blip r:embed="rId4"/>
          <a:srcRect/>
          <a:stretch/>
        </p:blipFill>
        <p:spPr>
          <a:xfrm flipH="1">
            <a:off x="787710" y="549201"/>
            <a:ext cx="255659" cy="98905"/>
          </a:xfrm>
          <a:prstGeom prst="rect">
            <a:avLst/>
          </a:prstGeom>
        </p:spPr>
      </p:pic>
      <p:pic>
        <p:nvPicPr>
          <p:cNvPr id="10" name="Image 3" descr="//img.tukuppt.com/aippt_tpl_uploads/25/07/01/686397e7b8f81.png"/>
          <p:cNvPicPr>
            <a:picLocks noChangeAspect="1"/>
          </p:cNvPicPr>
          <p:nvPr/>
        </p:nvPicPr>
        <p:blipFill>
          <a:blip r:embed="rId5"/>
          <a:srcRect/>
          <a:stretch/>
        </p:blipFill>
        <p:spPr>
          <a:xfrm>
            <a:off x="539206" y="312920"/>
            <a:ext cx="321318" cy="321734"/>
          </a:xfrm>
          <a:prstGeom prst="rect">
            <a:avLst/>
          </a:prstGeom>
        </p:spPr>
      </p:pic>
      <p:pic>
        <p:nvPicPr>
          <p:cNvPr id="11" name="Image 4" descr="//img.tukuppt.com/aippt_tpl_uploads/25/07/01/686397e7af1a3.png!/fwfh2/960x960"/>
          <p:cNvPicPr>
            <a:picLocks noChangeAspect="1"/>
          </p:cNvPicPr>
          <p:nvPr/>
        </p:nvPicPr>
        <p:blipFill>
          <a:blip r:embed="rId6"/>
          <a:srcRect l="36452" t="56544" b="34700"/>
          <a:stretch/>
        </p:blipFill>
        <p:spPr>
          <a:xfrm>
            <a:off x="-4836" y="-812736"/>
            <a:ext cx="9148837" cy="1019042"/>
          </a:xfrm>
          <a:prstGeom prst="rect">
            <a:avLst/>
          </a:prstGeom>
        </p:spPr>
      </p:pic>
      <p:pic>
        <p:nvPicPr>
          <p:cNvPr id="12" name="Image 5" descr="//img.tukuppt.com/aippt_tpl_uploads/25/07/01/686397e7af1a3.png!/fwfh2/960x960"/>
          <p:cNvPicPr>
            <a:picLocks noChangeAspect="1"/>
          </p:cNvPicPr>
          <p:nvPr/>
        </p:nvPicPr>
        <p:blipFill>
          <a:blip r:embed="rId6"/>
          <a:srcRect l="36452" t="56544" b="34700"/>
          <a:stretch/>
        </p:blipFill>
        <p:spPr>
          <a:xfrm>
            <a:off x="-61352" y="4937888"/>
            <a:ext cx="9313872" cy="1019042"/>
          </a:xfrm>
          <a:prstGeom prst="rect">
            <a:avLst/>
          </a:prstGeom>
        </p:spPr>
      </p:pic>
      <p:sp>
        <p:nvSpPr>
          <p:cNvPr id="13" name="Shape 5"/>
          <p:cNvSpPr/>
          <p:nvPr/>
        </p:nvSpPr>
        <p:spPr>
          <a:xfrm>
            <a:off x="659303" y="1712313"/>
            <a:ext cx="5255030" cy="2519265"/>
          </a:xfrm>
          <a:custGeom>
            <a:avLst/>
            <a:gdLst/>
            <a:ahLst/>
            <a:cxnLst/>
            <a:rect l="l" t="t" r="r" b="b"/>
            <a:pathLst>
              <a:path w="5255030" h="2519265">
                <a:moveTo>
                  <a:pt x="0" y="0"/>
                </a:moveTo>
                <a:lnTo>
                  <a:pt x="5255030" y="0"/>
                </a:lnTo>
                <a:lnTo>
                  <a:pt x="5255030" y="2519265"/>
                </a:lnTo>
                <a:lnTo>
                  <a:pt x="0" y="2519265"/>
                </a:lnTo>
                <a:close/>
              </a:path>
            </a:pathLst>
          </a:custGeom>
          <a:solidFill>
            <a:srgbClr val="0067B4">
              <a:alpha val="15000"/>
            </a:srgbClr>
          </a:solidFill>
          <a:ln/>
        </p:spPr>
      </p:sp>
      <p:sp>
        <p:nvSpPr>
          <p:cNvPr id="15" name="Shape 7"/>
          <p:cNvSpPr/>
          <p:nvPr/>
        </p:nvSpPr>
        <p:spPr>
          <a:xfrm>
            <a:off x="659303" y="1587662"/>
            <a:ext cx="2433978" cy="124651"/>
          </a:xfrm>
          <a:custGeom>
            <a:avLst/>
            <a:gdLst/>
            <a:ahLst/>
            <a:cxnLst/>
            <a:rect l="l" t="t" r="r" b="b"/>
            <a:pathLst>
              <a:path w="2433978" h="124651">
                <a:moveTo>
                  <a:pt x="0" y="0"/>
                </a:moveTo>
                <a:lnTo>
                  <a:pt x="2433978" y="0"/>
                </a:lnTo>
                <a:lnTo>
                  <a:pt x="2433978" y="124651"/>
                </a:lnTo>
                <a:lnTo>
                  <a:pt x="0" y="124651"/>
                </a:lnTo>
                <a:close/>
              </a:path>
            </a:pathLst>
          </a:custGeom>
          <a:gradFill>
            <a:gsLst>
              <a:gs pos="0">
                <a:srgbClr val="147BC8">
                  <a:alpha val="100000"/>
                </a:srgbClr>
              </a:gs>
              <a:gs pos="100000">
                <a:srgbClr val="0067B4">
                  <a:alpha val="100000"/>
                </a:srgbClr>
              </a:gs>
            </a:gsLst>
            <a:lin ang="960000" scaled="1"/>
          </a:gradFill>
          <a:ln/>
        </p:spPr>
      </p:sp>
      <p:sp>
        <p:nvSpPr>
          <p:cNvPr id="16" name="Text 8"/>
          <p:cNvSpPr txBox="1"/>
          <p:nvPr/>
        </p:nvSpPr>
        <p:spPr>
          <a:xfrm>
            <a:off x="1144167" y="2319775"/>
            <a:ext cx="4146631" cy="335999"/>
          </a:xfrm>
          <a:prstGeom prst="rect">
            <a:avLst/>
          </a:prstGeom>
          <a:noFill/>
          <a:ln/>
        </p:spPr>
        <p:txBody>
          <a:bodyPr wrap="square" lIns="0" tIns="0" rIns="0" bIns="0" rtlCol="0" anchor="ctr">
            <a:spAutoFit/>
          </a:bodyPr>
          <a:lstStyle/>
          <a:p>
            <a:pPr marL="0" indent="0" algn="l">
              <a:buNone/>
            </a:pPr>
            <a:r>
              <a:rPr lang="zh-CN" altLang="en-US" sz="1350" b="1" dirty="0">
                <a:solidFill>
                  <a:srgbClr val="000000"/>
                </a:solidFill>
                <a:latin typeface="SourceHanSansSC-Regular"/>
                <a:ea typeface="SourceHanSansSC-Regular"/>
                <a:cs typeface="SourceHanSansSC-Regular"/>
              </a:rPr>
              <a:t>成本分类</a:t>
            </a:r>
            <a:endParaRPr lang="en-US" sz="1350" dirty="0"/>
          </a:p>
        </p:txBody>
      </p:sp>
      <p:sp>
        <p:nvSpPr>
          <p:cNvPr id="17" name="Text 9"/>
          <p:cNvSpPr txBox="1"/>
          <p:nvPr/>
        </p:nvSpPr>
        <p:spPr>
          <a:xfrm>
            <a:off x="1144167" y="2757342"/>
            <a:ext cx="4052888" cy="742950"/>
          </a:xfrm>
          <a:prstGeom prst="rect">
            <a:avLst/>
          </a:prstGeom>
          <a:noFill/>
          <a:ln/>
        </p:spPr>
        <p:txBody>
          <a:bodyPr wrap="square" lIns="0" tIns="0" rIns="0" bIns="0" rtlCol="0" anchor="t">
            <a:spAutoFit/>
          </a:bodyPr>
          <a:lstStyle/>
          <a:p>
            <a:pPr marL="0" indent="0" algn="l">
              <a:lnSpc>
                <a:spcPct val="104000"/>
              </a:lnSpc>
              <a:buNone/>
            </a:pPr>
            <a:r>
              <a:rPr lang="zh-CN" altLang="en-US" sz="900" dirty="0">
                <a:solidFill>
                  <a:srgbClr val="3F3F3F"/>
                </a:solidFill>
                <a:latin typeface="SourceHanSansSC-Regular"/>
                <a:ea typeface="SourceHanSansSC-Regular"/>
                <a:cs typeface="SourceHanSansSC-Regular"/>
              </a:rPr>
              <a:t>可避免成本是指通过选择某一备选方案而能完全或部分消除的成本，这类成本属于相关成本；不可避免成本则是无论选择哪种方案都无法消除的成本，属于无关成本。例如，在企业决策中，某些设备的租赁费用，如果选择停止使用该设备，租赁费用就可以避免，这就是可避免成本。</a:t>
            </a:r>
            <a:endParaRPr lang="en-US" sz="900" dirty="0"/>
          </a:p>
        </p:txBody>
      </p:sp>
      <p:pic>
        <p:nvPicPr>
          <p:cNvPr id="18" name="Image 6" descr="//img.tukuppt.com/aippt_uploads/1852105/24/07/05/668761cb1fce9.jpg!/fwfh2/960x960">
            <a:extLst>
              <a:ext uri="{FF2B5EF4-FFF2-40B4-BE49-F238E27FC236}">
                <a16:creationId xmlns:a16="http://schemas.microsoft.com/office/drawing/2014/main" id="{78AFF5BE-41CC-412B-BDEF-663D1815FC23}"/>
              </a:ext>
            </a:extLst>
          </p:cNvPr>
          <p:cNvPicPr>
            <a:picLocks noChangeAspect="1"/>
          </p:cNvPicPr>
          <p:nvPr/>
        </p:nvPicPr>
        <p:blipFill>
          <a:blip r:embed="rId7"/>
          <a:stretch>
            <a:fillRect/>
          </a:stretch>
        </p:blipFill>
        <p:spPr>
          <a:xfrm>
            <a:off x="5975685" y="1391607"/>
            <a:ext cx="2844764" cy="284476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img.tukuppt.com/aippt_uploads/34576449/25/07/03/6866a18678cda.png!/fwfh2/960x960"/>
          <p:cNvPicPr>
            <a:picLocks noChangeAspect="1"/>
          </p:cNvPicPr>
          <p:nvPr/>
        </p:nvPicPr>
        <p:blipFill>
          <a:blip r:embed="rId3"/>
          <a:stretch>
            <a:fillRect/>
          </a:stretch>
        </p:blipFill>
        <p:spPr>
          <a:xfrm>
            <a:off x="0" y="0"/>
            <a:ext cx="9140180" cy="5131830"/>
          </a:xfrm>
          <a:prstGeom prst="rect">
            <a:avLst/>
          </a:prstGeom>
        </p:spPr>
      </p:pic>
      <p:sp>
        <p:nvSpPr>
          <p:cNvPr id="3" name="Shape 0"/>
          <p:cNvSpPr/>
          <p:nvPr/>
        </p:nvSpPr>
        <p:spPr>
          <a:xfrm>
            <a:off x="979384" y="287863"/>
            <a:ext cx="2872893" cy="412023"/>
          </a:xfrm>
          <a:custGeom>
            <a:avLst/>
            <a:gdLst/>
            <a:ahLst/>
            <a:cxnLst/>
            <a:rect l="l" t="t" r="r" b="b"/>
            <a:pathLst>
              <a:path w="2872893" h="412023">
                <a:moveTo>
                  <a:pt x="68568" y="0"/>
                </a:moveTo>
                <a:lnTo>
                  <a:pt x="2803673" y="0"/>
                </a:lnTo>
                <a:cubicBezTo>
                  <a:pt x="2841542" y="0"/>
                  <a:pt x="2872241" y="30699"/>
                  <a:pt x="2872241" y="68568"/>
                </a:cubicBezTo>
                <a:lnTo>
                  <a:pt x="2872241" y="342840"/>
                </a:lnTo>
                <a:cubicBezTo>
                  <a:pt x="2872241" y="380710"/>
                  <a:pt x="2841542" y="411409"/>
                  <a:pt x="2803673" y="411409"/>
                </a:cubicBezTo>
                <a:lnTo>
                  <a:pt x="68568" y="411409"/>
                </a:lnTo>
                <a:cubicBezTo>
                  <a:pt x="30699" y="411409"/>
                  <a:pt x="0" y="380710"/>
                  <a:pt x="0" y="342840"/>
                </a:cubicBezTo>
                <a:lnTo>
                  <a:pt x="0" y="68568"/>
                </a:lnTo>
                <a:cubicBezTo>
                  <a:pt x="0" y="30724"/>
                  <a:pt x="30724" y="0"/>
                  <a:pt x="68568" y="0"/>
                </a:cubicBezTo>
                <a:close/>
              </a:path>
            </a:pathLst>
          </a:custGeom>
          <a:solidFill>
            <a:srgbClr val="0067B4"/>
          </a:solidFill>
          <a:ln/>
          <a:effectLst>
            <a:outerShdw dist="38093" dir="2700000" algn="bl" rotWithShape="0">
              <a:srgbClr val="000000">
                <a:alpha val="38824"/>
              </a:srgbClr>
            </a:outerShdw>
          </a:effectLst>
        </p:spPr>
      </p:sp>
      <p:sp>
        <p:nvSpPr>
          <p:cNvPr id="4" name="Shape 1"/>
          <p:cNvSpPr/>
          <p:nvPr/>
        </p:nvSpPr>
        <p:spPr>
          <a:xfrm>
            <a:off x="1188456" y="329442"/>
            <a:ext cx="2735844" cy="339064"/>
          </a:xfrm>
          <a:custGeom>
            <a:avLst/>
            <a:gdLst/>
            <a:ahLst/>
            <a:cxnLst/>
            <a:rect l="l" t="t" r="r" b="b"/>
            <a:pathLst>
              <a:path w="2735844" h="339064">
                <a:moveTo>
                  <a:pt x="0" y="0"/>
                </a:moveTo>
                <a:lnTo>
                  <a:pt x="2735844" y="0"/>
                </a:lnTo>
                <a:lnTo>
                  <a:pt x="2735844" y="339064"/>
                </a:lnTo>
                <a:lnTo>
                  <a:pt x="0" y="339064"/>
                </a:lnTo>
                <a:close/>
              </a:path>
            </a:pathLst>
          </a:custGeom>
          <a:noFill/>
          <a:ln/>
        </p:spPr>
      </p:sp>
      <p:sp>
        <p:nvSpPr>
          <p:cNvPr id="5" name="Text 2"/>
          <p:cNvSpPr txBox="1"/>
          <p:nvPr/>
        </p:nvSpPr>
        <p:spPr>
          <a:xfrm>
            <a:off x="1188456" y="329442"/>
            <a:ext cx="2735844" cy="339064"/>
          </a:xfrm>
          <a:prstGeom prst="rect">
            <a:avLst/>
          </a:prstGeom>
          <a:noFill/>
          <a:ln/>
        </p:spPr>
        <p:txBody>
          <a:bodyPr wrap="square" lIns="1252" tIns="653" rIns="1252" bIns="653" rtlCol="0" anchor="t">
            <a:spAutoFit/>
          </a:bodyPr>
          <a:lstStyle/>
          <a:p>
            <a:pPr marL="0" indent="0" algn="l">
              <a:buNone/>
            </a:pPr>
            <a:r>
              <a:rPr lang="zh-CN" altLang="en-US" sz="1601" dirty="0">
                <a:solidFill>
                  <a:srgbClr val="64CBFF"/>
                </a:solidFill>
                <a:latin typeface="SourceHanSansSC-Medium"/>
                <a:ea typeface="SourceHanSansSC-Medium"/>
                <a:cs typeface="SourceHanSansSC-Medium"/>
              </a:rPr>
              <a:t>无关成本类型</a:t>
            </a:r>
            <a:endParaRPr lang="en-US" sz="1601" dirty="0"/>
          </a:p>
        </p:txBody>
      </p:sp>
      <p:sp>
        <p:nvSpPr>
          <p:cNvPr id="6" name="Shape 3"/>
          <p:cNvSpPr/>
          <p:nvPr/>
        </p:nvSpPr>
        <p:spPr>
          <a:xfrm>
            <a:off x="471488" y="198466"/>
            <a:ext cx="461756" cy="542999"/>
          </a:xfrm>
          <a:custGeom>
            <a:avLst/>
            <a:gdLst/>
            <a:ahLst/>
            <a:cxnLst/>
            <a:rect l="l" t="t" r="r" b="b"/>
            <a:pathLst>
              <a:path w="461756" h="542999">
                <a:moveTo>
                  <a:pt x="77457" y="0"/>
                </a:moveTo>
                <a:lnTo>
                  <a:pt x="384743" y="0"/>
                </a:lnTo>
                <a:cubicBezTo>
                  <a:pt x="427521" y="0"/>
                  <a:pt x="462200" y="34678"/>
                  <a:pt x="462200" y="77457"/>
                </a:cubicBezTo>
                <a:lnTo>
                  <a:pt x="462200" y="466009"/>
                </a:lnTo>
                <a:cubicBezTo>
                  <a:pt x="462200" y="508787"/>
                  <a:pt x="427521" y="543466"/>
                  <a:pt x="384743" y="543466"/>
                </a:cubicBezTo>
                <a:lnTo>
                  <a:pt x="77457" y="543466"/>
                </a:lnTo>
                <a:cubicBezTo>
                  <a:pt x="34678" y="543466"/>
                  <a:pt x="0" y="508787"/>
                  <a:pt x="0" y="466009"/>
                </a:cubicBezTo>
                <a:lnTo>
                  <a:pt x="0" y="77457"/>
                </a:lnTo>
                <a:cubicBezTo>
                  <a:pt x="0" y="34678"/>
                  <a:pt x="34678" y="0"/>
                  <a:pt x="77457" y="0"/>
                </a:cubicBezTo>
                <a:close/>
              </a:path>
            </a:pathLst>
          </a:custGeom>
          <a:solidFill>
            <a:srgbClr val="0067B4"/>
          </a:solidFill>
          <a:ln/>
          <a:effectLst>
            <a:outerShdw dist="38093" dir="2700000" algn="bl" rotWithShape="0">
              <a:srgbClr val="000000">
                <a:alpha val="38824"/>
              </a:srgbClr>
            </a:outerShdw>
          </a:effectLst>
        </p:spPr>
      </p:sp>
      <p:sp>
        <p:nvSpPr>
          <p:cNvPr id="7" name="Shape 4"/>
          <p:cNvSpPr/>
          <p:nvPr/>
        </p:nvSpPr>
        <p:spPr>
          <a:xfrm>
            <a:off x="482166" y="206110"/>
            <a:ext cx="433263" cy="535355"/>
          </a:xfrm>
          <a:custGeom>
            <a:avLst/>
            <a:gdLst/>
            <a:ahLst/>
            <a:cxnLst/>
            <a:rect l="l" t="t" r="r" b="b"/>
            <a:pathLst>
              <a:path w="433263" h="535355">
                <a:moveTo>
                  <a:pt x="73647" y="0"/>
                </a:moveTo>
                <a:lnTo>
                  <a:pt x="366966" y="0"/>
                </a:lnTo>
                <a:cubicBezTo>
                  <a:pt x="396171" y="0"/>
                  <a:pt x="421567" y="15237"/>
                  <a:pt x="432995" y="35554"/>
                </a:cubicBezTo>
                <a:cubicBezTo>
                  <a:pt x="186658" y="119359"/>
                  <a:pt x="11428" y="311096"/>
                  <a:pt x="1270" y="535847"/>
                </a:cubicBezTo>
                <a:cubicBezTo>
                  <a:pt x="0" y="533307"/>
                  <a:pt x="0" y="532038"/>
                  <a:pt x="0" y="529498"/>
                </a:cubicBezTo>
                <a:lnTo>
                  <a:pt x="0" y="60949"/>
                </a:lnTo>
                <a:cubicBezTo>
                  <a:pt x="0" y="26665"/>
                  <a:pt x="33014" y="0"/>
                  <a:pt x="73647" y="0"/>
                </a:cubicBezTo>
                <a:close/>
              </a:path>
            </a:pathLst>
          </a:custGeom>
          <a:gradFill>
            <a:gsLst>
              <a:gs pos="0">
                <a:srgbClr val="64CBFF">
                  <a:alpha val="34902"/>
                </a:srgbClr>
              </a:gs>
              <a:gs pos="100000">
                <a:srgbClr val="2F5897">
                  <a:alpha val="100000"/>
                </a:srgbClr>
              </a:gs>
            </a:gsLst>
            <a:lin ang="1200000" scaled="1"/>
          </a:gradFill>
          <a:ln/>
        </p:spPr>
      </p:sp>
      <p:pic>
        <p:nvPicPr>
          <p:cNvPr id="8" name="Image 1" descr="//img.tukuppt.com/aippt_tpl_uploads/25/07/01/686397e7ae4cf.png"/>
          <p:cNvPicPr>
            <a:picLocks noChangeAspect="1"/>
          </p:cNvPicPr>
          <p:nvPr/>
        </p:nvPicPr>
        <p:blipFill>
          <a:blip r:embed="rId4"/>
          <a:srcRect/>
          <a:stretch/>
        </p:blipFill>
        <p:spPr>
          <a:xfrm flipH="1">
            <a:off x="787710" y="346921"/>
            <a:ext cx="255659" cy="98905"/>
          </a:xfrm>
          <a:prstGeom prst="rect">
            <a:avLst/>
          </a:prstGeom>
        </p:spPr>
      </p:pic>
      <p:pic>
        <p:nvPicPr>
          <p:cNvPr id="9" name="Image 2" descr="//img.tukuppt.com/aippt_tpl_uploads/25/07/01/686397e7ae4cf.png"/>
          <p:cNvPicPr>
            <a:picLocks noChangeAspect="1"/>
          </p:cNvPicPr>
          <p:nvPr/>
        </p:nvPicPr>
        <p:blipFill>
          <a:blip r:embed="rId4"/>
          <a:srcRect/>
          <a:stretch/>
        </p:blipFill>
        <p:spPr>
          <a:xfrm flipH="1">
            <a:off x="787710" y="549201"/>
            <a:ext cx="255659" cy="98905"/>
          </a:xfrm>
          <a:prstGeom prst="rect">
            <a:avLst/>
          </a:prstGeom>
        </p:spPr>
      </p:pic>
      <p:pic>
        <p:nvPicPr>
          <p:cNvPr id="10" name="Image 3" descr="//img.tukuppt.com/aippt_tpl_uploads/25/07/01/686397e7b8f81.png"/>
          <p:cNvPicPr>
            <a:picLocks noChangeAspect="1"/>
          </p:cNvPicPr>
          <p:nvPr/>
        </p:nvPicPr>
        <p:blipFill>
          <a:blip r:embed="rId5"/>
          <a:srcRect/>
          <a:stretch/>
        </p:blipFill>
        <p:spPr>
          <a:xfrm>
            <a:off x="539206" y="312920"/>
            <a:ext cx="321318" cy="321734"/>
          </a:xfrm>
          <a:prstGeom prst="rect">
            <a:avLst/>
          </a:prstGeom>
        </p:spPr>
      </p:pic>
      <p:pic>
        <p:nvPicPr>
          <p:cNvPr id="11" name="Image 4" descr="//img.tukuppt.com/aippt_tpl_uploads/25/07/01/686397e7af1a3.png!/fwfh2/960x960"/>
          <p:cNvPicPr>
            <a:picLocks noChangeAspect="1"/>
          </p:cNvPicPr>
          <p:nvPr/>
        </p:nvPicPr>
        <p:blipFill>
          <a:blip r:embed="rId6"/>
          <a:srcRect l="36452" t="56544" b="34700"/>
          <a:stretch/>
        </p:blipFill>
        <p:spPr>
          <a:xfrm>
            <a:off x="-4836" y="-812736"/>
            <a:ext cx="9148837" cy="1019042"/>
          </a:xfrm>
          <a:prstGeom prst="rect">
            <a:avLst/>
          </a:prstGeom>
        </p:spPr>
      </p:pic>
      <p:pic>
        <p:nvPicPr>
          <p:cNvPr id="12" name="Image 5" descr="//img.tukuppt.com/aippt_tpl_uploads/25/07/01/686397e7af1a3.png!/fwfh2/960x960"/>
          <p:cNvPicPr>
            <a:picLocks noChangeAspect="1"/>
          </p:cNvPicPr>
          <p:nvPr/>
        </p:nvPicPr>
        <p:blipFill>
          <a:blip r:embed="rId6"/>
          <a:srcRect l="36452" t="56544" b="34700"/>
          <a:stretch/>
        </p:blipFill>
        <p:spPr>
          <a:xfrm>
            <a:off x="-61352" y="4937888"/>
            <a:ext cx="9313872" cy="1019042"/>
          </a:xfrm>
          <a:prstGeom prst="rect">
            <a:avLst/>
          </a:prstGeom>
        </p:spPr>
      </p:pic>
      <p:sp>
        <p:nvSpPr>
          <p:cNvPr id="13" name="Shape 5"/>
          <p:cNvSpPr/>
          <p:nvPr/>
        </p:nvSpPr>
        <p:spPr>
          <a:xfrm>
            <a:off x="1011515" y="1633586"/>
            <a:ext cx="524847" cy="524847"/>
          </a:xfrm>
          <a:custGeom>
            <a:avLst/>
            <a:gdLst/>
            <a:ahLst/>
            <a:cxnLst/>
            <a:rect l="l" t="t" r="r" b="b"/>
            <a:pathLst>
              <a:path w="524847" h="524847">
                <a:moveTo>
                  <a:pt x="262423" y="0"/>
                </a:moveTo>
                <a:cubicBezTo>
                  <a:pt x="407259" y="0"/>
                  <a:pt x="524847" y="117588"/>
                  <a:pt x="524847" y="262423"/>
                </a:cubicBezTo>
                <a:cubicBezTo>
                  <a:pt x="524847" y="407259"/>
                  <a:pt x="407259" y="524847"/>
                  <a:pt x="262423" y="524847"/>
                </a:cubicBezTo>
                <a:cubicBezTo>
                  <a:pt x="117588" y="524847"/>
                  <a:pt x="0" y="407259"/>
                  <a:pt x="0" y="262423"/>
                </a:cubicBezTo>
                <a:cubicBezTo>
                  <a:pt x="0" y="117588"/>
                  <a:pt x="117588" y="0"/>
                  <a:pt x="262423" y="0"/>
                </a:cubicBezTo>
                <a:close/>
              </a:path>
            </a:pathLst>
          </a:custGeom>
          <a:gradFill>
            <a:gsLst>
              <a:gs pos="0">
                <a:srgbClr val="0067B4">
                  <a:alpha val="100000"/>
                </a:srgbClr>
              </a:gs>
              <a:gs pos="100000">
                <a:srgbClr val="147BC8">
                  <a:alpha val="100000"/>
                </a:srgbClr>
              </a:gs>
            </a:gsLst>
            <a:lin ang="12840000" scaled="1"/>
          </a:gradFill>
          <a:ln/>
        </p:spPr>
      </p:sp>
      <p:pic>
        <p:nvPicPr>
          <p:cNvPr id="14" name="Image 6"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20615" y="1742686"/>
            <a:ext cx="306647" cy="306647"/>
          </a:xfrm>
          <a:prstGeom prst="rect">
            <a:avLst/>
          </a:prstGeom>
        </p:spPr>
      </p:pic>
      <p:sp>
        <p:nvSpPr>
          <p:cNvPr id="15" name="Shape 6"/>
          <p:cNvSpPr/>
          <p:nvPr/>
        </p:nvSpPr>
        <p:spPr>
          <a:xfrm>
            <a:off x="3340523" y="1745116"/>
            <a:ext cx="0" cy="301787"/>
          </a:xfrm>
          <a:custGeom>
            <a:avLst/>
            <a:gdLst/>
            <a:ahLst/>
            <a:cxnLst/>
            <a:rect l="l" t="t" r="r" b="b"/>
            <a:pathLst>
              <a:path h="301787">
                <a:moveTo>
                  <a:pt x="0" y="0"/>
                </a:moveTo>
                <a:lnTo>
                  <a:pt x="0" y="301787"/>
                </a:lnTo>
              </a:path>
            </a:pathLst>
          </a:custGeom>
          <a:noFill/>
          <a:ln w="14288">
            <a:solidFill>
              <a:srgbClr val="0067B4"/>
            </a:solidFill>
            <a:prstDash val="solid"/>
            <a:headEnd type="none"/>
            <a:tailEnd type="none"/>
          </a:ln>
        </p:spPr>
      </p:sp>
      <p:sp>
        <p:nvSpPr>
          <p:cNvPr id="16" name="Shape 7"/>
          <p:cNvSpPr/>
          <p:nvPr/>
        </p:nvSpPr>
        <p:spPr>
          <a:xfrm>
            <a:off x="2386079" y="1633586"/>
            <a:ext cx="524847" cy="524847"/>
          </a:xfrm>
          <a:custGeom>
            <a:avLst/>
            <a:gdLst/>
            <a:ahLst/>
            <a:cxnLst/>
            <a:rect l="l" t="t" r="r" b="b"/>
            <a:pathLst>
              <a:path w="524847" h="524847">
                <a:moveTo>
                  <a:pt x="262423" y="0"/>
                </a:moveTo>
                <a:cubicBezTo>
                  <a:pt x="407259" y="0"/>
                  <a:pt x="524847" y="117588"/>
                  <a:pt x="524847" y="262423"/>
                </a:cubicBezTo>
                <a:cubicBezTo>
                  <a:pt x="524847" y="407259"/>
                  <a:pt x="407259" y="524847"/>
                  <a:pt x="262423" y="524847"/>
                </a:cubicBezTo>
                <a:cubicBezTo>
                  <a:pt x="117588" y="524847"/>
                  <a:pt x="0" y="407259"/>
                  <a:pt x="0" y="262423"/>
                </a:cubicBezTo>
                <a:cubicBezTo>
                  <a:pt x="0" y="117588"/>
                  <a:pt x="117588" y="0"/>
                  <a:pt x="262423" y="0"/>
                </a:cubicBezTo>
                <a:close/>
              </a:path>
            </a:pathLst>
          </a:custGeom>
          <a:gradFill>
            <a:gsLst>
              <a:gs pos="0">
                <a:srgbClr val="0067B4">
                  <a:alpha val="100000"/>
                </a:srgbClr>
              </a:gs>
              <a:gs pos="100000">
                <a:srgbClr val="147BC8">
                  <a:alpha val="100000"/>
                </a:srgbClr>
              </a:gs>
            </a:gsLst>
            <a:lin ang="12840000" scaled="1"/>
          </a:gradFill>
          <a:ln/>
        </p:spPr>
      </p:sp>
      <p:pic>
        <p:nvPicPr>
          <p:cNvPr id="17" name="Image 7"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2499942" y="1750413"/>
            <a:ext cx="319768" cy="319768"/>
          </a:xfrm>
          <a:prstGeom prst="rect">
            <a:avLst/>
          </a:prstGeom>
        </p:spPr>
      </p:pic>
      <p:sp>
        <p:nvSpPr>
          <p:cNvPr id="18" name="Shape 8"/>
          <p:cNvSpPr/>
          <p:nvPr/>
        </p:nvSpPr>
        <p:spPr>
          <a:xfrm>
            <a:off x="1967999" y="1745116"/>
            <a:ext cx="0" cy="301787"/>
          </a:xfrm>
          <a:custGeom>
            <a:avLst/>
            <a:gdLst/>
            <a:ahLst/>
            <a:cxnLst/>
            <a:rect l="l" t="t" r="r" b="b"/>
            <a:pathLst>
              <a:path h="301787">
                <a:moveTo>
                  <a:pt x="0" y="0"/>
                </a:moveTo>
                <a:lnTo>
                  <a:pt x="0" y="301787"/>
                </a:lnTo>
              </a:path>
            </a:pathLst>
          </a:custGeom>
          <a:noFill/>
          <a:ln w="14288">
            <a:solidFill>
              <a:srgbClr val="0067B4"/>
            </a:solidFill>
            <a:prstDash val="solid"/>
            <a:headEnd type="none"/>
            <a:tailEnd type="none"/>
          </a:ln>
        </p:spPr>
      </p:sp>
      <p:sp>
        <p:nvSpPr>
          <p:cNvPr id="19" name="Shape 9"/>
          <p:cNvSpPr/>
          <p:nvPr/>
        </p:nvSpPr>
        <p:spPr>
          <a:xfrm>
            <a:off x="3760643" y="1633586"/>
            <a:ext cx="524847" cy="524847"/>
          </a:xfrm>
          <a:custGeom>
            <a:avLst/>
            <a:gdLst/>
            <a:ahLst/>
            <a:cxnLst/>
            <a:rect l="l" t="t" r="r" b="b"/>
            <a:pathLst>
              <a:path w="524847" h="524847">
                <a:moveTo>
                  <a:pt x="262423" y="0"/>
                </a:moveTo>
                <a:cubicBezTo>
                  <a:pt x="407259" y="0"/>
                  <a:pt x="524847" y="117588"/>
                  <a:pt x="524847" y="262423"/>
                </a:cubicBezTo>
                <a:cubicBezTo>
                  <a:pt x="524847" y="407259"/>
                  <a:pt x="407259" y="524847"/>
                  <a:pt x="262423" y="524847"/>
                </a:cubicBezTo>
                <a:cubicBezTo>
                  <a:pt x="117588" y="524847"/>
                  <a:pt x="0" y="407259"/>
                  <a:pt x="0" y="262423"/>
                </a:cubicBezTo>
                <a:cubicBezTo>
                  <a:pt x="0" y="117588"/>
                  <a:pt x="117588" y="0"/>
                  <a:pt x="262423" y="0"/>
                </a:cubicBezTo>
                <a:close/>
              </a:path>
            </a:pathLst>
          </a:custGeom>
          <a:gradFill>
            <a:gsLst>
              <a:gs pos="0">
                <a:srgbClr val="0067B4">
                  <a:alpha val="100000"/>
                </a:srgbClr>
              </a:gs>
              <a:gs pos="100000">
                <a:srgbClr val="147BC8">
                  <a:alpha val="100000"/>
                </a:srgbClr>
              </a:gs>
            </a:gsLst>
            <a:lin ang="12840000" scaled="1"/>
          </a:gradFill>
          <a:ln/>
        </p:spPr>
      </p:sp>
      <p:pic>
        <p:nvPicPr>
          <p:cNvPr id="20" name="Image 8"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889425" y="1762368"/>
            <a:ext cx="267283" cy="267283"/>
          </a:xfrm>
          <a:prstGeom prst="rect">
            <a:avLst/>
          </a:prstGeom>
        </p:spPr>
      </p:pic>
      <p:sp>
        <p:nvSpPr>
          <p:cNvPr id="21" name="Text 10"/>
          <p:cNvSpPr txBox="1"/>
          <p:nvPr/>
        </p:nvSpPr>
        <p:spPr>
          <a:xfrm>
            <a:off x="1011515" y="2654073"/>
            <a:ext cx="4029075" cy="276225"/>
          </a:xfrm>
          <a:prstGeom prst="rect">
            <a:avLst/>
          </a:prstGeom>
          <a:noFill/>
          <a:ln/>
        </p:spPr>
        <p:txBody>
          <a:bodyPr wrap="square" lIns="0" tIns="0" rIns="0" bIns="0" rtlCol="0" anchor="t">
            <a:spAutoFit/>
          </a:bodyPr>
          <a:lstStyle/>
          <a:p>
            <a:pPr marL="0" indent="0" algn="l">
              <a:lnSpc>
                <a:spcPct val="96000"/>
              </a:lnSpc>
              <a:buNone/>
            </a:pPr>
            <a:r>
              <a:rPr lang="zh-CN" altLang="en-US" sz="1650" dirty="0">
                <a:solidFill>
                  <a:srgbClr val="000000"/>
                </a:solidFill>
                <a:latin typeface="SourceHanSansSC-Regular"/>
                <a:ea typeface="SourceHanSansSC-Regular"/>
                <a:cs typeface="SourceHanSansSC-Regular"/>
              </a:rPr>
              <a:t>成本种类</a:t>
            </a:r>
            <a:endParaRPr lang="en-US" sz="1800" dirty="0"/>
          </a:p>
        </p:txBody>
      </p:sp>
      <p:sp>
        <p:nvSpPr>
          <p:cNvPr id="22" name="Shape 11"/>
          <p:cNvSpPr/>
          <p:nvPr/>
        </p:nvSpPr>
        <p:spPr>
          <a:xfrm>
            <a:off x="1025802" y="3122839"/>
            <a:ext cx="387075" cy="0"/>
          </a:xfrm>
          <a:custGeom>
            <a:avLst/>
            <a:gdLst/>
            <a:ahLst/>
            <a:cxnLst/>
            <a:rect l="l" t="t" r="r" b="b"/>
            <a:pathLst>
              <a:path w="387075">
                <a:moveTo>
                  <a:pt x="0" y="0"/>
                </a:moveTo>
                <a:lnTo>
                  <a:pt x="387075" y="0"/>
                </a:lnTo>
              </a:path>
            </a:pathLst>
          </a:custGeom>
          <a:noFill/>
          <a:ln w="14288">
            <a:solidFill>
              <a:srgbClr val="CDCDCD"/>
            </a:solidFill>
            <a:prstDash val="solid"/>
            <a:headEnd type="none"/>
            <a:tailEnd type="none"/>
          </a:ln>
        </p:spPr>
      </p:sp>
      <p:pic>
        <p:nvPicPr>
          <p:cNvPr id="23" name="Image 9" descr="//img.tukuppt.com/aippt_uploads/24141822/24/09/09/66deb01084f1e.png"/>
          <p:cNvPicPr>
            <a:picLocks noChangeAspect="1"/>
          </p:cNvPicPr>
          <p:nvPr/>
        </p:nvPicPr>
        <p:blipFill>
          <a:blip r:embed="rId13"/>
          <a:stretch>
            <a:fillRect/>
          </a:stretch>
        </p:blipFill>
        <p:spPr>
          <a:xfrm>
            <a:off x="5541685" y="1663473"/>
            <a:ext cx="2676525" cy="2571750"/>
          </a:xfrm>
          <a:prstGeom prst="rect">
            <a:avLst/>
          </a:prstGeom>
        </p:spPr>
      </p:pic>
      <p:sp>
        <p:nvSpPr>
          <p:cNvPr id="24" name="Text 12"/>
          <p:cNvSpPr txBox="1"/>
          <p:nvPr/>
        </p:nvSpPr>
        <p:spPr>
          <a:xfrm>
            <a:off x="1011515" y="3295115"/>
            <a:ext cx="3752850" cy="685800"/>
          </a:xfrm>
          <a:prstGeom prst="rect">
            <a:avLst/>
          </a:prstGeom>
          <a:noFill/>
          <a:ln/>
        </p:spPr>
        <p:txBody>
          <a:bodyPr wrap="square" lIns="0" tIns="0" rIns="0" bIns="0" rtlCol="0" anchor="t">
            <a:spAutoFit/>
          </a:bodyPr>
          <a:lstStyle/>
          <a:p>
            <a:pPr marL="0" indent="0" algn="l">
              <a:lnSpc>
                <a:spcPct val="96000"/>
              </a:lnSpc>
              <a:buNone/>
            </a:pPr>
            <a:r>
              <a:rPr lang="zh-CN" altLang="en-US" sz="900" dirty="0">
                <a:solidFill>
                  <a:srgbClr val="2A2A2A"/>
                </a:solidFill>
                <a:latin typeface="SourceHanSansSC-Regular"/>
                <a:ea typeface="SourceHanSansSC-Regular"/>
                <a:cs typeface="SourceHanSansSC-Regular"/>
              </a:rPr>
              <a:t>有两类成本在任何决策中都是无关的。一是沉没成本，它是已经发生且无法收回的成本，如车辆的购置成本，与当前决策无关；二是在不同方案间没有差异的未来成本，这些成本不会影响决策结果。</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img.tukuppt.com/aippt_tpl_uploads/25/07/01/686397e7a6107.png"/>
          <p:cNvPicPr>
            <a:picLocks noChangeAspect="1"/>
          </p:cNvPicPr>
          <p:nvPr/>
        </p:nvPicPr>
        <p:blipFill>
          <a:blip r:embed="rId4"/>
          <a:srcRect/>
          <a:stretch/>
        </p:blipFill>
        <p:spPr>
          <a:xfrm flipH="1">
            <a:off x="-1744075" y="-312485"/>
            <a:ext cx="6071588" cy="5942568"/>
          </a:xfrm>
          <a:prstGeom prst="rect">
            <a:avLst/>
          </a:prstGeom>
        </p:spPr>
      </p:pic>
      <p:sp>
        <p:nvSpPr>
          <p:cNvPr id="3" name="Text 0"/>
          <p:cNvSpPr txBox="1"/>
          <p:nvPr/>
        </p:nvSpPr>
        <p:spPr>
          <a:xfrm>
            <a:off x="4118077" y="1908001"/>
            <a:ext cx="4105275" cy="1371600"/>
          </a:xfrm>
          <a:prstGeom prst="rect">
            <a:avLst/>
          </a:prstGeom>
          <a:noFill/>
          <a:ln/>
        </p:spPr>
        <p:txBody>
          <a:bodyPr wrap="square" lIns="0" tIns="0" rIns="0" bIns="0" rtlCol="0" anchor="t">
            <a:spAutoFit/>
          </a:bodyPr>
          <a:lstStyle/>
          <a:p>
            <a:pPr marL="0" indent="0" algn="l">
              <a:lnSpc>
                <a:spcPct val="96000"/>
              </a:lnSpc>
              <a:buNone/>
            </a:pPr>
            <a:r>
              <a:rPr lang="zh-CN" altLang="en-US" sz="4500" dirty="0">
                <a:solidFill>
                  <a:srgbClr val="0067B4"/>
                </a:solidFill>
                <a:latin typeface="SourceHanSansSC-Heavy"/>
                <a:ea typeface="SourceHanSansSC-Heavy"/>
                <a:cs typeface="SourceHanSansSC-Heavy"/>
              </a:rPr>
              <a:t>相关成本分析过程</a:t>
            </a:r>
            <a:endParaRPr lang="en-US" sz="4500" dirty="0"/>
          </a:p>
        </p:txBody>
      </p:sp>
      <p:sp>
        <p:nvSpPr>
          <p:cNvPr id="4" name="Text 1"/>
          <p:cNvSpPr txBox="1"/>
          <p:nvPr/>
        </p:nvSpPr>
        <p:spPr>
          <a:xfrm>
            <a:off x="4118077" y="1357413"/>
            <a:ext cx="1038225" cy="409575"/>
          </a:xfrm>
          <a:prstGeom prst="rect">
            <a:avLst/>
          </a:prstGeom>
          <a:noFill/>
          <a:ln/>
        </p:spPr>
        <p:txBody>
          <a:bodyPr wrap="square" lIns="0" tIns="0" rIns="0" bIns="0" rtlCol="0" anchor="t">
            <a:spAutoFit/>
          </a:bodyPr>
          <a:lstStyle/>
          <a:p>
            <a:pPr marL="0" indent="0" algn="ctr">
              <a:lnSpc>
                <a:spcPct val="96000"/>
              </a:lnSpc>
              <a:buNone/>
            </a:pPr>
            <a:r>
              <a:rPr lang="en" altLang="en-US" sz="2700" dirty="0">
                <a:solidFill>
                  <a:srgbClr val="000000"/>
                </a:solidFill>
                <a:latin typeface="SourceHanSansSC-Heavy"/>
                <a:ea typeface="SourceHanSansSC-Heavy"/>
                <a:cs typeface="SourceHanSansSC-Heavy"/>
              </a:rPr>
              <a:t>PART-</a:t>
            </a:r>
            <a:endParaRPr lang="en-US" sz="2700" dirty="0"/>
          </a:p>
        </p:txBody>
      </p:sp>
      <p:sp>
        <p:nvSpPr>
          <p:cNvPr id="5" name="Text 2"/>
          <p:cNvSpPr txBox="1"/>
          <p:nvPr/>
        </p:nvSpPr>
        <p:spPr>
          <a:xfrm>
            <a:off x="5156302" y="1357413"/>
            <a:ext cx="1038225" cy="409575"/>
          </a:xfrm>
          <a:prstGeom prst="rect">
            <a:avLst/>
          </a:prstGeom>
          <a:noFill/>
          <a:ln/>
        </p:spPr>
        <p:txBody>
          <a:bodyPr wrap="square" lIns="0" tIns="0" rIns="0" bIns="0" rtlCol="0" anchor="t">
            <a:spAutoFit/>
          </a:bodyPr>
          <a:lstStyle/>
          <a:p>
            <a:pPr marL="0" indent="0" algn="l">
              <a:lnSpc>
                <a:spcPct val="96000"/>
              </a:lnSpc>
              <a:buNone/>
            </a:pPr>
            <a:r>
              <a:rPr lang="en-US" sz="2700" dirty="0">
                <a:solidFill>
                  <a:srgbClr val="000000"/>
                </a:solidFill>
                <a:latin typeface="SourceHanSansSC-Heavy"/>
                <a:ea typeface="SourceHanSansSC-Heavy"/>
                <a:cs typeface="SourceHanSansSC-Heavy"/>
              </a:rPr>
              <a:t>03</a:t>
            </a:r>
            <a:endParaRPr lang="en-US" sz="2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img.tukuppt.com/aippt_uploads/34576449/25/07/03/6866a18678cda.png!/fwfh2/960x960"/>
          <p:cNvPicPr>
            <a:picLocks noChangeAspect="1"/>
          </p:cNvPicPr>
          <p:nvPr/>
        </p:nvPicPr>
        <p:blipFill>
          <a:blip r:embed="rId3"/>
          <a:stretch>
            <a:fillRect/>
          </a:stretch>
        </p:blipFill>
        <p:spPr>
          <a:xfrm>
            <a:off x="0" y="0"/>
            <a:ext cx="9140180" cy="5131830"/>
          </a:xfrm>
          <a:prstGeom prst="rect">
            <a:avLst/>
          </a:prstGeom>
        </p:spPr>
      </p:pic>
      <p:sp>
        <p:nvSpPr>
          <p:cNvPr id="3" name="Shape 0"/>
          <p:cNvSpPr/>
          <p:nvPr/>
        </p:nvSpPr>
        <p:spPr>
          <a:xfrm>
            <a:off x="979384" y="287863"/>
            <a:ext cx="2872893" cy="412023"/>
          </a:xfrm>
          <a:custGeom>
            <a:avLst/>
            <a:gdLst/>
            <a:ahLst/>
            <a:cxnLst/>
            <a:rect l="l" t="t" r="r" b="b"/>
            <a:pathLst>
              <a:path w="2872893" h="412023">
                <a:moveTo>
                  <a:pt x="68568" y="0"/>
                </a:moveTo>
                <a:lnTo>
                  <a:pt x="2803673" y="0"/>
                </a:lnTo>
                <a:cubicBezTo>
                  <a:pt x="2841542" y="0"/>
                  <a:pt x="2872241" y="30699"/>
                  <a:pt x="2872241" y="68568"/>
                </a:cubicBezTo>
                <a:lnTo>
                  <a:pt x="2872241" y="342840"/>
                </a:lnTo>
                <a:cubicBezTo>
                  <a:pt x="2872241" y="380710"/>
                  <a:pt x="2841542" y="411409"/>
                  <a:pt x="2803673" y="411409"/>
                </a:cubicBezTo>
                <a:lnTo>
                  <a:pt x="68568" y="411409"/>
                </a:lnTo>
                <a:cubicBezTo>
                  <a:pt x="30699" y="411409"/>
                  <a:pt x="0" y="380710"/>
                  <a:pt x="0" y="342840"/>
                </a:cubicBezTo>
                <a:lnTo>
                  <a:pt x="0" y="68568"/>
                </a:lnTo>
                <a:cubicBezTo>
                  <a:pt x="0" y="30724"/>
                  <a:pt x="30724" y="0"/>
                  <a:pt x="68568" y="0"/>
                </a:cubicBezTo>
                <a:close/>
              </a:path>
            </a:pathLst>
          </a:custGeom>
          <a:solidFill>
            <a:srgbClr val="0067B4"/>
          </a:solidFill>
          <a:ln/>
          <a:effectLst>
            <a:outerShdw dist="38093" dir="2700000" algn="bl" rotWithShape="0">
              <a:srgbClr val="000000">
                <a:alpha val="38824"/>
              </a:srgbClr>
            </a:outerShdw>
          </a:effectLst>
        </p:spPr>
      </p:sp>
      <p:sp>
        <p:nvSpPr>
          <p:cNvPr id="4" name="Shape 1"/>
          <p:cNvSpPr/>
          <p:nvPr/>
        </p:nvSpPr>
        <p:spPr>
          <a:xfrm>
            <a:off x="1188456" y="329442"/>
            <a:ext cx="2735844" cy="339064"/>
          </a:xfrm>
          <a:custGeom>
            <a:avLst/>
            <a:gdLst/>
            <a:ahLst/>
            <a:cxnLst/>
            <a:rect l="l" t="t" r="r" b="b"/>
            <a:pathLst>
              <a:path w="2735844" h="339064">
                <a:moveTo>
                  <a:pt x="0" y="0"/>
                </a:moveTo>
                <a:lnTo>
                  <a:pt x="2735844" y="0"/>
                </a:lnTo>
                <a:lnTo>
                  <a:pt x="2735844" y="339064"/>
                </a:lnTo>
                <a:lnTo>
                  <a:pt x="0" y="339064"/>
                </a:lnTo>
                <a:close/>
              </a:path>
            </a:pathLst>
          </a:custGeom>
          <a:noFill/>
          <a:ln/>
        </p:spPr>
      </p:sp>
      <p:sp>
        <p:nvSpPr>
          <p:cNvPr id="5" name="Text 2"/>
          <p:cNvSpPr txBox="1"/>
          <p:nvPr/>
        </p:nvSpPr>
        <p:spPr>
          <a:xfrm>
            <a:off x="1188456" y="329442"/>
            <a:ext cx="2735844" cy="339064"/>
          </a:xfrm>
          <a:prstGeom prst="rect">
            <a:avLst/>
          </a:prstGeom>
          <a:noFill/>
          <a:ln/>
        </p:spPr>
        <p:txBody>
          <a:bodyPr wrap="square" lIns="1252" tIns="653" rIns="1252" bIns="653" rtlCol="0" anchor="t">
            <a:spAutoFit/>
          </a:bodyPr>
          <a:lstStyle/>
          <a:p>
            <a:pPr marL="0" indent="0" algn="l">
              <a:buNone/>
            </a:pPr>
            <a:r>
              <a:rPr lang="zh-CN" altLang="en-US" sz="1601" dirty="0">
                <a:solidFill>
                  <a:srgbClr val="64CBFF"/>
                </a:solidFill>
                <a:latin typeface="SourceHanSansSC-Medium"/>
                <a:ea typeface="SourceHanSansSC-Medium"/>
                <a:cs typeface="SourceHanSansSC-Medium"/>
              </a:rPr>
              <a:t>两步分析过程</a:t>
            </a:r>
            <a:endParaRPr lang="en-US" sz="1601" dirty="0"/>
          </a:p>
        </p:txBody>
      </p:sp>
      <p:sp>
        <p:nvSpPr>
          <p:cNvPr id="6" name="Shape 3"/>
          <p:cNvSpPr/>
          <p:nvPr/>
        </p:nvSpPr>
        <p:spPr>
          <a:xfrm>
            <a:off x="471488" y="198466"/>
            <a:ext cx="461756" cy="542999"/>
          </a:xfrm>
          <a:custGeom>
            <a:avLst/>
            <a:gdLst/>
            <a:ahLst/>
            <a:cxnLst/>
            <a:rect l="l" t="t" r="r" b="b"/>
            <a:pathLst>
              <a:path w="461756" h="542999">
                <a:moveTo>
                  <a:pt x="77457" y="0"/>
                </a:moveTo>
                <a:lnTo>
                  <a:pt x="384743" y="0"/>
                </a:lnTo>
                <a:cubicBezTo>
                  <a:pt x="427521" y="0"/>
                  <a:pt x="462200" y="34678"/>
                  <a:pt x="462200" y="77457"/>
                </a:cubicBezTo>
                <a:lnTo>
                  <a:pt x="462200" y="466009"/>
                </a:lnTo>
                <a:cubicBezTo>
                  <a:pt x="462200" y="508787"/>
                  <a:pt x="427521" y="543466"/>
                  <a:pt x="384743" y="543466"/>
                </a:cubicBezTo>
                <a:lnTo>
                  <a:pt x="77457" y="543466"/>
                </a:lnTo>
                <a:cubicBezTo>
                  <a:pt x="34678" y="543466"/>
                  <a:pt x="0" y="508787"/>
                  <a:pt x="0" y="466009"/>
                </a:cubicBezTo>
                <a:lnTo>
                  <a:pt x="0" y="77457"/>
                </a:lnTo>
                <a:cubicBezTo>
                  <a:pt x="0" y="34678"/>
                  <a:pt x="34678" y="0"/>
                  <a:pt x="77457" y="0"/>
                </a:cubicBezTo>
                <a:close/>
              </a:path>
            </a:pathLst>
          </a:custGeom>
          <a:solidFill>
            <a:srgbClr val="0067B4"/>
          </a:solidFill>
          <a:ln/>
          <a:effectLst>
            <a:outerShdw dist="38093" dir="2700000" algn="bl" rotWithShape="0">
              <a:srgbClr val="000000">
                <a:alpha val="38824"/>
              </a:srgbClr>
            </a:outerShdw>
          </a:effectLst>
        </p:spPr>
      </p:sp>
      <p:sp>
        <p:nvSpPr>
          <p:cNvPr id="7" name="Shape 4"/>
          <p:cNvSpPr/>
          <p:nvPr/>
        </p:nvSpPr>
        <p:spPr>
          <a:xfrm>
            <a:off x="482166" y="206110"/>
            <a:ext cx="433263" cy="535355"/>
          </a:xfrm>
          <a:custGeom>
            <a:avLst/>
            <a:gdLst/>
            <a:ahLst/>
            <a:cxnLst/>
            <a:rect l="l" t="t" r="r" b="b"/>
            <a:pathLst>
              <a:path w="433263" h="535355">
                <a:moveTo>
                  <a:pt x="73647" y="0"/>
                </a:moveTo>
                <a:lnTo>
                  <a:pt x="366966" y="0"/>
                </a:lnTo>
                <a:cubicBezTo>
                  <a:pt x="396171" y="0"/>
                  <a:pt x="421567" y="15237"/>
                  <a:pt x="432995" y="35554"/>
                </a:cubicBezTo>
                <a:cubicBezTo>
                  <a:pt x="186658" y="119359"/>
                  <a:pt x="11428" y="311096"/>
                  <a:pt x="1270" y="535847"/>
                </a:cubicBezTo>
                <a:cubicBezTo>
                  <a:pt x="0" y="533307"/>
                  <a:pt x="0" y="532038"/>
                  <a:pt x="0" y="529498"/>
                </a:cubicBezTo>
                <a:lnTo>
                  <a:pt x="0" y="60949"/>
                </a:lnTo>
                <a:cubicBezTo>
                  <a:pt x="0" y="26665"/>
                  <a:pt x="33014" y="0"/>
                  <a:pt x="73647" y="0"/>
                </a:cubicBezTo>
                <a:close/>
              </a:path>
            </a:pathLst>
          </a:custGeom>
          <a:gradFill>
            <a:gsLst>
              <a:gs pos="0">
                <a:srgbClr val="64CBFF">
                  <a:alpha val="34902"/>
                </a:srgbClr>
              </a:gs>
              <a:gs pos="100000">
                <a:srgbClr val="2F5897">
                  <a:alpha val="100000"/>
                </a:srgbClr>
              </a:gs>
            </a:gsLst>
            <a:lin ang="1200000" scaled="1"/>
          </a:gradFill>
          <a:ln/>
        </p:spPr>
      </p:sp>
      <p:pic>
        <p:nvPicPr>
          <p:cNvPr id="8" name="Image 1" descr="//img.tukuppt.com/aippt_tpl_uploads/25/07/01/686397e7ae4cf.png"/>
          <p:cNvPicPr>
            <a:picLocks noChangeAspect="1"/>
          </p:cNvPicPr>
          <p:nvPr/>
        </p:nvPicPr>
        <p:blipFill>
          <a:blip r:embed="rId4"/>
          <a:srcRect/>
          <a:stretch/>
        </p:blipFill>
        <p:spPr>
          <a:xfrm flipH="1">
            <a:off x="787710" y="346921"/>
            <a:ext cx="255659" cy="98905"/>
          </a:xfrm>
          <a:prstGeom prst="rect">
            <a:avLst/>
          </a:prstGeom>
        </p:spPr>
      </p:pic>
      <p:pic>
        <p:nvPicPr>
          <p:cNvPr id="9" name="Image 2" descr="//img.tukuppt.com/aippt_tpl_uploads/25/07/01/686397e7ae4cf.png"/>
          <p:cNvPicPr>
            <a:picLocks noChangeAspect="1"/>
          </p:cNvPicPr>
          <p:nvPr/>
        </p:nvPicPr>
        <p:blipFill>
          <a:blip r:embed="rId4"/>
          <a:srcRect/>
          <a:stretch/>
        </p:blipFill>
        <p:spPr>
          <a:xfrm flipH="1">
            <a:off x="787710" y="549201"/>
            <a:ext cx="255659" cy="98905"/>
          </a:xfrm>
          <a:prstGeom prst="rect">
            <a:avLst/>
          </a:prstGeom>
        </p:spPr>
      </p:pic>
      <p:pic>
        <p:nvPicPr>
          <p:cNvPr id="10" name="Image 3" descr="//img.tukuppt.com/aippt_tpl_uploads/25/07/01/686397e7b8f81.png"/>
          <p:cNvPicPr>
            <a:picLocks noChangeAspect="1"/>
          </p:cNvPicPr>
          <p:nvPr/>
        </p:nvPicPr>
        <p:blipFill>
          <a:blip r:embed="rId5"/>
          <a:srcRect/>
          <a:stretch/>
        </p:blipFill>
        <p:spPr>
          <a:xfrm>
            <a:off x="539206" y="312920"/>
            <a:ext cx="321318" cy="321734"/>
          </a:xfrm>
          <a:prstGeom prst="rect">
            <a:avLst/>
          </a:prstGeom>
        </p:spPr>
      </p:pic>
      <p:pic>
        <p:nvPicPr>
          <p:cNvPr id="11" name="Image 4" descr="//img.tukuppt.com/aippt_tpl_uploads/25/07/01/686397e7af1a3.png!/fwfh2/960x960"/>
          <p:cNvPicPr>
            <a:picLocks noChangeAspect="1"/>
          </p:cNvPicPr>
          <p:nvPr/>
        </p:nvPicPr>
        <p:blipFill>
          <a:blip r:embed="rId6"/>
          <a:srcRect l="36452" t="56544" b="34700"/>
          <a:stretch/>
        </p:blipFill>
        <p:spPr>
          <a:xfrm>
            <a:off x="-4836" y="-812736"/>
            <a:ext cx="9148837" cy="1019042"/>
          </a:xfrm>
          <a:prstGeom prst="rect">
            <a:avLst/>
          </a:prstGeom>
        </p:spPr>
      </p:pic>
      <p:pic>
        <p:nvPicPr>
          <p:cNvPr id="12" name="Image 5" descr="//img.tukuppt.com/aippt_tpl_uploads/25/07/01/686397e7af1a3.png!/fwfh2/960x960"/>
          <p:cNvPicPr>
            <a:picLocks noChangeAspect="1"/>
          </p:cNvPicPr>
          <p:nvPr/>
        </p:nvPicPr>
        <p:blipFill>
          <a:blip r:embed="rId6"/>
          <a:srcRect l="36452" t="56544" b="34700"/>
          <a:stretch/>
        </p:blipFill>
        <p:spPr>
          <a:xfrm>
            <a:off x="-61352" y="4937888"/>
            <a:ext cx="9313872" cy="1019042"/>
          </a:xfrm>
          <a:prstGeom prst="rect">
            <a:avLst/>
          </a:prstGeom>
        </p:spPr>
      </p:pic>
      <p:sp>
        <p:nvSpPr>
          <p:cNvPr id="13" name="Shape 5"/>
          <p:cNvSpPr/>
          <p:nvPr/>
        </p:nvSpPr>
        <p:spPr>
          <a:xfrm>
            <a:off x="886653" y="1266434"/>
            <a:ext cx="7398641" cy="3144139"/>
          </a:xfrm>
          <a:custGeom>
            <a:avLst/>
            <a:gdLst/>
            <a:ahLst/>
            <a:cxnLst/>
            <a:rect l="l" t="t" r="r" b="b"/>
            <a:pathLst>
              <a:path w="7398641" h="3144139">
                <a:moveTo>
                  <a:pt x="392906" y="0"/>
                </a:moveTo>
                <a:lnTo>
                  <a:pt x="7005638" y="0"/>
                </a:lnTo>
                <a:quadBezTo>
                  <a:pt x="7398544" y="0"/>
                  <a:pt x="7398544" y="392906"/>
                </a:quadBezTo>
                <a:lnTo>
                  <a:pt x="7398544" y="2751296"/>
                </a:lnTo>
                <a:quadBezTo>
                  <a:pt x="7398544" y="3144203"/>
                  <a:pt x="7005638" y="3144203"/>
                </a:quadBezTo>
                <a:lnTo>
                  <a:pt x="392906" y="3144203"/>
                </a:lnTo>
                <a:quadBezTo>
                  <a:pt x="0" y="3144203"/>
                  <a:pt x="0" y="2751296"/>
                </a:quadBezTo>
                <a:lnTo>
                  <a:pt x="0" y="392906"/>
                </a:lnTo>
                <a:quadBezTo>
                  <a:pt x="0" y="0"/>
                  <a:pt x="392906" y="0"/>
                </a:quadBezTo>
                <a:close/>
              </a:path>
            </a:pathLst>
          </a:custGeom>
          <a:solidFill>
            <a:srgbClr val="FFFFFF"/>
          </a:solidFill>
          <a:ln w="19050">
            <a:solidFill>
              <a:srgbClr val="147BC8"/>
            </a:solidFill>
            <a:prstDash val="solid"/>
          </a:ln>
          <a:effectLst>
            <a:outerShdw blurRad="38100" algn="bl" rotWithShape="0">
              <a:srgbClr val="9B9B9B">
                <a:alpha val="100000"/>
              </a:srgbClr>
            </a:outerShdw>
          </a:effectLst>
        </p:spPr>
      </p:sp>
      <p:sp>
        <p:nvSpPr>
          <p:cNvPr id="14" name="Shape 6"/>
          <p:cNvSpPr/>
          <p:nvPr/>
        </p:nvSpPr>
        <p:spPr>
          <a:xfrm>
            <a:off x="5613518" y="1205334"/>
            <a:ext cx="2327350" cy="3271621"/>
          </a:xfrm>
          <a:custGeom>
            <a:avLst/>
            <a:gdLst/>
            <a:ahLst/>
            <a:cxnLst/>
            <a:rect l="l" t="t" r="r" b="b"/>
            <a:pathLst>
              <a:path w="2327350" h="3271621">
                <a:moveTo>
                  <a:pt x="0" y="0"/>
                </a:moveTo>
                <a:lnTo>
                  <a:pt x="2327350" y="0"/>
                </a:lnTo>
                <a:lnTo>
                  <a:pt x="2327350" y="3271621"/>
                </a:lnTo>
                <a:lnTo>
                  <a:pt x="0" y="3271621"/>
                </a:lnTo>
                <a:close/>
              </a:path>
            </a:pathLst>
          </a:custGeom>
          <a:solidFill>
            <a:srgbClr val="0067B4"/>
          </a:solidFill>
          <a:ln/>
        </p:spPr>
      </p:sp>
      <p:pic>
        <p:nvPicPr>
          <p:cNvPr id="15" name="Image 6" descr="//img.tukuppt.com/aippt_uploads/55004950/24/11/14/6735af92c6436.png!/fwfh2/960x960"/>
          <p:cNvPicPr>
            <a:picLocks noChangeAspect="1"/>
          </p:cNvPicPr>
          <p:nvPr/>
        </p:nvPicPr>
        <p:blipFill>
          <a:blip r:embed="rId7"/>
          <a:stretch>
            <a:fillRect/>
          </a:stretch>
        </p:blipFill>
        <p:spPr>
          <a:xfrm>
            <a:off x="1184628" y="1613593"/>
            <a:ext cx="4275203" cy="2450753"/>
          </a:xfrm>
          <a:prstGeom prst="rect">
            <a:avLst/>
          </a:prstGeom>
        </p:spPr>
      </p:pic>
      <p:sp>
        <p:nvSpPr>
          <p:cNvPr id="16" name="Shape 7"/>
          <p:cNvSpPr/>
          <p:nvPr/>
        </p:nvSpPr>
        <p:spPr>
          <a:xfrm>
            <a:off x="5802372" y="1688579"/>
            <a:ext cx="1949642" cy="2410668"/>
          </a:xfrm>
          <a:custGeom>
            <a:avLst/>
            <a:gdLst/>
            <a:ahLst/>
            <a:cxnLst/>
            <a:rect l="l" t="t" r="r" b="b"/>
            <a:pathLst>
              <a:path w="1949642" h="2410668">
                <a:moveTo>
                  <a:pt x="243840" y="0"/>
                </a:moveTo>
                <a:lnTo>
                  <a:pt x="1705927" y="0"/>
                </a:lnTo>
                <a:quadBezTo>
                  <a:pt x="1949767" y="0"/>
                  <a:pt x="1949767" y="243840"/>
                </a:quadBezTo>
                <a:lnTo>
                  <a:pt x="1949767" y="2166938"/>
                </a:lnTo>
                <a:quadBezTo>
                  <a:pt x="1949767" y="2410778"/>
                  <a:pt x="1705927" y="2410778"/>
                </a:quadBezTo>
                <a:lnTo>
                  <a:pt x="243840" y="2410778"/>
                </a:lnTo>
                <a:quadBezTo>
                  <a:pt x="0" y="2410778"/>
                  <a:pt x="0" y="2166938"/>
                </a:quadBezTo>
                <a:lnTo>
                  <a:pt x="0" y="243840"/>
                </a:lnTo>
                <a:quadBezTo>
                  <a:pt x="0" y="0"/>
                  <a:pt x="243840" y="0"/>
                </a:quadBezTo>
                <a:close/>
              </a:path>
            </a:pathLst>
          </a:custGeom>
          <a:solidFill>
            <a:srgbClr val="FFFFFF"/>
          </a:solidFill>
          <a:ln/>
        </p:spPr>
      </p:sp>
      <p:sp>
        <p:nvSpPr>
          <p:cNvPr id="17" name="Text 8"/>
          <p:cNvSpPr txBox="1"/>
          <p:nvPr/>
        </p:nvSpPr>
        <p:spPr>
          <a:xfrm>
            <a:off x="5943756" y="2105849"/>
            <a:ext cx="1666875" cy="409575"/>
          </a:xfrm>
          <a:prstGeom prst="rect">
            <a:avLst/>
          </a:prstGeom>
          <a:noFill/>
          <a:ln/>
        </p:spPr>
        <p:txBody>
          <a:bodyPr wrap="square" lIns="0" tIns="0" rIns="0" bIns="0" rtlCol="0" anchor="ctr">
            <a:spAutoFit/>
          </a:bodyPr>
          <a:lstStyle/>
          <a:p>
            <a:pPr marL="0" indent="0" algn="ctr">
              <a:buNone/>
            </a:pPr>
            <a:r>
              <a:rPr lang="zh-CN" altLang="en-US" sz="1350" b="1" dirty="0">
                <a:solidFill>
                  <a:srgbClr val="000000"/>
                </a:solidFill>
                <a:latin typeface="SourceHanSansSC-Regular"/>
                <a:ea typeface="SourceHanSansSC-Regular"/>
                <a:cs typeface="SourceHanSansSC-Regular"/>
              </a:rPr>
              <a:t>分析步骤</a:t>
            </a:r>
            <a:endParaRPr lang="en-US" sz="1350" dirty="0"/>
          </a:p>
        </p:txBody>
      </p:sp>
      <p:sp>
        <p:nvSpPr>
          <p:cNvPr id="18" name="Text 9"/>
          <p:cNvSpPr txBox="1"/>
          <p:nvPr/>
        </p:nvSpPr>
        <p:spPr>
          <a:xfrm>
            <a:off x="5965187" y="2571750"/>
            <a:ext cx="1624013" cy="1170111"/>
          </a:xfrm>
          <a:prstGeom prst="rect">
            <a:avLst/>
          </a:prstGeom>
          <a:noFill/>
          <a:ln/>
        </p:spPr>
        <p:txBody>
          <a:bodyPr wrap="square" lIns="0" tIns="0" rIns="0" bIns="0" rtlCol="0" anchor="t">
            <a:spAutoFit/>
          </a:bodyPr>
          <a:lstStyle/>
          <a:p>
            <a:pPr marL="0" indent="0" algn="ctr">
              <a:buNone/>
            </a:pPr>
            <a:r>
              <a:rPr lang="zh-CN" altLang="en-US" sz="900" dirty="0">
                <a:solidFill>
                  <a:srgbClr val="000000"/>
                </a:solidFill>
                <a:latin typeface="SourceHanSansSC-Regular"/>
                <a:ea typeface="SourceHanSansSC-Regular"/>
                <a:cs typeface="SourceHanSansSC-Regular"/>
              </a:rPr>
              <a:t>相关成本分析是一个两步过程。第一步是识别相关成本，明确哪些成本会因决策方案的不同而产生差异；第二步是根据识别出的相关成本进行决策分析，评估不同方案的优劣。在实际应用中，这两个步骤需要紧密结合，以确保决策的准确性。</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img.tukuppt.com/aippt_uploads/34576449/25/07/03/6866a18678cda.png!/fwfh2/960x960"/>
          <p:cNvPicPr>
            <a:picLocks noChangeAspect="1"/>
          </p:cNvPicPr>
          <p:nvPr/>
        </p:nvPicPr>
        <p:blipFill>
          <a:blip r:embed="rId3"/>
          <a:stretch>
            <a:fillRect/>
          </a:stretch>
        </p:blipFill>
        <p:spPr>
          <a:xfrm>
            <a:off x="0" y="0"/>
            <a:ext cx="9140180" cy="5131830"/>
          </a:xfrm>
          <a:prstGeom prst="rect">
            <a:avLst/>
          </a:prstGeom>
        </p:spPr>
      </p:pic>
      <p:sp>
        <p:nvSpPr>
          <p:cNvPr id="3" name="Shape 0"/>
          <p:cNvSpPr/>
          <p:nvPr/>
        </p:nvSpPr>
        <p:spPr>
          <a:xfrm>
            <a:off x="979384" y="287863"/>
            <a:ext cx="2872893" cy="412023"/>
          </a:xfrm>
          <a:custGeom>
            <a:avLst/>
            <a:gdLst/>
            <a:ahLst/>
            <a:cxnLst/>
            <a:rect l="l" t="t" r="r" b="b"/>
            <a:pathLst>
              <a:path w="2872893" h="412023">
                <a:moveTo>
                  <a:pt x="68568" y="0"/>
                </a:moveTo>
                <a:lnTo>
                  <a:pt x="2803673" y="0"/>
                </a:lnTo>
                <a:cubicBezTo>
                  <a:pt x="2841542" y="0"/>
                  <a:pt x="2872241" y="30699"/>
                  <a:pt x="2872241" y="68568"/>
                </a:cubicBezTo>
                <a:lnTo>
                  <a:pt x="2872241" y="342840"/>
                </a:lnTo>
                <a:cubicBezTo>
                  <a:pt x="2872241" y="380710"/>
                  <a:pt x="2841542" y="411409"/>
                  <a:pt x="2803673" y="411409"/>
                </a:cubicBezTo>
                <a:lnTo>
                  <a:pt x="68568" y="411409"/>
                </a:lnTo>
                <a:cubicBezTo>
                  <a:pt x="30699" y="411409"/>
                  <a:pt x="0" y="380710"/>
                  <a:pt x="0" y="342840"/>
                </a:cubicBezTo>
                <a:lnTo>
                  <a:pt x="0" y="68568"/>
                </a:lnTo>
                <a:cubicBezTo>
                  <a:pt x="0" y="30724"/>
                  <a:pt x="30724" y="0"/>
                  <a:pt x="68568" y="0"/>
                </a:cubicBezTo>
                <a:close/>
              </a:path>
            </a:pathLst>
          </a:custGeom>
          <a:solidFill>
            <a:srgbClr val="0067B4"/>
          </a:solidFill>
          <a:ln/>
          <a:effectLst>
            <a:outerShdw dist="38093" dir="2700000" algn="bl" rotWithShape="0">
              <a:srgbClr val="000000">
                <a:alpha val="38824"/>
              </a:srgbClr>
            </a:outerShdw>
          </a:effectLst>
        </p:spPr>
      </p:sp>
      <p:sp>
        <p:nvSpPr>
          <p:cNvPr id="4" name="Shape 1"/>
          <p:cNvSpPr/>
          <p:nvPr/>
        </p:nvSpPr>
        <p:spPr>
          <a:xfrm>
            <a:off x="1188456" y="329442"/>
            <a:ext cx="2735844" cy="339064"/>
          </a:xfrm>
          <a:custGeom>
            <a:avLst/>
            <a:gdLst/>
            <a:ahLst/>
            <a:cxnLst/>
            <a:rect l="l" t="t" r="r" b="b"/>
            <a:pathLst>
              <a:path w="2735844" h="339064">
                <a:moveTo>
                  <a:pt x="0" y="0"/>
                </a:moveTo>
                <a:lnTo>
                  <a:pt x="2735844" y="0"/>
                </a:lnTo>
                <a:lnTo>
                  <a:pt x="2735844" y="339064"/>
                </a:lnTo>
                <a:lnTo>
                  <a:pt x="0" y="339064"/>
                </a:lnTo>
                <a:close/>
              </a:path>
            </a:pathLst>
          </a:custGeom>
          <a:noFill/>
          <a:ln/>
        </p:spPr>
      </p:sp>
      <p:sp>
        <p:nvSpPr>
          <p:cNvPr id="5" name="Text 2"/>
          <p:cNvSpPr txBox="1"/>
          <p:nvPr/>
        </p:nvSpPr>
        <p:spPr>
          <a:xfrm>
            <a:off x="1188456" y="329442"/>
            <a:ext cx="2735844" cy="339064"/>
          </a:xfrm>
          <a:prstGeom prst="rect">
            <a:avLst/>
          </a:prstGeom>
          <a:noFill/>
          <a:ln/>
        </p:spPr>
        <p:txBody>
          <a:bodyPr wrap="square" lIns="1252" tIns="653" rIns="1252" bIns="653" rtlCol="0" anchor="t">
            <a:spAutoFit/>
          </a:bodyPr>
          <a:lstStyle/>
          <a:p>
            <a:pPr marL="0" indent="0" algn="l">
              <a:buNone/>
            </a:pPr>
            <a:r>
              <a:rPr lang="zh-CN" altLang="en-US" sz="1601" dirty="0">
                <a:solidFill>
                  <a:srgbClr val="64CBFF"/>
                </a:solidFill>
                <a:latin typeface="SourceHanSansSC-Medium"/>
                <a:ea typeface="SourceHanSansSC-Medium"/>
                <a:cs typeface="SourceHanSansSC-Medium"/>
              </a:rPr>
              <a:t>不同情境下的成本相关性</a:t>
            </a:r>
            <a:endParaRPr lang="en-US" sz="1601" dirty="0"/>
          </a:p>
        </p:txBody>
      </p:sp>
      <p:sp>
        <p:nvSpPr>
          <p:cNvPr id="6" name="Shape 3"/>
          <p:cNvSpPr/>
          <p:nvPr/>
        </p:nvSpPr>
        <p:spPr>
          <a:xfrm>
            <a:off x="471488" y="198466"/>
            <a:ext cx="461756" cy="542999"/>
          </a:xfrm>
          <a:custGeom>
            <a:avLst/>
            <a:gdLst/>
            <a:ahLst/>
            <a:cxnLst/>
            <a:rect l="l" t="t" r="r" b="b"/>
            <a:pathLst>
              <a:path w="461756" h="542999">
                <a:moveTo>
                  <a:pt x="77457" y="0"/>
                </a:moveTo>
                <a:lnTo>
                  <a:pt x="384743" y="0"/>
                </a:lnTo>
                <a:cubicBezTo>
                  <a:pt x="427521" y="0"/>
                  <a:pt x="462200" y="34678"/>
                  <a:pt x="462200" y="77457"/>
                </a:cubicBezTo>
                <a:lnTo>
                  <a:pt x="462200" y="466009"/>
                </a:lnTo>
                <a:cubicBezTo>
                  <a:pt x="462200" y="508787"/>
                  <a:pt x="427521" y="543466"/>
                  <a:pt x="384743" y="543466"/>
                </a:cubicBezTo>
                <a:lnTo>
                  <a:pt x="77457" y="543466"/>
                </a:lnTo>
                <a:cubicBezTo>
                  <a:pt x="34678" y="543466"/>
                  <a:pt x="0" y="508787"/>
                  <a:pt x="0" y="466009"/>
                </a:cubicBezTo>
                <a:lnTo>
                  <a:pt x="0" y="77457"/>
                </a:lnTo>
                <a:cubicBezTo>
                  <a:pt x="0" y="34678"/>
                  <a:pt x="34678" y="0"/>
                  <a:pt x="77457" y="0"/>
                </a:cubicBezTo>
                <a:close/>
              </a:path>
            </a:pathLst>
          </a:custGeom>
          <a:solidFill>
            <a:srgbClr val="0067B4"/>
          </a:solidFill>
          <a:ln/>
          <a:effectLst>
            <a:outerShdw dist="38093" dir="2700000" algn="bl" rotWithShape="0">
              <a:srgbClr val="000000">
                <a:alpha val="38824"/>
              </a:srgbClr>
            </a:outerShdw>
          </a:effectLst>
        </p:spPr>
      </p:sp>
      <p:sp>
        <p:nvSpPr>
          <p:cNvPr id="7" name="Shape 4"/>
          <p:cNvSpPr/>
          <p:nvPr/>
        </p:nvSpPr>
        <p:spPr>
          <a:xfrm>
            <a:off x="482166" y="206110"/>
            <a:ext cx="433263" cy="535355"/>
          </a:xfrm>
          <a:custGeom>
            <a:avLst/>
            <a:gdLst/>
            <a:ahLst/>
            <a:cxnLst/>
            <a:rect l="l" t="t" r="r" b="b"/>
            <a:pathLst>
              <a:path w="433263" h="535355">
                <a:moveTo>
                  <a:pt x="73647" y="0"/>
                </a:moveTo>
                <a:lnTo>
                  <a:pt x="366966" y="0"/>
                </a:lnTo>
                <a:cubicBezTo>
                  <a:pt x="396171" y="0"/>
                  <a:pt x="421567" y="15237"/>
                  <a:pt x="432995" y="35554"/>
                </a:cubicBezTo>
                <a:cubicBezTo>
                  <a:pt x="186658" y="119359"/>
                  <a:pt x="11428" y="311096"/>
                  <a:pt x="1270" y="535847"/>
                </a:cubicBezTo>
                <a:cubicBezTo>
                  <a:pt x="0" y="533307"/>
                  <a:pt x="0" y="532038"/>
                  <a:pt x="0" y="529498"/>
                </a:cubicBezTo>
                <a:lnTo>
                  <a:pt x="0" y="60949"/>
                </a:lnTo>
                <a:cubicBezTo>
                  <a:pt x="0" y="26665"/>
                  <a:pt x="33014" y="0"/>
                  <a:pt x="73647" y="0"/>
                </a:cubicBezTo>
                <a:close/>
              </a:path>
            </a:pathLst>
          </a:custGeom>
          <a:gradFill>
            <a:gsLst>
              <a:gs pos="0">
                <a:srgbClr val="64CBFF">
                  <a:alpha val="34902"/>
                </a:srgbClr>
              </a:gs>
              <a:gs pos="100000">
                <a:srgbClr val="2F5897">
                  <a:alpha val="100000"/>
                </a:srgbClr>
              </a:gs>
            </a:gsLst>
            <a:lin ang="1200000" scaled="1"/>
          </a:gradFill>
          <a:ln/>
        </p:spPr>
      </p:sp>
      <p:pic>
        <p:nvPicPr>
          <p:cNvPr id="8" name="Image 1" descr="//img.tukuppt.com/aippt_tpl_uploads/25/07/01/686397e7ae4cf.png"/>
          <p:cNvPicPr>
            <a:picLocks noChangeAspect="1"/>
          </p:cNvPicPr>
          <p:nvPr/>
        </p:nvPicPr>
        <p:blipFill>
          <a:blip r:embed="rId4"/>
          <a:srcRect/>
          <a:stretch/>
        </p:blipFill>
        <p:spPr>
          <a:xfrm flipH="1">
            <a:off x="787710" y="346921"/>
            <a:ext cx="255659" cy="98905"/>
          </a:xfrm>
          <a:prstGeom prst="rect">
            <a:avLst/>
          </a:prstGeom>
        </p:spPr>
      </p:pic>
      <p:pic>
        <p:nvPicPr>
          <p:cNvPr id="9" name="Image 2" descr="//img.tukuppt.com/aippt_tpl_uploads/25/07/01/686397e7ae4cf.png"/>
          <p:cNvPicPr>
            <a:picLocks noChangeAspect="1"/>
          </p:cNvPicPr>
          <p:nvPr/>
        </p:nvPicPr>
        <p:blipFill>
          <a:blip r:embed="rId4"/>
          <a:srcRect/>
          <a:stretch/>
        </p:blipFill>
        <p:spPr>
          <a:xfrm flipH="1">
            <a:off x="787710" y="549201"/>
            <a:ext cx="255659" cy="98905"/>
          </a:xfrm>
          <a:prstGeom prst="rect">
            <a:avLst/>
          </a:prstGeom>
        </p:spPr>
      </p:pic>
      <p:pic>
        <p:nvPicPr>
          <p:cNvPr id="10" name="Image 3" descr="//img.tukuppt.com/aippt_tpl_uploads/25/07/01/686397e7b8f81.png"/>
          <p:cNvPicPr>
            <a:picLocks noChangeAspect="1"/>
          </p:cNvPicPr>
          <p:nvPr/>
        </p:nvPicPr>
        <p:blipFill>
          <a:blip r:embed="rId5"/>
          <a:srcRect/>
          <a:stretch/>
        </p:blipFill>
        <p:spPr>
          <a:xfrm>
            <a:off x="539206" y="312920"/>
            <a:ext cx="321318" cy="321734"/>
          </a:xfrm>
          <a:prstGeom prst="rect">
            <a:avLst/>
          </a:prstGeom>
        </p:spPr>
      </p:pic>
      <p:pic>
        <p:nvPicPr>
          <p:cNvPr id="11" name="Image 4" descr="//img.tukuppt.com/aippt_tpl_uploads/25/07/01/686397e7af1a3.png!/fwfh2/960x960"/>
          <p:cNvPicPr>
            <a:picLocks noChangeAspect="1"/>
          </p:cNvPicPr>
          <p:nvPr/>
        </p:nvPicPr>
        <p:blipFill>
          <a:blip r:embed="rId6"/>
          <a:srcRect l="36452" t="56544" b="34700"/>
          <a:stretch/>
        </p:blipFill>
        <p:spPr>
          <a:xfrm>
            <a:off x="-4836" y="-812736"/>
            <a:ext cx="9148837" cy="1019042"/>
          </a:xfrm>
          <a:prstGeom prst="rect">
            <a:avLst/>
          </a:prstGeom>
        </p:spPr>
      </p:pic>
      <p:pic>
        <p:nvPicPr>
          <p:cNvPr id="12" name="Image 5" descr="//img.tukuppt.com/aippt_tpl_uploads/25/07/01/686397e7af1a3.png!/fwfh2/960x960"/>
          <p:cNvPicPr>
            <a:picLocks noChangeAspect="1"/>
          </p:cNvPicPr>
          <p:nvPr/>
        </p:nvPicPr>
        <p:blipFill>
          <a:blip r:embed="rId6"/>
          <a:srcRect l="36452" t="56544" b="34700"/>
          <a:stretch/>
        </p:blipFill>
        <p:spPr>
          <a:xfrm>
            <a:off x="-61352" y="4937888"/>
            <a:ext cx="9313872" cy="1019042"/>
          </a:xfrm>
          <a:prstGeom prst="rect">
            <a:avLst/>
          </a:prstGeom>
        </p:spPr>
      </p:pic>
      <p:pic>
        <p:nvPicPr>
          <p:cNvPr id="13" name="Image 6" descr="//static3.tukuppt.com/design/material/002/005/66888986ab9d8.png?x-bce-process=image/resize,m_mfit,w_960,h_960"/>
          <p:cNvPicPr>
            <a:picLocks noChangeAspect="1"/>
          </p:cNvPicPr>
          <p:nvPr/>
        </p:nvPicPr>
        <p:blipFill>
          <a:blip r:embed="rId7"/>
          <a:stretch>
            <a:fillRect/>
          </a:stretch>
        </p:blipFill>
        <p:spPr>
          <a:xfrm>
            <a:off x="5338263" y="1404268"/>
            <a:ext cx="2907196" cy="2907196"/>
          </a:xfrm>
          <a:prstGeom prst="rect">
            <a:avLst/>
          </a:prstGeom>
        </p:spPr>
      </p:pic>
      <p:sp>
        <p:nvSpPr>
          <p:cNvPr id="14" name="Text 5"/>
          <p:cNvSpPr txBox="1"/>
          <p:nvPr/>
        </p:nvSpPr>
        <p:spPr>
          <a:xfrm>
            <a:off x="1149639" y="1734035"/>
            <a:ext cx="3095625" cy="486701"/>
          </a:xfrm>
          <a:prstGeom prst="rect">
            <a:avLst/>
          </a:prstGeom>
          <a:noFill/>
          <a:ln/>
        </p:spPr>
        <p:txBody>
          <a:bodyPr wrap="square" lIns="0" tIns="0" rIns="0" bIns="0" rtlCol="0" anchor="ctr">
            <a:spAutoFit/>
          </a:bodyPr>
          <a:lstStyle/>
          <a:p>
            <a:pPr marL="0" indent="0" algn="l">
              <a:buNone/>
            </a:pPr>
            <a:r>
              <a:rPr lang="zh-CN" altLang="en-US" sz="1650" dirty="0">
                <a:solidFill>
                  <a:srgbClr val="000000"/>
                </a:solidFill>
                <a:latin typeface="SourceHanSansSC-Regular"/>
                <a:ea typeface="SourceHanSansSC-Regular"/>
                <a:cs typeface="SourceHanSansSC-Regular"/>
              </a:rPr>
              <a:t>情境差异</a:t>
            </a:r>
            <a:endParaRPr lang="en-US" sz="1800" dirty="0"/>
          </a:p>
        </p:txBody>
      </p:sp>
      <p:sp>
        <p:nvSpPr>
          <p:cNvPr id="15" name="Shape 6"/>
          <p:cNvSpPr/>
          <p:nvPr/>
        </p:nvSpPr>
        <p:spPr>
          <a:xfrm>
            <a:off x="1163927" y="2413277"/>
            <a:ext cx="387075" cy="0"/>
          </a:xfrm>
          <a:custGeom>
            <a:avLst/>
            <a:gdLst/>
            <a:ahLst/>
            <a:cxnLst/>
            <a:rect l="l" t="t" r="r" b="b"/>
            <a:pathLst>
              <a:path w="387075">
                <a:moveTo>
                  <a:pt x="0" y="0"/>
                </a:moveTo>
                <a:lnTo>
                  <a:pt x="387075" y="0"/>
                </a:lnTo>
              </a:path>
            </a:pathLst>
          </a:custGeom>
          <a:noFill/>
          <a:ln w="14288">
            <a:solidFill>
              <a:srgbClr val="CDCDCD"/>
            </a:solidFill>
            <a:prstDash val="solid"/>
            <a:headEnd type="none"/>
            <a:tailEnd type="none"/>
          </a:ln>
        </p:spPr>
      </p:sp>
      <p:sp>
        <p:nvSpPr>
          <p:cNvPr id="16" name="Text 7"/>
          <p:cNvSpPr txBox="1"/>
          <p:nvPr/>
        </p:nvSpPr>
        <p:spPr>
          <a:xfrm>
            <a:off x="1149639" y="2585553"/>
            <a:ext cx="2990850" cy="823913"/>
          </a:xfrm>
          <a:prstGeom prst="rect">
            <a:avLst/>
          </a:prstGeom>
          <a:noFill/>
          <a:ln/>
        </p:spPr>
        <p:txBody>
          <a:bodyPr wrap="square" lIns="0" tIns="0" rIns="0" bIns="0" rtlCol="0" anchor="t">
            <a:spAutoFit/>
          </a:bodyPr>
          <a:lstStyle/>
          <a:p>
            <a:pPr marL="0" indent="0" algn="l">
              <a:lnSpc>
                <a:spcPct val="96000"/>
              </a:lnSpc>
              <a:buNone/>
            </a:pPr>
            <a:r>
              <a:rPr lang="zh-CN" altLang="en-US" sz="900" dirty="0">
                <a:solidFill>
                  <a:srgbClr val="2A2A2A"/>
                </a:solidFill>
                <a:latin typeface="SourceHanSansSC-Regular"/>
                <a:ea typeface="SourceHanSansSC-Regular"/>
                <a:cs typeface="SourceHanSansSC-Regular"/>
              </a:rPr>
              <a:t>在一种决策情境下相关的成本，在另一种情境下可能并不相关。这是因为决策情境的变化会导致成本的性质和影响发生改变。例如，在短期决策中，某些变动成本可能是相关的，但在长期决策中，这些成本可能变得无关紧要。</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img.tukuppt.com/aippt_tpl_uploads/25/07/01/686397e7a6107.png"/>
          <p:cNvPicPr>
            <a:picLocks noChangeAspect="1"/>
          </p:cNvPicPr>
          <p:nvPr/>
        </p:nvPicPr>
        <p:blipFill>
          <a:blip r:embed="rId4"/>
          <a:srcRect/>
          <a:stretch/>
        </p:blipFill>
        <p:spPr>
          <a:xfrm flipH="1">
            <a:off x="-1744075" y="-312485"/>
            <a:ext cx="6071588" cy="5942568"/>
          </a:xfrm>
          <a:prstGeom prst="rect">
            <a:avLst/>
          </a:prstGeom>
        </p:spPr>
      </p:pic>
      <p:sp>
        <p:nvSpPr>
          <p:cNvPr id="3" name="Text 0"/>
          <p:cNvSpPr txBox="1"/>
          <p:nvPr/>
        </p:nvSpPr>
        <p:spPr>
          <a:xfrm>
            <a:off x="4118077" y="1908001"/>
            <a:ext cx="4105275" cy="1371600"/>
          </a:xfrm>
          <a:prstGeom prst="rect">
            <a:avLst/>
          </a:prstGeom>
          <a:noFill/>
          <a:ln/>
        </p:spPr>
        <p:txBody>
          <a:bodyPr wrap="square" lIns="0" tIns="0" rIns="0" bIns="0" rtlCol="0" anchor="t">
            <a:spAutoFit/>
          </a:bodyPr>
          <a:lstStyle/>
          <a:p>
            <a:pPr marL="0" indent="0" algn="l">
              <a:lnSpc>
                <a:spcPct val="96000"/>
              </a:lnSpc>
              <a:buNone/>
            </a:pPr>
            <a:r>
              <a:rPr lang="zh-CN" altLang="en-US" sz="4500" dirty="0">
                <a:solidFill>
                  <a:srgbClr val="0067B4"/>
                </a:solidFill>
                <a:latin typeface="SourceHanSansSC-Heavy"/>
                <a:ea typeface="SourceHanSansSC-Heavy"/>
                <a:cs typeface="SourceHanSansSC-Heavy"/>
              </a:rPr>
              <a:t>案例分析：西娅的出行决策</a:t>
            </a:r>
            <a:endParaRPr lang="en-US" sz="4500" dirty="0"/>
          </a:p>
        </p:txBody>
      </p:sp>
      <p:sp>
        <p:nvSpPr>
          <p:cNvPr id="4" name="Text 1"/>
          <p:cNvSpPr txBox="1"/>
          <p:nvPr/>
        </p:nvSpPr>
        <p:spPr>
          <a:xfrm>
            <a:off x="4118077" y="1357413"/>
            <a:ext cx="1038225" cy="409575"/>
          </a:xfrm>
          <a:prstGeom prst="rect">
            <a:avLst/>
          </a:prstGeom>
          <a:noFill/>
          <a:ln/>
        </p:spPr>
        <p:txBody>
          <a:bodyPr wrap="square" lIns="0" tIns="0" rIns="0" bIns="0" rtlCol="0" anchor="t">
            <a:spAutoFit/>
          </a:bodyPr>
          <a:lstStyle/>
          <a:p>
            <a:pPr marL="0" indent="0" algn="ctr">
              <a:lnSpc>
                <a:spcPct val="96000"/>
              </a:lnSpc>
              <a:buNone/>
            </a:pPr>
            <a:r>
              <a:rPr lang="en" altLang="en-US" sz="2700" dirty="0">
                <a:solidFill>
                  <a:srgbClr val="000000"/>
                </a:solidFill>
                <a:latin typeface="SourceHanSansSC-Heavy"/>
                <a:ea typeface="SourceHanSansSC-Heavy"/>
                <a:cs typeface="SourceHanSansSC-Heavy"/>
              </a:rPr>
              <a:t>PART-</a:t>
            </a:r>
            <a:endParaRPr lang="en-US" sz="2700" dirty="0"/>
          </a:p>
        </p:txBody>
      </p:sp>
      <p:sp>
        <p:nvSpPr>
          <p:cNvPr id="5" name="Text 2"/>
          <p:cNvSpPr txBox="1"/>
          <p:nvPr/>
        </p:nvSpPr>
        <p:spPr>
          <a:xfrm>
            <a:off x="5156302" y="1357413"/>
            <a:ext cx="1038225" cy="409575"/>
          </a:xfrm>
          <a:prstGeom prst="rect">
            <a:avLst/>
          </a:prstGeom>
          <a:noFill/>
          <a:ln/>
        </p:spPr>
        <p:txBody>
          <a:bodyPr wrap="square" lIns="0" tIns="0" rIns="0" bIns="0" rtlCol="0" anchor="t">
            <a:spAutoFit/>
          </a:bodyPr>
          <a:lstStyle/>
          <a:p>
            <a:pPr marL="0" indent="0" algn="l">
              <a:lnSpc>
                <a:spcPct val="96000"/>
              </a:lnSpc>
              <a:buNone/>
            </a:pPr>
            <a:r>
              <a:rPr lang="en-US" sz="2700" dirty="0">
                <a:solidFill>
                  <a:srgbClr val="000000"/>
                </a:solidFill>
                <a:latin typeface="SourceHanSansSC-Heavy"/>
                <a:ea typeface="SourceHanSansSC-Heavy"/>
                <a:cs typeface="SourceHanSansSC-Heavy"/>
              </a:rPr>
              <a:t>04</a:t>
            </a:r>
            <a:endParaRPr lang="en-US" sz="2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img.tukuppt.com/aippt_uploads/34576449/25/07/03/6866a18678cda.png!/fwfh2/960x960"/>
          <p:cNvPicPr>
            <a:picLocks noChangeAspect="1"/>
          </p:cNvPicPr>
          <p:nvPr/>
        </p:nvPicPr>
        <p:blipFill>
          <a:blip r:embed="rId3"/>
          <a:stretch>
            <a:fillRect/>
          </a:stretch>
        </p:blipFill>
        <p:spPr>
          <a:xfrm>
            <a:off x="0" y="0"/>
            <a:ext cx="9140180" cy="5131830"/>
          </a:xfrm>
          <a:prstGeom prst="rect">
            <a:avLst/>
          </a:prstGeom>
        </p:spPr>
      </p:pic>
      <p:sp>
        <p:nvSpPr>
          <p:cNvPr id="3" name="Shape 0"/>
          <p:cNvSpPr/>
          <p:nvPr/>
        </p:nvSpPr>
        <p:spPr>
          <a:xfrm>
            <a:off x="979384" y="287863"/>
            <a:ext cx="2872893" cy="412023"/>
          </a:xfrm>
          <a:custGeom>
            <a:avLst/>
            <a:gdLst/>
            <a:ahLst/>
            <a:cxnLst/>
            <a:rect l="l" t="t" r="r" b="b"/>
            <a:pathLst>
              <a:path w="2872893" h="412023">
                <a:moveTo>
                  <a:pt x="68568" y="0"/>
                </a:moveTo>
                <a:lnTo>
                  <a:pt x="2803673" y="0"/>
                </a:lnTo>
                <a:cubicBezTo>
                  <a:pt x="2841542" y="0"/>
                  <a:pt x="2872241" y="30699"/>
                  <a:pt x="2872241" y="68568"/>
                </a:cubicBezTo>
                <a:lnTo>
                  <a:pt x="2872241" y="342840"/>
                </a:lnTo>
                <a:cubicBezTo>
                  <a:pt x="2872241" y="380710"/>
                  <a:pt x="2841542" y="411409"/>
                  <a:pt x="2803673" y="411409"/>
                </a:cubicBezTo>
                <a:lnTo>
                  <a:pt x="68568" y="411409"/>
                </a:lnTo>
                <a:cubicBezTo>
                  <a:pt x="30699" y="411409"/>
                  <a:pt x="0" y="380710"/>
                  <a:pt x="0" y="342840"/>
                </a:cubicBezTo>
                <a:lnTo>
                  <a:pt x="0" y="68568"/>
                </a:lnTo>
                <a:cubicBezTo>
                  <a:pt x="0" y="30724"/>
                  <a:pt x="30724" y="0"/>
                  <a:pt x="68568" y="0"/>
                </a:cubicBezTo>
                <a:close/>
              </a:path>
            </a:pathLst>
          </a:custGeom>
          <a:solidFill>
            <a:srgbClr val="0067B4"/>
          </a:solidFill>
          <a:ln/>
          <a:effectLst>
            <a:outerShdw dist="38093" dir="2700000" algn="bl" rotWithShape="0">
              <a:srgbClr val="000000">
                <a:alpha val="38824"/>
              </a:srgbClr>
            </a:outerShdw>
          </a:effectLst>
        </p:spPr>
      </p:sp>
      <p:sp>
        <p:nvSpPr>
          <p:cNvPr id="4" name="Shape 1"/>
          <p:cNvSpPr/>
          <p:nvPr/>
        </p:nvSpPr>
        <p:spPr>
          <a:xfrm>
            <a:off x="1188456" y="329442"/>
            <a:ext cx="2735844" cy="339064"/>
          </a:xfrm>
          <a:custGeom>
            <a:avLst/>
            <a:gdLst/>
            <a:ahLst/>
            <a:cxnLst/>
            <a:rect l="l" t="t" r="r" b="b"/>
            <a:pathLst>
              <a:path w="2735844" h="339064">
                <a:moveTo>
                  <a:pt x="0" y="0"/>
                </a:moveTo>
                <a:lnTo>
                  <a:pt x="2735844" y="0"/>
                </a:lnTo>
                <a:lnTo>
                  <a:pt x="2735844" y="339064"/>
                </a:lnTo>
                <a:lnTo>
                  <a:pt x="0" y="339064"/>
                </a:lnTo>
                <a:close/>
              </a:path>
            </a:pathLst>
          </a:custGeom>
          <a:noFill/>
          <a:ln/>
        </p:spPr>
      </p:sp>
      <p:sp>
        <p:nvSpPr>
          <p:cNvPr id="5" name="Text 2"/>
          <p:cNvSpPr txBox="1"/>
          <p:nvPr/>
        </p:nvSpPr>
        <p:spPr>
          <a:xfrm>
            <a:off x="1188456" y="329442"/>
            <a:ext cx="2735844" cy="339064"/>
          </a:xfrm>
          <a:prstGeom prst="rect">
            <a:avLst/>
          </a:prstGeom>
          <a:noFill/>
          <a:ln/>
        </p:spPr>
        <p:txBody>
          <a:bodyPr wrap="square" lIns="1252" tIns="653" rIns="1252" bIns="653" rtlCol="0" anchor="t">
            <a:spAutoFit/>
          </a:bodyPr>
          <a:lstStyle/>
          <a:p>
            <a:pPr marL="0" indent="0" algn="l">
              <a:buNone/>
            </a:pPr>
            <a:r>
              <a:rPr lang="zh-CN" altLang="en-US" sz="1601" dirty="0">
                <a:solidFill>
                  <a:srgbClr val="64CBFF"/>
                </a:solidFill>
                <a:latin typeface="SourceHanSansSC-Medium"/>
                <a:ea typeface="SourceHanSansSC-Medium"/>
                <a:cs typeface="SourceHanSansSC-Medium"/>
              </a:rPr>
              <a:t>决策背景</a:t>
            </a:r>
            <a:endParaRPr lang="en-US" sz="1601" dirty="0"/>
          </a:p>
        </p:txBody>
      </p:sp>
      <p:sp>
        <p:nvSpPr>
          <p:cNvPr id="6" name="Shape 3"/>
          <p:cNvSpPr/>
          <p:nvPr/>
        </p:nvSpPr>
        <p:spPr>
          <a:xfrm>
            <a:off x="471488" y="198466"/>
            <a:ext cx="461756" cy="542999"/>
          </a:xfrm>
          <a:custGeom>
            <a:avLst/>
            <a:gdLst/>
            <a:ahLst/>
            <a:cxnLst/>
            <a:rect l="l" t="t" r="r" b="b"/>
            <a:pathLst>
              <a:path w="461756" h="542999">
                <a:moveTo>
                  <a:pt x="77457" y="0"/>
                </a:moveTo>
                <a:lnTo>
                  <a:pt x="384743" y="0"/>
                </a:lnTo>
                <a:cubicBezTo>
                  <a:pt x="427521" y="0"/>
                  <a:pt x="462200" y="34678"/>
                  <a:pt x="462200" y="77457"/>
                </a:cubicBezTo>
                <a:lnTo>
                  <a:pt x="462200" y="466009"/>
                </a:lnTo>
                <a:cubicBezTo>
                  <a:pt x="462200" y="508787"/>
                  <a:pt x="427521" y="543466"/>
                  <a:pt x="384743" y="543466"/>
                </a:cubicBezTo>
                <a:lnTo>
                  <a:pt x="77457" y="543466"/>
                </a:lnTo>
                <a:cubicBezTo>
                  <a:pt x="34678" y="543466"/>
                  <a:pt x="0" y="508787"/>
                  <a:pt x="0" y="466009"/>
                </a:cubicBezTo>
                <a:lnTo>
                  <a:pt x="0" y="77457"/>
                </a:lnTo>
                <a:cubicBezTo>
                  <a:pt x="0" y="34678"/>
                  <a:pt x="34678" y="0"/>
                  <a:pt x="77457" y="0"/>
                </a:cubicBezTo>
                <a:close/>
              </a:path>
            </a:pathLst>
          </a:custGeom>
          <a:solidFill>
            <a:srgbClr val="0067B4"/>
          </a:solidFill>
          <a:ln/>
          <a:effectLst>
            <a:outerShdw dist="38093" dir="2700000" algn="bl" rotWithShape="0">
              <a:srgbClr val="000000">
                <a:alpha val="38824"/>
              </a:srgbClr>
            </a:outerShdw>
          </a:effectLst>
        </p:spPr>
      </p:sp>
      <p:sp>
        <p:nvSpPr>
          <p:cNvPr id="7" name="Shape 4"/>
          <p:cNvSpPr/>
          <p:nvPr/>
        </p:nvSpPr>
        <p:spPr>
          <a:xfrm>
            <a:off x="482166" y="206110"/>
            <a:ext cx="433263" cy="535355"/>
          </a:xfrm>
          <a:custGeom>
            <a:avLst/>
            <a:gdLst/>
            <a:ahLst/>
            <a:cxnLst/>
            <a:rect l="l" t="t" r="r" b="b"/>
            <a:pathLst>
              <a:path w="433263" h="535355">
                <a:moveTo>
                  <a:pt x="73647" y="0"/>
                </a:moveTo>
                <a:lnTo>
                  <a:pt x="366966" y="0"/>
                </a:lnTo>
                <a:cubicBezTo>
                  <a:pt x="396171" y="0"/>
                  <a:pt x="421567" y="15237"/>
                  <a:pt x="432995" y="35554"/>
                </a:cubicBezTo>
                <a:cubicBezTo>
                  <a:pt x="186658" y="119359"/>
                  <a:pt x="11428" y="311096"/>
                  <a:pt x="1270" y="535847"/>
                </a:cubicBezTo>
                <a:cubicBezTo>
                  <a:pt x="0" y="533307"/>
                  <a:pt x="0" y="532038"/>
                  <a:pt x="0" y="529498"/>
                </a:cubicBezTo>
                <a:lnTo>
                  <a:pt x="0" y="60949"/>
                </a:lnTo>
                <a:cubicBezTo>
                  <a:pt x="0" y="26665"/>
                  <a:pt x="33014" y="0"/>
                  <a:pt x="73647" y="0"/>
                </a:cubicBezTo>
                <a:close/>
              </a:path>
            </a:pathLst>
          </a:custGeom>
          <a:gradFill>
            <a:gsLst>
              <a:gs pos="0">
                <a:srgbClr val="64CBFF">
                  <a:alpha val="34902"/>
                </a:srgbClr>
              </a:gs>
              <a:gs pos="100000">
                <a:srgbClr val="2F5897">
                  <a:alpha val="100000"/>
                </a:srgbClr>
              </a:gs>
            </a:gsLst>
            <a:lin ang="1200000" scaled="1"/>
          </a:gradFill>
          <a:ln/>
        </p:spPr>
      </p:sp>
      <p:pic>
        <p:nvPicPr>
          <p:cNvPr id="8" name="Image 1" descr="//img.tukuppt.com/aippt_tpl_uploads/25/07/01/686397e7ae4cf.png"/>
          <p:cNvPicPr>
            <a:picLocks noChangeAspect="1"/>
          </p:cNvPicPr>
          <p:nvPr/>
        </p:nvPicPr>
        <p:blipFill>
          <a:blip r:embed="rId4"/>
          <a:srcRect/>
          <a:stretch/>
        </p:blipFill>
        <p:spPr>
          <a:xfrm flipH="1">
            <a:off x="787710" y="346921"/>
            <a:ext cx="255659" cy="98905"/>
          </a:xfrm>
          <a:prstGeom prst="rect">
            <a:avLst/>
          </a:prstGeom>
        </p:spPr>
      </p:pic>
      <p:pic>
        <p:nvPicPr>
          <p:cNvPr id="9" name="Image 2" descr="//img.tukuppt.com/aippt_tpl_uploads/25/07/01/686397e7ae4cf.png"/>
          <p:cNvPicPr>
            <a:picLocks noChangeAspect="1"/>
          </p:cNvPicPr>
          <p:nvPr/>
        </p:nvPicPr>
        <p:blipFill>
          <a:blip r:embed="rId4"/>
          <a:srcRect/>
          <a:stretch/>
        </p:blipFill>
        <p:spPr>
          <a:xfrm flipH="1">
            <a:off x="787710" y="549201"/>
            <a:ext cx="255659" cy="98905"/>
          </a:xfrm>
          <a:prstGeom prst="rect">
            <a:avLst/>
          </a:prstGeom>
        </p:spPr>
      </p:pic>
      <p:pic>
        <p:nvPicPr>
          <p:cNvPr id="10" name="Image 3" descr="//img.tukuppt.com/aippt_tpl_uploads/25/07/01/686397e7b8f81.png"/>
          <p:cNvPicPr>
            <a:picLocks noChangeAspect="1"/>
          </p:cNvPicPr>
          <p:nvPr/>
        </p:nvPicPr>
        <p:blipFill>
          <a:blip r:embed="rId5"/>
          <a:srcRect/>
          <a:stretch/>
        </p:blipFill>
        <p:spPr>
          <a:xfrm>
            <a:off x="539206" y="312920"/>
            <a:ext cx="321318" cy="321734"/>
          </a:xfrm>
          <a:prstGeom prst="rect">
            <a:avLst/>
          </a:prstGeom>
        </p:spPr>
      </p:pic>
      <p:pic>
        <p:nvPicPr>
          <p:cNvPr id="11" name="Image 4" descr="//img.tukuppt.com/aippt_tpl_uploads/25/07/01/686397e7af1a3.png!/fwfh2/960x960"/>
          <p:cNvPicPr>
            <a:picLocks noChangeAspect="1"/>
          </p:cNvPicPr>
          <p:nvPr/>
        </p:nvPicPr>
        <p:blipFill>
          <a:blip r:embed="rId6"/>
          <a:srcRect l="36452" t="56544" b="34700"/>
          <a:stretch/>
        </p:blipFill>
        <p:spPr>
          <a:xfrm>
            <a:off x="-4836" y="-812736"/>
            <a:ext cx="9148837" cy="1019042"/>
          </a:xfrm>
          <a:prstGeom prst="rect">
            <a:avLst/>
          </a:prstGeom>
        </p:spPr>
      </p:pic>
      <p:pic>
        <p:nvPicPr>
          <p:cNvPr id="12" name="Image 5" descr="//img.tukuppt.com/aippt_tpl_uploads/25/07/01/686397e7af1a3.png!/fwfh2/960x960"/>
          <p:cNvPicPr>
            <a:picLocks noChangeAspect="1"/>
          </p:cNvPicPr>
          <p:nvPr/>
        </p:nvPicPr>
        <p:blipFill>
          <a:blip r:embed="rId6"/>
          <a:srcRect l="36452" t="56544" b="34700"/>
          <a:stretch/>
        </p:blipFill>
        <p:spPr>
          <a:xfrm>
            <a:off x="-61352" y="4937888"/>
            <a:ext cx="9313872" cy="1019042"/>
          </a:xfrm>
          <a:prstGeom prst="rect">
            <a:avLst/>
          </a:prstGeom>
        </p:spPr>
      </p:pic>
      <p:sp>
        <p:nvSpPr>
          <p:cNvPr id="13" name="Shape 5"/>
          <p:cNvSpPr/>
          <p:nvPr/>
        </p:nvSpPr>
        <p:spPr>
          <a:xfrm>
            <a:off x="786726" y="1439773"/>
            <a:ext cx="7570548" cy="2709875"/>
          </a:xfrm>
          <a:custGeom>
            <a:avLst/>
            <a:gdLst/>
            <a:ahLst/>
            <a:cxnLst/>
            <a:rect l="l" t="t" r="r" b="b"/>
            <a:pathLst>
              <a:path w="7570548" h="2709875">
                <a:moveTo>
                  <a:pt x="0" y="0"/>
                </a:moveTo>
                <a:lnTo>
                  <a:pt x="7570548" y="0"/>
                </a:lnTo>
                <a:lnTo>
                  <a:pt x="7570548" y="2709875"/>
                </a:lnTo>
                <a:lnTo>
                  <a:pt x="0" y="2709875"/>
                </a:lnTo>
                <a:close/>
              </a:path>
            </a:pathLst>
          </a:custGeom>
          <a:solidFill>
            <a:srgbClr val="0067B4">
              <a:alpha val="11000"/>
            </a:srgbClr>
          </a:solidFill>
          <a:ln/>
        </p:spPr>
      </p:sp>
      <p:pic>
        <p:nvPicPr>
          <p:cNvPr id="14" name="Image 6" descr="//static3.tukuppt.com/design/material/002/073/6688a97c762c0.png?x-bce-process=image/resize,m_mfit,w_960,h_960"/>
          <p:cNvPicPr>
            <a:picLocks noChangeAspect="1"/>
          </p:cNvPicPr>
          <p:nvPr/>
        </p:nvPicPr>
        <p:blipFill>
          <a:blip r:embed="rId7"/>
          <a:stretch>
            <a:fillRect/>
          </a:stretch>
        </p:blipFill>
        <p:spPr>
          <a:xfrm>
            <a:off x="786726" y="1081307"/>
            <a:ext cx="3295260" cy="3295260"/>
          </a:xfrm>
          <a:prstGeom prst="rect">
            <a:avLst/>
          </a:prstGeom>
        </p:spPr>
      </p:pic>
      <p:sp>
        <p:nvSpPr>
          <p:cNvPr id="15" name="Text 6"/>
          <p:cNvSpPr txBox="1"/>
          <p:nvPr/>
        </p:nvSpPr>
        <p:spPr>
          <a:xfrm>
            <a:off x="3924300" y="799291"/>
            <a:ext cx="3114675" cy="434082"/>
          </a:xfrm>
          <a:prstGeom prst="rect">
            <a:avLst/>
          </a:prstGeom>
          <a:noFill/>
          <a:ln/>
        </p:spPr>
        <p:txBody>
          <a:bodyPr wrap="square" lIns="0" tIns="0" rIns="0" bIns="0" rtlCol="0" anchor="ctr">
            <a:spAutoFit/>
          </a:bodyPr>
          <a:lstStyle/>
          <a:p>
            <a:pPr marL="0" indent="0" algn="l">
              <a:buNone/>
            </a:pPr>
            <a:r>
              <a:rPr lang="zh-CN" altLang="en-US" sz="1650" dirty="0">
                <a:solidFill>
                  <a:srgbClr val="000000"/>
                </a:solidFill>
                <a:latin typeface="SourceHanSansSC-Regular"/>
                <a:ea typeface="SourceHanSansSC-Regular"/>
                <a:cs typeface="SourceHanSansSC-Regular"/>
              </a:rPr>
              <a:t>出行选择</a:t>
            </a:r>
            <a:endParaRPr lang="en-US" sz="1800" dirty="0"/>
          </a:p>
        </p:txBody>
      </p:sp>
      <p:sp>
        <p:nvSpPr>
          <p:cNvPr id="16" name="Shape 7"/>
          <p:cNvSpPr/>
          <p:nvPr/>
        </p:nvSpPr>
        <p:spPr>
          <a:xfrm>
            <a:off x="3924300" y="1233373"/>
            <a:ext cx="387075" cy="0"/>
          </a:xfrm>
          <a:custGeom>
            <a:avLst/>
            <a:gdLst/>
            <a:ahLst/>
            <a:cxnLst/>
            <a:rect l="l" t="t" r="r" b="b"/>
            <a:pathLst>
              <a:path w="387075">
                <a:moveTo>
                  <a:pt x="0" y="0"/>
                </a:moveTo>
                <a:lnTo>
                  <a:pt x="387075" y="0"/>
                </a:lnTo>
              </a:path>
            </a:pathLst>
          </a:custGeom>
          <a:noFill/>
          <a:ln w="14288">
            <a:solidFill>
              <a:srgbClr val="FFFFFF"/>
            </a:solidFill>
            <a:prstDash val="solid"/>
            <a:headEnd type="none"/>
            <a:tailEnd type="none"/>
          </a:ln>
        </p:spPr>
      </p:sp>
      <p:sp>
        <p:nvSpPr>
          <p:cNvPr id="17" name="Text 8"/>
          <p:cNvSpPr txBox="1"/>
          <p:nvPr/>
        </p:nvSpPr>
        <p:spPr>
          <a:xfrm>
            <a:off x="4517193" y="1196570"/>
            <a:ext cx="3119438" cy="398955"/>
          </a:xfrm>
          <a:prstGeom prst="rect">
            <a:avLst/>
          </a:prstGeom>
          <a:noFill/>
          <a:ln/>
        </p:spPr>
        <p:txBody>
          <a:bodyPr wrap="square" lIns="0" tIns="0" rIns="0" bIns="0" rtlCol="0" anchor="t">
            <a:spAutoFit/>
          </a:bodyPr>
          <a:lstStyle/>
          <a:p>
            <a:pPr marL="0" indent="0" algn="l">
              <a:lnSpc>
                <a:spcPct val="96000"/>
              </a:lnSpc>
              <a:buNone/>
            </a:pPr>
            <a:r>
              <a:rPr lang="zh-CN" altLang="en-US" sz="900" dirty="0">
                <a:solidFill>
                  <a:srgbClr val="2A2A2A"/>
                </a:solidFill>
                <a:latin typeface="SourceHanSansSC-Regular"/>
                <a:ea typeface="SourceHanSansSC-Regular"/>
                <a:cs typeface="SourceHanSansSC-Regular"/>
              </a:rPr>
              <a:t>西娅是波士顿的一名学生，考虑去纽约拜访朋友，有开车和乘坐火车两种出行方式可供选择。她需要收集相关成本信息，以确定哪种方案花费更少。</a:t>
            </a:r>
            <a:endParaRPr lang="en-US" sz="900" dirty="0"/>
          </a:p>
        </p:txBody>
      </p:sp>
      <p:graphicFrame>
        <p:nvGraphicFramePr>
          <p:cNvPr id="18" name="表格 17">
            <a:extLst>
              <a:ext uri="{FF2B5EF4-FFF2-40B4-BE49-F238E27FC236}">
                <a16:creationId xmlns:a16="http://schemas.microsoft.com/office/drawing/2014/main" id="{984DB20E-BAFD-4D8B-9F9C-0DF1621EE730}"/>
              </a:ext>
            </a:extLst>
          </p:cNvPr>
          <p:cNvGraphicFramePr>
            <a:graphicFrameLocks noGrp="1"/>
          </p:cNvGraphicFramePr>
          <p:nvPr>
            <p:extLst>
              <p:ext uri="{D42A27DB-BD31-4B8C-83A1-F6EECF244321}">
                <p14:modId xmlns:p14="http://schemas.microsoft.com/office/powerpoint/2010/main" val="3052077437"/>
              </p:ext>
            </p:extLst>
          </p:nvPr>
        </p:nvGraphicFramePr>
        <p:xfrm>
          <a:off x="3958415" y="1826358"/>
          <a:ext cx="4572156" cy="1802465"/>
        </p:xfrm>
        <a:graphic>
          <a:graphicData uri="http://schemas.openxmlformats.org/drawingml/2006/table">
            <a:tbl>
              <a:tblPr/>
              <a:tblGrid>
                <a:gridCol w="1524052">
                  <a:extLst>
                    <a:ext uri="{9D8B030D-6E8A-4147-A177-3AD203B41FA5}">
                      <a16:colId xmlns:a16="http://schemas.microsoft.com/office/drawing/2014/main" val="3971066478"/>
                    </a:ext>
                  </a:extLst>
                </a:gridCol>
                <a:gridCol w="1524052">
                  <a:extLst>
                    <a:ext uri="{9D8B030D-6E8A-4147-A177-3AD203B41FA5}">
                      <a16:colId xmlns:a16="http://schemas.microsoft.com/office/drawing/2014/main" val="2057789461"/>
                    </a:ext>
                  </a:extLst>
                </a:gridCol>
                <a:gridCol w="1524052">
                  <a:extLst>
                    <a:ext uri="{9D8B030D-6E8A-4147-A177-3AD203B41FA5}">
                      <a16:colId xmlns:a16="http://schemas.microsoft.com/office/drawing/2014/main" val="2690104847"/>
                    </a:ext>
                  </a:extLst>
                </a:gridCol>
              </a:tblGrid>
              <a:tr h="257495">
                <a:tc>
                  <a:txBody>
                    <a:bodyPr/>
                    <a:lstStyle/>
                    <a:p>
                      <a:r>
                        <a:rPr lang="zh-CN" altLang="en-US" sz="1050"/>
                        <a:t>项目</a:t>
                      </a:r>
                    </a:p>
                  </a:txBody>
                  <a:tcPr anchor="ctr">
                    <a:lnL>
                      <a:noFill/>
                    </a:lnL>
                    <a:lnR>
                      <a:noFill/>
                    </a:lnR>
                    <a:lnT>
                      <a:noFill/>
                    </a:lnT>
                    <a:lnB>
                      <a:noFill/>
                    </a:lnB>
                  </a:tcPr>
                </a:tc>
                <a:tc>
                  <a:txBody>
                    <a:bodyPr/>
                    <a:lstStyle/>
                    <a:p>
                      <a:r>
                        <a:rPr lang="zh-CN" altLang="en-US" sz="1050"/>
                        <a:t>固定项目年成本</a:t>
                      </a:r>
                    </a:p>
                  </a:txBody>
                  <a:tcPr anchor="ctr">
                    <a:lnL>
                      <a:noFill/>
                    </a:lnL>
                    <a:lnR>
                      <a:noFill/>
                    </a:lnR>
                    <a:lnT>
                      <a:noFill/>
                    </a:lnT>
                    <a:lnB>
                      <a:noFill/>
                    </a:lnB>
                  </a:tcPr>
                </a:tc>
                <a:tc>
                  <a:txBody>
                    <a:bodyPr/>
                    <a:lstStyle/>
                    <a:p>
                      <a:r>
                        <a:rPr lang="zh-CN" altLang="en-US" sz="1050"/>
                        <a:t>每英里成本</a:t>
                      </a:r>
                    </a:p>
                  </a:txBody>
                  <a:tcPr anchor="ctr">
                    <a:lnL>
                      <a:noFill/>
                    </a:lnL>
                    <a:lnR>
                      <a:noFill/>
                    </a:lnR>
                    <a:lnT>
                      <a:noFill/>
                    </a:lnT>
                    <a:lnB>
                      <a:noFill/>
                    </a:lnB>
                  </a:tcPr>
                </a:tc>
                <a:extLst>
                  <a:ext uri="{0D108BD9-81ED-4DB2-BD59-A6C34878D82A}">
                    <a16:rowId xmlns:a16="http://schemas.microsoft.com/office/drawing/2014/main" val="2901024647"/>
                  </a:ext>
                </a:extLst>
              </a:tr>
              <a:tr h="257495">
                <a:tc>
                  <a:txBody>
                    <a:bodyPr/>
                    <a:lstStyle/>
                    <a:p>
                      <a:r>
                        <a:rPr lang="zh-CN" altLang="en-US" sz="1050"/>
                        <a:t>汽车年直线折旧</a:t>
                      </a:r>
                    </a:p>
                  </a:txBody>
                  <a:tcPr anchor="ctr">
                    <a:lnL>
                      <a:noFill/>
                    </a:lnL>
                    <a:lnR>
                      <a:noFill/>
                    </a:lnR>
                    <a:lnT>
                      <a:noFill/>
                    </a:lnT>
                    <a:lnB>
                      <a:noFill/>
                    </a:lnB>
                  </a:tcPr>
                </a:tc>
                <a:tc>
                  <a:txBody>
                    <a:bodyPr/>
                    <a:lstStyle/>
                    <a:p>
                      <a:r>
                        <a:rPr lang="en-US" altLang="zh-CN" sz="1050"/>
                        <a:t>$2,800</a:t>
                      </a:r>
                    </a:p>
                  </a:txBody>
                  <a:tcPr anchor="ctr">
                    <a:lnL>
                      <a:noFill/>
                    </a:lnL>
                    <a:lnR>
                      <a:noFill/>
                    </a:lnR>
                    <a:lnT>
                      <a:noFill/>
                    </a:lnT>
                    <a:lnB>
                      <a:noFill/>
                    </a:lnB>
                  </a:tcPr>
                </a:tc>
                <a:tc>
                  <a:txBody>
                    <a:bodyPr/>
                    <a:lstStyle/>
                    <a:p>
                      <a:r>
                        <a:rPr lang="en-US" altLang="zh-CN" sz="1050"/>
                        <a:t>$0.280</a:t>
                      </a:r>
                    </a:p>
                  </a:txBody>
                  <a:tcPr anchor="ctr">
                    <a:lnL>
                      <a:noFill/>
                    </a:lnL>
                    <a:lnR>
                      <a:noFill/>
                    </a:lnR>
                    <a:lnT>
                      <a:noFill/>
                    </a:lnT>
                    <a:lnB>
                      <a:noFill/>
                    </a:lnB>
                  </a:tcPr>
                </a:tc>
                <a:extLst>
                  <a:ext uri="{0D108BD9-81ED-4DB2-BD59-A6C34878D82A}">
                    <a16:rowId xmlns:a16="http://schemas.microsoft.com/office/drawing/2014/main" val="3999510157"/>
                  </a:ext>
                </a:extLst>
              </a:tr>
              <a:tr h="257495">
                <a:tc>
                  <a:txBody>
                    <a:bodyPr/>
                    <a:lstStyle/>
                    <a:p>
                      <a:r>
                        <a:rPr lang="zh-CN" altLang="en-US" sz="1050"/>
                        <a:t>汽油成本</a:t>
                      </a:r>
                    </a:p>
                  </a:txBody>
                  <a:tcPr anchor="ctr">
                    <a:lnL>
                      <a:noFill/>
                    </a:lnL>
                    <a:lnR>
                      <a:noFill/>
                    </a:lnR>
                    <a:lnT>
                      <a:noFill/>
                    </a:lnT>
                    <a:lnB>
                      <a:noFill/>
                    </a:lnB>
                  </a:tcPr>
                </a:tc>
                <a:tc>
                  <a:txBody>
                    <a:bodyPr/>
                    <a:lstStyle/>
                    <a:p>
                      <a:r>
                        <a:rPr lang="en-US" altLang="zh-CN" sz="1050"/>
                        <a:t>-</a:t>
                      </a:r>
                    </a:p>
                  </a:txBody>
                  <a:tcPr anchor="ctr">
                    <a:lnL>
                      <a:noFill/>
                    </a:lnL>
                    <a:lnR>
                      <a:noFill/>
                    </a:lnR>
                    <a:lnT>
                      <a:noFill/>
                    </a:lnT>
                    <a:lnB>
                      <a:noFill/>
                    </a:lnB>
                  </a:tcPr>
                </a:tc>
                <a:tc>
                  <a:txBody>
                    <a:bodyPr/>
                    <a:lstStyle/>
                    <a:p>
                      <a:r>
                        <a:rPr lang="en-US" altLang="zh-CN" sz="1050"/>
                        <a:t>$0.050</a:t>
                      </a:r>
                    </a:p>
                  </a:txBody>
                  <a:tcPr anchor="ctr">
                    <a:lnL>
                      <a:noFill/>
                    </a:lnL>
                    <a:lnR>
                      <a:noFill/>
                    </a:lnR>
                    <a:lnT>
                      <a:noFill/>
                    </a:lnT>
                    <a:lnB>
                      <a:noFill/>
                    </a:lnB>
                  </a:tcPr>
                </a:tc>
                <a:extLst>
                  <a:ext uri="{0D108BD9-81ED-4DB2-BD59-A6C34878D82A}">
                    <a16:rowId xmlns:a16="http://schemas.microsoft.com/office/drawing/2014/main" val="208978648"/>
                  </a:ext>
                </a:extLst>
              </a:tr>
              <a:tr h="257495">
                <a:tc>
                  <a:txBody>
                    <a:bodyPr/>
                    <a:lstStyle/>
                    <a:p>
                      <a:r>
                        <a:rPr lang="zh-CN" altLang="en-US" sz="1050"/>
                        <a:t>汽车保险及牌照年费</a:t>
                      </a:r>
                    </a:p>
                  </a:txBody>
                  <a:tcPr anchor="ctr">
                    <a:lnL>
                      <a:noFill/>
                    </a:lnL>
                    <a:lnR>
                      <a:noFill/>
                    </a:lnR>
                    <a:lnT>
                      <a:noFill/>
                    </a:lnT>
                    <a:lnB>
                      <a:noFill/>
                    </a:lnB>
                  </a:tcPr>
                </a:tc>
                <a:tc>
                  <a:txBody>
                    <a:bodyPr/>
                    <a:lstStyle/>
                    <a:p>
                      <a:r>
                        <a:rPr lang="en-US" altLang="zh-CN" sz="1050" dirty="0"/>
                        <a:t>$1,380</a:t>
                      </a:r>
                    </a:p>
                  </a:txBody>
                  <a:tcPr anchor="ctr">
                    <a:lnL>
                      <a:noFill/>
                    </a:lnL>
                    <a:lnR>
                      <a:noFill/>
                    </a:lnR>
                    <a:lnT>
                      <a:noFill/>
                    </a:lnT>
                    <a:lnB>
                      <a:noFill/>
                    </a:lnB>
                  </a:tcPr>
                </a:tc>
                <a:tc>
                  <a:txBody>
                    <a:bodyPr/>
                    <a:lstStyle/>
                    <a:p>
                      <a:r>
                        <a:rPr lang="en-US" altLang="zh-CN" sz="1050"/>
                        <a:t>$0.138</a:t>
                      </a:r>
                    </a:p>
                  </a:txBody>
                  <a:tcPr anchor="ctr">
                    <a:lnL>
                      <a:noFill/>
                    </a:lnL>
                    <a:lnR>
                      <a:noFill/>
                    </a:lnR>
                    <a:lnT>
                      <a:noFill/>
                    </a:lnT>
                    <a:lnB>
                      <a:noFill/>
                    </a:lnB>
                  </a:tcPr>
                </a:tc>
                <a:extLst>
                  <a:ext uri="{0D108BD9-81ED-4DB2-BD59-A6C34878D82A}">
                    <a16:rowId xmlns:a16="http://schemas.microsoft.com/office/drawing/2014/main" val="1160262742"/>
                  </a:ext>
                </a:extLst>
              </a:tr>
              <a:tr h="257495">
                <a:tc>
                  <a:txBody>
                    <a:bodyPr/>
                    <a:lstStyle/>
                    <a:p>
                      <a:r>
                        <a:rPr lang="zh-CN" altLang="en-US" sz="1050"/>
                        <a:t>维护与修理</a:t>
                      </a:r>
                    </a:p>
                  </a:txBody>
                  <a:tcPr anchor="ctr">
                    <a:lnL>
                      <a:noFill/>
                    </a:lnL>
                    <a:lnR>
                      <a:noFill/>
                    </a:lnR>
                    <a:lnT>
                      <a:noFill/>
                    </a:lnT>
                    <a:lnB>
                      <a:noFill/>
                    </a:lnB>
                  </a:tcPr>
                </a:tc>
                <a:tc>
                  <a:txBody>
                    <a:bodyPr/>
                    <a:lstStyle/>
                    <a:p>
                      <a:r>
                        <a:rPr lang="en-US" altLang="zh-CN" sz="1050"/>
                        <a:t>-</a:t>
                      </a:r>
                    </a:p>
                  </a:txBody>
                  <a:tcPr anchor="ctr">
                    <a:lnL>
                      <a:noFill/>
                    </a:lnL>
                    <a:lnR>
                      <a:noFill/>
                    </a:lnR>
                    <a:lnT>
                      <a:noFill/>
                    </a:lnT>
                    <a:lnB>
                      <a:noFill/>
                    </a:lnB>
                  </a:tcPr>
                </a:tc>
                <a:tc>
                  <a:txBody>
                    <a:bodyPr/>
                    <a:lstStyle/>
                    <a:p>
                      <a:r>
                        <a:rPr lang="en-US" altLang="zh-CN" sz="1050"/>
                        <a:t>$0.065</a:t>
                      </a:r>
                    </a:p>
                  </a:txBody>
                  <a:tcPr anchor="ctr">
                    <a:lnL>
                      <a:noFill/>
                    </a:lnL>
                    <a:lnR>
                      <a:noFill/>
                    </a:lnR>
                    <a:lnT>
                      <a:noFill/>
                    </a:lnT>
                    <a:lnB>
                      <a:noFill/>
                    </a:lnB>
                  </a:tcPr>
                </a:tc>
                <a:extLst>
                  <a:ext uri="{0D108BD9-81ED-4DB2-BD59-A6C34878D82A}">
                    <a16:rowId xmlns:a16="http://schemas.microsoft.com/office/drawing/2014/main" val="2966076778"/>
                  </a:ext>
                </a:extLst>
              </a:tr>
              <a:tr h="257495">
                <a:tc>
                  <a:txBody>
                    <a:bodyPr/>
                    <a:lstStyle/>
                    <a:p>
                      <a:r>
                        <a:rPr lang="zh-CN" altLang="en-US" sz="1050"/>
                        <a:t>学校停车费</a:t>
                      </a:r>
                    </a:p>
                  </a:txBody>
                  <a:tcPr anchor="ctr">
                    <a:lnL>
                      <a:noFill/>
                    </a:lnL>
                    <a:lnR>
                      <a:noFill/>
                    </a:lnR>
                    <a:lnT>
                      <a:noFill/>
                    </a:lnT>
                    <a:lnB>
                      <a:noFill/>
                    </a:lnB>
                  </a:tcPr>
                </a:tc>
                <a:tc>
                  <a:txBody>
                    <a:bodyPr/>
                    <a:lstStyle/>
                    <a:p>
                      <a:r>
                        <a:rPr lang="en-US" altLang="zh-CN" sz="1050"/>
                        <a:t>$360</a:t>
                      </a:r>
                    </a:p>
                  </a:txBody>
                  <a:tcPr anchor="ctr">
                    <a:lnL>
                      <a:noFill/>
                    </a:lnL>
                    <a:lnR>
                      <a:noFill/>
                    </a:lnR>
                    <a:lnT>
                      <a:noFill/>
                    </a:lnT>
                    <a:lnB>
                      <a:noFill/>
                    </a:lnB>
                  </a:tcPr>
                </a:tc>
                <a:tc>
                  <a:txBody>
                    <a:bodyPr/>
                    <a:lstStyle/>
                    <a:p>
                      <a:r>
                        <a:rPr lang="en-US" altLang="zh-CN" sz="1050"/>
                        <a:t>$0.036</a:t>
                      </a:r>
                    </a:p>
                  </a:txBody>
                  <a:tcPr anchor="ctr">
                    <a:lnL>
                      <a:noFill/>
                    </a:lnL>
                    <a:lnR>
                      <a:noFill/>
                    </a:lnR>
                    <a:lnT>
                      <a:noFill/>
                    </a:lnT>
                    <a:lnB>
                      <a:noFill/>
                    </a:lnB>
                  </a:tcPr>
                </a:tc>
                <a:extLst>
                  <a:ext uri="{0D108BD9-81ED-4DB2-BD59-A6C34878D82A}">
                    <a16:rowId xmlns:a16="http://schemas.microsoft.com/office/drawing/2014/main" val="729990360"/>
                  </a:ext>
                </a:extLst>
              </a:tr>
              <a:tr h="257495">
                <a:tc>
                  <a:txBody>
                    <a:bodyPr/>
                    <a:lstStyle/>
                    <a:p>
                      <a:r>
                        <a:rPr lang="zh-CN" altLang="en-US" sz="1050" b="1"/>
                        <a:t>平均总成本</a:t>
                      </a:r>
                      <a:endParaRPr lang="zh-CN" altLang="en-US" sz="1050"/>
                    </a:p>
                  </a:txBody>
                  <a:tcPr anchor="ctr">
                    <a:lnL>
                      <a:noFill/>
                    </a:lnL>
                    <a:lnR>
                      <a:noFill/>
                    </a:lnR>
                    <a:lnT>
                      <a:noFill/>
                    </a:lnT>
                    <a:lnB>
                      <a:noFill/>
                    </a:lnB>
                  </a:tcPr>
                </a:tc>
                <a:tc>
                  <a:txBody>
                    <a:bodyPr/>
                    <a:lstStyle/>
                    <a:p>
                      <a:r>
                        <a:rPr lang="en-US" altLang="zh-CN" sz="1050" b="1"/>
                        <a:t>-</a:t>
                      </a:r>
                      <a:endParaRPr lang="zh-CN" altLang="en-US" sz="1050"/>
                    </a:p>
                  </a:txBody>
                  <a:tcPr anchor="ctr">
                    <a:lnL>
                      <a:noFill/>
                    </a:lnL>
                    <a:lnR>
                      <a:noFill/>
                    </a:lnR>
                    <a:lnT>
                      <a:noFill/>
                    </a:lnT>
                    <a:lnB>
                      <a:noFill/>
                    </a:lnB>
                  </a:tcPr>
                </a:tc>
                <a:tc>
                  <a:txBody>
                    <a:bodyPr/>
                    <a:lstStyle/>
                    <a:p>
                      <a:r>
                        <a:rPr lang="en-US" altLang="zh-CN" sz="1050" b="1" dirty="0"/>
                        <a:t>$0.569</a:t>
                      </a:r>
                      <a:endParaRPr lang="zh-CN" altLang="en-US" sz="1050" dirty="0"/>
                    </a:p>
                  </a:txBody>
                  <a:tcPr anchor="ctr">
                    <a:lnL>
                      <a:noFill/>
                    </a:lnL>
                    <a:lnR>
                      <a:noFill/>
                    </a:lnR>
                    <a:lnT>
                      <a:noFill/>
                    </a:lnT>
                    <a:lnB>
                      <a:noFill/>
                    </a:lnB>
                  </a:tcPr>
                </a:tc>
                <a:extLst>
                  <a:ext uri="{0D108BD9-81ED-4DB2-BD59-A6C34878D82A}">
                    <a16:rowId xmlns:a16="http://schemas.microsoft.com/office/drawing/2014/main" val="1418459310"/>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img.tukuppt.com/aippt_uploads/34576449/25/07/03/6866a18678cda.png!/fwfh2/960x960"/>
          <p:cNvPicPr>
            <a:picLocks noChangeAspect="1"/>
          </p:cNvPicPr>
          <p:nvPr/>
        </p:nvPicPr>
        <p:blipFill>
          <a:blip r:embed="rId3"/>
          <a:stretch>
            <a:fillRect/>
          </a:stretch>
        </p:blipFill>
        <p:spPr>
          <a:xfrm>
            <a:off x="0" y="0"/>
            <a:ext cx="9140180" cy="5131830"/>
          </a:xfrm>
          <a:prstGeom prst="rect">
            <a:avLst/>
          </a:prstGeom>
        </p:spPr>
      </p:pic>
      <p:sp>
        <p:nvSpPr>
          <p:cNvPr id="3" name="Shape 0"/>
          <p:cNvSpPr/>
          <p:nvPr/>
        </p:nvSpPr>
        <p:spPr>
          <a:xfrm>
            <a:off x="979384" y="287863"/>
            <a:ext cx="2872893" cy="412023"/>
          </a:xfrm>
          <a:custGeom>
            <a:avLst/>
            <a:gdLst/>
            <a:ahLst/>
            <a:cxnLst/>
            <a:rect l="l" t="t" r="r" b="b"/>
            <a:pathLst>
              <a:path w="2872893" h="412023">
                <a:moveTo>
                  <a:pt x="68568" y="0"/>
                </a:moveTo>
                <a:lnTo>
                  <a:pt x="2803673" y="0"/>
                </a:lnTo>
                <a:cubicBezTo>
                  <a:pt x="2841542" y="0"/>
                  <a:pt x="2872241" y="30699"/>
                  <a:pt x="2872241" y="68568"/>
                </a:cubicBezTo>
                <a:lnTo>
                  <a:pt x="2872241" y="342840"/>
                </a:lnTo>
                <a:cubicBezTo>
                  <a:pt x="2872241" y="380710"/>
                  <a:pt x="2841542" y="411409"/>
                  <a:pt x="2803673" y="411409"/>
                </a:cubicBezTo>
                <a:lnTo>
                  <a:pt x="68568" y="411409"/>
                </a:lnTo>
                <a:cubicBezTo>
                  <a:pt x="30699" y="411409"/>
                  <a:pt x="0" y="380710"/>
                  <a:pt x="0" y="342840"/>
                </a:cubicBezTo>
                <a:lnTo>
                  <a:pt x="0" y="68568"/>
                </a:lnTo>
                <a:cubicBezTo>
                  <a:pt x="0" y="30724"/>
                  <a:pt x="30724" y="0"/>
                  <a:pt x="68568" y="0"/>
                </a:cubicBezTo>
                <a:close/>
              </a:path>
            </a:pathLst>
          </a:custGeom>
          <a:solidFill>
            <a:srgbClr val="0067B4"/>
          </a:solidFill>
          <a:ln/>
          <a:effectLst>
            <a:outerShdw dist="38093" dir="2700000" algn="bl" rotWithShape="0">
              <a:srgbClr val="000000">
                <a:alpha val="38824"/>
              </a:srgbClr>
            </a:outerShdw>
          </a:effectLst>
        </p:spPr>
      </p:sp>
      <p:sp>
        <p:nvSpPr>
          <p:cNvPr id="4" name="Shape 1"/>
          <p:cNvSpPr/>
          <p:nvPr/>
        </p:nvSpPr>
        <p:spPr>
          <a:xfrm>
            <a:off x="1188456" y="329442"/>
            <a:ext cx="2735844" cy="339064"/>
          </a:xfrm>
          <a:custGeom>
            <a:avLst/>
            <a:gdLst/>
            <a:ahLst/>
            <a:cxnLst/>
            <a:rect l="l" t="t" r="r" b="b"/>
            <a:pathLst>
              <a:path w="2735844" h="339064">
                <a:moveTo>
                  <a:pt x="0" y="0"/>
                </a:moveTo>
                <a:lnTo>
                  <a:pt x="2735844" y="0"/>
                </a:lnTo>
                <a:lnTo>
                  <a:pt x="2735844" y="339064"/>
                </a:lnTo>
                <a:lnTo>
                  <a:pt x="0" y="339064"/>
                </a:lnTo>
                <a:close/>
              </a:path>
            </a:pathLst>
          </a:custGeom>
          <a:noFill/>
          <a:ln/>
        </p:spPr>
      </p:sp>
      <p:sp>
        <p:nvSpPr>
          <p:cNvPr id="5" name="Text 2"/>
          <p:cNvSpPr txBox="1"/>
          <p:nvPr/>
        </p:nvSpPr>
        <p:spPr>
          <a:xfrm>
            <a:off x="1188456" y="329442"/>
            <a:ext cx="2735844" cy="339064"/>
          </a:xfrm>
          <a:prstGeom prst="rect">
            <a:avLst/>
          </a:prstGeom>
          <a:noFill/>
          <a:ln/>
        </p:spPr>
        <p:txBody>
          <a:bodyPr wrap="square" lIns="1252" tIns="653" rIns="1252" bIns="653" rtlCol="0" anchor="t">
            <a:spAutoFit/>
          </a:bodyPr>
          <a:lstStyle/>
          <a:p>
            <a:pPr marL="0" indent="0" algn="l">
              <a:buNone/>
            </a:pPr>
            <a:r>
              <a:rPr lang="zh-CN" altLang="en-US" sz="1601" dirty="0">
                <a:solidFill>
                  <a:srgbClr val="64CBFF"/>
                </a:solidFill>
                <a:latin typeface="SourceHanSansSC-Medium"/>
                <a:ea typeface="SourceHanSansSC-Medium"/>
                <a:cs typeface="SourceHanSansSC-Medium"/>
              </a:rPr>
              <a:t>决策背景</a:t>
            </a:r>
            <a:endParaRPr lang="en-US" sz="1601" dirty="0"/>
          </a:p>
        </p:txBody>
      </p:sp>
      <p:sp>
        <p:nvSpPr>
          <p:cNvPr id="6" name="Shape 3"/>
          <p:cNvSpPr/>
          <p:nvPr/>
        </p:nvSpPr>
        <p:spPr>
          <a:xfrm>
            <a:off x="471488" y="198466"/>
            <a:ext cx="461756" cy="542999"/>
          </a:xfrm>
          <a:custGeom>
            <a:avLst/>
            <a:gdLst/>
            <a:ahLst/>
            <a:cxnLst/>
            <a:rect l="l" t="t" r="r" b="b"/>
            <a:pathLst>
              <a:path w="461756" h="542999">
                <a:moveTo>
                  <a:pt x="77457" y="0"/>
                </a:moveTo>
                <a:lnTo>
                  <a:pt x="384743" y="0"/>
                </a:lnTo>
                <a:cubicBezTo>
                  <a:pt x="427521" y="0"/>
                  <a:pt x="462200" y="34678"/>
                  <a:pt x="462200" y="77457"/>
                </a:cubicBezTo>
                <a:lnTo>
                  <a:pt x="462200" y="466009"/>
                </a:lnTo>
                <a:cubicBezTo>
                  <a:pt x="462200" y="508787"/>
                  <a:pt x="427521" y="543466"/>
                  <a:pt x="384743" y="543466"/>
                </a:cubicBezTo>
                <a:lnTo>
                  <a:pt x="77457" y="543466"/>
                </a:lnTo>
                <a:cubicBezTo>
                  <a:pt x="34678" y="543466"/>
                  <a:pt x="0" y="508787"/>
                  <a:pt x="0" y="466009"/>
                </a:cubicBezTo>
                <a:lnTo>
                  <a:pt x="0" y="77457"/>
                </a:lnTo>
                <a:cubicBezTo>
                  <a:pt x="0" y="34678"/>
                  <a:pt x="34678" y="0"/>
                  <a:pt x="77457" y="0"/>
                </a:cubicBezTo>
                <a:close/>
              </a:path>
            </a:pathLst>
          </a:custGeom>
          <a:solidFill>
            <a:srgbClr val="0067B4"/>
          </a:solidFill>
          <a:ln/>
          <a:effectLst>
            <a:outerShdw dist="38093" dir="2700000" algn="bl" rotWithShape="0">
              <a:srgbClr val="000000">
                <a:alpha val="38824"/>
              </a:srgbClr>
            </a:outerShdw>
          </a:effectLst>
        </p:spPr>
      </p:sp>
      <p:sp>
        <p:nvSpPr>
          <p:cNvPr id="7" name="Shape 4"/>
          <p:cNvSpPr/>
          <p:nvPr/>
        </p:nvSpPr>
        <p:spPr>
          <a:xfrm>
            <a:off x="482166" y="206110"/>
            <a:ext cx="433263" cy="535355"/>
          </a:xfrm>
          <a:custGeom>
            <a:avLst/>
            <a:gdLst/>
            <a:ahLst/>
            <a:cxnLst/>
            <a:rect l="l" t="t" r="r" b="b"/>
            <a:pathLst>
              <a:path w="433263" h="535355">
                <a:moveTo>
                  <a:pt x="73647" y="0"/>
                </a:moveTo>
                <a:lnTo>
                  <a:pt x="366966" y="0"/>
                </a:lnTo>
                <a:cubicBezTo>
                  <a:pt x="396171" y="0"/>
                  <a:pt x="421567" y="15237"/>
                  <a:pt x="432995" y="35554"/>
                </a:cubicBezTo>
                <a:cubicBezTo>
                  <a:pt x="186658" y="119359"/>
                  <a:pt x="11428" y="311096"/>
                  <a:pt x="1270" y="535847"/>
                </a:cubicBezTo>
                <a:cubicBezTo>
                  <a:pt x="0" y="533307"/>
                  <a:pt x="0" y="532038"/>
                  <a:pt x="0" y="529498"/>
                </a:cubicBezTo>
                <a:lnTo>
                  <a:pt x="0" y="60949"/>
                </a:lnTo>
                <a:cubicBezTo>
                  <a:pt x="0" y="26665"/>
                  <a:pt x="33014" y="0"/>
                  <a:pt x="73647" y="0"/>
                </a:cubicBezTo>
                <a:close/>
              </a:path>
            </a:pathLst>
          </a:custGeom>
          <a:gradFill>
            <a:gsLst>
              <a:gs pos="0">
                <a:srgbClr val="64CBFF">
                  <a:alpha val="34902"/>
                </a:srgbClr>
              </a:gs>
              <a:gs pos="100000">
                <a:srgbClr val="2F5897">
                  <a:alpha val="100000"/>
                </a:srgbClr>
              </a:gs>
            </a:gsLst>
            <a:lin ang="1200000" scaled="1"/>
          </a:gradFill>
          <a:ln/>
        </p:spPr>
      </p:sp>
      <p:pic>
        <p:nvPicPr>
          <p:cNvPr id="8" name="Image 1" descr="//img.tukuppt.com/aippt_tpl_uploads/25/07/01/686397e7ae4cf.png"/>
          <p:cNvPicPr>
            <a:picLocks noChangeAspect="1"/>
          </p:cNvPicPr>
          <p:nvPr/>
        </p:nvPicPr>
        <p:blipFill>
          <a:blip r:embed="rId4"/>
          <a:srcRect/>
          <a:stretch/>
        </p:blipFill>
        <p:spPr>
          <a:xfrm flipH="1">
            <a:off x="787710" y="346921"/>
            <a:ext cx="255659" cy="98905"/>
          </a:xfrm>
          <a:prstGeom prst="rect">
            <a:avLst/>
          </a:prstGeom>
        </p:spPr>
      </p:pic>
      <p:pic>
        <p:nvPicPr>
          <p:cNvPr id="9" name="Image 2" descr="//img.tukuppt.com/aippt_tpl_uploads/25/07/01/686397e7ae4cf.png"/>
          <p:cNvPicPr>
            <a:picLocks noChangeAspect="1"/>
          </p:cNvPicPr>
          <p:nvPr/>
        </p:nvPicPr>
        <p:blipFill>
          <a:blip r:embed="rId4"/>
          <a:srcRect/>
          <a:stretch/>
        </p:blipFill>
        <p:spPr>
          <a:xfrm flipH="1">
            <a:off x="787710" y="549201"/>
            <a:ext cx="255659" cy="98905"/>
          </a:xfrm>
          <a:prstGeom prst="rect">
            <a:avLst/>
          </a:prstGeom>
        </p:spPr>
      </p:pic>
      <p:pic>
        <p:nvPicPr>
          <p:cNvPr id="10" name="Image 3" descr="//img.tukuppt.com/aippt_tpl_uploads/25/07/01/686397e7b8f81.png"/>
          <p:cNvPicPr>
            <a:picLocks noChangeAspect="1"/>
          </p:cNvPicPr>
          <p:nvPr/>
        </p:nvPicPr>
        <p:blipFill>
          <a:blip r:embed="rId5"/>
          <a:srcRect/>
          <a:stretch/>
        </p:blipFill>
        <p:spPr>
          <a:xfrm>
            <a:off x="539206" y="312920"/>
            <a:ext cx="321318" cy="321734"/>
          </a:xfrm>
          <a:prstGeom prst="rect">
            <a:avLst/>
          </a:prstGeom>
        </p:spPr>
      </p:pic>
      <p:pic>
        <p:nvPicPr>
          <p:cNvPr id="11" name="Image 4" descr="//img.tukuppt.com/aippt_tpl_uploads/25/07/01/686397e7af1a3.png!/fwfh2/960x960"/>
          <p:cNvPicPr>
            <a:picLocks noChangeAspect="1"/>
          </p:cNvPicPr>
          <p:nvPr/>
        </p:nvPicPr>
        <p:blipFill>
          <a:blip r:embed="rId6"/>
          <a:srcRect l="36452" t="56544" b="34700"/>
          <a:stretch/>
        </p:blipFill>
        <p:spPr>
          <a:xfrm>
            <a:off x="-4836" y="-812736"/>
            <a:ext cx="9148837" cy="1019042"/>
          </a:xfrm>
          <a:prstGeom prst="rect">
            <a:avLst/>
          </a:prstGeom>
        </p:spPr>
      </p:pic>
      <p:pic>
        <p:nvPicPr>
          <p:cNvPr id="12" name="Image 5" descr="//img.tukuppt.com/aippt_tpl_uploads/25/07/01/686397e7af1a3.png!/fwfh2/960x960"/>
          <p:cNvPicPr>
            <a:picLocks noChangeAspect="1"/>
          </p:cNvPicPr>
          <p:nvPr/>
        </p:nvPicPr>
        <p:blipFill>
          <a:blip r:embed="rId6"/>
          <a:srcRect l="36452" t="56544" b="34700"/>
          <a:stretch/>
        </p:blipFill>
        <p:spPr>
          <a:xfrm>
            <a:off x="-61352" y="4937888"/>
            <a:ext cx="9313872" cy="1019042"/>
          </a:xfrm>
          <a:prstGeom prst="rect">
            <a:avLst/>
          </a:prstGeom>
        </p:spPr>
      </p:pic>
      <p:sp>
        <p:nvSpPr>
          <p:cNvPr id="13" name="Shape 5"/>
          <p:cNvSpPr/>
          <p:nvPr/>
        </p:nvSpPr>
        <p:spPr>
          <a:xfrm>
            <a:off x="786726" y="1439773"/>
            <a:ext cx="7570548" cy="2709875"/>
          </a:xfrm>
          <a:custGeom>
            <a:avLst/>
            <a:gdLst/>
            <a:ahLst/>
            <a:cxnLst/>
            <a:rect l="l" t="t" r="r" b="b"/>
            <a:pathLst>
              <a:path w="7570548" h="2709875">
                <a:moveTo>
                  <a:pt x="0" y="0"/>
                </a:moveTo>
                <a:lnTo>
                  <a:pt x="7570548" y="0"/>
                </a:lnTo>
                <a:lnTo>
                  <a:pt x="7570548" y="2709875"/>
                </a:lnTo>
                <a:lnTo>
                  <a:pt x="0" y="2709875"/>
                </a:lnTo>
                <a:close/>
              </a:path>
            </a:pathLst>
          </a:custGeom>
          <a:solidFill>
            <a:srgbClr val="0067B4">
              <a:alpha val="11000"/>
            </a:srgbClr>
          </a:solidFill>
          <a:ln/>
        </p:spPr>
      </p:sp>
      <p:pic>
        <p:nvPicPr>
          <p:cNvPr id="14" name="Image 6" descr="//static3.tukuppt.com/design/material/002/073/6688a97c762c0.png?x-bce-process=image/resize,m_mfit,w_960,h_960"/>
          <p:cNvPicPr>
            <a:picLocks noChangeAspect="1"/>
          </p:cNvPicPr>
          <p:nvPr/>
        </p:nvPicPr>
        <p:blipFill>
          <a:blip r:embed="rId7"/>
          <a:stretch>
            <a:fillRect/>
          </a:stretch>
        </p:blipFill>
        <p:spPr>
          <a:xfrm>
            <a:off x="786726" y="1081307"/>
            <a:ext cx="3295260" cy="3295260"/>
          </a:xfrm>
          <a:prstGeom prst="rect">
            <a:avLst/>
          </a:prstGeom>
        </p:spPr>
      </p:pic>
      <p:sp>
        <p:nvSpPr>
          <p:cNvPr id="16" name="Shape 7"/>
          <p:cNvSpPr/>
          <p:nvPr/>
        </p:nvSpPr>
        <p:spPr>
          <a:xfrm>
            <a:off x="3924300" y="1233373"/>
            <a:ext cx="387075" cy="0"/>
          </a:xfrm>
          <a:custGeom>
            <a:avLst/>
            <a:gdLst/>
            <a:ahLst/>
            <a:cxnLst/>
            <a:rect l="l" t="t" r="r" b="b"/>
            <a:pathLst>
              <a:path w="387075">
                <a:moveTo>
                  <a:pt x="0" y="0"/>
                </a:moveTo>
                <a:lnTo>
                  <a:pt x="387075" y="0"/>
                </a:lnTo>
              </a:path>
            </a:pathLst>
          </a:custGeom>
          <a:noFill/>
          <a:ln w="14288">
            <a:solidFill>
              <a:srgbClr val="FFFFFF"/>
            </a:solidFill>
            <a:prstDash val="solid"/>
            <a:headEnd type="none"/>
            <a:tailEnd type="none"/>
          </a:ln>
        </p:spPr>
      </p:sp>
      <p:graphicFrame>
        <p:nvGraphicFramePr>
          <p:cNvPr id="20" name="表格 19">
            <a:extLst>
              <a:ext uri="{FF2B5EF4-FFF2-40B4-BE49-F238E27FC236}">
                <a16:creationId xmlns:a16="http://schemas.microsoft.com/office/drawing/2014/main" id="{3B1D8921-37A5-4BC0-A130-01B48213E7A6}"/>
              </a:ext>
            </a:extLst>
          </p:cNvPr>
          <p:cNvGraphicFramePr>
            <a:graphicFrameLocks noGrp="1"/>
          </p:cNvGraphicFramePr>
          <p:nvPr>
            <p:extLst>
              <p:ext uri="{D42A27DB-BD31-4B8C-83A1-F6EECF244321}">
                <p14:modId xmlns:p14="http://schemas.microsoft.com/office/powerpoint/2010/main" val="1419305461"/>
              </p:ext>
            </p:extLst>
          </p:nvPr>
        </p:nvGraphicFramePr>
        <p:xfrm>
          <a:off x="3649570" y="934759"/>
          <a:ext cx="4769056" cy="2928412"/>
        </p:xfrm>
        <a:graphic>
          <a:graphicData uri="http://schemas.openxmlformats.org/drawingml/2006/table">
            <a:tbl>
              <a:tblPr/>
              <a:tblGrid>
                <a:gridCol w="502714">
                  <a:extLst>
                    <a:ext uri="{9D8B030D-6E8A-4147-A177-3AD203B41FA5}">
                      <a16:colId xmlns:a16="http://schemas.microsoft.com/office/drawing/2014/main" val="3216228116"/>
                    </a:ext>
                  </a:extLst>
                </a:gridCol>
                <a:gridCol w="2094078">
                  <a:extLst>
                    <a:ext uri="{9D8B030D-6E8A-4147-A177-3AD203B41FA5}">
                      <a16:colId xmlns:a16="http://schemas.microsoft.com/office/drawing/2014/main" val="2147789292"/>
                    </a:ext>
                  </a:extLst>
                </a:gridCol>
                <a:gridCol w="980000">
                  <a:extLst>
                    <a:ext uri="{9D8B030D-6E8A-4147-A177-3AD203B41FA5}">
                      <a16:colId xmlns:a16="http://schemas.microsoft.com/office/drawing/2014/main" val="1096832273"/>
                    </a:ext>
                  </a:extLst>
                </a:gridCol>
                <a:gridCol w="1192264">
                  <a:extLst>
                    <a:ext uri="{9D8B030D-6E8A-4147-A177-3AD203B41FA5}">
                      <a16:colId xmlns:a16="http://schemas.microsoft.com/office/drawing/2014/main" val="42735928"/>
                    </a:ext>
                  </a:extLst>
                </a:gridCol>
              </a:tblGrid>
              <a:tr h="344258">
                <a:tc>
                  <a:txBody>
                    <a:bodyPr/>
                    <a:lstStyle/>
                    <a:p>
                      <a:r>
                        <a:rPr lang="zh-CN" altLang="en-US" sz="1000"/>
                        <a:t>序号</a:t>
                      </a:r>
                    </a:p>
                  </a:txBody>
                  <a:tcPr marL="55293" marR="55293" marT="27647" marB="27647" anchor="ctr">
                    <a:lnL>
                      <a:noFill/>
                    </a:lnL>
                    <a:lnR>
                      <a:noFill/>
                    </a:lnR>
                    <a:lnT>
                      <a:noFill/>
                    </a:lnT>
                    <a:lnB>
                      <a:noFill/>
                    </a:lnB>
                  </a:tcPr>
                </a:tc>
                <a:tc>
                  <a:txBody>
                    <a:bodyPr/>
                    <a:lstStyle/>
                    <a:p>
                      <a:r>
                        <a:rPr lang="zh-CN" altLang="en-US" sz="1000"/>
                        <a:t>项目</a:t>
                      </a:r>
                    </a:p>
                  </a:txBody>
                  <a:tcPr marL="55293" marR="55293" marT="27647" marB="27647" anchor="ctr">
                    <a:lnL>
                      <a:noFill/>
                    </a:lnL>
                    <a:lnR>
                      <a:noFill/>
                    </a:lnR>
                    <a:lnT>
                      <a:noFill/>
                    </a:lnT>
                    <a:lnB>
                      <a:noFill/>
                    </a:lnB>
                  </a:tcPr>
                </a:tc>
                <a:tc>
                  <a:txBody>
                    <a:bodyPr/>
                    <a:lstStyle/>
                    <a:p>
                      <a:r>
                        <a:rPr lang="zh-CN" altLang="en-US" sz="1000" dirty="0"/>
                        <a:t>固定成本项目（一次性</a:t>
                      </a:r>
                      <a:r>
                        <a:rPr lang="en-US" altLang="zh-CN" sz="1000" dirty="0"/>
                        <a:t>/</a:t>
                      </a:r>
                      <a:r>
                        <a:rPr lang="zh-CN" altLang="en-US" sz="1000" dirty="0"/>
                        <a:t>年费）</a:t>
                      </a:r>
                    </a:p>
                  </a:txBody>
                  <a:tcPr marL="55293" marR="55293" marT="27647" marB="27647" anchor="ctr">
                    <a:lnL>
                      <a:noFill/>
                    </a:lnL>
                    <a:lnR>
                      <a:noFill/>
                    </a:lnR>
                    <a:lnT>
                      <a:noFill/>
                    </a:lnT>
                    <a:lnB>
                      <a:noFill/>
                    </a:lnB>
                  </a:tcPr>
                </a:tc>
                <a:tc>
                  <a:txBody>
                    <a:bodyPr/>
                    <a:lstStyle/>
                    <a:p>
                      <a:r>
                        <a:rPr lang="zh-CN" altLang="en-US" sz="1000"/>
                        <a:t>单位成本</a:t>
                      </a:r>
                      <a:r>
                        <a:rPr lang="en-US" altLang="zh-CN" sz="1000"/>
                        <a:t>/</a:t>
                      </a:r>
                      <a:r>
                        <a:rPr lang="zh-CN" altLang="en-US" sz="1000"/>
                        <a:t>其他金额</a:t>
                      </a:r>
                    </a:p>
                  </a:txBody>
                  <a:tcPr marL="55293" marR="55293" marT="27647" marB="27647" anchor="ctr">
                    <a:lnL>
                      <a:noFill/>
                    </a:lnL>
                    <a:lnR>
                      <a:noFill/>
                    </a:lnR>
                    <a:lnT>
                      <a:noFill/>
                    </a:lnT>
                    <a:lnB>
                      <a:noFill/>
                    </a:lnB>
                  </a:tcPr>
                </a:tc>
                <a:extLst>
                  <a:ext uri="{0D108BD9-81ED-4DB2-BD59-A6C34878D82A}">
                    <a16:rowId xmlns:a16="http://schemas.microsoft.com/office/drawing/2014/main" val="1104779731"/>
                  </a:ext>
                </a:extLst>
              </a:tr>
              <a:tr h="491796">
                <a:tc>
                  <a:txBody>
                    <a:bodyPr/>
                    <a:lstStyle/>
                    <a:p>
                      <a:r>
                        <a:rPr lang="en-US" altLang="zh-CN" sz="1000"/>
                        <a:t>7</a:t>
                      </a:r>
                    </a:p>
                  </a:txBody>
                  <a:tcPr marL="55293" marR="55293" marT="27647" marB="27647" anchor="ctr">
                    <a:lnL>
                      <a:noFill/>
                    </a:lnL>
                    <a:lnR>
                      <a:noFill/>
                    </a:lnR>
                    <a:lnT>
                      <a:noFill/>
                    </a:lnT>
                    <a:lnB>
                      <a:noFill/>
                    </a:lnB>
                  </a:tcPr>
                </a:tc>
                <a:tc>
                  <a:txBody>
                    <a:bodyPr/>
                    <a:lstStyle/>
                    <a:p>
                      <a:r>
                        <a:rPr lang="zh-CN" altLang="en-US" sz="1000"/>
                        <a:t>汽车每英里磨损导致的转售价值减少</a:t>
                      </a:r>
                    </a:p>
                  </a:txBody>
                  <a:tcPr marL="55293" marR="55293" marT="27647" marB="27647" anchor="ctr">
                    <a:lnL>
                      <a:noFill/>
                    </a:lnL>
                    <a:lnR>
                      <a:noFill/>
                    </a:lnR>
                    <a:lnT>
                      <a:noFill/>
                    </a:lnT>
                    <a:lnB>
                      <a:noFill/>
                    </a:lnB>
                  </a:tcPr>
                </a:tc>
                <a:tc>
                  <a:txBody>
                    <a:bodyPr/>
                    <a:lstStyle/>
                    <a:p>
                      <a:r>
                        <a:rPr lang="en-US" altLang="zh-CN" sz="1000"/>
                        <a:t>-</a:t>
                      </a:r>
                    </a:p>
                  </a:txBody>
                  <a:tcPr marL="55293" marR="55293" marT="27647" marB="27647" anchor="ctr">
                    <a:lnL>
                      <a:noFill/>
                    </a:lnL>
                    <a:lnR>
                      <a:noFill/>
                    </a:lnR>
                    <a:lnT>
                      <a:noFill/>
                    </a:lnT>
                    <a:lnB>
                      <a:noFill/>
                    </a:lnB>
                  </a:tcPr>
                </a:tc>
                <a:tc>
                  <a:txBody>
                    <a:bodyPr/>
                    <a:lstStyle/>
                    <a:p>
                      <a:r>
                        <a:rPr lang="en-US" altLang="zh-CN" sz="1000"/>
                        <a:t>$0.026/</a:t>
                      </a:r>
                      <a:r>
                        <a:rPr lang="zh-CN" altLang="en-US" sz="1000"/>
                        <a:t>英里</a:t>
                      </a:r>
                    </a:p>
                  </a:txBody>
                  <a:tcPr marL="55293" marR="55293" marT="27647" marB="27647" anchor="ctr">
                    <a:lnL>
                      <a:noFill/>
                    </a:lnL>
                    <a:lnR>
                      <a:noFill/>
                    </a:lnR>
                    <a:lnT>
                      <a:noFill/>
                    </a:lnT>
                    <a:lnB>
                      <a:noFill/>
                    </a:lnB>
                  </a:tcPr>
                </a:tc>
                <a:extLst>
                  <a:ext uri="{0D108BD9-81ED-4DB2-BD59-A6C34878D82A}">
                    <a16:rowId xmlns:a16="http://schemas.microsoft.com/office/drawing/2014/main" val="580958360"/>
                  </a:ext>
                </a:extLst>
              </a:tr>
              <a:tr h="196719">
                <a:tc>
                  <a:txBody>
                    <a:bodyPr/>
                    <a:lstStyle/>
                    <a:p>
                      <a:r>
                        <a:rPr lang="en-US" altLang="zh-CN" sz="1000"/>
                        <a:t>8</a:t>
                      </a:r>
                    </a:p>
                  </a:txBody>
                  <a:tcPr marL="55293" marR="55293" marT="27647" marB="27647" anchor="ctr">
                    <a:lnL>
                      <a:noFill/>
                    </a:lnL>
                    <a:lnR>
                      <a:noFill/>
                    </a:lnR>
                    <a:lnT>
                      <a:noFill/>
                    </a:lnT>
                    <a:lnB>
                      <a:noFill/>
                    </a:lnB>
                  </a:tcPr>
                </a:tc>
                <a:tc>
                  <a:txBody>
                    <a:bodyPr/>
                    <a:lstStyle/>
                    <a:p>
                      <a:r>
                        <a:rPr lang="zh-CN" altLang="en-US" sz="1000"/>
                        <a:t>往返火车票价</a:t>
                      </a:r>
                    </a:p>
                  </a:txBody>
                  <a:tcPr marL="55293" marR="55293" marT="27647" marB="27647" anchor="ctr">
                    <a:lnL>
                      <a:noFill/>
                    </a:lnL>
                    <a:lnR>
                      <a:noFill/>
                    </a:lnR>
                    <a:lnT>
                      <a:noFill/>
                    </a:lnT>
                    <a:lnB>
                      <a:noFill/>
                    </a:lnB>
                  </a:tcPr>
                </a:tc>
                <a:tc>
                  <a:txBody>
                    <a:bodyPr/>
                    <a:lstStyle/>
                    <a:p>
                      <a:r>
                        <a:rPr lang="en-US" altLang="zh-CN" sz="1000"/>
                        <a:t>$104</a:t>
                      </a:r>
                    </a:p>
                  </a:txBody>
                  <a:tcPr marL="55293" marR="55293" marT="27647" marB="27647" anchor="ctr">
                    <a:lnL>
                      <a:noFill/>
                    </a:lnL>
                    <a:lnR>
                      <a:noFill/>
                    </a:lnR>
                    <a:lnT>
                      <a:noFill/>
                    </a:lnT>
                    <a:lnB>
                      <a:noFill/>
                    </a:lnB>
                  </a:tcPr>
                </a:tc>
                <a:tc>
                  <a:txBody>
                    <a:bodyPr/>
                    <a:lstStyle/>
                    <a:p>
                      <a:r>
                        <a:rPr lang="en-US" altLang="zh-CN" sz="1000"/>
                        <a:t>-</a:t>
                      </a:r>
                    </a:p>
                  </a:txBody>
                  <a:tcPr marL="55293" marR="55293" marT="27647" marB="27647" anchor="ctr">
                    <a:lnL>
                      <a:noFill/>
                    </a:lnL>
                    <a:lnR>
                      <a:noFill/>
                    </a:lnR>
                    <a:lnT>
                      <a:noFill/>
                    </a:lnT>
                    <a:lnB>
                      <a:noFill/>
                    </a:lnB>
                  </a:tcPr>
                </a:tc>
                <a:extLst>
                  <a:ext uri="{0D108BD9-81ED-4DB2-BD59-A6C34878D82A}">
                    <a16:rowId xmlns:a16="http://schemas.microsoft.com/office/drawing/2014/main" val="1019164134"/>
                  </a:ext>
                </a:extLst>
              </a:tr>
              <a:tr h="344258">
                <a:tc>
                  <a:txBody>
                    <a:bodyPr/>
                    <a:lstStyle/>
                    <a:p>
                      <a:r>
                        <a:rPr lang="en-US" altLang="zh-CN" sz="1000"/>
                        <a:t>9</a:t>
                      </a:r>
                    </a:p>
                  </a:txBody>
                  <a:tcPr marL="55293" marR="55293" marT="27647" marB="27647" anchor="ctr">
                    <a:lnL>
                      <a:noFill/>
                    </a:lnL>
                    <a:lnR>
                      <a:noFill/>
                    </a:lnR>
                    <a:lnT>
                      <a:noFill/>
                    </a:lnT>
                    <a:lnB>
                      <a:noFill/>
                    </a:lnB>
                  </a:tcPr>
                </a:tc>
                <a:tc>
                  <a:txBody>
                    <a:bodyPr/>
                    <a:lstStyle/>
                    <a:p>
                      <a:r>
                        <a:rPr lang="zh-CN" altLang="en-US" sz="1000"/>
                        <a:t>火车旅途中的放松效益</a:t>
                      </a:r>
                    </a:p>
                  </a:txBody>
                  <a:tcPr marL="55293" marR="55293" marT="27647" marB="27647" anchor="ctr">
                    <a:lnL>
                      <a:noFill/>
                    </a:lnL>
                    <a:lnR>
                      <a:noFill/>
                    </a:lnR>
                    <a:lnT>
                      <a:noFill/>
                    </a:lnT>
                    <a:lnB>
                      <a:noFill/>
                    </a:lnB>
                  </a:tcPr>
                </a:tc>
                <a:tc>
                  <a:txBody>
                    <a:bodyPr/>
                    <a:lstStyle/>
                    <a:p>
                      <a:r>
                        <a:rPr lang="en-US" altLang="zh-CN" sz="1000"/>
                        <a:t>-</a:t>
                      </a:r>
                    </a:p>
                  </a:txBody>
                  <a:tcPr marL="55293" marR="55293" marT="27647" marB="27647" anchor="ctr">
                    <a:lnL>
                      <a:noFill/>
                    </a:lnL>
                    <a:lnR>
                      <a:noFill/>
                    </a:lnR>
                    <a:lnT>
                      <a:noFill/>
                    </a:lnT>
                    <a:lnB>
                      <a:noFill/>
                    </a:lnB>
                  </a:tcPr>
                </a:tc>
                <a:tc>
                  <a:txBody>
                    <a:bodyPr/>
                    <a:lstStyle/>
                    <a:p>
                      <a:r>
                        <a:rPr lang="zh-CN" altLang="en-US" sz="1000"/>
                        <a:t>难以量化</a:t>
                      </a:r>
                    </a:p>
                  </a:txBody>
                  <a:tcPr marL="55293" marR="55293" marT="27647" marB="27647" anchor="ctr">
                    <a:lnL>
                      <a:noFill/>
                    </a:lnL>
                    <a:lnR>
                      <a:noFill/>
                    </a:lnR>
                    <a:lnT>
                      <a:noFill/>
                    </a:lnT>
                    <a:lnB>
                      <a:noFill/>
                    </a:lnB>
                  </a:tcPr>
                </a:tc>
                <a:extLst>
                  <a:ext uri="{0D108BD9-81ED-4DB2-BD59-A6C34878D82A}">
                    <a16:rowId xmlns:a16="http://schemas.microsoft.com/office/drawing/2014/main" val="2303698074"/>
                  </a:ext>
                </a:extLst>
              </a:tr>
              <a:tr h="491796">
                <a:tc>
                  <a:txBody>
                    <a:bodyPr/>
                    <a:lstStyle/>
                    <a:p>
                      <a:r>
                        <a:rPr lang="en-US" altLang="zh-CN" sz="1000"/>
                        <a:t>10</a:t>
                      </a:r>
                    </a:p>
                  </a:txBody>
                  <a:tcPr marL="55293" marR="55293" marT="27647" marB="27647" anchor="ctr">
                    <a:lnL>
                      <a:noFill/>
                    </a:lnL>
                    <a:lnR>
                      <a:noFill/>
                    </a:lnR>
                    <a:lnT>
                      <a:noFill/>
                    </a:lnT>
                    <a:lnB>
                      <a:noFill/>
                    </a:lnB>
                  </a:tcPr>
                </a:tc>
                <a:tc>
                  <a:txBody>
                    <a:bodyPr/>
                    <a:lstStyle/>
                    <a:p>
                      <a:r>
                        <a:rPr lang="zh-CN" altLang="en-US" sz="1000"/>
                        <a:t>外出期间将狗寄养在宠物店的费用</a:t>
                      </a:r>
                    </a:p>
                  </a:txBody>
                  <a:tcPr marL="55293" marR="55293" marT="27647" marB="27647" anchor="ctr">
                    <a:lnL>
                      <a:noFill/>
                    </a:lnL>
                    <a:lnR>
                      <a:noFill/>
                    </a:lnR>
                    <a:lnT>
                      <a:noFill/>
                    </a:lnT>
                    <a:lnB>
                      <a:noFill/>
                    </a:lnB>
                  </a:tcPr>
                </a:tc>
                <a:tc>
                  <a:txBody>
                    <a:bodyPr/>
                    <a:lstStyle/>
                    <a:p>
                      <a:r>
                        <a:rPr lang="en-US" altLang="zh-CN" sz="1000"/>
                        <a:t>-</a:t>
                      </a:r>
                    </a:p>
                  </a:txBody>
                  <a:tcPr marL="55293" marR="55293" marT="27647" marB="27647" anchor="ctr">
                    <a:lnL>
                      <a:noFill/>
                    </a:lnL>
                    <a:lnR>
                      <a:noFill/>
                    </a:lnR>
                    <a:lnT>
                      <a:noFill/>
                    </a:lnT>
                    <a:lnB>
                      <a:noFill/>
                    </a:lnB>
                  </a:tcPr>
                </a:tc>
                <a:tc>
                  <a:txBody>
                    <a:bodyPr/>
                    <a:lstStyle/>
                    <a:p>
                      <a:r>
                        <a:rPr lang="en-US" altLang="zh-CN" sz="1000"/>
                        <a:t>$40</a:t>
                      </a:r>
                    </a:p>
                  </a:txBody>
                  <a:tcPr marL="55293" marR="55293" marT="27647" marB="27647" anchor="ctr">
                    <a:lnL>
                      <a:noFill/>
                    </a:lnL>
                    <a:lnR>
                      <a:noFill/>
                    </a:lnR>
                    <a:lnT>
                      <a:noFill/>
                    </a:lnT>
                    <a:lnB>
                      <a:noFill/>
                    </a:lnB>
                  </a:tcPr>
                </a:tc>
                <a:extLst>
                  <a:ext uri="{0D108BD9-81ED-4DB2-BD59-A6C34878D82A}">
                    <a16:rowId xmlns:a16="http://schemas.microsoft.com/office/drawing/2014/main" val="322389962"/>
                  </a:ext>
                </a:extLst>
              </a:tr>
              <a:tr h="344258">
                <a:tc>
                  <a:txBody>
                    <a:bodyPr/>
                    <a:lstStyle/>
                    <a:p>
                      <a:r>
                        <a:rPr lang="en-US" altLang="zh-CN" sz="1000"/>
                        <a:t>11</a:t>
                      </a:r>
                    </a:p>
                  </a:txBody>
                  <a:tcPr marL="55293" marR="55293" marT="27647" marB="27647" anchor="ctr">
                    <a:lnL>
                      <a:noFill/>
                    </a:lnL>
                    <a:lnR>
                      <a:noFill/>
                    </a:lnR>
                    <a:lnT>
                      <a:noFill/>
                    </a:lnT>
                    <a:lnB>
                      <a:noFill/>
                    </a:lnB>
                  </a:tcPr>
                </a:tc>
                <a:tc>
                  <a:txBody>
                    <a:bodyPr/>
                    <a:lstStyle/>
                    <a:p>
                      <a:r>
                        <a:rPr lang="zh-CN" altLang="en-US" sz="1000"/>
                        <a:t>在纽约有车可用的便利效益</a:t>
                      </a:r>
                    </a:p>
                  </a:txBody>
                  <a:tcPr marL="55293" marR="55293" marT="27647" marB="27647" anchor="ctr">
                    <a:lnL>
                      <a:noFill/>
                    </a:lnL>
                    <a:lnR>
                      <a:noFill/>
                    </a:lnR>
                    <a:lnT>
                      <a:noFill/>
                    </a:lnT>
                    <a:lnB>
                      <a:noFill/>
                    </a:lnB>
                  </a:tcPr>
                </a:tc>
                <a:tc>
                  <a:txBody>
                    <a:bodyPr/>
                    <a:lstStyle/>
                    <a:p>
                      <a:r>
                        <a:rPr lang="en-US" altLang="zh-CN" sz="1000"/>
                        <a:t>-</a:t>
                      </a:r>
                    </a:p>
                  </a:txBody>
                  <a:tcPr marL="55293" marR="55293" marT="27647" marB="27647" anchor="ctr">
                    <a:lnL>
                      <a:noFill/>
                    </a:lnL>
                    <a:lnR>
                      <a:noFill/>
                    </a:lnR>
                    <a:lnT>
                      <a:noFill/>
                    </a:lnT>
                    <a:lnB>
                      <a:noFill/>
                    </a:lnB>
                  </a:tcPr>
                </a:tc>
                <a:tc>
                  <a:txBody>
                    <a:bodyPr/>
                    <a:lstStyle/>
                    <a:p>
                      <a:r>
                        <a:rPr lang="zh-CN" altLang="en-US" sz="1000"/>
                        <a:t>难以量化</a:t>
                      </a:r>
                    </a:p>
                  </a:txBody>
                  <a:tcPr marL="55293" marR="55293" marT="27647" marB="27647" anchor="ctr">
                    <a:lnL>
                      <a:noFill/>
                    </a:lnL>
                    <a:lnR>
                      <a:noFill/>
                    </a:lnR>
                    <a:lnT>
                      <a:noFill/>
                    </a:lnT>
                    <a:lnB>
                      <a:noFill/>
                    </a:lnB>
                  </a:tcPr>
                </a:tc>
                <a:extLst>
                  <a:ext uri="{0D108BD9-81ED-4DB2-BD59-A6C34878D82A}">
                    <a16:rowId xmlns:a16="http://schemas.microsoft.com/office/drawing/2014/main" val="1933980748"/>
                  </a:ext>
                </a:extLst>
              </a:tr>
              <a:tr h="344258">
                <a:tc>
                  <a:txBody>
                    <a:bodyPr/>
                    <a:lstStyle/>
                    <a:p>
                      <a:r>
                        <a:rPr lang="en-US" altLang="zh-CN" sz="1000"/>
                        <a:t>12</a:t>
                      </a:r>
                    </a:p>
                  </a:txBody>
                  <a:tcPr marL="55293" marR="55293" marT="27647" marB="27647" anchor="ctr">
                    <a:lnL>
                      <a:noFill/>
                    </a:lnL>
                    <a:lnR>
                      <a:noFill/>
                    </a:lnR>
                    <a:lnT>
                      <a:noFill/>
                    </a:lnT>
                    <a:lnB>
                      <a:noFill/>
                    </a:lnB>
                  </a:tcPr>
                </a:tc>
                <a:tc>
                  <a:txBody>
                    <a:bodyPr/>
                    <a:lstStyle/>
                    <a:p>
                      <a:r>
                        <a:rPr lang="zh-CN" altLang="en-US" sz="1000"/>
                        <a:t>在纽约停车的麻烦程度</a:t>
                      </a:r>
                    </a:p>
                  </a:txBody>
                  <a:tcPr marL="55293" marR="55293" marT="27647" marB="27647" anchor="ctr">
                    <a:lnL>
                      <a:noFill/>
                    </a:lnL>
                    <a:lnR>
                      <a:noFill/>
                    </a:lnR>
                    <a:lnT>
                      <a:noFill/>
                    </a:lnT>
                    <a:lnB>
                      <a:noFill/>
                    </a:lnB>
                  </a:tcPr>
                </a:tc>
                <a:tc>
                  <a:txBody>
                    <a:bodyPr/>
                    <a:lstStyle/>
                    <a:p>
                      <a:r>
                        <a:rPr lang="en-US" altLang="zh-CN" sz="1000"/>
                        <a:t>-</a:t>
                      </a:r>
                    </a:p>
                  </a:txBody>
                  <a:tcPr marL="55293" marR="55293" marT="27647" marB="27647" anchor="ctr">
                    <a:lnL>
                      <a:noFill/>
                    </a:lnL>
                    <a:lnR>
                      <a:noFill/>
                    </a:lnR>
                    <a:lnT>
                      <a:noFill/>
                    </a:lnT>
                    <a:lnB>
                      <a:noFill/>
                    </a:lnB>
                  </a:tcPr>
                </a:tc>
                <a:tc>
                  <a:txBody>
                    <a:bodyPr/>
                    <a:lstStyle/>
                    <a:p>
                      <a:r>
                        <a:rPr lang="zh-CN" altLang="en-US" sz="1000"/>
                        <a:t>难以量化</a:t>
                      </a:r>
                    </a:p>
                  </a:txBody>
                  <a:tcPr marL="55293" marR="55293" marT="27647" marB="27647" anchor="ctr">
                    <a:lnL>
                      <a:noFill/>
                    </a:lnL>
                    <a:lnR>
                      <a:noFill/>
                    </a:lnR>
                    <a:lnT>
                      <a:noFill/>
                    </a:lnT>
                    <a:lnB>
                      <a:noFill/>
                    </a:lnB>
                  </a:tcPr>
                </a:tc>
                <a:extLst>
                  <a:ext uri="{0D108BD9-81ED-4DB2-BD59-A6C34878D82A}">
                    <a16:rowId xmlns:a16="http://schemas.microsoft.com/office/drawing/2014/main" val="3113975251"/>
                  </a:ext>
                </a:extLst>
              </a:tr>
              <a:tr h="344258">
                <a:tc>
                  <a:txBody>
                    <a:bodyPr/>
                    <a:lstStyle/>
                    <a:p>
                      <a:r>
                        <a:rPr lang="en-US" altLang="zh-CN" sz="1000"/>
                        <a:t>13</a:t>
                      </a:r>
                    </a:p>
                  </a:txBody>
                  <a:tcPr marL="55293" marR="55293" marT="27647" marB="27647" anchor="ctr">
                    <a:lnL>
                      <a:noFill/>
                    </a:lnL>
                    <a:lnR>
                      <a:noFill/>
                    </a:lnR>
                    <a:lnT>
                      <a:noFill/>
                    </a:lnT>
                    <a:lnB>
                      <a:noFill/>
                    </a:lnB>
                  </a:tcPr>
                </a:tc>
                <a:tc>
                  <a:txBody>
                    <a:bodyPr/>
                    <a:lstStyle/>
                    <a:p>
                      <a:r>
                        <a:rPr lang="zh-CN" altLang="en-US" sz="1000"/>
                        <a:t>在纽约每日停车费用</a:t>
                      </a:r>
                    </a:p>
                  </a:txBody>
                  <a:tcPr marL="55293" marR="55293" marT="27647" marB="27647" anchor="ctr">
                    <a:lnL>
                      <a:noFill/>
                    </a:lnL>
                    <a:lnR>
                      <a:noFill/>
                    </a:lnR>
                    <a:lnT>
                      <a:noFill/>
                    </a:lnT>
                    <a:lnB>
                      <a:noFill/>
                    </a:lnB>
                  </a:tcPr>
                </a:tc>
                <a:tc>
                  <a:txBody>
                    <a:bodyPr/>
                    <a:lstStyle/>
                    <a:p>
                      <a:r>
                        <a:rPr lang="en-US" altLang="zh-CN" sz="1000"/>
                        <a:t>-</a:t>
                      </a:r>
                    </a:p>
                  </a:txBody>
                  <a:tcPr marL="55293" marR="55293" marT="27647" marB="27647" anchor="ctr">
                    <a:lnL>
                      <a:noFill/>
                    </a:lnL>
                    <a:lnR>
                      <a:noFill/>
                    </a:lnR>
                    <a:lnT>
                      <a:noFill/>
                    </a:lnT>
                    <a:lnB>
                      <a:noFill/>
                    </a:lnB>
                  </a:tcPr>
                </a:tc>
                <a:tc>
                  <a:txBody>
                    <a:bodyPr/>
                    <a:lstStyle/>
                    <a:p>
                      <a:r>
                        <a:rPr lang="en-US" altLang="zh-CN" sz="1000" dirty="0"/>
                        <a:t>$25/</a:t>
                      </a:r>
                      <a:r>
                        <a:rPr lang="zh-CN" altLang="en-US" sz="1000" dirty="0"/>
                        <a:t>天</a:t>
                      </a:r>
                    </a:p>
                  </a:txBody>
                  <a:tcPr marL="55293" marR="55293" marT="27647" marB="27647" anchor="ctr">
                    <a:lnL>
                      <a:noFill/>
                    </a:lnL>
                    <a:lnR>
                      <a:noFill/>
                    </a:lnR>
                    <a:lnT>
                      <a:noFill/>
                    </a:lnT>
                    <a:lnB>
                      <a:noFill/>
                    </a:lnB>
                  </a:tcPr>
                </a:tc>
                <a:extLst>
                  <a:ext uri="{0D108BD9-81ED-4DB2-BD59-A6C34878D82A}">
                    <a16:rowId xmlns:a16="http://schemas.microsoft.com/office/drawing/2014/main" val="3737105316"/>
                  </a:ext>
                </a:extLst>
              </a:tr>
            </a:tbl>
          </a:graphicData>
        </a:graphic>
      </p:graphicFrame>
    </p:spTree>
    <p:extLst>
      <p:ext uri="{BB962C8B-B14F-4D97-AF65-F5344CB8AC3E}">
        <p14:creationId xmlns:p14="http://schemas.microsoft.com/office/powerpoint/2010/main" val="4582495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img.tukuppt.com/aippt_uploads/34576449/25/07/03/6866a18678cda.png!/fwfh2/960x960"/>
          <p:cNvPicPr>
            <a:picLocks noChangeAspect="1"/>
          </p:cNvPicPr>
          <p:nvPr/>
        </p:nvPicPr>
        <p:blipFill>
          <a:blip r:embed="rId3"/>
          <a:stretch>
            <a:fillRect/>
          </a:stretch>
        </p:blipFill>
        <p:spPr>
          <a:xfrm>
            <a:off x="0" y="0"/>
            <a:ext cx="9140180" cy="5131830"/>
          </a:xfrm>
          <a:prstGeom prst="rect">
            <a:avLst/>
          </a:prstGeom>
        </p:spPr>
      </p:pic>
      <p:sp>
        <p:nvSpPr>
          <p:cNvPr id="3" name="Shape 0"/>
          <p:cNvSpPr/>
          <p:nvPr/>
        </p:nvSpPr>
        <p:spPr>
          <a:xfrm>
            <a:off x="979384" y="287863"/>
            <a:ext cx="2872893" cy="412023"/>
          </a:xfrm>
          <a:custGeom>
            <a:avLst/>
            <a:gdLst/>
            <a:ahLst/>
            <a:cxnLst/>
            <a:rect l="l" t="t" r="r" b="b"/>
            <a:pathLst>
              <a:path w="2872893" h="412023">
                <a:moveTo>
                  <a:pt x="68568" y="0"/>
                </a:moveTo>
                <a:lnTo>
                  <a:pt x="2803673" y="0"/>
                </a:lnTo>
                <a:cubicBezTo>
                  <a:pt x="2841542" y="0"/>
                  <a:pt x="2872241" y="30699"/>
                  <a:pt x="2872241" y="68568"/>
                </a:cubicBezTo>
                <a:lnTo>
                  <a:pt x="2872241" y="342840"/>
                </a:lnTo>
                <a:cubicBezTo>
                  <a:pt x="2872241" y="380710"/>
                  <a:pt x="2841542" y="411409"/>
                  <a:pt x="2803673" y="411409"/>
                </a:cubicBezTo>
                <a:lnTo>
                  <a:pt x="68568" y="411409"/>
                </a:lnTo>
                <a:cubicBezTo>
                  <a:pt x="30699" y="411409"/>
                  <a:pt x="0" y="380710"/>
                  <a:pt x="0" y="342840"/>
                </a:cubicBezTo>
                <a:lnTo>
                  <a:pt x="0" y="68568"/>
                </a:lnTo>
                <a:cubicBezTo>
                  <a:pt x="0" y="30724"/>
                  <a:pt x="30724" y="0"/>
                  <a:pt x="68568" y="0"/>
                </a:cubicBezTo>
                <a:close/>
              </a:path>
            </a:pathLst>
          </a:custGeom>
          <a:solidFill>
            <a:srgbClr val="0067B4"/>
          </a:solidFill>
          <a:ln/>
          <a:effectLst>
            <a:outerShdw dist="38093" dir="2700000" algn="bl" rotWithShape="0">
              <a:srgbClr val="000000">
                <a:alpha val="38824"/>
              </a:srgbClr>
            </a:outerShdw>
          </a:effectLst>
        </p:spPr>
      </p:sp>
      <p:sp>
        <p:nvSpPr>
          <p:cNvPr id="4" name="Shape 1"/>
          <p:cNvSpPr/>
          <p:nvPr/>
        </p:nvSpPr>
        <p:spPr>
          <a:xfrm>
            <a:off x="1188456" y="329442"/>
            <a:ext cx="2735844" cy="339064"/>
          </a:xfrm>
          <a:custGeom>
            <a:avLst/>
            <a:gdLst/>
            <a:ahLst/>
            <a:cxnLst/>
            <a:rect l="l" t="t" r="r" b="b"/>
            <a:pathLst>
              <a:path w="2735844" h="339064">
                <a:moveTo>
                  <a:pt x="0" y="0"/>
                </a:moveTo>
                <a:lnTo>
                  <a:pt x="2735844" y="0"/>
                </a:lnTo>
                <a:lnTo>
                  <a:pt x="2735844" y="339064"/>
                </a:lnTo>
                <a:lnTo>
                  <a:pt x="0" y="339064"/>
                </a:lnTo>
                <a:close/>
              </a:path>
            </a:pathLst>
          </a:custGeom>
          <a:noFill/>
          <a:ln/>
        </p:spPr>
      </p:sp>
      <p:sp>
        <p:nvSpPr>
          <p:cNvPr id="5" name="Text 2"/>
          <p:cNvSpPr txBox="1"/>
          <p:nvPr/>
        </p:nvSpPr>
        <p:spPr>
          <a:xfrm>
            <a:off x="1188456" y="329442"/>
            <a:ext cx="2735844" cy="339064"/>
          </a:xfrm>
          <a:prstGeom prst="rect">
            <a:avLst/>
          </a:prstGeom>
          <a:noFill/>
          <a:ln/>
        </p:spPr>
        <p:txBody>
          <a:bodyPr wrap="square" lIns="1252" tIns="653" rIns="1252" bIns="653" rtlCol="0" anchor="t">
            <a:spAutoFit/>
          </a:bodyPr>
          <a:lstStyle/>
          <a:p>
            <a:pPr marL="0" indent="0" algn="l">
              <a:buNone/>
            </a:pPr>
            <a:r>
              <a:rPr lang="zh-CN" altLang="en-US" sz="1601" dirty="0">
                <a:solidFill>
                  <a:srgbClr val="64CBFF"/>
                </a:solidFill>
                <a:latin typeface="SourceHanSansSC-Medium"/>
                <a:ea typeface="SourceHanSansSC-Medium"/>
                <a:cs typeface="SourceHanSansSC-Medium"/>
              </a:rPr>
              <a:t>相关成本识别</a:t>
            </a:r>
            <a:endParaRPr lang="en-US" sz="1601" dirty="0"/>
          </a:p>
        </p:txBody>
      </p:sp>
      <p:sp>
        <p:nvSpPr>
          <p:cNvPr id="6" name="Shape 3"/>
          <p:cNvSpPr/>
          <p:nvPr/>
        </p:nvSpPr>
        <p:spPr>
          <a:xfrm>
            <a:off x="471488" y="198466"/>
            <a:ext cx="461756" cy="542999"/>
          </a:xfrm>
          <a:custGeom>
            <a:avLst/>
            <a:gdLst/>
            <a:ahLst/>
            <a:cxnLst/>
            <a:rect l="l" t="t" r="r" b="b"/>
            <a:pathLst>
              <a:path w="461756" h="542999">
                <a:moveTo>
                  <a:pt x="77457" y="0"/>
                </a:moveTo>
                <a:lnTo>
                  <a:pt x="384743" y="0"/>
                </a:lnTo>
                <a:cubicBezTo>
                  <a:pt x="427521" y="0"/>
                  <a:pt x="462200" y="34678"/>
                  <a:pt x="462200" y="77457"/>
                </a:cubicBezTo>
                <a:lnTo>
                  <a:pt x="462200" y="466009"/>
                </a:lnTo>
                <a:cubicBezTo>
                  <a:pt x="462200" y="508787"/>
                  <a:pt x="427521" y="543466"/>
                  <a:pt x="384743" y="543466"/>
                </a:cubicBezTo>
                <a:lnTo>
                  <a:pt x="77457" y="543466"/>
                </a:lnTo>
                <a:cubicBezTo>
                  <a:pt x="34678" y="543466"/>
                  <a:pt x="0" y="508787"/>
                  <a:pt x="0" y="466009"/>
                </a:cubicBezTo>
                <a:lnTo>
                  <a:pt x="0" y="77457"/>
                </a:lnTo>
                <a:cubicBezTo>
                  <a:pt x="0" y="34678"/>
                  <a:pt x="34678" y="0"/>
                  <a:pt x="77457" y="0"/>
                </a:cubicBezTo>
                <a:close/>
              </a:path>
            </a:pathLst>
          </a:custGeom>
          <a:solidFill>
            <a:srgbClr val="0067B4"/>
          </a:solidFill>
          <a:ln/>
          <a:effectLst>
            <a:outerShdw dist="38093" dir="2700000" algn="bl" rotWithShape="0">
              <a:srgbClr val="000000">
                <a:alpha val="38824"/>
              </a:srgbClr>
            </a:outerShdw>
          </a:effectLst>
        </p:spPr>
      </p:sp>
      <p:sp>
        <p:nvSpPr>
          <p:cNvPr id="7" name="Shape 4"/>
          <p:cNvSpPr/>
          <p:nvPr/>
        </p:nvSpPr>
        <p:spPr>
          <a:xfrm>
            <a:off x="482166" y="206110"/>
            <a:ext cx="433263" cy="535355"/>
          </a:xfrm>
          <a:custGeom>
            <a:avLst/>
            <a:gdLst/>
            <a:ahLst/>
            <a:cxnLst/>
            <a:rect l="l" t="t" r="r" b="b"/>
            <a:pathLst>
              <a:path w="433263" h="535355">
                <a:moveTo>
                  <a:pt x="73647" y="0"/>
                </a:moveTo>
                <a:lnTo>
                  <a:pt x="366966" y="0"/>
                </a:lnTo>
                <a:cubicBezTo>
                  <a:pt x="396171" y="0"/>
                  <a:pt x="421567" y="15237"/>
                  <a:pt x="432995" y="35554"/>
                </a:cubicBezTo>
                <a:cubicBezTo>
                  <a:pt x="186658" y="119359"/>
                  <a:pt x="11428" y="311096"/>
                  <a:pt x="1270" y="535847"/>
                </a:cubicBezTo>
                <a:cubicBezTo>
                  <a:pt x="0" y="533307"/>
                  <a:pt x="0" y="532038"/>
                  <a:pt x="0" y="529498"/>
                </a:cubicBezTo>
                <a:lnTo>
                  <a:pt x="0" y="60949"/>
                </a:lnTo>
                <a:cubicBezTo>
                  <a:pt x="0" y="26665"/>
                  <a:pt x="33014" y="0"/>
                  <a:pt x="73647" y="0"/>
                </a:cubicBezTo>
                <a:close/>
              </a:path>
            </a:pathLst>
          </a:custGeom>
          <a:gradFill>
            <a:gsLst>
              <a:gs pos="0">
                <a:srgbClr val="64CBFF">
                  <a:alpha val="34902"/>
                </a:srgbClr>
              </a:gs>
              <a:gs pos="100000">
                <a:srgbClr val="2F5897">
                  <a:alpha val="100000"/>
                </a:srgbClr>
              </a:gs>
            </a:gsLst>
            <a:lin ang="1200000" scaled="1"/>
          </a:gradFill>
          <a:ln/>
        </p:spPr>
      </p:sp>
      <p:pic>
        <p:nvPicPr>
          <p:cNvPr id="8" name="Image 1" descr="//img.tukuppt.com/aippt_tpl_uploads/25/07/01/686397e7ae4cf.png"/>
          <p:cNvPicPr>
            <a:picLocks noChangeAspect="1"/>
          </p:cNvPicPr>
          <p:nvPr/>
        </p:nvPicPr>
        <p:blipFill>
          <a:blip r:embed="rId4"/>
          <a:srcRect/>
          <a:stretch/>
        </p:blipFill>
        <p:spPr>
          <a:xfrm flipH="1">
            <a:off x="787710" y="346921"/>
            <a:ext cx="255659" cy="98905"/>
          </a:xfrm>
          <a:prstGeom prst="rect">
            <a:avLst/>
          </a:prstGeom>
        </p:spPr>
      </p:pic>
      <p:pic>
        <p:nvPicPr>
          <p:cNvPr id="9" name="Image 2" descr="//img.tukuppt.com/aippt_tpl_uploads/25/07/01/686397e7ae4cf.png"/>
          <p:cNvPicPr>
            <a:picLocks noChangeAspect="1"/>
          </p:cNvPicPr>
          <p:nvPr/>
        </p:nvPicPr>
        <p:blipFill>
          <a:blip r:embed="rId4"/>
          <a:srcRect/>
          <a:stretch/>
        </p:blipFill>
        <p:spPr>
          <a:xfrm flipH="1">
            <a:off x="787710" y="549201"/>
            <a:ext cx="255659" cy="98905"/>
          </a:xfrm>
          <a:prstGeom prst="rect">
            <a:avLst/>
          </a:prstGeom>
        </p:spPr>
      </p:pic>
      <p:pic>
        <p:nvPicPr>
          <p:cNvPr id="10" name="Image 3" descr="//img.tukuppt.com/aippt_tpl_uploads/25/07/01/686397e7b8f81.png"/>
          <p:cNvPicPr>
            <a:picLocks noChangeAspect="1"/>
          </p:cNvPicPr>
          <p:nvPr/>
        </p:nvPicPr>
        <p:blipFill>
          <a:blip r:embed="rId5"/>
          <a:srcRect/>
          <a:stretch/>
        </p:blipFill>
        <p:spPr>
          <a:xfrm>
            <a:off x="539206" y="312920"/>
            <a:ext cx="321318" cy="321734"/>
          </a:xfrm>
          <a:prstGeom prst="rect">
            <a:avLst/>
          </a:prstGeom>
        </p:spPr>
      </p:pic>
      <p:pic>
        <p:nvPicPr>
          <p:cNvPr id="11" name="Image 4" descr="//img.tukuppt.com/aippt_tpl_uploads/25/07/01/686397e7af1a3.png!/fwfh2/960x960"/>
          <p:cNvPicPr>
            <a:picLocks noChangeAspect="1"/>
          </p:cNvPicPr>
          <p:nvPr/>
        </p:nvPicPr>
        <p:blipFill>
          <a:blip r:embed="rId6"/>
          <a:srcRect l="36452" t="56544" b="34700"/>
          <a:stretch/>
        </p:blipFill>
        <p:spPr>
          <a:xfrm>
            <a:off x="-4836" y="-812736"/>
            <a:ext cx="9148837" cy="1019042"/>
          </a:xfrm>
          <a:prstGeom prst="rect">
            <a:avLst/>
          </a:prstGeom>
        </p:spPr>
      </p:pic>
      <p:pic>
        <p:nvPicPr>
          <p:cNvPr id="12" name="Image 5" descr="//img.tukuppt.com/aippt_tpl_uploads/25/07/01/686397e7af1a3.png!/fwfh2/960x960"/>
          <p:cNvPicPr>
            <a:picLocks noChangeAspect="1"/>
          </p:cNvPicPr>
          <p:nvPr/>
        </p:nvPicPr>
        <p:blipFill>
          <a:blip r:embed="rId6"/>
          <a:srcRect l="36452" t="56544" b="34700"/>
          <a:stretch/>
        </p:blipFill>
        <p:spPr>
          <a:xfrm>
            <a:off x="-61352" y="4937888"/>
            <a:ext cx="9313872" cy="1019042"/>
          </a:xfrm>
          <a:prstGeom prst="rect">
            <a:avLst/>
          </a:prstGeom>
        </p:spPr>
      </p:pic>
      <p:sp>
        <p:nvSpPr>
          <p:cNvPr id="13" name="Shape 5"/>
          <p:cNvSpPr/>
          <p:nvPr/>
        </p:nvSpPr>
        <p:spPr>
          <a:xfrm>
            <a:off x="5476376" y="1430671"/>
            <a:ext cx="2723029" cy="2723029"/>
          </a:xfrm>
          <a:custGeom>
            <a:avLst/>
            <a:gdLst/>
            <a:ahLst/>
            <a:cxnLst/>
            <a:rect l="l" t="t" r="r" b="b"/>
            <a:pathLst>
              <a:path w="2723029" h="2723029">
                <a:moveTo>
                  <a:pt x="1361515" y="0"/>
                </a:moveTo>
                <a:cubicBezTo>
                  <a:pt x="2112955" y="0"/>
                  <a:pt x="2723029" y="610074"/>
                  <a:pt x="2723029" y="1361515"/>
                </a:cubicBezTo>
                <a:cubicBezTo>
                  <a:pt x="2723029" y="2112955"/>
                  <a:pt x="2112955" y="2723029"/>
                  <a:pt x="1361515" y="2723029"/>
                </a:cubicBezTo>
                <a:cubicBezTo>
                  <a:pt x="610074" y="2723029"/>
                  <a:pt x="0" y="2112955"/>
                  <a:pt x="0" y="1361515"/>
                </a:cubicBezTo>
                <a:cubicBezTo>
                  <a:pt x="0" y="610074"/>
                  <a:pt x="610074" y="0"/>
                  <a:pt x="1361515" y="0"/>
                </a:cubicBezTo>
                <a:close/>
              </a:path>
            </a:pathLst>
          </a:custGeom>
          <a:blipFill rotWithShape="0">
            <a:blip r:embed="rId7">
              <a:alphaModFix/>
            </a:blip>
            <a:stretch>
              <a:fillRect/>
            </a:stretch>
          </a:blipFill>
          <a:ln/>
        </p:spPr>
      </p:sp>
      <p:sp>
        <p:nvSpPr>
          <p:cNvPr id="14" name="Text 6"/>
          <p:cNvSpPr txBox="1"/>
          <p:nvPr/>
        </p:nvSpPr>
        <p:spPr>
          <a:xfrm>
            <a:off x="978177" y="1830679"/>
            <a:ext cx="3681413" cy="473546"/>
          </a:xfrm>
          <a:prstGeom prst="rect">
            <a:avLst/>
          </a:prstGeom>
          <a:noFill/>
          <a:ln/>
        </p:spPr>
        <p:txBody>
          <a:bodyPr wrap="square" lIns="0" tIns="0" rIns="0" bIns="0" rtlCol="0" anchor="ctr">
            <a:spAutoFit/>
          </a:bodyPr>
          <a:lstStyle/>
          <a:p>
            <a:pPr marL="0" indent="0" algn="l">
              <a:buNone/>
            </a:pPr>
            <a:r>
              <a:rPr lang="zh-CN" altLang="en-US" sz="1650" dirty="0">
                <a:solidFill>
                  <a:srgbClr val="000000"/>
                </a:solidFill>
                <a:latin typeface="SourceHanSansSC-Regular"/>
                <a:ea typeface="SourceHanSansSC-Regular"/>
                <a:cs typeface="SourceHanSansSC-Regular"/>
              </a:rPr>
              <a:t>成本判断</a:t>
            </a:r>
            <a:endParaRPr lang="en-US" sz="1800" dirty="0"/>
          </a:p>
        </p:txBody>
      </p:sp>
      <p:sp>
        <p:nvSpPr>
          <p:cNvPr id="15" name="Shape 7"/>
          <p:cNvSpPr/>
          <p:nvPr/>
        </p:nvSpPr>
        <p:spPr>
          <a:xfrm>
            <a:off x="1025802" y="2627135"/>
            <a:ext cx="387075" cy="0"/>
          </a:xfrm>
          <a:custGeom>
            <a:avLst/>
            <a:gdLst/>
            <a:ahLst/>
            <a:cxnLst/>
            <a:rect l="l" t="t" r="r" b="b"/>
            <a:pathLst>
              <a:path w="387075">
                <a:moveTo>
                  <a:pt x="0" y="0"/>
                </a:moveTo>
                <a:lnTo>
                  <a:pt x="387075" y="0"/>
                </a:lnTo>
              </a:path>
            </a:pathLst>
          </a:custGeom>
          <a:noFill/>
          <a:ln w="14288">
            <a:solidFill>
              <a:srgbClr val="CDCDCD"/>
            </a:solidFill>
            <a:prstDash val="solid"/>
            <a:headEnd type="none"/>
            <a:tailEnd type="none"/>
          </a:ln>
        </p:spPr>
      </p:sp>
      <p:sp>
        <p:nvSpPr>
          <p:cNvPr id="16" name="Text 8"/>
          <p:cNvSpPr txBox="1"/>
          <p:nvPr/>
        </p:nvSpPr>
        <p:spPr>
          <a:xfrm>
            <a:off x="1011515" y="2799411"/>
            <a:ext cx="3648075" cy="823913"/>
          </a:xfrm>
          <a:prstGeom prst="rect">
            <a:avLst/>
          </a:prstGeom>
          <a:noFill/>
          <a:ln/>
        </p:spPr>
        <p:txBody>
          <a:bodyPr wrap="square" lIns="0" tIns="0" rIns="0" bIns="0" rtlCol="0" anchor="t">
            <a:spAutoFit/>
          </a:bodyPr>
          <a:lstStyle/>
          <a:p>
            <a:pPr marL="0" indent="0" algn="l">
              <a:lnSpc>
                <a:spcPct val="96000"/>
              </a:lnSpc>
              <a:buNone/>
            </a:pPr>
            <a:r>
              <a:rPr lang="zh-CN" altLang="en-US" sz="900" dirty="0">
                <a:solidFill>
                  <a:srgbClr val="2A2A2A"/>
                </a:solidFill>
                <a:latin typeface="SourceHanSansSC-Regular"/>
                <a:ea typeface="SourceHanSansSC-Regular"/>
                <a:cs typeface="SourceHanSansSC-Regular"/>
              </a:rPr>
              <a:t>车辆的购置成本是沉没成本，与当前决策无关；汽油费、维修保养费、因额外里程导致的车辆转售价值下降、往返火车票费用等是相关成本；年度保险费、学校停车费、宠物寄养费等是无关成本。同时，在火车上放松是相关收益。</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img.tukuppt.com/aippt_uploads/34576449/25/07/03/6866a18678cda.png!/fwfh2/960x960"/>
          <p:cNvPicPr>
            <a:picLocks noChangeAspect="1"/>
          </p:cNvPicPr>
          <p:nvPr/>
        </p:nvPicPr>
        <p:blipFill>
          <a:blip r:embed="rId3"/>
          <a:stretch>
            <a:fillRect/>
          </a:stretch>
        </p:blipFill>
        <p:spPr>
          <a:xfrm>
            <a:off x="0" y="0"/>
            <a:ext cx="9140180" cy="5131830"/>
          </a:xfrm>
          <a:prstGeom prst="rect">
            <a:avLst/>
          </a:prstGeom>
        </p:spPr>
      </p:pic>
      <p:sp>
        <p:nvSpPr>
          <p:cNvPr id="3" name="Shape 0"/>
          <p:cNvSpPr/>
          <p:nvPr/>
        </p:nvSpPr>
        <p:spPr>
          <a:xfrm>
            <a:off x="979384" y="287863"/>
            <a:ext cx="2872893" cy="412023"/>
          </a:xfrm>
          <a:custGeom>
            <a:avLst/>
            <a:gdLst/>
            <a:ahLst/>
            <a:cxnLst/>
            <a:rect l="l" t="t" r="r" b="b"/>
            <a:pathLst>
              <a:path w="2872893" h="412023">
                <a:moveTo>
                  <a:pt x="68568" y="0"/>
                </a:moveTo>
                <a:lnTo>
                  <a:pt x="2803673" y="0"/>
                </a:lnTo>
                <a:cubicBezTo>
                  <a:pt x="2841542" y="0"/>
                  <a:pt x="2872241" y="30699"/>
                  <a:pt x="2872241" y="68568"/>
                </a:cubicBezTo>
                <a:lnTo>
                  <a:pt x="2872241" y="342840"/>
                </a:lnTo>
                <a:cubicBezTo>
                  <a:pt x="2872241" y="380710"/>
                  <a:pt x="2841542" y="411409"/>
                  <a:pt x="2803673" y="411409"/>
                </a:cubicBezTo>
                <a:lnTo>
                  <a:pt x="68568" y="411409"/>
                </a:lnTo>
                <a:cubicBezTo>
                  <a:pt x="30699" y="411409"/>
                  <a:pt x="0" y="380710"/>
                  <a:pt x="0" y="342840"/>
                </a:cubicBezTo>
                <a:lnTo>
                  <a:pt x="0" y="68568"/>
                </a:lnTo>
                <a:cubicBezTo>
                  <a:pt x="0" y="30724"/>
                  <a:pt x="30724" y="0"/>
                  <a:pt x="68568" y="0"/>
                </a:cubicBezTo>
                <a:close/>
              </a:path>
            </a:pathLst>
          </a:custGeom>
          <a:solidFill>
            <a:srgbClr val="0067B4"/>
          </a:solidFill>
          <a:ln/>
          <a:effectLst>
            <a:outerShdw dist="38093" dir="2700000" algn="bl" rotWithShape="0">
              <a:srgbClr val="000000">
                <a:alpha val="38824"/>
              </a:srgbClr>
            </a:outerShdw>
          </a:effectLst>
        </p:spPr>
      </p:sp>
      <p:sp>
        <p:nvSpPr>
          <p:cNvPr id="4" name="Shape 1"/>
          <p:cNvSpPr/>
          <p:nvPr/>
        </p:nvSpPr>
        <p:spPr>
          <a:xfrm>
            <a:off x="1188456" y="329442"/>
            <a:ext cx="2735844" cy="339064"/>
          </a:xfrm>
          <a:custGeom>
            <a:avLst/>
            <a:gdLst/>
            <a:ahLst/>
            <a:cxnLst/>
            <a:rect l="l" t="t" r="r" b="b"/>
            <a:pathLst>
              <a:path w="2735844" h="339064">
                <a:moveTo>
                  <a:pt x="0" y="0"/>
                </a:moveTo>
                <a:lnTo>
                  <a:pt x="2735844" y="0"/>
                </a:lnTo>
                <a:lnTo>
                  <a:pt x="2735844" y="339064"/>
                </a:lnTo>
                <a:lnTo>
                  <a:pt x="0" y="339064"/>
                </a:lnTo>
                <a:close/>
              </a:path>
            </a:pathLst>
          </a:custGeom>
          <a:noFill/>
          <a:ln/>
        </p:spPr>
      </p:sp>
      <p:sp>
        <p:nvSpPr>
          <p:cNvPr id="5" name="Text 2"/>
          <p:cNvSpPr txBox="1"/>
          <p:nvPr/>
        </p:nvSpPr>
        <p:spPr>
          <a:xfrm>
            <a:off x="1188456" y="329442"/>
            <a:ext cx="2735844" cy="339064"/>
          </a:xfrm>
          <a:prstGeom prst="rect">
            <a:avLst/>
          </a:prstGeom>
          <a:noFill/>
          <a:ln/>
        </p:spPr>
        <p:txBody>
          <a:bodyPr wrap="square" lIns="1252" tIns="653" rIns="1252" bIns="653" rtlCol="0" anchor="t">
            <a:spAutoFit/>
          </a:bodyPr>
          <a:lstStyle/>
          <a:p>
            <a:pPr marL="0" indent="0" algn="l">
              <a:buNone/>
            </a:pPr>
            <a:r>
              <a:rPr lang="zh-CN" altLang="en-US" sz="1601" dirty="0">
                <a:solidFill>
                  <a:srgbClr val="64CBFF"/>
                </a:solidFill>
                <a:latin typeface="SourceHanSansSC-Medium"/>
                <a:ea typeface="SourceHanSansSC-Medium"/>
                <a:cs typeface="SourceHanSansSC-Medium"/>
              </a:rPr>
              <a:t>决策结论</a:t>
            </a:r>
            <a:endParaRPr lang="en-US" sz="1601" dirty="0"/>
          </a:p>
        </p:txBody>
      </p:sp>
      <p:sp>
        <p:nvSpPr>
          <p:cNvPr id="6" name="Shape 3"/>
          <p:cNvSpPr/>
          <p:nvPr/>
        </p:nvSpPr>
        <p:spPr>
          <a:xfrm>
            <a:off x="471488" y="198466"/>
            <a:ext cx="461756" cy="542999"/>
          </a:xfrm>
          <a:custGeom>
            <a:avLst/>
            <a:gdLst/>
            <a:ahLst/>
            <a:cxnLst/>
            <a:rect l="l" t="t" r="r" b="b"/>
            <a:pathLst>
              <a:path w="461756" h="542999">
                <a:moveTo>
                  <a:pt x="77457" y="0"/>
                </a:moveTo>
                <a:lnTo>
                  <a:pt x="384743" y="0"/>
                </a:lnTo>
                <a:cubicBezTo>
                  <a:pt x="427521" y="0"/>
                  <a:pt x="462200" y="34678"/>
                  <a:pt x="462200" y="77457"/>
                </a:cubicBezTo>
                <a:lnTo>
                  <a:pt x="462200" y="466009"/>
                </a:lnTo>
                <a:cubicBezTo>
                  <a:pt x="462200" y="508787"/>
                  <a:pt x="427521" y="543466"/>
                  <a:pt x="384743" y="543466"/>
                </a:cubicBezTo>
                <a:lnTo>
                  <a:pt x="77457" y="543466"/>
                </a:lnTo>
                <a:cubicBezTo>
                  <a:pt x="34678" y="543466"/>
                  <a:pt x="0" y="508787"/>
                  <a:pt x="0" y="466009"/>
                </a:cubicBezTo>
                <a:lnTo>
                  <a:pt x="0" y="77457"/>
                </a:lnTo>
                <a:cubicBezTo>
                  <a:pt x="0" y="34678"/>
                  <a:pt x="34678" y="0"/>
                  <a:pt x="77457" y="0"/>
                </a:cubicBezTo>
                <a:close/>
              </a:path>
            </a:pathLst>
          </a:custGeom>
          <a:solidFill>
            <a:srgbClr val="0067B4"/>
          </a:solidFill>
          <a:ln/>
          <a:effectLst>
            <a:outerShdw dist="38093" dir="2700000" algn="bl" rotWithShape="0">
              <a:srgbClr val="000000">
                <a:alpha val="38824"/>
              </a:srgbClr>
            </a:outerShdw>
          </a:effectLst>
        </p:spPr>
      </p:sp>
      <p:sp>
        <p:nvSpPr>
          <p:cNvPr id="7" name="Shape 4"/>
          <p:cNvSpPr/>
          <p:nvPr/>
        </p:nvSpPr>
        <p:spPr>
          <a:xfrm>
            <a:off x="482166" y="206110"/>
            <a:ext cx="433263" cy="535355"/>
          </a:xfrm>
          <a:custGeom>
            <a:avLst/>
            <a:gdLst/>
            <a:ahLst/>
            <a:cxnLst/>
            <a:rect l="l" t="t" r="r" b="b"/>
            <a:pathLst>
              <a:path w="433263" h="535355">
                <a:moveTo>
                  <a:pt x="73647" y="0"/>
                </a:moveTo>
                <a:lnTo>
                  <a:pt x="366966" y="0"/>
                </a:lnTo>
                <a:cubicBezTo>
                  <a:pt x="396171" y="0"/>
                  <a:pt x="421567" y="15237"/>
                  <a:pt x="432995" y="35554"/>
                </a:cubicBezTo>
                <a:cubicBezTo>
                  <a:pt x="186658" y="119359"/>
                  <a:pt x="11428" y="311096"/>
                  <a:pt x="1270" y="535847"/>
                </a:cubicBezTo>
                <a:cubicBezTo>
                  <a:pt x="0" y="533307"/>
                  <a:pt x="0" y="532038"/>
                  <a:pt x="0" y="529498"/>
                </a:cubicBezTo>
                <a:lnTo>
                  <a:pt x="0" y="60949"/>
                </a:lnTo>
                <a:cubicBezTo>
                  <a:pt x="0" y="26665"/>
                  <a:pt x="33014" y="0"/>
                  <a:pt x="73647" y="0"/>
                </a:cubicBezTo>
                <a:close/>
              </a:path>
            </a:pathLst>
          </a:custGeom>
          <a:gradFill>
            <a:gsLst>
              <a:gs pos="0">
                <a:srgbClr val="64CBFF">
                  <a:alpha val="34902"/>
                </a:srgbClr>
              </a:gs>
              <a:gs pos="100000">
                <a:srgbClr val="2F5897">
                  <a:alpha val="100000"/>
                </a:srgbClr>
              </a:gs>
            </a:gsLst>
            <a:lin ang="1200000" scaled="1"/>
          </a:gradFill>
          <a:ln/>
        </p:spPr>
      </p:sp>
      <p:pic>
        <p:nvPicPr>
          <p:cNvPr id="8" name="Image 1" descr="//img.tukuppt.com/aippt_tpl_uploads/25/07/01/686397e7ae4cf.png"/>
          <p:cNvPicPr>
            <a:picLocks noChangeAspect="1"/>
          </p:cNvPicPr>
          <p:nvPr/>
        </p:nvPicPr>
        <p:blipFill>
          <a:blip r:embed="rId4"/>
          <a:srcRect/>
          <a:stretch/>
        </p:blipFill>
        <p:spPr>
          <a:xfrm flipH="1">
            <a:off x="787710" y="346921"/>
            <a:ext cx="255659" cy="98905"/>
          </a:xfrm>
          <a:prstGeom prst="rect">
            <a:avLst/>
          </a:prstGeom>
        </p:spPr>
      </p:pic>
      <p:pic>
        <p:nvPicPr>
          <p:cNvPr id="9" name="Image 2" descr="//img.tukuppt.com/aippt_tpl_uploads/25/07/01/686397e7ae4cf.png"/>
          <p:cNvPicPr>
            <a:picLocks noChangeAspect="1"/>
          </p:cNvPicPr>
          <p:nvPr/>
        </p:nvPicPr>
        <p:blipFill>
          <a:blip r:embed="rId4"/>
          <a:srcRect/>
          <a:stretch/>
        </p:blipFill>
        <p:spPr>
          <a:xfrm flipH="1">
            <a:off x="787710" y="549201"/>
            <a:ext cx="255659" cy="98905"/>
          </a:xfrm>
          <a:prstGeom prst="rect">
            <a:avLst/>
          </a:prstGeom>
        </p:spPr>
      </p:pic>
      <p:pic>
        <p:nvPicPr>
          <p:cNvPr id="10" name="Image 3" descr="//img.tukuppt.com/aippt_tpl_uploads/25/07/01/686397e7b8f81.png"/>
          <p:cNvPicPr>
            <a:picLocks noChangeAspect="1"/>
          </p:cNvPicPr>
          <p:nvPr/>
        </p:nvPicPr>
        <p:blipFill>
          <a:blip r:embed="rId5"/>
          <a:srcRect/>
          <a:stretch/>
        </p:blipFill>
        <p:spPr>
          <a:xfrm>
            <a:off x="539206" y="312920"/>
            <a:ext cx="321318" cy="321734"/>
          </a:xfrm>
          <a:prstGeom prst="rect">
            <a:avLst/>
          </a:prstGeom>
        </p:spPr>
      </p:pic>
      <p:pic>
        <p:nvPicPr>
          <p:cNvPr id="11" name="Image 4" descr="//img.tukuppt.com/aippt_tpl_uploads/25/07/01/686397e7af1a3.png!/fwfh2/960x960"/>
          <p:cNvPicPr>
            <a:picLocks noChangeAspect="1"/>
          </p:cNvPicPr>
          <p:nvPr/>
        </p:nvPicPr>
        <p:blipFill>
          <a:blip r:embed="rId6"/>
          <a:srcRect l="36452" t="56544" b="34700"/>
          <a:stretch/>
        </p:blipFill>
        <p:spPr>
          <a:xfrm>
            <a:off x="-4836" y="-812736"/>
            <a:ext cx="9148837" cy="1019042"/>
          </a:xfrm>
          <a:prstGeom prst="rect">
            <a:avLst/>
          </a:prstGeom>
        </p:spPr>
      </p:pic>
      <p:pic>
        <p:nvPicPr>
          <p:cNvPr id="12" name="Image 5" descr="//img.tukuppt.com/aippt_tpl_uploads/25/07/01/686397e7af1a3.png!/fwfh2/960x960"/>
          <p:cNvPicPr>
            <a:picLocks noChangeAspect="1"/>
          </p:cNvPicPr>
          <p:nvPr/>
        </p:nvPicPr>
        <p:blipFill>
          <a:blip r:embed="rId6"/>
          <a:srcRect l="36452" t="56544" b="34700"/>
          <a:stretch/>
        </p:blipFill>
        <p:spPr>
          <a:xfrm>
            <a:off x="-61352" y="4937888"/>
            <a:ext cx="9313872" cy="1019042"/>
          </a:xfrm>
          <a:prstGeom prst="rect">
            <a:avLst/>
          </a:prstGeom>
        </p:spPr>
      </p:pic>
      <p:pic>
        <p:nvPicPr>
          <p:cNvPr id="14" name="Image 6"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966882" y="1628465"/>
            <a:ext cx="371802" cy="371802"/>
          </a:xfrm>
          <a:prstGeom prst="rect">
            <a:avLst/>
          </a:prstGeom>
        </p:spPr>
      </p:pic>
      <p:sp>
        <p:nvSpPr>
          <p:cNvPr id="15" name="Text 6"/>
          <p:cNvSpPr txBox="1"/>
          <p:nvPr/>
        </p:nvSpPr>
        <p:spPr>
          <a:xfrm>
            <a:off x="4445101" y="1628465"/>
            <a:ext cx="3658416" cy="409575"/>
          </a:xfrm>
          <a:prstGeom prst="rect">
            <a:avLst/>
          </a:prstGeom>
          <a:noFill/>
          <a:ln/>
        </p:spPr>
        <p:txBody>
          <a:bodyPr wrap="square" lIns="0" tIns="0" rIns="0" bIns="0" rtlCol="0" anchor="ctr">
            <a:spAutoFit/>
          </a:bodyPr>
          <a:lstStyle/>
          <a:p>
            <a:pPr marL="0" indent="0" algn="l">
              <a:buNone/>
            </a:pPr>
            <a:r>
              <a:rPr lang="zh-CN" altLang="en-US" sz="1350" dirty="0">
                <a:solidFill>
                  <a:srgbClr val="000000"/>
                </a:solidFill>
                <a:latin typeface="SourceHanSansSC-Regular"/>
                <a:ea typeface="SourceHanSansSC-Regular"/>
                <a:cs typeface="SourceHanSansSC-Regular"/>
              </a:rPr>
              <a:t>方案选择</a:t>
            </a:r>
            <a:endParaRPr lang="en-US" sz="1350" dirty="0"/>
          </a:p>
        </p:txBody>
      </p:sp>
      <p:sp>
        <p:nvSpPr>
          <p:cNvPr id="16" name="Text 7"/>
          <p:cNvSpPr txBox="1"/>
          <p:nvPr/>
        </p:nvSpPr>
        <p:spPr>
          <a:xfrm>
            <a:off x="4445101" y="2079345"/>
            <a:ext cx="3557947" cy="276999"/>
          </a:xfrm>
          <a:prstGeom prst="rect">
            <a:avLst/>
          </a:prstGeom>
          <a:noFill/>
          <a:ln/>
        </p:spPr>
        <p:txBody>
          <a:bodyPr wrap="square" lIns="0" tIns="0" rIns="0" bIns="0" rtlCol="0" anchor="t">
            <a:spAutoFit/>
          </a:bodyPr>
          <a:lstStyle/>
          <a:p>
            <a:pPr marL="0" indent="0" algn="l">
              <a:buNone/>
            </a:pPr>
            <a:r>
              <a:rPr lang="zh-CN" altLang="en-US" sz="900" dirty="0">
                <a:solidFill>
                  <a:srgbClr val="000000"/>
                </a:solidFill>
                <a:latin typeface="SourceHanSansSC-Regular"/>
                <a:ea typeface="SourceHanSansSC-Regular"/>
                <a:cs typeface="SourceHanSansSC-Regular"/>
              </a:rPr>
              <a:t>从财务角度来看，西娅乘坐火车拜访朋友更划算。但一些非财务因素，如在纽约用车的便利性、找停车位的麻烦等，可能会影响她的最终决定。</a:t>
            </a:r>
            <a:endParaRPr lang="en-US" sz="900" dirty="0"/>
          </a:p>
        </p:txBody>
      </p:sp>
      <p:sp>
        <p:nvSpPr>
          <p:cNvPr id="17" name="Shape 8"/>
          <p:cNvSpPr/>
          <p:nvPr/>
        </p:nvSpPr>
        <p:spPr>
          <a:xfrm>
            <a:off x="1264316" y="1585145"/>
            <a:ext cx="2078448" cy="1795621"/>
          </a:xfrm>
          <a:custGeom>
            <a:avLst/>
            <a:gdLst/>
            <a:ahLst/>
            <a:cxnLst/>
            <a:rect l="l" t="t" r="r" b="b"/>
            <a:pathLst>
              <a:path w="2078448" h="1795621">
                <a:moveTo>
                  <a:pt x="0" y="0"/>
                </a:moveTo>
                <a:lnTo>
                  <a:pt x="2078448" y="0"/>
                </a:lnTo>
                <a:lnTo>
                  <a:pt x="2078448" y="1795621"/>
                </a:lnTo>
                <a:lnTo>
                  <a:pt x="0" y="1795621"/>
                </a:lnTo>
                <a:close/>
              </a:path>
            </a:pathLst>
          </a:custGeom>
          <a:blipFill rotWithShape="0">
            <a:blip r:embed="rId9">
              <a:alphaModFix/>
            </a:blip>
            <a:stretch>
              <a:fillRect l="-22849" r="-22849"/>
            </a:stretch>
          </a:blipFill>
          <a:ln/>
        </p:spPr>
      </p:sp>
      <p:graphicFrame>
        <p:nvGraphicFramePr>
          <p:cNvPr id="19" name="表格 18">
            <a:extLst>
              <a:ext uri="{FF2B5EF4-FFF2-40B4-BE49-F238E27FC236}">
                <a16:creationId xmlns:a16="http://schemas.microsoft.com/office/drawing/2014/main" id="{D96187BD-CA48-47DE-A92B-53C9822974F3}"/>
              </a:ext>
            </a:extLst>
          </p:cNvPr>
          <p:cNvGraphicFramePr>
            <a:graphicFrameLocks noGrp="1"/>
          </p:cNvGraphicFramePr>
          <p:nvPr>
            <p:extLst>
              <p:ext uri="{D42A27DB-BD31-4B8C-83A1-F6EECF244321}">
                <p14:modId xmlns:p14="http://schemas.microsoft.com/office/powerpoint/2010/main" val="2142816237"/>
              </p:ext>
            </p:extLst>
          </p:nvPr>
        </p:nvGraphicFramePr>
        <p:xfrm>
          <a:off x="3966882" y="2483238"/>
          <a:ext cx="4353000" cy="1371600"/>
        </p:xfrm>
        <a:graphic>
          <a:graphicData uri="http://schemas.openxmlformats.org/drawingml/2006/table">
            <a:tbl>
              <a:tblPr>
                <a:tableStyleId>{284E427A-3D55-4303-BF80-6455036E1DE7}</a:tableStyleId>
              </a:tblPr>
              <a:tblGrid>
                <a:gridCol w="1210970">
                  <a:extLst>
                    <a:ext uri="{9D8B030D-6E8A-4147-A177-3AD203B41FA5}">
                      <a16:colId xmlns:a16="http://schemas.microsoft.com/office/drawing/2014/main" val="3063204659"/>
                    </a:ext>
                  </a:extLst>
                </a:gridCol>
                <a:gridCol w="841248">
                  <a:extLst>
                    <a:ext uri="{9D8B030D-6E8A-4147-A177-3AD203B41FA5}">
                      <a16:colId xmlns:a16="http://schemas.microsoft.com/office/drawing/2014/main" val="940502341"/>
                    </a:ext>
                  </a:extLst>
                </a:gridCol>
                <a:gridCol w="2300782">
                  <a:extLst>
                    <a:ext uri="{9D8B030D-6E8A-4147-A177-3AD203B41FA5}">
                      <a16:colId xmlns:a16="http://schemas.microsoft.com/office/drawing/2014/main" val="4098614838"/>
                    </a:ext>
                  </a:extLst>
                </a:gridCol>
              </a:tblGrid>
              <a:tr h="120000">
                <a:tc>
                  <a:txBody>
                    <a:bodyPr/>
                    <a:lstStyle/>
                    <a:p>
                      <a:r>
                        <a:rPr lang="zh-CN" altLang="en-US" sz="900" dirty="0"/>
                        <a:t>项目</a:t>
                      </a:r>
                    </a:p>
                  </a:txBody>
                  <a:tcPr anchor="ctr"/>
                </a:tc>
                <a:tc>
                  <a:txBody>
                    <a:bodyPr/>
                    <a:lstStyle/>
                    <a:p>
                      <a:r>
                        <a:rPr lang="zh-CN" altLang="en-US" sz="900"/>
                        <a:t>金额（美元）</a:t>
                      </a:r>
                    </a:p>
                  </a:txBody>
                  <a:tcPr anchor="ctr"/>
                </a:tc>
                <a:tc>
                  <a:txBody>
                    <a:bodyPr/>
                    <a:lstStyle/>
                    <a:p>
                      <a:r>
                        <a:rPr lang="zh-CN" altLang="en-US" sz="900"/>
                        <a:t>说明</a:t>
                      </a:r>
                    </a:p>
                  </a:txBody>
                  <a:tcPr anchor="ctr"/>
                </a:tc>
                <a:extLst>
                  <a:ext uri="{0D108BD9-81ED-4DB2-BD59-A6C34878D82A}">
                    <a16:rowId xmlns:a16="http://schemas.microsoft.com/office/drawing/2014/main" val="3474534909"/>
                  </a:ext>
                </a:extLst>
              </a:tr>
              <a:tr h="120000">
                <a:tc>
                  <a:txBody>
                    <a:bodyPr/>
                    <a:lstStyle/>
                    <a:p>
                      <a:r>
                        <a:rPr lang="zh-CN" altLang="en-US" sz="900"/>
                        <a:t>汽油费</a:t>
                      </a:r>
                    </a:p>
                  </a:txBody>
                  <a:tcPr anchor="ctr"/>
                </a:tc>
                <a:tc>
                  <a:txBody>
                    <a:bodyPr/>
                    <a:lstStyle/>
                    <a:p>
                      <a:r>
                        <a:rPr lang="en-US" altLang="zh-CN" sz="900"/>
                        <a:t>$23.00</a:t>
                      </a:r>
                    </a:p>
                  </a:txBody>
                  <a:tcPr anchor="ctr"/>
                </a:tc>
                <a:tc>
                  <a:txBody>
                    <a:bodyPr/>
                    <a:lstStyle/>
                    <a:p>
                      <a:r>
                        <a:rPr lang="zh-CN" altLang="en-US" sz="900"/>
                        <a:t>行驶</a:t>
                      </a:r>
                      <a:r>
                        <a:rPr lang="en-US" altLang="zh-CN" sz="900"/>
                        <a:t>460</a:t>
                      </a:r>
                      <a:r>
                        <a:rPr lang="zh-CN" altLang="en-US" sz="900"/>
                        <a:t>英里 </a:t>
                      </a:r>
                      <a:r>
                        <a:rPr lang="en-US" altLang="zh-CN" sz="900"/>
                        <a:t>× </a:t>
                      </a:r>
                      <a:r>
                        <a:rPr lang="zh-CN" altLang="en-US" sz="900"/>
                        <a:t>每英里</a:t>
                      </a:r>
                      <a:r>
                        <a:rPr lang="en-US" altLang="zh-CN" sz="900"/>
                        <a:t>$0.050</a:t>
                      </a:r>
                    </a:p>
                  </a:txBody>
                  <a:tcPr anchor="ctr"/>
                </a:tc>
                <a:extLst>
                  <a:ext uri="{0D108BD9-81ED-4DB2-BD59-A6C34878D82A}">
                    <a16:rowId xmlns:a16="http://schemas.microsoft.com/office/drawing/2014/main" val="1857128546"/>
                  </a:ext>
                </a:extLst>
              </a:tr>
              <a:tr h="120000">
                <a:tc>
                  <a:txBody>
                    <a:bodyPr/>
                    <a:lstStyle/>
                    <a:p>
                      <a:r>
                        <a:rPr lang="zh-CN" altLang="en-US" sz="900"/>
                        <a:t>维护费</a:t>
                      </a:r>
                    </a:p>
                  </a:txBody>
                  <a:tcPr anchor="ctr"/>
                </a:tc>
                <a:tc>
                  <a:txBody>
                    <a:bodyPr/>
                    <a:lstStyle/>
                    <a:p>
                      <a:r>
                        <a:rPr lang="en-US" altLang="zh-CN" sz="900"/>
                        <a:t>$29.90</a:t>
                      </a:r>
                    </a:p>
                  </a:txBody>
                  <a:tcPr anchor="ctr"/>
                </a:tc>
                <a:tc>
                  <a:txBody>
                    <a:bodyPr/>
                    <a:lstStyle/>
                    <a:p>
                      <a:r>
                        <a:rPr lang="zh-CN" altLang="en-US" sz="900"/>
                        <a:t>行驶</a:t>
                      </a:r>
                      <a:r>
                        <a:rPr lang="en-US" altLang="zh-CN" sz="900"/>
                        <a:t>460</a:t>
                      </a:r>
                      <a:r>
                        <a:rPr lang="zh-CN" altLang="en-US" sz="900"/>
                        <a:t>英里 </a:t>
                      </a:r>
                      <a:r>
                        <a:rPr lang="en-US" altLang="zh-CN" sz="900"/>
                        <a:t>× </a:t>
                      </a:r>
                      <a:r>
                        <a:rPr lang="zh-CN" altLang="en-US" sz="900"/>
                        <a:t>每英里</a:t>
                      </a:r>
                      <a:r>
                        <a:rPr lang="en-US" altLang="zh-CN" sz="900"/>
                        <a:t>$0.065</a:t>
                      </a:r>
                    </a:p>
                  </a:txBody>
                  <a:tcPr anchor="ctr"/>
                </a:tc>
                <a:extLst>
                  <a:ext uri="{0D108BD9-81ED-4DB2-BD59-A6C34878D82A}">
                    <a16:rowId xmlns:a16="http://schemas.microsoft.com/office/drawing/2014/main" val="4252287175"/>
                  </a:ext>
                </a:extLst>
              </a:tr>
              <a:tr h="120000">
                <a:tc>
                  <a:txBody>
                    <a:bodyPr/>
                    <a:lstStyle/>
                    <a:p>
                      <a:r>
                        <a:rPr lang="zh-CN" altLang="en-US" sz="900"/>
                        <a:t>车辆转售价值减少</a:t>
                      </a:r>
                    </a:p>
                  </a:txBody>
                  <a:tcPr anchor="ctr"/>
                </a:tc>
                <a:tc>
                  <a:txBody>
                    <a:bodyPr/>
                    <a:lstStyle/>
                    <a:p>
                      <a:r>
                        <a:rPr lang="en-US" altLang="zh-CN" sz="900"/>
                        <a:t>$11.96</a:t>
                      </a:r>
                    </a:p>
                  </a:txBody>
                  <a:tcPr anchor="ctr"/>
                </a:tc>
                <a:tc>
                  <a:txBody>
                    <a:bodyPr/>
                    <a:lstStyle/>
                    <a:p>
                      <a:r>
                        <a:rPr lang="zh-CN" altLang="en-US" sz="900"/>
                        <a:t>行驶</a:t>
                      </a:r>
                      <a:r>
                        <a:rPr lang="en-US" altLang="zh-CN" sz="900"/>
                        <a:t>460</a:t>
                      </a:r>
                      <a:r>
                        <a:rPr lang="zh-CN" altLang="en-US" sz="900"/>
                        <a:t>英里 </a:t>
                      </a:r>
                      <a:r>
                        <a:rPr lang="en-US" altLang="zh-CN" sz="900"/>
                        <a:t>× </a:t>
                      </a:r>
                      <a:r>
                        <a:rPr lang="zh-CN" altLang="en-US" sz="900"/>
                        <a:t>每英里</a:t>
                      </a:r>
                      <a:r>
                        <a:rPr lang="en-US" altLang="zh-CN" sz="900"/>
                        <a:t>$0.026</a:t>
                      </a:r>
                    </a:p>
                  </a:txBody>
                  <a:tcPr anchor="ctr"/>
                </a:tc>
                <a:extLst>
                  <a:ext uri="{0D108BD9-81ED-4DB2-BD59-A6C34878D82A}">
                    <a16:rowId xmlns:a16="http://schemas.microsoft.com/office/drawing/2014/main" val="2000093593"/>
                  </a:ext>
                </a:extLst>
              </a:tr>
              <a:tr h="120000">
                <a:tc>
                  <a:txBody>
                    <a:bodyPr/>
                    <a:lstStyle/>
                    <a:p>
                      <a:r>
                        <a:rPr lang="zh-CN" altLang="en-US" sz="900"/>
                        <a:t>纽约停车费</a:t>
                      </a:r>
                    </a:p>
                  </a:txBody>
                  <a:tcPr anchor="ctr"/>
                </a:tc>
                <a:tc>
                  <a:txBody>
                    <a:bodyPr/>
                    <a:lstStyle/>
                    <a:p>
                      <a:r>
                        <a:rPr lang="en-US" altLang="zh-CN" sz="900"/>
                        <a:t>$50.00</a:t>
                      </a:r>
                    </a:p>
                  </a:txBody>
                  <a:tcPr anchor="ctr"/>
                </a:tc>
                <a:tc>
                  <a:txBody>
                    <a:bodyPr/>
                    <a:lstStyle/>
                    <a:p>
                      <a:r>
                        <a:rPr lang="en-US" altLang="zh-CN" sz="900"/>
                        <a:t>2</a:t>
                      </a:r>
                      <a:r>
                        <a:rPr lang="zh-CN" altLang="en-US" sz="900"/>
                        <a:t>天 </a:t>
                      </a:r>
                      <a:r>
                        <a:rPr lang="en-US" altLang="zh-CN" sz="900"/>
                        <a:t>× </a:t>
                      </a:r>
                      <a:r>
                        <a:rPr lang="zh-CN" altLang="en-US" sz="900"/>
                        <a:t>每天</a:t>
                      </a:r>
                      <a:r>
                        <a:rPr lang="en-US" altLang="zh-CN" sz="900"/>
                        <a:t>$25</a:t>
                      </a:r>
                    </a:p>
                  </a:txBody>
                  <a:tcPr anchor="ctr"/>
                </a:tc>
                <a:extLst>
                  <a:ext uri="{0D108BD9-81ED-4DB2-BD59-A6C34878D82A}">
                    <a16:rowId xmlns:a16="http://schemas.microsoft.com/office/drawing/2014/main" val="334192695"/>
                  </a:ext>
                </a:extLst>
              </a:tr>
              <a:tr h="120000">
                <a:tc>
                  <a:txBody>
                    <a:bodyPr/>
                    <a:lstStyle/>
                    <a:p>
                      <a:r>
                        <a:rPr lang="zh-CN" altLang="en-US" sz="900" b="1"/>
                        <a:t>总计</a:t>
                      </a:r>
                      <a:endParaRPr lang="zh-CN" altLang="en-US" sz="900"/>
                    </a:p>
                  </a:txBody>
                  <a:tcPr anchor="ctr"/>
                </a:tc>
                <a:tc>
                  <a:txBody>
                    <a:bodyPr/>
                    <a:lstStyle/>
                    <a:p>
                      <a:r>
                        <a:rPr lang="en-US" altLang="zh-CN" sz="900" b="1"/>
                        <a:t>$114.86</a:t>
                      </a:r>
                      <a:endParaRPr lang="zh-CN" altLang="en-US" sz="900"/>
                    </a:p>
                  </a:txBody>
                  <a:tcPr anchor="ctr"/>
                </a:tc>
                <a:tc>
                  <a:txBody>
                    <a:bodyPr/>
                    <a:lstStyle/>
                    <a:p>
                      <a:r>
                        <a:rPr lang="zh-CN" altLang="en-US" sz="900" b="1" dirty="0"/>
                        <a:t>驾车相关财务成本合计</a:t>
                      </a:r>
                      <a:endParaRPr lang="zh-CN" altLang="en-US" sz="900" dirty="0"/>
                    </a:p>
                  </a:txBody>
                  <a:tcPr anchor="ctr"/>
                </a:tc>
                <a:extLst>
                  <a:ext uri="{0D108BD9-81ED-4DB2-BD59-A6C34878D82A}">
                    <a16:rowId xmlns:a16="http://schemas.microsoft.com/office/drawing/2014/main" val="918710278"/>
                  </a:ext>
                </a:extLst>
              </a:tr>
            </a:tbl>
          </a:graphicData>
        </a:graphic>
      </p:graphicFrame>
      <p:graphicFrame>
        <p:nvGraphicFramePr>
          <p:cNvPr id="20" name="表格 19">
            <a:extLst>
              <a:ext uri="{FF2B5EF4-FFF2-40B4-BE49-F238E27FC236}">
                <a16:creationId xmlns:a16="http://schemas.microsoft.com/office/drawing/2014/main" id="{53B888FE-28EF-49CA-B7DB-8243A6A24C63}"/>
              </a:ext>
            </a:extLst>
          </p:cNvPr>
          <p:cNvGraphicFramePr>
            <a:graphicFrameLocks noGrp="1"/>
          </p:cNvGraphicFramePr>
          <p:nvPr>
            <p:extLst>
              <p:ext uri="{D42A27DB-BD31-4B8C-83A1-F6EECF244321}">
                <p14:modId xmlns:p14="http://schemas.microsoft.com/office/powerpoint/2010/main" val="3665401061"/>
              </p:ext>
            </p:extLst>
          </p:nvPr>
        </p:nvGraphicFramePr>
        <p:xfrm>
          <a:off x="1488339" y="4073349"/>
          <a:ext cx="4591050" cy="685800"/>
        </p:xfrm>
        <a:graphic>
          <a:graphicData uri="http://schemas.openxmlformats.org/drawingml/2006/table">
            <a:tbl>
              <a:tblPr>
                <a:tableStyleId>{08FB837D-C827-4EFA-A057-4D05807E0F7C}</a:tableStyleId>
              </a:tblPr>
              <a:tblGrid>
                <a:gridCol w="1196339">
                  <a:extLst>
                    <a:ext uri="{9D8B030D-6E8A-4147-A177-3AD203B41FA5}">
                      <a16:colId xmlns:a16="http://schemas.microsoft.com/office/drawing/2014/main" val="252769322"/>
                    </a:ext>
                  </a:extLst>
                </a:gridCol>
                <a:gridCol w="1514247">
                  <a:extLst>
                    <a:ext uri="{9D8B030D-6E8A-4147-A177-3AD203B41FA5}">
                      <a16:colId xmlns:a16="http://schemas.microsoft.com/office/drawing/2014/main" val="617091544"/>
                    </a:ext>
                  </a:extLst>
                </a:gridCol>
                <a:gridCol w="1880464">
                  <a:extLst>
                    <a:ext uri="{9D8B030D-6E8A-4147-A177-3AD203B41FA5}">
                      <a16:colId xmlns:a16="http://schemas.microsoft.com/office/drawing/2014/main" val="3587875075"/>
                    </a:ext>
                  </a:extLst>
                </a:gridCol>
              </a:tblGrid>
              <a:tr h="0">
                <a:tc>
                  <a:txBody>
                    <a:bodyPr/>
                    <a:lstStyle/>
                    <a:p>
                      <a:r>
                        <a:rPr lang="zh-CN" altLang="en-US" sz="900" dirty="0"/>
                        <a:t>项目</a:t>
                      </a:r>
                    </a:p>
                  </a:txBody>
                  <a:tcPr anchor="ctr"/>
                </a:tc>
                <a:tc>
                  <a:txBody>
                    <a:bodyPr/>
                    <a:lstStyle/>
                    <a:p>
                      <a:r>
                        <a:rPr lang="zh-CN" altLang="en-US" sz="900"/>
                        <a:t>金额（美元）</a:t>
                      </a:r>
                    </a:p>
                  </a:txBody>
                  <a:tcPr anchor="ctr"/>
                </a:tc>
                <a:tc>
                  <a:txBody>
                    <a:bodyPr/>
                    <a:lstStyle/>
                    <a:p>
                      <a:r>
                        <a:rPr lang="zh-CN" altLang="en-US" sz="900"/>
                        <a:t>说明</a:t>
                      </a:r>
                    </a:p>
                  </a:txBody>
                  <a:tcPr anchor="ctr"/>
                </a:tc>
                <a:extLst>
                  <a:ext uri="{0D108BD9-81ED-4DB2-BD59-A6C34878D82A}">
                    <a16:rowId xmlns:a16="http://schemas.microsoft.com/office/drawing/2014/main" val="2020550764"/>
                  </a:ext>
                </a:extLst>
              </a:tr>
              <a:tr h="0">
                <a:tc>
                  <a:txBody>
                    <a:bodyPr/>
                    <a:lstStyle/>
                    <a:p>
                      <a:r>
                        <a:rPr lang="zh-CN" altLang="en-US" sz="900"/>
                        <a:t>往返火车票</a:t>
                      </a:r>
                    </a:p>
                  </a:txBody>
                  <a:tcPr anchor="ctr"/>
                </a:tc>
                <a:tc>
                  <a:txBody>
                    <a:bodyPr/>
                    <a:lstStyle/>
                    <a:p>
                      <a:r>
                        <a:rPr lang="en-US" altLang="zh-CN" sz="900"/>
                        <a:t>$104.00</a:t>
                      </a:r>
                    </a:p>
                  </a:txBody>
                  <a:tcPr anchor="ctr"/>
                </a:tc>
                <a:tc>
                  <a:txBody>
                    <a:bodyPr/>
                    <a:lstStyle/>
                    <a:p>
                      <a:r>
                        <a:rPr lang="zh-CN" altLang="en-US" sz="900"/>
                        <a:t>单次往返费用</a:t>
                      </a:r>
                    </a:p>
                  </a:txBody>
                  <a:tcPr anchor="ctr"/>
                </a:tc>
                <a:extLst>
                  <a:ext uri="{0D108BD9-81ED-4DB2-BD59-A6C34878D82A}">
                    <a16:rowId xmlns:a16="http://schemas.microsoft.com/office/drawing/2014/main" val="1547260782"/>
                  </a:ext>
                </a:extLst>
              </a:tr>
              <a:tr h="0">
                <a:tc>
                  <a:txBody>
                    <a:bodyPr/>
                    <a:lstStyle/>
                    <a:p>
                      <a:r>
                        <a:rPr lang="zh-CN" altLang="en-US" sz="900" b="1"/>
                        <a:t>总计</a:t>
                      </a:r>
                      <a:endParaRPr lang="zh-CN" altLang="en-US" sz="900"/>
                    </a:p>
                  </a:txBody>
                  <a:tcPr anchor="ctr"/>
                </a:tc>
                <a:tc>
                  <a:txBody>
                    <a:bodyPr/>
                    <a:lstStyle/>
                    <a:p>
                      <a:r>
                        <a:rPr lang="en-US" altLang="zh-CN" sz="900" b="1"/>
                        <a:t>$104.00</a:t>
                      </a:r>
                      <a:endParaRPr lang="zh-CN" altLang="en-US" sz="900"/>
                    </a:p>
                  </a:txBody>
                  <a:tcPr anchor="ctr"/>
                </a:tc>
                <a:tc>
                  <a:txBody>
                    <a:bodyPr/>
                    <a:lstStyle/>
                    <a:p>
                      <a:r>
                        <a:rPr lang="zh-CN" altLang="en-US" sz="900" b="1" dirty="0"/>
                        <a:t>乘坐火车的相关财务成本合计</a:t>
                      </a:r>
                      <a:endParaRPr lang="zh-CN" altLang="en-US" sz="900" dirty="0"/>
                    </a:p>
                  </a:txBody>
                  <a:tcPr anchor="ctr"/>
                </a:tc>
                <a:extLst>
                  <a:ext uri="{0D108BD9-81ED-4DB2-BD59-A6C34878D82A}">
                    <a16:rowId xmlns:a16="http://schemas.microsoft.com/office/drawing/2014/main" val="3273134521"/>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img.tukuppt.com/aippt_uploads/34576449/25/07/03/6866a18678cda.png!/fwfh2/960x960"/>
          <p:cNvPicPr>
            <a:picLocks noChangeAspect="1"/>
          </p:cNvPicPr>
          <p:nvPr/>
        </p:nvPicPr>
        <p:blipFill>
          <a:blip r:embed="rId3"/>
          <a:stretch>
            <a:fillRect/>
          </a:stretch>
        </p:blipFill>
        <p:spPr>
          <a:xfrm>
            <a:off x="0" y="0"/>
            <a:ext cx="9140180" cy="5131830"/>
          </a:xfrm>
          <a:prstGeom prst="rect">
            <a:avLst/>
          </a:prstGeom>
        </p:spPr>
      </p:pic>
      <p:sp>
        <p:nvSpPr>
          <p:cNvPr id="4" name="Shape 1"/>
          <p:cNvSpPr/>
          <p:nvPr/>
        </p:nvSpPr>
        <p:spPr>
          <a:xfrm>
            <a:off x="1188456" y="329442"/>
            <a:ext cx="2735844" cy="339064"/>
          </a:xfrm>
          <a:custGeom>
            <a:avLst/>
            <a:gdLst/>
            <a:ahLst/>
            <a:cxnLst/>
            <a:rect l="l" t="t" r="r" b="b"/>
            <a:pathLst>
              <a:path w="2735844" h="339064">
                <a:moveTo>
                  <a:pt x="0" y="0"/>
                </a:moveTo>
                <a:lnTo>
                  <a:pt x="2735844" y="0"/>
                </a:lnTo>
                <a:lnTo>
                  <a:pt x="2735844" y="339064"/>
                </a:lnTo>
                <a:lnTo>
                  <a:pt x="0" y="339064"/>
                </a:lnTo>
                <a:close/>
              </a:path>
            </a:pathLst>
          </a:custGeom>
          <a:noFill/>
          <a:ln/>
        </p:spPr>
      </p:sp>
      <p:sp>
        <p:nvSpPr>
          <p:cNvPr id="6" name="Shape 3"/>
          <p:cNvSpPr/>
          <p:nvPr/>
        </p:nvSpPr>
        <p:spPr>
          <a:xfrm>
            <a:off x="471488" y="198466"/>
            <a:ext cx="461756" cy="542999"/>
          </a:xfrm>
          <a:custGeom>
            <a:avLst/>
            <a:gdLst/>
            <a:ahLst/>
            <a:cxnLst/>
            <a:rect l="l" t="t" r="r" b="b"/>
            <a:pathLst>
              <a:path w="461756" h="542999">
                <a:moveTo>
                  <a:pt x="77457" y="0"/>
                </a:moveTo>
                <a:lnTo>
                  <a:pt x="384743" y="0"/>
                </a:lnTo>
                <a:cubicBezTo>
                  <a:pt x="427521" y="0"/>
                  <a:pt x="462200" y="34678"/>
                  <a:pt x="462200" y="77457"/>
                </a:cubicBezTo>
                <a:lnTo>
                  <a:pt x="462200" y="466009"/>
                </a:lnTo>
                <a:cubicBezTo>
                  <a:pt x="462200" y="508787"/>
                  <a:pt x="427521" y="543466"/>
                  <a:pt x="384743" y="543466"/>
                </a:cubicBezTo>
                <a:lnTo>
                  <a:pt x="77457" y="543466"/>
                </a:lnTo>
                <a:cubicBezTo>
                  <a:pt x="34678" y="543466"/>
                  <a:pt x="0" y="508787"/>
                  <a:pt x="0" y="466009"/>
                </a:cubicBezTo>
                <a:lnTo>
                  <a:pt x="0" y="77457"/>
                </a:lnTo>
                <a:cubicBezTo>
                  <a:pt x="0" y="34678"/>
                  <a:pt x="34678" y="0"/>
                  <a:pt x="77457" y="0"/>
                </a:cubicBezTo>
                <a:close/>
              </a:path>
            </a:pathLst>
          </a:custGeom>
          <a:solidFill>
            <a:srgbClr val="0067B4"/>
          </a:solidFill>
          <a:ln/>
          <a:effectLst>
            <a:outerShdw dist="38093" dir="2700000" algn="bl" rotWithShape="0">
              <a:srgbClr val="000000">
                <a:alpha val="38824"/>
              </a:srgbClr>
            </a:outerShdw>
          </a:effectLst>
        </p:spPr>
      </p:sp>
      <p:sp>
        <p:nvSpPr>
          <p:cNvPr id="7" name="Shape 4"/>
          <p:cNvSpPr/>
          <p:nvPr/>
        </p:nvSpPr>
        <p:spPr>
          <a:xfrm>
            <a:off x="482166" y="206110"/>
            <a:ext cx="433263" cy="535355"/>
          </a:xfrm>
          <a:custGeom>
            <a:avLst/>
            <a:gdLst/>
            <a:ahLst/>
            <a:cxnLst/>
            <a:rect l="l" t="t" r="r" b="b"/>
            <a:pathLst>
              <a:path w="433263" h="535355">
                <a:moveTo>
                  <a:pt x="73647" y="0"/>
                </a:moveTo>
                <a:lnTo>
                  <a:pt x="366966" y="0"/>
                </a:lnTo>
                <a:cubicBezTo>
                  <a:pt x="396171" y="0"/>
                  <a:pt x="421567" y="15237"/>
                  <a:pt x="432995" y="35554"/>
                </a:cubicBezTo>
                <a:cubicBezTo>
                  <a:pt x="186658" y="119359"/>
                  <a:pt x="11428" y="311096"/>
                  <a:pt x="1270" y="535847"/>
                </a:cubicBezTo>
                <a:cubicBezTo>
                  <a:pt x="0" y="533307"/>
                  <a:pt x="0" y="532038"/>
                  <a:pt x="0" y="529498"/>
                </a:cubicBezTo>
                <a:lnTo>
                  <a:pt x="0" y="60949"/>
                </a:lnTo>
                <a:cubicBezTo>
                  <a:pt x="0" y="26665"/>
                  <a:pt x="33014" y="0"/>
                  <a:pt x="73647" y="0"/>
                </a:cubicBezTo>
                <a:close/>
              </a:path>
            </a:pathLst>
          </a:custGeom>
          <a:gradFill>
            <a:gsLst>
              <a:gs pos="0">
                <a:srgbClr val="64CBFF">
                  <a:alpha val="34902"/>
                </a:srgbClr>
              </a:gs>
              <a:gs pos="100000">
                <a:srgbClr val="2F5897">
                  <a:alpha val="100000"/>
                </a:srgbClr>
              </a:gs>
            </a:gsLst>
            <a:lin ang="1200000" scaled="1"/>
          </a:gradFill>
          <a:ln/>
        </p:spPr>
      </p:sp>
      <p:pic>
        <p:nvPicPr>
          <p:cNvPr id="10" name="Image 3" descr="//img.tukuppt.com/aippt_tpl_uploads/25/07/01/686397e7b8f81.png"/>
          <p:cNvPicPr>
            <a:picLocks noChangeAspect="1"/>
          </p:cNvPicPr>
          <p:nvPr/>
        </p:nvPicPr>
        <p:blipFill>
          <a:blip r:embed="rId4"/>
          <a:srcRect/>
          <a:stretch/>
        </p:blipFill>
        <p:spPr>
          <a:xfrm>
            <a:off x="539206" y="312920"/>
            <a:ext cx="321318" cy="321734"/>
          </a:xfrm>
          <a:prstGeom prst="rect">
            <a:avLst/>
          </a:prstGeom>
        </p:spPr>
      </p:pic>
      <p:pic>
        <p:nvPicPr>
          <p:cNvPr id="11" name="Image 4" descr="//img.tukuppt.com/aippt_tpl_uploads/25/07/01/686397e7af1a3.png!/fwfh2/960x960"/>
          <p:cNvPicPr>
            <a:picLocks noChangeAspect="1"/>
          </p:cNvPicPr>
          <p:nvPr/>
        </p:nvPicPr>
        <p:blipFill>
          <a:blip r:embed="rId5"/>
          <a:srcRect l="36452" t="56544" b="34700"/>
          <a:stretch/>
        </p:blipFill>
        <p:spPr>
          <a:xfrm>
            <a:off x="-4836" y="-812736"/>
            <a:ext cx="9148837" cy="1019042"/>
          </a:xfrm>
          <a:prstGeom prst="rect">
            <a:avLst/>
          </a:prstGeom>
        </p:spPr>
      </p:pic>
      <p:pic>
        <p:nvPicPr>
          <p:cNvPr id="12" name="Image 5" descr="//img.tukuppt.com/aippt_tpl_uploads/25/07/01/686397e7af1a3.png!/fwfh2/960x960"/>
          <p:cNvPicPr>
            <a:picLocks noChangeAspect="1"/>
          </p:cNvPicPr>
          <p:nvPr/>
        </p:nvPicPr>
        <p:blipFill>
          <a:blip r:embed="rId5"/>
          <a:srcRect l="36452" t="56544" b="34700"/>
          <a:stretch/>
        </p:blipFill>
        <p:spPr>
          <a:xfrm>
            <a:off x="-61352" y="4937888"/>
            <a:ext cx="9313872" cy="1019042"/>
          </a:xfrm>
          <a:prstGeom prst="rect">
            <a:avLst/>
          </a:prstGeom>
        </p:spPr>
      </p:pic>
      <p:sp>
        <p:nvSpPr>
          <p:cNvPr id="13" name="Shape 5"/>
          <p:cNvSpPr/>
          <p:nvPr/>
        </p:nvSpPr>
        <p:spPr>
          <a:xfrm>
            <a:off x="786726" y="1439773"/>
            <a:ext cx="7570548" cy="2709875"/>
          </a:xfrm>
          <a:custGeom>
            <a:avLst/>
            <a:gdLst/>
            <a:ahLst/>
            <a:cxnLst/>
            <a:rect l="l" t="t" r="r" b="b"/>
            <a:pathLst>
              <a:path w="7570548" h="2709875">
                <a:moveTo>
                  <a:pt x="0" y="0"/>
                </a:moveTo>
                <a:lnTo>
                  <a:pt x="7570548" y="0"/>
                </a:lnTo>
                <a:lnTo>
                  <a:pt x="7570548" y="2709875"/>
                </a:lnTo>
                <a:lnTo>
                  <a:pt x="0" y="2709875"/>
                </a:lnTo>
                <a:close/>
              </a:path>
            </a:pathLst>
          </a:custGeom>
          <a:solidFill>
            <a:srgbClr val="0067B4">
              <a:alpha val="11000"/>
            </a:srgbClr>
          </a:solidFill>
          <a:ln/>
        </p:spPr>
      </p:sp>
      <p:pic>
        <p:nvPicPr>
          <p:cNvPr id="14" name="Image 6" descr="//static3.tukuppt.com/design/material/002/073/6688a97c762c0.png?x-bce-process=image/resize,m_mfit,w_960,h_960"/>
          <p:cNvPicPr>
            <a:picLocks noChangeAspect="1"/>
          </p:cNvPicPr>
          <p:nvPr/>
        </p:nvPicPr>
        <p:blipFill>
          <a:blip r:embed="rId6"/>
          <a:stretch>
            <a:fillRect/>
          </a:stretch>
        </p:blipFill>
        <p:spPr>
          <a:xfrm>
            <a:off x="786726" y="1081307"/>
            <a:ext cx="3295260" cy="3295260"/>
          </a:xfrm>
          <a:prstGeom prst="rect">
            <a:avLst/>
          </a:prstGeom>
        </p:spPr>
      </p:pic>
      <p:sp>
        <p:nvSpPr>
          <p:cNvPr id="16" name="Shape 7"/>
          <p:cNvSpPr/>
          <p:nvPr/>
        </p:nvSpPr>
        <p:spPr>
          <a:xfrm>
            <a:off x="3924300" y="1233373"/>
            <a:ext cx="387075" cy="0"/>
          </a:xfrm>
          <a:custGeom>
            <a:avLst/>
            <a:gdLst/>
            <a:ahLst/>
            <a:cxnLst/>
            <a:rect l="l" t="t" r="r" b="b"/>
            <a:pathLst>
              <a:path w="387075">
                <a:moveTo>
                  <a:pt x="0" y="0"/>
                </a:moveTo>
                <a:lnTo>
                  <a:pt x="387075" y="0"/>
                </a:lnTo>
              </a:path>
            </a:pathLst>
          </a:custGeom>
          <a:noFill/>
          <a:ln w="14288">
            <a:solidFill>
              <a:srgbClr val="FFFFFF"/>
            </a:solidFill>
            <a:prstDash val="solid"/>
            <a:headEnd type="none"/>
            <a:tailEnd type="none"/>
          </a:ln>
        </p:spPr>
      </p:sp>
      <p:sp>
        <p:nvSpPr>
          <p:cNvPr id="23" name="文本框 22">
            <a:extLst>
              <a:ext uri="{FF2B5EF4-FFF2-40B4-BE49-F238E27FC236}">
                <a16:creationId xmlns:a16="http://schemas.microsoft.com/office/drawing/2014/main" id="{2B93A25F-3A2C-4B52-9BE2-804A4043A000}"/>
              </a:ext>
            </a:extLst>
          </p:cNvPr>
          <p:cNvSpPr txBox="1"/>
          <p:nvPr/>
        </p:nvSpPr>
        <p:spPr>
          <a:xfrm>
            <a:off x="1404732" y="412745"/>
            <a:ext cx="7153368" cy="600164"/>
          </a:xfrm>
          <a:prstGeom prst="rect">
            <a:avLst/>
          </a:prstGeom>
          <a:noFill/>
        </p:spPr>
        <p:txBody>
          <a:bodyPr wrap="square">
            <a:spAutoFit/>
          </a:bodyPr>
          <a:lstStyle/>
          <a:p>
            <a:r>
              <a:rPr lang="zh-CN" altLang="en-US" sz="1100" b="1" dirty="0"/>
              <a:t>总成本法与差量成本法</a:t>
            </a:r>
            <a:endParaRPr lang="zh-CN" altLang="en-US" sz="1100" dirty="0"/>
          </a:p>
          <a:p>
            <a:r>
              <a:rPr lang="zh-CN" altLang="en-US" sz="1100" dirty="0"/>
              <a:t>公司管理层正在考虑租用一台新设备，该设备每年租金为</a:t>
            </a:r>
            <a:r>
              <a:rPr lang="en-US" altLang="zh-CN" sz="1100" dirty="0"/>
              <a:t>3,000</a:t>
            </a:r>
            <a:r>
              <a:rPr lang="zh-CN" altLang="en-US" sz="1100" dirty="0"/>
              <a:t>美元，可节省劳动力。以下是公司在使用新设备和不使用新设备两种情况下的年度销售与成本数据：</a:t>
            </a:r>
          </a:p>
        </p:txBody>
      </p:sp>
      <p:graphicFrame>
        <p:nvGraphicFramePr>
          <p:cNvPr id="24" name="表格 23">
            <a:extLst>
              <a:ext uri="{FF2B5EF4-FFF2-40B4-BE49-F238E27FC236}">
                <a16:creationId xmlns:a16="http://schemas.microsoft.com/office/drawing/2014/main" id="{7DF7A019-8B3D-4FF7-9A1A-4683AC2364A3}"/>
              </a:ext>
            </a:extLst>
          </p:cNvPr>
          <p:cNvGraphicFramePr>
            <a:graphicFrameLocks noGrp="1"/>
          </p:cNvGraphicFramePr>
          <p:nvPr>
            <p:extLst>
              <p:ext uri="{D42A27DB-BD31-4B8C-83A1-F6EECF244321}">
                <p14:modId xmlns:p14="http://schemas.microsoft.com/office/powerpoint/2010/main" val="1942164833"/>
              </p:ext>
            </p:extLst>
          </p:nvPr>
        </p:nvGraphicFramePr>
        <p:xfrm>
          <a:off x="3942639" y="1352751"/>
          <a:ext cx="4806088" cy="2699520"/>
        </p:xfrm>
        <a:graphic>
          <a:graphicData uri="http://schemas.openxmlformats.org/drawingml/2006/table">
            <a:tbl>
              <a:tblPr>
                <a:tableStyleId>{35758FB7-9AC5-4552-8A53-C91805E547FA}</a:tableStyleId>
              </a:tblPr>
              <a:tblGrid>
                <a:gridCol w="2161988">
                  <a:extLst>
                    <a:ext uri="{9D8B030D-6E8A-4147-A177-3AD203B41FA5}">
                      <a16:colId xmlns:a16="http://schemas.microsoft.com/office/drawing/2014/main" val="17143179"/>
                    </a:ext>
                  </a:extLst>
                </a:gridCol>
                <a:gridCol w="877567">
                  <a:extLst>
                    <a:ext uri="{9D8B030D-6E8A-4147-A177-3AD203B41FA5}">
                      <a16:colId xmlns:a16="http://schemas.microsoft.com/office/drawing/2014/main" val="1928095671"/>
                    </a:ext>
                  </a:extLst>
                </a:gridCol>
                <a:gridCol w="945950">
                  <a:extLst>
                    <a:ext uri="{9D8B030D-6E8A-4147-A177-3AD203B41FA5}">
                      <a16:colId xmlns:a16="http://schemas.microsoft.com/office/drawing/2014/main" val="3517625784"/>
                    </a:ext>
                  </a:extLst>
                </a:gridCol>
                <a:gridCol w="820583">
                  <a:extLst>
                    <a:ext uri="{9D8B030D-6E8A-4147-A177-3AD203B41FA5}">
                      <a16:colId xmlns:a16="http://schemas.microsoft.com/office/drawing/2014/main" val="3681241808"/>
                    </a:ext>
                  </a:extLst>
                </a:gridCol>
              </a:tblGrid>
              <a:tr h="197716">
                <a:tc>
                  <a:txBody>
                    <a:bodyPr/>
                    <a:lstStyle/>
                    <a:p>
                      <a:r>
                        <a:rPr lang="zh-CN" altLang="en-US" sz="900" dirty="0"/>
                        <a:t>项目</a:t>
                      </a:r>
                    </a:p>
                  </a:txBody>
                  <a:tcPr marL="49429" marR="49429" marT="24714" marB="24714" anchor="ctr"/>
                </a:tc>
                <a:tc>
                  <a:txBody>
                    <a:bodyPr/>
                    <a:lstStyle/>
                    <a:p>
                      <a:r>
                        <a:rPr lang="zh-CN" altLang="en-US" sz="900"/>
                        <a:t>当前情况</a:t>
                      </a:r>
                    </a:p>
                  </a:txBody>
                  <a:tcPr marL="49429" marR="49429" marT="24714" marB="24714" anchor="ctr"/>
                </a:tc>
                <a:tc>
                  <a:txBody>
                    <a:bodyPr/>
                    <a:lstStyle/>
                    <a:p>
                      <a:r>
                        <a:rPr lang="zh-CN" altLang="en-US" sz="900"/>
                        <a:t>使用新设备情况</a:t>
                      </a:r>
                    </a:p>
                  </a:txBody>
                  <a:tcPr marL="49429" marR="49429" marT="24714" marB="24714" anchor="ctr"/>
                </a:tc>
                <a:tc>
                  <a:txBody>
                    <a:bodyPr/>
                    <a:lstStyle/>
                    <a:p>
                      <a:r>
                        <a:rPr lang="zh-CN" altLang="en-US" sz="900"/>
                        <a:t>差量成本与收益</a:t>
                      </a:r>
                    </a:p>
                  </a:txBody>
                  <a:tcPr marL="49429" marR="49429" marT="24714" marB="24714" anchor="ctr"/>
                </a:tc>
                <a:extLst>
                  <a:ext uri="{0D108BD9-81ED-4DB2-BD59-A6C34878D82A}">
                    <a16:rowId xmlns:a16="http://schemas.microsoft.com/office/drawing/2014/main" val="3308496636"/>
                  </a:ext>
                </a:extLst>
              </a:tr>
              <a:tr h="218077">
                <a:tc>
                  <a:txBody>
                    <a:bodyPr/>
                    <a:lstStyle/>
                    <a:p>
                      <a:r>
                        <a:rPr lang="zh-CN" altLang="en-US" sz="900" b="1"/>
                        <a:t>销售收入</a:t>
                      </a:r>
                      <a:r>
                        <a:rPr lang="zh-CN" altLang="en-US" sz="900"/>
                        <a:t> </a:t>
                      </a:r>
                      <a:r>
                        <a:rPr lang="en-US" altLang="zh-CN" sz="900"/>
                        <a:t>(5,000</a:t>
                      </a:r>
                      <a:r>
                        <a:rPr lang="zh-CN" altLang="en-US" sz="900"/>
                        <a:t>单位 </a:t>
                      </a:r>
                      <a:r>
                        <a:rPr lang="en-US" altLang="zh-CN" sz="900"/>
                        <a:t>× 40</a:t>
                      </a:r>
                      <a:r>
                        <a:rPr lang="zh-CN" altLang="en-US" sz="900"/>
                        <a:t>美元</a:t>
                      </a:r>
                      <a:r>
                        <a:rPr lang="en-US" altLang="zh-CN" sz="900"/>
                        <a:t>/</a:t>
                      </a:r>
                      <a:r>
                        <a:rPr lang="zh-CN" altLang="en-US" sz="900"/>
                        <a:t>单位</a:t>
                      </a:r>
                      <a:r>
                        <a:rPr lang="en-US" altLang="zh-CN" sz="900"/>
                        <a:t>)</a:t>
                      </a:r>
                    </a:p>
                  </a:txBody>
                  <a:tcPr marL="49429" marR="49429" marT="24714" marB="24714" anchor="ctr"/>
                </a:tc>
                <a:tc>
                  <a:txBody>
                    <a:bodyPr/>
                    <a:lstStyle/>
                    <a:p>
                      <a:r>
                        <a:rPr lang="en-US" altLang="zh-CN" sz="900"/>
                        <a:t>$200,000</a:t>
                      </a:r>
                    </a:p>
                  </a:txBody>
                  <a:tcPr marL="49429" marR="49429" marT="24714" marB="24714" anchor="ctr"/>
                </a:tc>
                <a:tc>
                  <a:txBody>
                    <a:bodyPr/>
                    <a:lstStyle/>
                    <a:p>
                      <a:r>
                        <a:rPr lang="en-US" altLang="zh-CN" sz="900"/>
                        <a:t>$200,000</a:t>
                      </a:r>
                    </a:p>
                  </a:txBody>
                  <a:tcPr marL="49429" marR="49429" marT="24714" marB="24714" anchor="ctr"/>
                </a:tc>
                <a:tc>
                  <a:txBody>
                    <a:bodyPr/>
                    <a:lstStyle/>
                    <a:p>
                      <a:r>
                        <a:rPr lang="en-US" altLang="zh-CN" sz="900"/>
                        <a:t>-</a:t>
                      </a:r>
                    </a:p>
                  </a:txBody>
                  <a:tcPr marL="49429" marR="49429" marT="24714" marB="24714" anchor="ctr"/>
                </a:tc>
                <a:extLst>
                  <a:ext uri="{0D108BD9-81ED-4DB2-BD59-A6C34878D82A}">
                    <a16:rowId xmlns:a16="http://schemas.microsoft.com/office/drawing/2014/main" val="1220185842"/>
                  </a:ext>
                </a:extLst>
              </a:tr>
              <a:tr h="263347">
                <a:tc>
                  <a:txBody>
                    <a:bodyPr/>
                    <a:lstStyle/>
                    <a:p>
                      <a:r>
                        <a:rPr lang="zh-CN" altLang="en-US" sz="900" b="1"/>
                        <a:t>直接材料</a:t>
                      </a:r>
                      <a:r>
                        <a:rPr lang="zh-CN" altLang="en-US" sz="900"/>
                        <a:t> </a:t>
                      </a:r>
                      <a:r>
                        <a:rPr lang="en-US" altLang="zh-CN" sz="900"/>
                        <a:t>(5,000</a:t>
                      </a:r>
                      <a:r>
                        <a:rPr lang="zh-CN" altLang="en-US" sz="900"/>
                        <a:t>单位 </a:t>
                      </a:r>
                      <a:r>
                        <a:rPr lang="en-US" altLang="zh-CN" sz="900"/>
                        <a:t>× 14</a:t>
                      </a:r>
                      <a:r>
                        <a:rPr lang="zh-CN" altLang="en-US" sz="900"/>
                        <a:t>美元</a:t>
                      </a:r>
                      <a:r>
                        <a:rPr lang="en-US" altLang="zh-CN" sz="900"/>
                        <a:t>/</a:t>
                      </a:r>
                      <a:r>
                        <a:rPr lang="zh-CN" altLang="en-US" sz="900"/>
                        <a:t>单位</a:t>
                      </a:r>
                      <a:r>
                        <a:rPr lang="en-US" altLang="zh-CN" sz="900"/>
                        <a:t>)</a:t>
                      </a:r>
                    </a:p>
                  </a:txBody>
                  <a:tcPr marL="49429" marR="49429" marT="24714" marB="24714" anchor="ctr"/>
                </a:tc>
                <a:tc>
                  <a:txBody>
                    <a:bodyPr/>
                    <a:lstStyle/>
                    <a:p>
                      <a:r>
                        <a:rPr lang="en-US" altLang="zh-CN" sz="900"/>
                        <a:t>70,000</a:t>
                      </a:r>
                    </a:p>
                  </a:txBody>
                  <a:tcPr marL="49429" marR="49429" marT="24714" marB="24714" anchor="ctr"/>
                </a:tc>
                <a:tc>
                  <a:txBody>
                    <a:bodyPr/>
                    <a:lstStyle/>
                    <a:p>
                      <a:r>
                        <a:rPr lang="en-US" altLang="zh-CN" sz="900"/>
                        <a:t>70,000</a:t>
                      </a:r>
                    </a:p>
                  </a:txBody>
                  <a:tcPr marL="49429" marR="49429" marT="24714" marB="24714" anchor="ctr"/>
                </a:tc>
                <a:tc>
                  <a:txBody>
                    <a:bodyPr/>
                    <a:lstStyle/>
                    <a:p>
                      <a:r>
                        <a:rPr lang="en-US" altLang="zh-CN" sz="900"/>
                        <a:t>-</a:t>
                      </a:r>
                    </a:p>
                  </a:txBody>
                  <a:tcPr marL="49429" marR="49429" marT="24714" marB="24714" anchor="ctr"/>
                </a:tc>
                <a:extLst>
                  <a:ext uri="{0D108BD9-81ED-4DB2-BD59-A6C34878D82A}">
                    <a16:rowId xmlns:a16="http://schemas.microsoft.com/office/drawing/2014/main" val="4272752621"/>
                  </a:ext>
                </a:extLst>
              </a:tr>
              <a:tr h="307239">
                <a:tc>
                  <a:txBody>
                    <a:bodyPr/>
                    <a:lstStyle/>
                    <a:p>
                      <a:r>
                        <a:rPr lang="zh-CN" altLang="en-US" sz="900" b="1"/>
                        <a:t>直接人工</a:t>
                      </a:r>
                      <a:r>
                        <a:rPr lang="zh-CN" altLang="en-US" sz="900"/>
                        <a:t> </a:t>
                      </a:r>
                      <a:r>
                        <a:rPr lang="en-US" altLang="zh-CN" sz="900"/>
                        <a:t>(5,000</a:t>
                      </a:r>
                      <a:r>
                        <a:rPr lang="zh-CN" altLang="en-US" sz="900"/>
                        <a:t>单位 </a:t>
                      </a:r>
                      <a:r>
                        <a:rPr lang="en-US" altLang="zh-CN" sz="900"/>
                        <a:t>× 8</a:t>
                      </a:r>
                      <a:r>
                        <a:rPr lang="zh-CN" altLang="en-US" sz="900"/>
                        <a:t>美元</a:t>
                      </a:r>
                      <a:r>
                        <a:rPr lang="en-US" altLang="zh-CN" sz="900"/>
                        <a:t>/</a:t>
                      </a:r>
                      <a:r>
                        <a:rPr lang="zh-CN" altLang="en-US" sz="900"/>
                        <a:t>单位 </a:t>
                      </a:r>
                      <a:r>
                        <a:rPr lang="en-US" altLang="zh-CN" sz="900"/>
                        <a:t>&amp; 5</a:t>
                      </a:r>
                      <a:r>
                        <a:rPr lang="zh-CN" altLang="en-US" sz="900"/>
                        <a:t>美元</a:t>
                      </a:r>
                      <a:r>
                        <a:rPr lang="en-US" altLang="zh-CN" sz="900"/>
                        <a:t>/</a:t>
                      </a:r>
                      <a:r>
                        <a:rPr lang="zh-CN" altLang="en-US" sz="900"/>
                        <a:t>单位</a:t>
                      </a:r>
                      <a:r>
                        <a:rPr lang="en-US" altLang="zh-CN" sz="900"/>
                        <a:t>)</a:t>
                      </a:r>
                    </a:p>
                  </a:txBody>
                  <a:tcPr marL="49429" marR="49429" marT="24714" marB="24714" anchor="ctr"/>
                </a:tc>
                <a:tc>
                  <a:txBody>
                    <a:bodyPr/>
                    <a:lstStyle/>
                    <a:p>
                      <a:r>
                        <a:rPr lang="en-US" altLang="zh-CN" sz="900"/>
                        <a:t>40,000</a:t>
                      </a:r>
                    </a:p>
                  </a:txBody>
                  <a:tcPr marL="49429" marR="49429" marT="24714" marB="24714" anchor="ctr"/>
                </a:tc>
                <a:tc>
                  <a:txBody>
                    <a:bodyPr/>
                    <a:lstStyle/>
                    <a:p>
                      <a:r>
                        <a:rPr lang="en-US" altLang="zh-CN" sz="900"/>
                        <a:t>25,000</a:t>
                      </a:r>
                    </a:p>
                  </a:txBody>
                  <a:tcPr marL="49429" marR="49429" marT="24714" marB="24714" anchor="ctr"/>
                </a:tc>
                <a:tc>
                  <a:txBody>
                    <a:bodyPr/>
                    <a:lstStyle/>
                    <a:p>
                      <a:r>
                        <a:rPr lang="en-US" altLang="zh-CN" sz="900"/>
                        <a:t>15,000</a:t>
                      </a:r>
                    </a:p>
                  </a:txBody>
                  <a:tcPr marL="49429" marR="49429" marT="24714" marB="24714" anchor="ctr"/>
                </a:tc>
                <a:extLst>
                  <a:ext uri="{0D108BD9-81ED-4DB2-BD59-A6C34878D82A}">
                    <a16:rowId xmlns:a16="http://schemas.microsoft.com/office/drawing/2014/main" val="1369039017"/>
                  </a:ext>
                </a:extLst>
              </a:tr>
              <a:tr h="159055">
                <a:tc>
                  <a:txBody>
                    <a:bodyPr/>
                    <a:lstStyle/>
                    <a:p>
                      <a:r>
                        <a:rPr lang="zh-CN" altLang="en-US" sz="900" b="1"/>
                        <a:t>变动制造费用</a:t>
                      </a:r>
                      <a:r>
                        <a:rPr lang="zh-CN" altLang="en-US" sz="900"/>
                        <a:t> </a:t>
                      </a:r>
                      <a:r>
                        <a:rPr lang="en-US" altLang="zh-CN" sz="900"/>
                        <a:t>(5,000</a:t>
                      </a:r>
                      <a:r>
                        <a:rPr lang="zh-CN" altLang="en-US" sz="900"/>
                        <a:t>单位 </a:t>
                      </a:r>
                      <a:r>
                        <a:rPr lang="en-US" altLang="zh-CN" sz="900"/>
                        <a:t>× 2</a:t>
                      </a:r>
                      <a:r>
                        <a:rPr lang="zh-CN" altLang="en-US" sz="900"/>
                        <a:t>美元</a:t>
                      </a:r>
                      <a:r>
                        <a:rPr lang="en-US" altLang="zh-CN" sz="900"/>
                        <a:t>/</a:t>
                      </a:r>
                      <a:r>
                        <a:rPr lang="zh-CN" altLang="en-US" sz="900"/>
                        <a:t>单位</a:t>
                      </a:r>
                      <a:r>
                        <a:rPr lang="en-US" altLang="zh-CN" sz="900"/>
                        <a:t>)</a:t>
                      </a:r>
                    </a:p>
                  </a:txBody>
                  <a:tcPr marL="49429" marR="49429" marT="24714" marB="24714" anchor="ctr"/>
                </a:tc>
                <a:tc>
                  <a:txBody>
                    <a:bodyPr/>
                    <a:lstStyle/>
                    <a:p>
                      <a:r>
                        <a:rPr lang="en-US" altLang="zh-CN" sz="900"/>
                        <a:t>10,000</a:t>
                      </a:r>
                    </a:p>
                  </a:txBody>
                  <a:tcPr marL="49429" marR="49429" marT="24714" marB="24714" anchor="ctr"/>
                </a:tc>
                <a:tc>
                  <a:txBody>
                    <a:bodyPr/>
                    <a:lstStyle/>
                    <a:p>
                      <a:r>
                        <a:rPr lang="en-US" altLang="zh-CN" sz="900"/>
                        <a:t>10,000</a:t>
                      </a:r>
                    </a:p>
                  </a:txBody>
                  <a:tcPr marL="49429" marR="49429" marT="24714" marB="24714" anchor="ctr"/>
                </a:tc>
                <a:tc>
                  <a:txBody>
                    <a:bodyPr/>
                    <a:lstStyle/>
                    <a:p>
                      <a:r>
                        <a:rPr lang="en-US" altLang="zh-CN" sz="900"/>
                        <a:t>-</a:t>
                      </a:r>
                    </a:p>
                  </a:txBody>
                  <a:tcPr marL="49429" marR="49429" marT="24714" marB="24714" anchor="ctr"/>
                </a:tc>
                <a:extLst>
                  <a:ext uri="{0D108BD9-81ED-4DB2-BD59-A6C34878D82A}">
                    <a16:rowId xmlns:a16="http://schemas.microsoft.com/office/drawing/2014/main" val="3652968121"/>
                  </a:ext>
                </a:extLst>
              </a:tr>
              <a:tr h="197716">
                <a:tc>
                  <a:txBody>
                    <a:bodyPr/>
                    <a:lstStyle/>
                    <a:p>
                      <a:r>
                        <a:rPr lang="zh-CN" altLang="en-US" sz="900" b="1"/>
                        <a:t>变动费用合计</a:t>
                      </a:r>
                      <a:endParaRPr lang="zh-CN" altLang="en-US" sz="900"/>
                    </a:p>
                  </a:txBody>
                  <a:tcPr marL="49429" marR="49429" marT="24714" marB="24714" anchor="ctr"/>
                </a:tc>
                <a:tc>
                  <a:txBody>
                    <a:bodyPr/>
                    <a:lstStyle/>
                    <a:p>
                      <a:r>
                        <a:rPr lang="en-US" altLang="zh-CN" sz="900"/>
                        <a:t>120,000</a:t>
                      </a:r>
                    </a:p>
                  </a:txBody>
                  <a:tcPr marL="49429" marR="49429" marT="24714" marB="24714" anchor="ctr"/>
                </a:tc>
                <a:tc>
                  <a:txBody>
                    <a:bodyPr/>
                    <a:lstStyle/>
                    <a:p>
                      <a:r>
                        <a:rPr lang="en-US" altLang="zh-CN" sz="900"/>
                        <a:t>105,000</a:t>
                      </a:r>
                    </a:p>
                  </a:txBody>
                  <a:tcPr marL="49429" marR="49429" marT="24714" marB="24714" anchor="ctr"/>
                </a:tc>
                <a:tc>
                  <a:txBody>
                    <a:bodyPr/>
                    <a:lstStyle/>
                    <a:p>
                      <a:r>
                        <a:rPr lang="en-US" altLang="zh-CN" sz="900"/>
                        <a:t>-</a:t>
                      </a:r>
                    </a:p>
                  </a:txBody>
                  <a:tcPr marL="49429" marR="49429" marT="24714" marB="24714" anchor="ctr"/>
                </a:tc>
                <a:extLst>
                  <a:ext uri="{0D108BD9-81ED-4DB2-BD59-A6C34878D82A}">
                    <a16:rowId xmlns:a16="http://schemas.microsoft.com/office/drawing/2014/main" val="2441148919"/>
                  </a:ext>
                </a:extLst>
              </a:tr>
              <a:tr h="197716">
                <a:tc>
                  <a:txBody>
                    <a:bodyPr/>
                    <a:lstStyle/>
                    <a:p>
                      <a:r>
                        <a:rPr lang="zh-CN" altLang="en-US" sz="900" b="1"/>
                        <a:t>贡献毛益</a:t>
                      </a:r>
                      <a:endParaRPr lang="zh-CN" altLang="en-US" sz="900"/>
                    </a:p>
                  </a:txBody>
                  <a:tcPr marL="49429" marR="49429" marT="24714" marB="24714" anchor="ctr"/>
                </a:tc>
                <a:tc>
                  <a:txBody>
                    <a:bodyPr/>
                    <a:lstStyle/>
                    <a:p>
                      <a:r>
                        <a:rPr lang="en-US" altLang="zh-CN" sz="900"/>
                        <a:t>80,000</a:t>
                      </a:r>
                    </a:p>
                  </a:txBody>
                  <a:tcPr marL="49429" marR="49429" marT="24714" marB="24714" anchor="ctr"/>
                </a:tc>
                <a:tc>
                  <a:txBody>
                    <a:bodyPr/>
                    <a:lstStyle/>
                    <a:p>
                      <a:r>
                        <a:rPr lang="en-US" altLang="zh-CN" sz="900"/>
                        <a:t>95,000</a:t>
                      </a:r>
                    </a:p>
                  </a:txBody>
                  <a:tcPr marL="49429" marR="49429" marT="24714" marB="24714" anchor="ctr"/>
                </a:tc>
                <a:tc>
                  <a:txBody>
                    <a:bodyPr/>
                    <a:lstStyle/>
                    <a:p>
                      <a:r>
                        <a:rPr lang="en-US" altLang="zh-CN" sz="900"/>
                        <a:t>15,000</a:t>
                      </a:r>
                    </a:p>
                  </a:txBody>
                  <a:tcPr marL="49429" marR="49429" marT="24714" marB="24714" anchor="ctr"/>
                </a:tc>
                <a:extLst>
                  <a:ext uri="{0D108BD9-81ED-4DB2-BD59-A6C34878D82A}">
                    <a16:rowId xmlns:a16="http://schemas.microsoft.com/office/drawing/2014/main" val="3589118974"/>
                  </a:ext>
                </a:extLst>
              </a:tr>
              <a:tr h="197716">
                <a:tc>
                  <a:txBody>
                    <a:bodyPr/>
                    <a:lstStyle/>
                    <a:p>
                      <a:r>
                        <a:rPr lang="zh-CN" altLang="en-US" sz="900" b="1"/>
                        <a:t>减固定费用：</a:t>
                      </a:r>
                      <a:endParaRPr lang="zh-CN" altLang="en-US" sz="900"/>
                    </a:p>
                  </a:txBody>
                  <a:tcPr marL="49429" marR="49429" marT="24714" marB="24714" anchor="ctr"/>
                </a:tc>
                <a:tc>
                  <a:txBody>
                    <a:bodyPr/>
                    <a:lstStyle/>
                    <a:p>
                      <a:endParaRPr lang="zh-CN" altLang="en-US" sz="900"/>
                    </a:p>
                  </a:txBody>
                  <a:tcPr marL="49429" marR="49429" marT="24714" marB="24714" anchor="ctr"/>
                </a:tc>
                <a:tc>
                  <a:txBody>
                    <a:bodyPr/>
                    <a:lstStyle/>
                    <a:p>
                      <a:endParaRPr lang="zh-CN" altLang="en-US" sz="900"/>
                    </a:p>
                  </a:txBody>
                  <a:tcPr marL="49429" marR="49429" marT="24714" marB="24714" anchor="ctr"/>
                </a:tc>
                <a:tc>
                  <a:txBody>
                    <a:bodyPr/>
                    <a:lstStyle/>
                    <a:p>
                      <a:endParaRPr lang="zh-CN" altLang="en-US" sz="900"/>
                    </a:p>
                  </a:txBody>
                  <a:tcPr marL="49429" marR="49429" marT="24714" marB="24714" anchor="ctr"/>
                </a:tc>
                <a:extLst>
                  <a:ext uri="{0D108BD9-81ED-4DB2-BD59-A6C34878D82A}">
                    <a16:rowId xmlns:a16="http://schemas.microsoft.com/office/drawing/2014/main" val="2776040737"/>
                  </a:ext>
                </a:extLst>
              </a:tr>
              <a:tr h="197716">
                <a:tc>
                  <a:txBody>
                    <a:bodyPr/>
                    <a:lstStyle/>
                    <a:p>
                      <a:r>
                        <a:rPr lang="zh-CN" altLang="en-US" sz="900" b="1"/>
                        <a:t>其他固定费用</a:t>
                      </a:r>
                      <a:endParaRPr lang="zh-CN" altLang="en-US" sz="900"/>
                    </a:p>
                  </a:txBody>
                  <a:tcPr marL="49429" marR="49429" marT="24714" marB="24714" anchor="ctr"/>
                </a:tc>
                <a:tc>
                  <a:txBody>
                    <a:bodyPr/>
                    <a:lstStyle/>
                    <a:p>
                      <a:r>
                        <a:rPr lang="en-US" altLang="zh-CN" sz="900"/>
                        <a:t>62,000</a:t>
                      </a:r>
                    </a:p>
                  </a:txBody>
                  <a:tcPr marL="49429" marR="49429" marT="24714" marB="24714" anchor="ctr"/>
                </a:tc>
                <a:tc>
                  <a:txBody>
                    <a:bodyPr/>
                    <a:lstStyle/>
                    <a:p>
                      <a:r>
                        <a:rPr lang="en-US" altLang="zh-CN" sz="900"/>
                        <a:t>62,000</a:t>
                      </a:r>
                    </a:p>
                  </a:txBody>
                  <a:tcPr marL="49429" marR="49429" marT="24714" marB="24714" anchor="ctr"/>
                </a:tc>
                <a:tc>
                  <a:txBody>
                    <a:bodyPr/>
                    <a:lstStyle/>
                    <a:p>
                      <a:r>
                        <a:rPr lang="en-US" altLang="zh-CN" sz="900"/>
                        <a:t>-</a:t>
                      </a:r>
                    </a:p>
                  </a:txBody>
                  <a:tcPr marL="49429" marR="49429" marT="24714" marB="24714" anchor="ctr"/>
                </a:tc>
                <a:extLst>
                  <a:ext uri="{0D108BD9-81ED-4DB2-BD59-A6C34878D82A}">
                    <a16:rowId xmlns:a16="http://schemas.microsoft.com/office/drawing/2014/main" val="2269768483"/>
                  </a:ext>
                </a:extLst>
              </a:tr>
              <a:tr h="197716">
                <a:tc>
                  <a:txBody>
                    <a:bodyPr/>
                    <a:lstStyle/>
                    <a:p>
                      <a:r>
                        <a:rPr lang="zh-CN" altLang="en-US" sz="900" b="1"/>
                        <a:t>新设备租金</a:t>
                      </a:r>
                      <a:endParaRPr lang="zh-CN" altLang="en-US" sz="900"/>
                    </a:p>
                  </a:txBody>
                  <a:tcPr marL="49429" marR="49429" marT="24714" marB="24714" anchor="ctr"/>
                </a:tc>
                <a:tc>
                  <a:txBody>
                    <a:bodyPr/>
                    <a:lstStyle/>
                    <a:p>
                      <a:r>
                        <a:rPr lang="en-US" altLang="zh-CN" sz="900"/>
                        <a:t>-</a:t>
                      </a:r>
                    </a:p>
                  </a:txBody>
                  <a:tcPr marL="49429" marR="49429" marT="24714" marB="24714" anchor="ctr"/>
                </a:tc>
                <a:tc>
                  <a:txBody>
                    <a:bodyPr/>
                    <a:lstStyle/>
                    <a:p>
                      <a:r>
                        <a:rPr lang="en-US" altLang="zh-CN" sz="900"/>
                        <a:t>3,000</a:t>
                      </a:r>
                    </a:p>
                  </a:txBody>
                  <a:tcPr marL="49429" marR="49429" marT="24714" marB="24714" anchor="ctr"/>
                </a:tc>
                <a:tc>
                  <a:txBody>
                    <a:bodyPr/>
                    <a:lstStyle/>
                    <a:p>
                      <a:r>
                        <a:rPr lang="en-US" altLang="zh-CN" sz="900"/>
                        <a:t>(3,000)</a:t>
                      </a:r>
                    </a:p>
                  </a:txBody>
                  <a:tcPr marL="49429" marR="49429" marT="24714" marB="24714" anchor="ctr"/>
                </a:tc>
                <a:extLst>
                  <a:ext uri="{0D108BD9-81ED-4DB2-BD59-A6C34878D82A}">
                    <a16:rowId xmlns:a16="http://schemas.microsoft.com/office/drawing/2014/main" val="2221134596"/>
                  </a:ext>
                </a:extLst>
              </a:tr>
              <a:tr h="197716">
                <a:tc>
                  <a:txBody>
                    <a:bodyPr/>
                    <a:lstStyle/>
                    <a:p>
                      <a:r>
                        <a:rPr lang="zh-CN" altLang="en-US" sz="900" b="1"/>
                        <a:t>固定费用合计</a:t>
                      </a:r>
                      <a:endParaRPr lang="zh-CN" altLang="en-US" sz="900"/>
                    </a:p>
                  </a:txBody>
                  <a:tcPr marL="49429" marR="49429" marT="24714" marB="24714" anchor="ctr"/>
                </a:tc>
                <a:tc>
                  <a:txBody>
                    <a:bodyPr/>
                    <a:lstStyle/>
                    <a:p>
                      <a:r>
                        <a:rPr lang="en-US" altLang="zh-CN" sz="900"/>
                        <a:t>62,000</a:t>
                      </a:r>
                    </a:p>
                  </a:txBody>
                  <a:tcPr marL="49429" marR="49429" marT="24714" marB="24714" anchor="ctr"/>
                </a:tc>
                <a:tc>
                  <a:txBody>
                    <a:bodyPr/>
                    <a:lstStyle/>
                    <a:p>
                      <a:r>
                        <a:rPr lang="en-US" altLang="zh-CN" sz="900"/>
                        <a:t>65,000</a:t>
                      </a:r>
                    </a:p>
                  </a:txBody>
                  <a:tcPr marL="49429" marR="49429" marT="24714" marB="24714" anchor="ctr"/>
                </a:tc>
                <a:tc>
                  <a:txBody>
                    <a:bodyPr/>
                    <a:lstStyle/>
                    <a:p>
                      <a:r>
                        <a:rPr lang="en-US" altLang="zh-CN" sz="900"/>
                        <a:t>(3,000)</a:t>
                      </a:r>
                    </a:p>
                  </a:txBody>
                  <a:tcPr marL="49429" marR="49429" marT="24714" marB="24714" anchor="ctr"/>
                </a:tc>
                <a:extLst>
                  <a:ext uri="{0D108BD9-81ED-4DB2-BD59-A6C34878D82A}">
                    <a16:rowId xmlns:a16="http://schemas.microsoft.com/office/drawing/2014/main" val="4206653757"/>
                  </a:ext>
                </a:extLst>
              </a:tr>
              <a:tr h="197716">
                <a:tc>
                  <a:txBody>
                    <a:bodyPr/>
                    <a:lstStyle/>
                    <a:p>
                      <a:r>
                        <a:rPr lang="zh-CN" altLang="en-US" sz="900" b="1"/>
                        <a:t>营业净利润</a:t>
                      </a:r>
                      <a:endParaRPr lang="zh-CN" altLang="en-US" sz="900"/>
                    </a:p>
                  </a:txBody>
                  <a:tcPr marL="49429" marR="49429" marT="24714" marB="24714" anchor="ctr"/>
                </a:tc>
                <a:tc>
                  <a:txBody>
                    <a:bodyPr/>
                    <a:lstStyle/>
                    <a:p>
                      <a:r>
                        <a:rPr lang="en-US" altLang="zh-CN" sz="900" b="1"/>
                        <a:t>$18,000</a:t>
                      </a:r>
                      <a:endParaRPr lang="zh-CN" altLang="en-US" sz="900"/>
                    </a:p>
                  </a:txBody>
                  <a:tcPr marL="49429" marR="49429" marT="24714" marB="24714" anchor="ctr"/>
                </a:tc>
                <a:tc>
                  <a:txBody>
                    <a:bodyPr/>
                    <a:lstStyle/>
                    <a:p>
                      <a:r>
                        <a:rPr lang="en-US" altLang="zh-CN" sz="900" b="1"/>
                        <a:t>$30,000</a:t>
                      </a:r>
                      <a:endParaRPr lang="zh-CN" altLang="en-US" sz="900"/>
                    </a:p>
                  </a:txBody>
                  <a:tcPr marL="49429" marR="49429" marT="24714" marB="24714" anchor="ctr"/>
                </a:tc>
                <a:tc>
                  <a:txBody>
                    <a:bodyPr/>
                    <a:lstStyle/>
                    <a:p>
                      <a:r>
                        <a:rPr lang="en-US" altLang="zh-CN" sz="900" b="1" dirty="0"/>
                        <a:t>12,000</a:t>
                      </a:r>
                      <a:endParaRPr lang="zh-CN" altLang="en-US" sz="900" dirty="0"/>
                    </a:p>
                  </a:txBody>
                  <a:tcPr marL="49429" marR="49429" marT="24714" marB="24714" anchor="ctr"/>
                </a:tc>
                <a:extLst>
                  <a:ext uri="{0D108BD9-81ED-4DB2-BD59-A6C34878D82A}">
                    <a16:rowId xmlns:a16="http://schemas.microsoft.com/office/drawing/2014/main" val="2690548864"/>
                  </a:ext>
                </a:extLst>
              </a:tr>
            </a:tbl>
          </a:graphicData>
        </a:graphic>
      </p:graphicFrame>
    </p:spTree>
    <p:extLst>
      <p:ext uri="{BB962C8B-B14F-4D97-AF65-F5344CB8AC3E}">
        <p14:creationId xmlns:p14="http://schemas.microsoft.com/office/powerpoint/2010/main" val="33669110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0"/>
          <p:cNvSpPr/>
          <p:nvPr/>
        </p:nvSpPr>
        <p:spPr>
          <a:xfrm>
            <a:off x="979384" y="287863"/>
            <a:ext cx="2872893" cy="412023"/>
          </a:xfrm>
          <a:custGeom>
            <a:avLst/>
            <a:gdLst/>
            <a:ahLst/>
            <a:cxnLst/>
            <a:rect l="l" t="t" r="r" b="b"/>
            <a:pathLst>
              <a:path w="2872893" h="412023">
                <a:moveTo>
                  <a:pt x="68568" y="0"/>
                </a:moveTo>
                <a:lnTo>
                  <a:pt x="2803673" y="0"/>
                </a:lnTo>
                <a:cubicBezTo>
                  <a:pt x="2841542" y="0"/>
                  <a:pt x="2872241" y="30699"/>
                  <a:pt x="2872241" y="68568"/>
                </a:cubicBezTo>
                <a:lnTo>
                  <a:pt x="2872241" y="342840"/>
                </a:lnTo>
                <a:cubicBezTo>
                  <a:pt x="2872241" y="380710"/>
                  <a:pt x="2841542" y="411409"/>
                  <a:pt x="2803673" y="411409"/>
                </a:cubicBezTo>
                <a:lnTo>
                  <a:pt x="68568" y="411409"/>
                </a:lnTo>
                <a:cubicBezTo>
                  <a:pt x="30699" y="411409"/>
                  <a:pt x="0" y="380710"/>
                  <a:pt x="0" y="342840"/>
                </a:cubicBezTo>
                <a:lnTo>
                  <a:pt x="0" y="68568"/>
                </a:lnTo>
                <a:cubicBezTo>
                  <a:pt x="0" y="30724"/>
                  <a:pt x="30724" y="0"/>
                  <a:pt x="68568" y="0"/>
                </a:cubicBezTo>
                <a:close/>
              </a:path>
            </a:pathLst>
          </a:custGeom>
          <a:solidFill>
            <a:srgbClr val="0067B4"/>
          </a:solidFill>
          <a:ln/>
          <a:effectLst>
            <a:outerShdw dist="38093" dir="2700000" algn="bl" rotWithShape="0">
              <a:srgbClr val="000000">
                <a:alpha val="38824"/>
              </a:srgbClr>
            </a:outerShdw>
          </a:effectLst>
        </p:spPr>
      </p:sp>
      <p:sp>
        <p:nvSpPr>
          <p:cNvPr id="4" name="Shape 1"/>
          <p:cNvSpPr/>
          <p:nvPr/>
        </p:nvSpPr>
        <p:spPr>
          <a:xfrm>
            <a:off x="1188456" y="329442"/>
            <a:ext cx="2735844" cy="339064"/>
          </a:xfrm>
          <a:custGeom>
            <a:avLst/>
            <a:gdLst/>
            <a:ahLst/>
            <a:cxnLst/>
            <a:rect l="l" t="t" r="r" b="b"/>
            <a:pathLst>
              <a:path w="2735844" h="339064">
                <a:moveTo>
                  <a:pt x="0" y="0"/>
                </a:moveTo>
                <a:lnTo>
                  <a:pt x="2735844" y="0"/>
                </a:lnTo>
                <a:lnTo>
                  <a:pt x="2735844" y="339064"/>
                </a:lnTo>
                <a:lnTo>
                  <a:pt x="0" y="339064"/>
                </a:lnTo>
                <a:close/>
              </a:path>
            </a:pathLst>
          </a:custGeom>
          <a:noFill/>
          <a:ln/>
        </p:spPr>
      </p:sp>
      <p:sp>
        <p:nvSpPr>
          <p:cNvPr id="5" name="Text 2"/>
          <p:cNvSpPr txBox="1"/>
          <p:nvPr/>
        </p:nvSpPr>
        <p:spPr>
          <a:xfrm>
            <a:off x="1188456" y="329442"/>
            <a:ext cx="2735844" cy="247540"/>
          </a:xfrm>
          <a:prstGeom prst="rect">
            <a:avLst/>
          </a:prstGeom>
          <a:noFill/>
          <a:ln/>
        </p:spPr>
        <p:txBody>
          <a:bodyPr wrap="square" lIns="1252" tIns="653" rIns="1252" bIns="653" rtlCol="0" anchor="t">
            <a:spAutoFit/>
          </a:bodyPr>
          <a:lstStyle/>
          <a:p>
            <a:r>
              <a:rPr lang="zh-CN" altLang="en-US" sz="1600" b="1" dirty="0">
                <a:solidFill>
                  <a:schemeClr val="accent5">
                    <a:lumMod val="40000"/>
                    <a:lumOff val="60000"/>
                  </a:schemeClr>
                </a:solidFill>
              </a:rPr>
              <a:t>总成本法与差量成本法</a:t>
            </a:r>
            <a:endParaRPr lang="zh-CN" altLang="en-US" sz="1600" dirty="0">
              <a:solidFill>
                <a:schemeClr val="accent5">
                  <a:lumMod val="40000"/>
                  <a:lumOff val="60000"/>
                </a:schemeClr>
              </a:solidFill>
            </a:endParaRPr>
          </a:p>
        </p:txBody>
      </p:sp>
      <p:sp>
        <p:nvSpPr>
          <p:cNvPr id="6" name="Shape 3"/>
          <p:cNvSpPr/>
          <p:nvPr/>
        </p:nvSpPr>
        <p:spPr>
          <a:xfrm>
            <a:off x="471488" y="198466"/>
            <a:ext cx="461756" cy="542999"/>
          </a:xfrm>
          <a:custGeom>
            <a:avLst/>
            <a:gdLst/>
            <a:ahLst/>
            <a:cxnLst/>
            <a:rect l="l" t="t" r="r" b="b"/>
            <a:pathLst>
              <a:path w="461756" h="542999">
                <a:moveTo>
                  <a:pt x="77457" y="0"/>
                </a:moveTo>
                <a:lnTo>
                  <a:pt x="384743" y="0"/>
                </a:lnTo>
                <a:cubicBezTo>
                  <a:pt x="427521" y="0"/>
                  <a:pt x="462200" y="34678"/>
                  <a:pt x="462200" y="77457"/>
                </a:cubicBezTo>
                <a:lnTo>
                  <a:pt x="462200" y="466009"/>
                </a:lnTo>
                <a:cubicBezTo>
                  <a:pt x="462200" y="508787"/>
                  <a:pt x="427521" y="543466"/>
                  <a:pt x="384743" y="543466"/>
                </a:cubicBezTo>
                <a:lnTo>
                  <a:pt x="77457" y="543466"/>
                </a:lnTo>
                <a:cubicBezTo>
                  <a:pt x="34678" y="543466"/>
                  <a:pt x="0" y="508787"/>
                  <a:pt x="0" y="466009"/>
                </a:cubicBezTo>
                <a:lnTo>
                  <a:pt x="0" y="77457"/>
                </a:lnTo>
                <a:cubicBezTo>
                  <a:pt x="0" y="34678"/>
                  <a:pt x="34678" y="0"/>
                  <a:pt x="77457" y="0"/>
                </a:cubicBezTo>
                <a:close/>
              </a:path>
            </a:pathLst>
          </a:custGeom>
          <a:solidFill>
            <a:srgbClr val="0067B4"/>
          </a:solidFill>
          <a:ln/>
          <a:effectLst>
            <a:outerShdw dist="38093" dir="2700000" algn="bl" rotWithShape="0">
              <a:srgbClr val="000000">
                <a:alpha val="38824"/>
              </a:srgbClr>
            </a:outerShdw>
          </a:effectLst>
        </p:spPr>
      </p:sp>
      <p:sp>
        <p:nvSpPr>
          <p:cNvPr id="7" name="Shape 4"/>
          <p:cNvSpPr/>
          <p:nvPr/>
        </p:nvSpPr>
        <p:spPr>
          <a:xfrm>
            <a:off x="482166" y="206110"/>
            <a:ext cx="433263" cy="535355"/>
          </a:xfrm>
          <a:custGeom>
            <a:avLst/>
            <a:gdLst/>
            <a:ahLst/>
            <a:cxnLst/>
            <a:rect l="l" t="t" r="r" b="b"/>
            <a:pathLst>
              <a:path w="433263" h="535355">
                <a:moveTo>
                  <a:pt x="73647" y="0"/>
                </a:moveTo>
                <a:lnTo>
                  <a:pt x="366966" y="0"/>
                </a:lnTo>
                <a:cubicBezTo>
                  <a:pt x="396171" y="0"/>
                  <a:pt x="421567" y="15237"/>
                  <a:pt x="432995" y="35554"/>
                </a:cubicBezTo>
                <a:cubicBezTo>
                  <a:pt x="186658" y="119359"/>
                  <a:pt x="11428" y="311096"/>
                  <a:pt x="1270" y="535847"/>
                </a:cubicBezTo>
                <a:cubicBezTo>
                  <a:pt x="0" y="533307"/>
                  <a:pt x="0" y="532038"/>
                  <a:pt x="0" y="529498"/>
                </a:cubicBezTo>
                <a:lnTo>
                  <a:pt x="0" y="60949"/>
                </a:lnTo>
                <a:cubicBezTo>
                  <a:pt x="0" y="26665"/>
                  <a:pt x="33014" y="0"/>
                  <a:pt x="73647" y="0"/>
                </a:cubicBezTo>
                <a:close/>
              </a:path>
            </a:pathLst>
          </a:custGeom>
          <a:gradFill>
            <a:gsLst>
              <a:gs pos="0">
                <a:srgbClr val="64CBFF">
                  <a:alpha val="34902"/>
                </a:srgbClr>
              </a:gs>
              <a:gs pos="100000">
                <a:srgbClr val="2F5897">
                  <a:alpha val="100000"/>
                </a:srgbClr>
              </a:gs>
            </a:gsLst>
            <a:lin ang="1200000" scaled="1"/>
          </a:gradFill>
          <a:ln/>
        </p:spPr>
      </p:sp>
      <p:pic>
        <p:nvPicPr>
          <p:cNvPr id="8" name="Image 1" descr="//img.tukuppt.com/aippt_tpl_uploads/25/07/01/686397e7ae4cf.png"/>
          <p:cNvPicPr>
            <a:picLocks noChangeAspect="1"/>
          </p:cNvPicPr>
          <p:nvPr/>
        </p:nvPicPr>
        <p:blipFill>
          <a:blip r:embed="rId3"/>
          <a:srcRect/>
          <a:stretch/>
        </p:blipFill>
        <p:spPr>
          <a:xfrm flipH="1">
            <a:off x="787710" y="346921"/>
            <a:ext cx="255659" cy="98905"/>
          </a:xfrm>
          <a:prstGeom prst="rect">
            <a:avLst/>
          </a:prstGeom>
        </p:spPr>
      </p:pic>
      <p:pic>
        <p:nvPicPr>
          <p:cNvPr id="9" name="Image 2" descr="//img.tukuppt.com/aippt_tpl_uploads/25/07/01/686397e7ae4cf.png"/>
          <p:cNvPicPr>
            <a:picLocks noChangeAspect="1"/>
          </p:cNvPicPr>
          <p:nvPr/>
        </p:nvPicPr>
        <p:blipFill>
          <a:blip r:embed="rId3"/>
          <a:srcRect/>
          <a:stretch/>
        </p:blipFill>
        <p:spPr>
          <a:xfrm flipH="1">
            <a:off x="787710" y="549201"/>
            <a:ext cx="255659" cy="98905"/>
          </a:xfrm>
          <a:prstGeom prst="rect">
            <a:avLst/>
          </a:prstGeom>
        </p:spPr>
      </p:pic>
      <p:pic>
        <p:nvPicPr>
          <p:cNvPr id="10" name="Image 3" descr="//img.tukuppt.com/aippt_tpl_uploads/25/07/01/686397e7b8f81.png"/>
          <p:cNvPicPr>
            <a:picLocks noChangeAspect="1"/>
          </p:cNvPicPr>
          <p:nvPr/>
        </p:nvPicPr>
        <p:blipFill>
          <a:blip r:embed="rId4"/>
          <a:srcRect/>
          <a:stretch/>
        </p:blipFill>
        <p:spPr>
          <a:xfrm>
            <a:off x="539206" y="312920"/>
            <a:ext cx="321318" cy="321734"/>
          </a:xfrm>
          <a:prstGeom prst="rect">
            <a:avLst/>
          </a:prstGeom>
        </p:spPr>
      </p:pic>
      <p:pic>
        <p:nvPicPr>
          <p:cNvPr id="11" name="Image 4" descr="//img.tukuppt.com/aippt_tpl_uploads/25/07/01/686397e7af1a3.png!/fwfh2/960x960"/>
          <p:cNvPicPr>
            <a:picLocks noChangeAspect="1"/>
          </p:cNvPicPr>
          <p:nvPr/>
        </p:nvPicPr>
        <p:blipFill>
          <a:blip r:embed="rId5"/>
          <a:srcRect l="36452" t="56544" b="34700"/>
          <a:stretch/>
        </p:blipFill>
        <p:spPr>
          <a:xfrm>
            <a:off x="-4836" y="-812736"/>
            <a:ext cx="9148837" cy="1019042"/>
          </a:xfrm>
          <a:prstGeom prst="rect">
            <a:avLst/>
          </a:prstGeom>
        </p:spPr>
      </p:pic>
      <p:pic>
        <p:nvPicPr>
          <p:cNvPr id="12" name="Image 5" descr="//img.tukuppt.com/aippt_tpl_uploads/25/07/01/686397e7af1a3.png!/fwfh2/960x960"/>
          <p:cNvPicPr>
            <a:picLocks noChangeAspect="1"/>
          </p:cNvPicPr>
          <p:nvPr/>
        </p:nvPicPr>
        <p:blipFill>
          <a:blip r:embed="rId5"/>
          <a:srcRect l="36452" t="56544" b="34700"/>
          <a:stretch/>
        </p:blipFill>
        <p:spPr>
          <a:xfrm>
            <a:off x="-61352" y="4937888"/>
            <a:ext cx="9313872" cy="1019042"/>
          </a:xfrm>
          <a:prstGeom prst="rect">
            <a:avLst/>
          </a:prstGeom>
        </p:spPr>
      </p:pic>
      <p:sp>
        <p:nvSpPr>
          <p:cNvPr id="17" name="Shape 8"/>
          <p:cNvSpPr/>
          <p:nvPr/>
        </p:nvSpPr>
        <p:spPr>
          <a:xfrm>
            <a:off x="1264316" y="1585145"/>
            <a:ext cx="2078448" cy="1795621"/>
          </a:xfrm>
          <a:custGeom>
            <a:avLst/>
            <a:gdLst/>
            <a:ahLst/>
            <a:cxnLst/>
            <a:rect l="l" t="t" r="r" b="b"/>
            <a:pathLst>
              <a:path w="2078448" h="1795621">
                <a:moveTo>
                  <a:pt x="0" y="0"/>
                </a:moveTo>
                <a:lnTo>
                  <a:pt x="2078448" y="0"/>
                </a:lnTo>
                <a:lnTo>
                  <a:pt x="2078448" y="1795621"/>
                </a:lnTo>
                <a:lnTo>
                  <a:pt x="0" y="1795621"/>
                </a:lnTo>
                <a:close/>
              </a:path>
            </a:pathLst>
          </a:custGeom>
          <a:blipFill rotWithShape="0">
            <a:blip r:embed="rId6">
              <a:alphaModFix/>
            </a:blip>
            <a:stretch>
              <a:fillRect l="-22849" r="-22849"/>
            </a:stretch>
          </a:blipFill>
          <a:ln/>
        </p:spPr>
      </p:sp>
      <p:sp>
        <p:nvSpPr>
          <p:cNvPr id="21" name="文本框 20">
            <a:extLst>
              <a:ext uri="{FF2B5EF4-FFF2-40B4-BE49-F238E27FC236}">
                <a16:creationId xmlns:a16="http://schemas.microsoft.com/office/drawing/2014/main" id="{E009F233-5CB5-404A-8699-5FC1AACE3027}"/>
              </a:ext>
            </a:extLst>
          </p:cNvPr>
          <p:cNvSpPr txBox="1"/>
          <p:nvPr/>
        </p:nvSpPr>
        <p:spPr>
          <a:xfrm>
            <a:off x="2303540" y="953827"/>
            <a:ext cx="5949370" cy="261610"/>
          </a:xfrm>
          <a:prstGeom prst="rect">
            <a:avLst/>
          </a:prstGeom>
          <a:noFill/>
        </p:spPr>
        <p:txBody>
          <a:bodyPr wrap="square">
            <a:spAutoFit/>
          </a:bodyPr>
          <a:lstStyle/>
          <a:p>
            <a:r>
              <a:rPr lang="zh-CN" altLang="en-US" sz="1100" dirty="0"/>
              <a:t>正如所见，两种方案间唯一的差异成本是直接人工成本的节约额以及固定租金成本的增加。</a:t>
            </a:r>
          </a:p>
        </p:txBody>
      </p:sp>
      <p:graphicFrame>
        <p:nvGraphicFramePr>
          <p:cNvPr id="18" name="表格 17">
            <a:extLst>
              <a:ext uri="{FF2B5EF4-FFF2-40B4-BE49-F238E27FC236}">
                <a16:creationId xmlns:a16="http://schemas.microsoft.com/office/drawing/2014/main" id="{B5F5CB8C-45D4-4DA9-8C83-E9364AD0614D}"/>
              </a:ext>
            </a:extLst>
          </p:cNvPr>
          <p:cNvGraphicFramePr>
            <a:graphicFrameLocks noGrp="1"/>
          </p:cNvGraphicFramePr>
          <p:nvPr>
            <p:extLst>
              <p:ext uri="{D42A27DB-BD31-4B8C-83A1-F6EECF244321}">
                <p14:modId xmlns:p14="http://schemas.microsoft.com/office/powerpoint/2010/main" val="1712236995"/>
              </p:ext>
            </p:extLst>
          </p:nvPr>
        </p:nvGraphicFramePr>
        <p:xfrm>
          <a:off x="3791255" y="2053975"/>
          <a:ext cx="4852830" cy="1097280"/>
        </p:xfrm>
        <a:graphic>
          <a:graphicData uri="http://schemas.openxmlformats.org/drawingml/2006/table">
            <a:tbl>
              <a:tblPr/>
              <a:tblGrid>
                <a:gridCol w="3370326">
                  <a:extLst>
                    <a:ext uri="{9D8B030D-6E8A-4147-A177-3AD203B41FA5}">
                      <a16:colId xmlns:a16="http://schemas.microsoft.com/office/drawing/2014/main" val="3739358423"/>
                    </a:ext>
                  </a:extLst>
                </a:gridCol>
                <a:gridCol w="1482504">
                  <a:extLst>
                    <a:ext uri="{9D8B030D-6E8A-4147-A177-3AD203B41FA5}">
                      <a16:colId xmlns:a16="http://schemas.microsoft.com/office/drawing/2014/main" val="3071410677"/>
                    </a:ext>
                  </a:extLst>
                </a:gridCol>
              </a:tblGrid>
              <a:tr h="0">
                <a:tc>
                  <a:txBody>
                    <a:bodyPr/>
                    <a:lstStyle/>
                    <a:p>
                      <a:r>
                        <a:rPr lang="zh-CN" altLang="en-US" sz="1200"/>
                        <a:t>项目</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1200" dirty="0"/>
                        <a:t>金额</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55122565"/>
                  </a:ext>
                </a:extLst>
              </a:tr>
              <a:tr h="0">
                <a:tc>
                  <a:txBody>
                    <a:bodyPr/>
                    <a:lstStyle/>
                    <a:p>
                      <a:r>
                        <a:rPr lang="zh-CN" altLang="en-US" sz="1200" dirty="0"/>
                        <a:t>直接人工成本减少 </a:t>
                      </a:r>
                      <a:r>
                        <a:rPr lang="en-US" altLang="zh-CN" sz="1200" dirty="0"/>
                        <a:t>(5,000</a:t>
                      </a:r>
                      <a:r>
                        <a:rPr lang="zh-CN" altLang="en-US" sz="1200" dirty="0"/>
                        <a:t>单位 </a:t>
                      </a:r>
                      <a:r>
                        <a:rPr lang="en-US" altLang="zh-CN" sz="1200" dirty="0"/>
                        <a:t>× $3/</a:t>
                      </a:r>
                      <a:r>
                        <a:rPr lang="zh-CN" altLang="en-US" sz="1200" dirty="0"/>
                        <a:t>单位</a:t>
                      </a:r>
                      <a:r>
                        <a:rPr lang="en-US" altLang="zh-CN" sz="12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200" dirty="0"/>
                        <a:t>$15,000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6362848"/>
                  </a:ext>
                </a:extLst>
              </a:tr>
              <a:tr h="0">
                <a:tc>
                  <a:txBody>
                    <a:bodyPr/>
                    <a:lstStyle/>
                    <a:p>
                      <a:r>
                        <a:rPr lang="zh-CN" altLang="en-US" sz="1200"/>
                        <a:t>减：固定租金费用增加</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200"/>
                        <a:t>($3,000)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8700438"/>
                  </a:ext>
                </a:extLst>
              </a:tr>
              <a:tr h="0">
                <a:tc>
                  <a:txBody>
                    <a:bodyPr/>
                    <a:lstStyle/>
                    <a:p>
                      <a:r>
                        <a:rPr lang="zh-CN" altLang="en-US" sz="1200" b="1"/>
                        <a:t>租用新设备的年净成本节约额</a:t>
                      </a:r>
                      <a:endParaRPr lang="zh-CN" altLang="en-US"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200" b="1" dirty="0"/>
                        <a:t>$12,000</a:t>
                      </a:r>
                      <a:endParaRPr lang="zh-CN"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18255685"/>
                  </a:ext>
                </a:extLst>
              </a:tr>
            </a:tbl>
          </a:graphicData>
        </a:graphic>
      </p:graphicFrame>
      <p:sp>
        <p:nvSpPr>
          <p:cNvPr id="22" name="Rectangle 1">
            <a:extLst>
              <a:ext uri="{FF2B5EF4-FFF2-40B4-BE49-F238E27FC236}">
                <a16:creationId xmlns:a16="http://schemas.microsoft.com/office/drawing/2014/main" id="{CEDB5BE8-E3A0-453A-A4DE-2EF06E04A549}"/>
              </a:ext>
            </a:extLst>
          </p:cNvPr>
          <p:cNvSpPr>
            <a:spLocks noChangeArrowheads="1"/>
          </p:cNvSpPr>
          <p:nvPr/>
        </p:nvSpPr>
        <p:spPr bwMode="auto">
          <a:xfrm>
            <a:off x="3819095" y="1407644"/>
            <a:ext cx="227690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800" b="1" i="0" u="none" strike="noStrike" cap="none" normalizeH="0" baseline="0" dirty="0">
                <a:ln>
                  <a:noFill/>
                </a:ln>
                <a:solidFill>
                  <a:schemeClr val="tx1"/>
                </a:solidFill>
                <a:effectLst/>
                <a:latin typeface="Arial" panose="020B0604020202020204" pitchFamily="34" charset="0"/>
              </a:rPr>
              <a:t>租用新设备的净收益</a:t>
            </a:r>
            <a:endParaRPr kumimoji="0" lang="zh-CN" altLang="zh-CN"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2446725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img.tukuppt.com/aippt_tpl_uploads/25/07/01/686397e7a6107.png"/>
          <p:cNvPicPr>
            <a:picLocks noChangeAspect="1"/>
          </p:cNvPicPr>
          <p:nvPr/>
        </p:nvPicPr>
        <p:blipFill>
          <a:blip r:embed="rId4"/>
          <a:srcRect/>
          <a:stretch/>
        </p:blipFill>
        <p:spPr>
          <a:xfrm flipH="1">
            <a:off x="-1744075" y="-312485"/>
            <a:ext cx="6071588" cy="5942568"/>
          </a:xfrm>
          <a:prstGeom prst="rect">
            <a:avLst/>
          </a:prstGeom>
        </p:spPr>
      </p:pic>
      <p:sp>
        <p:nvSpPr>
          <p:cNvPr id="3" name="Text 0"/>
          <p:cNvSpPr txBox="1"/>
          <p:nvPr/>
        </p:nvSpPr>
        <p:spPr>
          <a:xfrm>
            <a:off x="4118077" y="1908001"/>
            <a:ext cx="4105275" cy="1371600"/>
          </a:xfrm>
          <a:prstGeom prst="rect">
            <a:avLst/>
          </a:prstGeom>
          <a:noFill/>
          <a:ln/>
        </p:spPr>
        <p:txBody>
          <a:bodyPr wrap="square" lIns="0" tIns="0" rIns="0" bIns="0" rtlCol="0" anchor="t">
            <a:spAutoFit/>
          </a:bodyPr>
          <a:lstStyle/>
          <a:p>
            <a:pPr marL="0" indent="0" algn="l">
              <a:lnSpc>
                <a:spcPct val="96000"/>
              </a:lnSpc>
              <a:buNone/>
            </a:pPr>
            <a:r>
              <a:rPr lang="zh-CN" altLang="en-US" sz="4500" dirty="0">
                <a:solidFill>
                  <a:srgbClr val="0067B4"/>
                </a:solidFill>
                <a:latin typeface="SourceHanSansSC-Heavy"/>
                <a:ea typeface="SourceHanSansSC-Heavy"/>
                <a:cs typeface="SourceHanSansSC-Heavy"/>
              </a:rPr>
              <a:t>增加/停产分部决策</a:t>
            </a:r>
            <a:endParaRPr lang="en-US" sz="4500" dirty="0"/>
          </a:p>
        </p:txBody>
      </p:sp>
      <p:sp>
        <p:nvSpPr>
          <p:cNvPr id="4" name="Text 1"/>
          <p:cNvSpPr txBox="1"/>
          <p:nvPr/>
        </p:nvSpPr>
        <p:spPr>
          <a:xfrm>
            <a:off x="4118077" y="1357413"/>
            <a:ext cx="1038225" cy="409575"/>
          </a:xfrm>
          <a:prstGeom prst="rect">
            <a:avLst/>
          </a:prstGeom>
          <a:noFill/>
          <a:ln/>
        </p:spPr>
        <p:txBody>
          <a:bodyPr wrap="square" lIns="0" tIns="0" rIns="0" bIns="0" rtlCol="0" anchor="t">
            <a:spAutoFit/>
          </a:bodyPr>
          <a:lstStyle/>
          <a:p>
            <a:pPr marL="0" indent="0" algn="ctr">
              <a:lnSpc>
                <a:spcPct val="96000"/>
              </a:lnSpc>
              <a:buNone/>
            </a:pPr>
            <a:r>
              <a:rPr lang="en" altLang="en-US" sz="2700" dirty="0">
                <a:solidFill>
                  <a:srgbClr val="000000"/>
                </a:solidFill>
                <a:latin typeface="SourceHanSansSC-Heavy"/>
                <a:ea typeface="SourceHanSansSC-Heavy"/>
                <a:cs typeface="SourceHanSansSC-Heavy"/>
              </a:rPr>
              <a:t>PART-</a:t>
            </a:r>
            <a:endParaRPr lang="en-US" sz="2700" dirty="0"/>
          </a:p>
        </p:txBody>
      </p:sp>
      <p:sp>
        <p:nvSpPr>
          <p:cNvPr id="5" name="Text 2"/>
          <p:cNvSpPr txBox="1"/>
          <p:nvPr/>
        </p:nvSpPr>
        <p:spPr>
          <a:xfrm>
            <a:off x="5156302" y="1357413"/>
            <a:ext cx="1038225" cy="409575"/>
          </a:xfrm>
          <a:prstGeom prst="rect">
            <a:avLst/>
          </a:prstGeom>
          <a:noFill/>
          <a:ln/>
        </p:spPr>
        <p:txBody>
          <a:bodyPr wrap="square" lIns="0" tIns="0" rIns="0" bIns="0" rtlCol="0" anchor="t">
            <a:spAutoFit/>
          </a:bodyPr>
          <a:lstStyle/>
          <a:p>
            <a:pPr marL="0" indent="0" algn="l">
              <a:lnSpc>
                <a:spcPct val="96000"/>
              </a:lnSpc>
              <a:buNone/>
            </a:pPr>
            <a:r>
              <a:rPr lang="en-US" sz="2700" dirty="0">
                <a:solidFill>
                  <a:srgbClr val="000000"/>
                </a:solidFill>
                <a:latin typeface="SourceHanSansSC-Heavy"/>
                <a:ea typeface="SourceHanSansSC-Heavy"/>
                <a:cs typeface="SourceHanSansSC-Heavy"/>
              </a:rPr>
              <a:t>05</a:t>
            </a:r>
            <a:endParaRPr lang="en-US" sz="27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img.tukuppt.com/aippt_uploads/34576449/25/07/03/6866a18678cda.png!/fwfh2/960x960"/>
          <p:cNvPicPr>
            <a:picLocks noChangeAspect="1"/>
          </p:cNvPicPr>
          <p:nvPr/>
        </p:nvPicPr>
        <p:blipFill>
          <a:blip r:embed="rId3"/>
          <a:stretch>
            <a:fillRect/>
          </a:stretch>
        </p:blipFill>
        <p:spPr>
          <a:xfrm>
            <a:off x="0" y="0"/>
            <a:ext cx="9140180" cy="5131830"/>
          </a:xfrm>
          <a:prstGeom prst="rect">
            <a:avLst/>
          </a:prstGeom>
        </p:spPr>
      </p:pic>
      <p:sp>
        <p:nvSpPr>
          <p:cNvPr id="3" name="Shape 0"/>
          <p:cNvSpPr/>
          <p:nvPr/>
        </p:nvSpPr>
        <p:spPr>
          <a:xfrm>
            <a:off x="979384" y="287863"/>
            <a:ext cx="2872893" cy="412023"/>
          </a:xfrm>
          <a:custGeom>
            <a:avLst/>
            <a:gdLst/>
            <a:ahLst/>
            <a:cxnLst/>
            <a:rect l="l" t="t" r="r" b="b"/>
            <a:pathLst>
              <a:path w="2872893" h="412023">
                <a:moveTo>
                  <a:pt x="68568" y="0"/>
                </a:moveTo>
                <a:lnTo>
                  <a:pt x="2803673" y="0"/>
                </a:lnTo>
                <a:cubicBezTo>
                  <a:pt x="2841542" y="0"/>
                  <a:pt x="2872241" y="30699"/>
                  <a:pt x="2872241" y="68568"/>
                </a:cubicBezTo>
                <a:lnTo>
                  <a:pt x="2872241" y="342840"/>
                </a:lnTo>
                <a:cubicBezTo>
                  <a:pt x="2872241" y="380710"/>
                  <a:pt x="2841542" y="411409"/>
                  <a:pt x="2803673" y="411409"/>
                </a:cubicBezTo>
                <a:lnTo>
                  <a:pt x="68568" y="411409"/>
                </a:lnTo>
                <a:cubicBezTo>
                  <a:pt x="30699" y="411409"/>
                  <a:pt x="0" y="380710"/>
                  <a:pt x="0" y="342840"/>
                </a:cubicBezTo>
                <a:lnTo>
                  <a:pt x="0" y="68568"/>
                </a:lnTo>
                <a:cubicBezTo>
                  <a:pt x="0" y="30724"/>
                  <a:pt x="30724" y="0"/>
                  <a:pt x="68568" y="0"/>
                </a:cubicBezTo>
                <a:close/>
              </a:path>
            </a:pathLst>
          </a:custGeom>
          <a:solidFill>
            <a:srgbClr val="0067B4"/>
          </a:solidFill>
          <a:ln/>
          <a:effectLst>
            <a:outerShdw dist="38093" dir="2700000" algn="bl" rotWithShape="0">
              <a:srgbClr val="000000">
                <a:alpha val="38824"/>
              </a:srgbClr>
            </a:outerShdw>
          </a:effectLst>
        </p:spPr>
      </p:sp>
      <p:sp>
        <p:nvSpPr>
          <p:cNvPr id="4" name="Shape 1"/>
          <p:cNvSpPr/>
          <p:nvPr/>
        </p:nvSpPr>
        <p:spPr>
          <a:xfrm>
            <a:off x="1188456" y="329442"/>
            <a:ext cx="2735844" cy="339064"/>
          </a:xfrm>
          <a:custGeom>
            <a:avLst/>
            <a:gdLst/>
            <a:ahLst/>
            <a:cxnLst/>
            <a:rect l="l" t="t" r="r" b="b"/>
            <a:pathLst>
              <a:path w="2735844" h="339064">
                <a:moveTo>
                  <a:pt x="0" y="0"/>
                </a:moveTo>
                <a:lnTo>
                  <a:pt x="2735844" y="0"/>
                </a:lnTo>
                <a:lnTo>
                  <a:pt x="2735844" y="339064"/>
                </a:lnTo>
                <a:lnTo>
                  <a:pt x="0" y="339064"/>
                </a:lnTo>
                <a:close/>
              </a:path>
            </a:pathLst>
          </a:custGeom>
          <a:noFill/>
          <a:ln/>
        </p:spPr>
      </p:sp>
      <p:sp>
        <p:nvSpPr>
          <p:cNvPr id="5" name="Text 2"/>
          <p:cNvSpPr txBox="1"/>
          <p:nvPr/>
        </p:nvSpPr>
        <p:spPr>
          <a:xfrm>
            <a:off x="1188456" y="329442"/>
            <a:ext cx="2735844" cy="339064"/>
          </a:xfrm>
          <a:prstGeom prst="rect">
            <a:avLst/>
          </a:prstGeom>
          <a:noFill/>
          <a:ln/>
        </p:spPr>
        <p:txBody>
          <a:bodyPr wrap="square" lIns="1252" tIns="653" rIns="1252" bIns="653" rtlCol="0" anchor="t">
            <a:spAutoFit/>
          </a:bodyPr>
          <a:lstStyle/>
          <a:p>
            <a:pPr marL="0" indent="0" algn="l">
              <a:buNone/>
            </a:pPr>
            <a:r>
              <a:rPr lang="zh-CN" altLang="en-US" sz="1601" dirty="0">
                <a:solidFill>
                  <a:srgbClr val="64CBFF"/>
                </a:solidFill>
                <a:latin typeface="SourceHanSansSC-Medium"/>
                <a:ea typeface="SourceHanSansSC-Medium"/>
                <a:cs typeface="SourceHanSansSC-Medium"/>
              </a:rPr>
              <a:t>决策重要性</a:t>
            </a:r>
            <a:endParaRPr lang="en-US" sz="1601" dirty="0"/>
          </a:p>
        </p:txBody>
      </p:sp>
      <p:sp>
        <p:nvSpPr>
          <p:cNvPr id="6" name="Shape 3"/>
          <p:cNvSpPr/>
          <p:nvPr/>
        </p:nvSpPr>
        <p:spPr>
          <a:xfrm>
            <a:off x="471488" y="198466"/>
            <a:ext cx="461756" cy="542999"/>
          </a:xfrm>
          <a:custGeom>
            <a:avLst/>
            <a:gdLst/>
            <a:ahLst/>
            <a:cxnLst/>
            <a:rect l="l" t="t" r="r" b="b"/>
            <a:pathLst>
              <a:path w="461756" h="542999">
                <a:moveTo>
                  <a:pt x="77457" y="0"/>
                </a:moveTo>
                <a:lnTo>
                  <a:pt x="384743" y="0"/>
                </a:lnTo>
                <a:cubicBezTo>
                  <a:pt x="427521" y="0"/>
                  <a:pt x="462200" y="34678"/>
                  <a:pt x="462200" y="77457"/>
                </a:cubicBezTo>
                <a:lnTo>
                  <a:pt x="462200" y="466009"/>
                </a:lnTo>
                <a:cubicBezTo>
                  <a:pt x="462200" y="508787"/>
                  <a:pt x="427521" y="543466"/>
                  <a:pt x="384743" y="543466"/>
                </a:cubicBezTo>
                <a:lnTo>
                  <a:pt x="77457" y="543466"/>
                </a:lnTo>
                <a:cubicBezTo>
                  <a:pt x="34678" y="543466"/>
                  <a:pt x="0" y="508787"/>
                  <a:pt x="0" y="466009"/>
                </a:cubicBezTo>
                <a:lnTo>
                  <a:pt x="0" y="77457"/>
                </a:lnTo>
                <a:cubicBezTo>
                  <a:pt x="0" y="34678"/>
                  <a:pt x="34678" y="0"/>
                  <a:pt x="77457" y="0"/>
                </a:cubicBezTo>
                <a:close/>
              </a:path>
            </a:pathLst>
          </a:custGeom>
          <a:solidFill>
            <a:srgbClr val="0067B4"/>
          </a:solidFill>
          <a:ln/>
          <a:effectLst>
            <a:outerShdw dist="38093" dir="2700000" algn="bl" rotWithShape="0">
              <a:srgbClr val="000000">
                <a:alpha val="38824"/>
              </a:srgbClr>
            </a:outerShdw>
          </a:effectLst>
        </p:spPr>
      </p:sp>
      <p:sp>
        <p:nvSpPr>
          <p:cNvPr id="7" name="Shape 4"/>
          <p:cNvSpPr/>
          <p:nvPr/>
        </p:nvSpPr>
        <p:spPr>
          <a:xfrm>
            <a:off x="482166" y="206110"/>
            <a:ext cx="433263" cy="535355"/>
          </a:xfrm>
          <a:custGeom>
            <a:avLst/>
            <a:gdLst/>
            <a:ahLst/>
            <a:cxnLst/>
            <a:rect l="l" t="t" r="r" b="b"/>
            <a:pathLst>
              <a:path w="433263" h="535355">
                <a:moveTo>
                  <a:pt x="73647" y="0"/>
                </a:moveTo>
                <a:lnTo>
                  <a:pt x="366966" y="0"/>
                </a:lnTo>
                <a:cubicBezTo>
                  <a:pt x="396171" y="0"/>
                  <a:pt x="421567" y="15237"/>
                  <a:pt x="432995" y="35554"/>
                </a:cubicBezTo>
                <a:cubicBezTo>
                  <a:pt x="186658" y="119359"/>
                  <a:pt x="11428" y="311096"/>
                  <a:pt x="1270" y="535847"/>
                </a:cubicBezTo>
                <a:cubicBezTo>
                  <a:pt x="0" y="533307"/>
                  <a:pt x="0" y="532038"/>
                  <a:pt x="0" y="529498"/>
                </a:cubicBezTo>
                <a:lnTo>
                  <a:pt x="0" y="60949"/>
                </a:lnTo>
                <a:cubicBezTo>
                  <a:pt x="0" y="26665"/>
                  <a:pt x="33014" y="0"/>
                  <a:pt x="73647" y="0"/>
                </a:cubicBezTo>
                <a:close/>
              </a:path>
            </a:pathLst>
          </a:custGeom>
          <a:gradFill>
            <a:gsLst>
              <a:gs pos="0">
                <a:srgbClr val="64CBFF">
                  <a:alpha val="34902"/>
                </a:srgbClr>
              </a:gs>
              <a:gs pos="100000">
                <a:srgbClr val="2F5897">
                  <a:alpha val="100000"/>
                </a:srgbClr>
              </a:gs>
            </a:gsLst>
            <a:lin ang="1200000" scaled="1"/>
          </a:gradFill>
          <a:ln/>
        </p:spPr>
      </p:sp>
      <p:pic>
        <p:nvPicPr>
          <p:cNvPr id="8" name="Image 1" descr="//img.tukuppt.com/aippt_tpl_uploads/25/07/01/686397e7ae4cf.png"/>
          <p:cNvPicPr>
            <a:picLocks noChangeAspect="1"/>
          </p:cNvPicPr>
          <p:nvPr/>
        </p:nvPicPr>
        <p:blipFill>
          <a:blip r:embed="rId4"/>
          <a:srcRect/>
          <a:stretch/>
        </p:blipFill>
        <p:spPr>
          <a:xfrm flipH="1">
            <a:off x="787710" y="346921"/>
            <a:ext cx="255659" cy="98905"/>
          </a:xfrm>
          <a:prstGeom prst="rect">
            <a:avLst/>
          </a:prstGeom>
        </p:spPr>
      </p:pic>
      <p:pic>
        <p:nvPicPr>
          <p:cNvPr id="9" name="Image 2" descr="//img.tukuppt.com/aippt_tpl_uploads/25/07/01/686397e7ae4cf.png"/>
          <p:cNvPicPr>
            <a:picLocks noChangeAspect="1"/>
          </p:cNvPicPr>
          <p:nvPr/>
        </p:nvPicPr>
        <p:blipFill>
          <a:blip r:embed="rId4"/>
          <a:srcRect/>
          <a:stretch/>
        </p:blipFill>
        <p:spPr>
          <a:xfrm flipH="1">
            <a:off x="787710" y="549201"/>
            <a:ext cx="255659" cy="98905"/>
          </a:xfrm>
          <a:prstGeom prst="rect">
            <a:avLst/>
          </a:prstGeom>
        </p:spPr>
      </p:pic>
      <p:pic>
        <p:nvPicPr>
          <p:cNvPr id="10" name="Image 3" descr="//img.tukuppt.com/aippt_tpl_uploads/25/07/01/686397e7b8f81.png"/>
          <p:cNvPicPr>
            <a:picLocks noChangeAspect="1"/>
          </p:cNvPicPr>
          <p:nvPr/>
        </p:nvPicPr>
        <p:blipFill>
          <a:blip r:embed="rId5"/>
          <a:srcRect/>
          <a:stretch/>
        </p:blipFill>
        <p:spPr>
          <a:xfrm>
            <a:off x="539206" y="312920"/>
            <a:ext cx="321318" cy="321734"/>
          </a:xfrm>
          <a:prstGeom prst="rect">
            <a:avLst/>
          </a:prstGeom>
        </p:spPr>
      </p:pic>
      <p:pic>
        <p:nvPicPr>
          <p:cNvPr id="11" name="Image 4" descr="//img.tukuppt.com/aippt_tpl_uploads/25/07/01/686397e7af1a3.png!/fwfh2/960x960"/>
          <p:cNvPicPr>
            <a:picLocks noChangeAspect="1"/>
          </p:cNvPicPr>
          <p:nvPr/>
        </p:nvPicPr>
        <p:blipFill>
          <a:blip r:embed="rId6"/>
          <a:srcRect l="36452" t="56544" b="34700"/>
          <a:stretch/>
        </p:blipFill>
        <p:spPr>
          <a:xfrm>
            <a:off x="-4836" y="-812736"/>
            <a:ext cx="9148837" cy="1019042"/>
          </a:xfrm>
          <a:prstGeom prst="rect">
            <a:avLst/>
          </a:prstGeom>
        </p:spPr>
      </p:pic>
      <p:pic>
        <p:nvPicPr>
          <p:cNvPr id="12" name="Image 5" descr="//img.tukuppt.com/aippt_tpl_uploads/25/07/01/686397e7af1a3.png!/fwfh2/960x960"/>
          <p:cNvPicPr>
            <a:picLocks noChangeAspect="1"/>
          </p:cNvPicPr>
          <p:nvPr/>
        </p:nvPicPr>
        <p:blipFill>
          <a:blip r:embed="rId6"/>
          <a:srcRect l="36452" t="56544" b="34700"/>
          <a:stretch/>
        </p:blipFill>
        <p:spPr>
          <a:xfrm>
            <a:off x="-61352" y="4937888"/>
            <a:ext cx="9313872" cy="1019042"/>
          </a:xfrm>
          <a:prstGeom prst="rect">
            <a:avLst/>
          </a:prstGeom>
        </p:spPr>
      </p:pic>
      <p:sp>
        <p:nvSpPr>
          <p:cNvPr id="13" name="Shape 5"/>
          <p:cNvSpPr/>
          <p:nvPr/>
        </p:nvSpPr>
        <p:spPr>
          <a:xfrm>
            <a:off x="729084" y="1387723"/>
            <a:ext cx="4100367" cy="2657038"/>
          </a:xfrm>
          <a:custGeom>
            <a:avLst/>
            <a:gdLst/>
            <a:ahLst/>
            <a:cxnLst/>
            <a:rect l="l" t="t" r="r" b="b"/>
            <a:pathLst>
              <a:path w="4100367" h="2657038">
                <a:moveTo>
                  <a:pt x="331946" y="0"/>
                </a:moveTo>
                <a:lnTo>
                  <a:pt x="3768090" y="0"/>
                </a:lnTo>
                <a:quadBezTo>
                  <a:pt x="4100513" y="0"/>
                  <a:pt x="4100513" y="331946"/>
                </a:quadBezTo>
                <a:lnTo>
                  <a:pt x="4100513" y="2325053"/>
                </a:lnTo>
                <a:quadBezTo>
                  <a:pt x="4100513" y="2656999"/>
                  <a:pt x="3768090" y="2656999"/>
                </a:quadBezTo>
                <a:lnTo>
                  <a:pt x="331946" y="2656999"/>
                </a:lnTo>
                <a:quadBezTo>
                  <a:pt x="0" y="2656999"/>
                  <a:pt x="0" y="2325053"/>
                </a:quadBezTo>
                <a:lnTo>
                  <a:pt x="0" y="331946"/>
                </a:lnTo>
                <a:quadBezTo>
                  <a:pt x="0" y="0"/>
                  <a:pt x="331946" y="0"/>
                </a:quadBezTo>
                <a:close/>
              </a:path>
            </a:pathLst>
          </a:custGeom>
          <a:blipFill rotWithShape="0">
            <a:blip r:embed="rId7">
              <a:alphaModFix/>
            </a:blip>
            <a:stretch>
              <a:fillRect l="-6261" r="-6261"/>
            </a:stretch>
          </a:blipFill>
          <a:ln/>
        </p:spPr>
      </p:sp>
      <p:sp>
        <p:nvSpPr>
          <p:cNvPr id="14" name="Text 6"/>
          <p:cNvSpPr txBox="1"/>
          <p:nvPr/>
        </p:nvSpPr>
        <p:spPr>
          <a:xfrm>
            <a:off x="5574840" y="1446919"/>
            <a:ext cx="2620654" cy="526407"/>
          </a:xfrm>
          <a:prstGeom prst="rect">
            <a:avLst/>
          </a:prstGeom>
          <a:noFill/>
          <a:ln/>
        </p:spPr>
        <p:txBody>
          <a:bodyPr wrap="square" lIns="0" tIns="0" rIns="0" bIns="0" rtlCol="0" anchor="ctr">
            <a:spAutoFit/>
          </a:bodyPr>
          <a:lstStyle/>
          <a:p>
            <a:pPr marL="0" indent="0" algn="l">
              <a:buNone/>
            </a:pPr>
            <a:r>
              <a:rPr lang="zh-CN" altLang="en-US" sz="1350" dirty="0">
                <a:solidFill>
                  <a:srgbClr val="333333"/>
                </a:solidFill>
                <a:latin typeface="SourceHanSansSC-Medium"/>
                <a:ea typeface="SourceHanSansSC-Medium"/>
                <a:cs typeface="SourceHanSansSC-Medium"/>
              </a:rPr>
              <a:t>业务影响</a:t>
            </a:r>
            <a:endParaRPr lang="en-US" sz="1350" dirty="0"/>
          </a:p>
        </p:txBody>
      </p:sp>
      <p:sp>
        <p:nvSpPr>
          <p:cNvPr id="15" name="Text 7"/>
          <p:cNvSpPr txBox="1"/>
          <p:nvPr/>
        </p:nvSpPr>
        <p:spPr>
          <a:xfrm>
            <a:off x="5574840" y="2120769"/>
            <a:ext cx="2641486" cy="1504786"/>
          </a:xfrm>
          <a:prstGeom prst="rect">
            <a:avLst/>
          </a:prstGeom>
          <a:noFill/>
          <a:ln/>
        </p:spPr>
        <p:txBody>
          <a:bodyPr wrap="square" lIns="0" tIns="0" rIns="0" bIns="0" rtlCol="0" anchor="t">
            <a:spAutoFit/>
          </a:bodyPr>
          <a:lstStyle/>
          <a:p>
            <a:pPr marL="0" indent="0" algn="l">
              <a:buNone/>
            </a:pPr>
            <a:r>
              <a:rPr lang="zh-CN" altLang="en-US" sz="900" kern="0" spc="38" dirty="0">
                <a:solidFill>
                  <a:srgbClr val="2A2A2A"/>
                </a:solidFill>
                <a:latin typeface="SourceHanSansSC-Regular"/>
                <a:ea typeface="SourceHanSansSC-Regular"/>
                <a:cs typeface="SourceHanSansSC-Regular"/>
              </a:rPr>
              <a:t>管理者是否增加或停产一个业务分部是重要决策之一，这关系到企业的整体盈利和发展。例如，洛弗尔公司考虑停产数字手表生产线，需要综合考虑各种因素。</a:t>
            </a:r>
            <a:endParaRPr lang="en-US" sz="900" dirty="0"/>
          </a:p>
        </p:txBody>
      </p:sp>
      <p:pic>
        <p:nvPicPr>
          <p:cNvPr id="16" name="Image 6"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574840" y="3831483"/>
            <a:ext cx="909382" cy="160658"/>
          </a:xfrm>
          <a:prstGeom prst="rect">
            <a:avLst/>
          </a:prstGeom>
        </p:spPr>
      </p:pic>
    </p:spTree>
    <p:extLst>
      <p:ext uri="{BB962C8B-B14F-4D97-AF65-F5344CB8AC3E}">
        <p14:creationId xmlns:p14="http://schemas.microsoft.com/office/powerpoint/2010/main" val="31386552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img.tukuppt.com/aippt_uploads/34576449/25/07/03/6866a18678cda.png!/fwfh2/960x960"/>
          <p:cNvPicPr>
            <a:picLocks noChangeAspect="1"/>
          </p:cNvPicPr>
          <p:nvPr/>
        </p:nvPicPr>
        <p:blipFill>
          <a:blip r:embed="rId3"/>
          <a:stretch>
            <a:fillRect/>
          </a:stretch>
        </p:blipFill>
        <p:spPr>
          <a:xfrm>
            <a:off x="0" y="0"/>
            <a:ext cx="9140180" cy="5131830"/>
          </a:xfrm>
          <a:prstGeom prst="rect">
            <a:avLst/>
          </a:prstGeom>
        </p:spPr>
      </p:pic>
      <p:sp>
        <p:nvSpPr>
          <p:cNvPr id="3" name="Shape 0"/>
          <p:cNvSpPr/>
          <p:nvPr/>
        </p:nvSpPr>
        <p:spPr>
          <a:xfrm>
            <a:off x="979384" y="287863"/>
            <a:ext cx="2872893" cy="412023"/>
          </a:xfrm>
          <a:custGeom>
            <a:avLst/>
            <a:gdLst/>
            <a:ahLst/>
            <a:cxnLst/>
            <a:rect l="l" t="t" r="r" b="b"/>
            <a:pathLst>
              <a:path w="2872893" h="412023">
                <a:moveTo>
                  <a:pt x="68568" y="0"/>
                </a:moveTo>
                <a:lnTo>
                  <a:pt x="2803673" y="0"/>
                </a:lnTo>
                <a:cubicBezTo>
                  <a:pt x="2841542" y="0"/>
                  <a:pt x="2872241" y="30699"/>
                  <a:pt x="2872241" y="68568"/>
                </a:cubicBezTo>
                <a:lnTo>
                  <a:pt x="2872241" y="342840"/>
                </a:lnTo>
                <a:cubicBezTo>
                  <a:pt x="2872241" y="380710"/>
                  <a:pt x="2841542" y="411409"/>
                  <a:pt x="2803673" y="411409"/>
                </a:cubicBezTo>
                <a:lnTo>
                  <a:pt x="68568" y="411409"/>
                </a:lnTo>
                <a:cubicBezTo>
                  <a:pt x="30699" y="411409"/>
                  <a:pt x="0" y="380710"/>
                  <a:pt x="0" y="342840"/>
                </a:cubicBezTo>
                <a:lnTo>
                  <a:pt x="0" y="68568"/>
                </a:lnTo>
                <a:cubicBezTo>
                  <a:pt x="0" y="30724"/>
                  <a:pt x="30724" y="0"/>
                  <a:pt x="68568" y="0"/>
                </a:cubicBezTo>
                <a:close/>
              </a:path>
            </a:pathLst>
          </a:custGeom>
          <a:solidFill>
            <a:srgbClr val="0067B4"/>
          </a:solidFill>
          <a:ln/>
          <a:effectLst>
            <a:outerShdw dist="38093" dir="2700000" algn="bl" rotWithShape="0">
              <a:srgbClr val="000000">
                <a:alpha val="38824"/>
              </a:srgbClr>
            </a:outerShdw>
          </a:effectLst>
        </p:spPr>
      </p:sp>
      <p:sp>
        <p:nvSpPr>
          <p:cNvPr id="4" name="Shape 1"/>
          <p:cNvSpPr/>
          <p:nvPr/>
        </p:nvSpPr>
        <p:spPr>
          <a:xfrm>
            <a:off x="1188456" y="329442"/>
            <a:ext cx="2735844" cy="339064"/>
          </a:xfrm>
          <a:custGeom>
            <a:avLst/>
            <a:gdLst/>
            <a:ahLst/>
            <a:cxnLst/>
            <a:rect l="l" t="t" r="r" b="b"/>
            <a:pathLst>
              <a:path w="2735844" h="339064">
                <a:moveTo>
                  <a:pt x="0" y="0"/>
                </a:moveTo>
                <a:lnTo>
                  <a:pt x="2735844" y="0"/>
                </a:lnTo>
                <a:lnTo>
                  <a:pt x="2735844" y="339064"/>
                </a:lnTo>
                <a:lnTo>
                  <a:pt x="0" y="339064"/>
                </a:lnTo>
                <a:close/>
              </a:path>
            </a:pathLst>
          </a:custGeom>
          <a:noFill/>
          <a:ln/>
        </p:spPr>
      </p:sp>
      <p:sp>
        <p:nvSpPr>
          <p:cNvPr id="5" name="Text 2"/>
          <p:cNvSpPr txBox="1"/>
          <p:nvPr/>
        </p:nvSpPr>
        <p:spPr>
          <a:xfrm>
            <a:off x="1188456" y="329442"/>
            <a:ext cx="2735844" cy="339064"/>
          </a:xfrm>
          <a:prstGeom prst="rect">
            <a:avLst/>
          </a:prstGeom>
          <a:noFill/>
          <a:ln/>
        </p:spPr>
        <p:txBody>
          <a:bodyPr wrap="square" lIns="1252" tIns="653" rIns="1252" bIns="653" rtlCol="0" anchor="t">
            <a:spAutoFit/>
          </a:bodyPr>
          <a:lstStyle/>
          <a:p>
            <a:pPr marL="0" indent="0" algn="l">
              <a:buNone/>
            </a:pPr>
            <a:r>
              <a:rPr lang="zh-CN" altLang="en-US" sz="1601" dirty="0">
                <a:solidFill>
                  <a:srgbClr val="64CBFF"/>
                </a:solidFill>
                <a:latin typeface="SourceHanSansSC-Medium"/>
                <a:ea typeface="SourceHanSansSC-Medium"/>
                <a:cs typeface="SourceHanSansSC-Medium"/>
              </a:rPr>
              <a:t>贡献毛利法</a:t>
            </a:r>
            <a:endParaRPr lang="en-US" sz="1601" dirty="0"/>
          </a:p>
        </p:txBody>
      </p:sp>
      <p:sp>
        <p:nvSpPr>
          <p:cNvPr id="6" name="Shape 3"/>
          <p:cNvSpPr/>
          <p:nvPr/>
        </p:nvSpPr>
        <p:spPr>
          <a:xfrm>
            <a:off x="471488" y="198466"/>
            <a:ext cx="461756" cy="542999"/>
          </a:xfrm>
          <a:custGeom>
            <a:avLst/>
            <a:gdLst/>
            <a:ahLst/>
            <a:cxnLst/>
            <a:rect l="l" t="t" r="r" b="b"/>
            <a:pathLst>
              <a:path w="461756" h="542999">
                <a:moveTo>
                  <a:pt x="77457" y="0"/>
                </a:moveTo>
                <a:lnTo>
                  <a:pt x="384743" y="0"/>
                </a:lnTo>
                <a:cubicBezTo>
                  <a:pt x="427521" y="0"/>
                  <a:pt x="462200" y="34678"/>
                  <a:pt x="462200" y="77457"/>
                </a:cubicBezTo>
                <a:lnTo>
                  <a:pt x="462200" y="466009"/>
                </a:lnTo>
                <a:cubicBezTo>
                  <a:pt x="462200" y="508787"/>
                  <a:pt x="427521" y="543466"/>
                  <a:pt x="384743" y="543466"/>
                </a:cubicBezTo>
                <a:lnTo>
                  <a:pt x="77457" y="543466"/>
                </a:lnTo>
                <a:cubicBezTo>
                  <a:pt x="34678" y="543466"/>
                  <a:pt x="0" y="508787"/>
                  <a:pt x="0" y="466009"/>
                </a:cubicBezTo>
                <a:lnTo>
                  <a:pt x="0" y="77457"/>
                </a:lnTo>
                <a:cubicBezTo>
                  <a:pt x="0" y="34678"/>
                  <a:pt x="34678" y="0"/>
                  <a:pt x="77457" y="0"/>
                </a:cubicBezTo>
                <a:close/>
              </a:path>
            </a:pathLst>
          </a:custGeom>
          <a:solidFill>
            <a:srgbClr val="0067B4"/>
          </a:solidFill>
          <a:ln/>
          <a:effectLst>
            <a:outerShdw dist="38093" dir="2700000" algn="bl" rotWithShape="0">
              <a:srgbClr val="000000">
                <a:alpha val="38824"/>
              </a:srgbClr>
            </a:outerShdw>
          </a:effectLst>
        </p:spPr>
      </p:sp>
      <p:sp>
        <p:nvSpPr>
          <p:cNvPr id="7" name="Shape 4"/>
          <p:cNvSpPr/>
          <p:nvPr/>
        </p:nvSpPr>
        <p:spPr>
          <a:xfrm>
            <a:off x="482166" y="206110"/>
            <a:ext cx="433263" cy="535355"/>
          </a:xfrm>
          <a:custGeom>
            <a:avLst/>
            <a:gdLst/>
            <a:ahLst/>
            <a:cxnLst/>
            <a:rect l="l" t="t" r="r" b="b"/>
            <a:pathLst>
              <a:path w="433263" h="535355">
                <a:moveTo>
                  <a:pt x="73647" y="0"/>
                </a:moveTo>
                <a:lnTo>
                  <a:pt x="366966" y="0"/>
                </a:lnTo>
                <a:cubicBezTo>
                  <a:pt x="396171" y="0"/>
                  <a:pt x="421567" y="15237"/>
                  <a:pt x="432995" y="35554"/>
                </a:cubicBezTo>
                <a:cubicBezTo>
                  <a:pt x="186658" y="119359"/>
                  <a:pt x="11428" y="311096"/>
                  <a:pt x="1270" y="535847"/>
                </a:cubicBezTo>
                <a:cubicBezTo>
                  <a:pt x="0" y="533307"/>
                  <a:pt x="0" y="532038"/>
                  <a:pt x="0" y="529498"/>
                </a:cubicBezTo>
                <a:lnTo>
                  <a:pt x="0" y="60949"/>
                </a:lnTo>
                <a:cubicBezTo>
                  <a:pt x="0" y="26665"/>
                  <a:pt x="33014" y="0"/>
                  <a:pt x="73647" y="0"/>
                </a:cubicBezTo>
                <a:close/>
              </a:path>
            </a:pathLst>
          </a:custGeom>
          <a:gradFill>
            <a:gsLst>
              <a:gs pos="0">
                <a:srgbClr val="64CBFF">
                  <a:alpha val="34902"/>
                </a:srgbClr>
              </a:gs>
              <a:gs pos="100000">
                <a:srgbClr val="2F5897">
                  <a:alpha val="100000"/>
                </a:srgbClr>
              </a:gs>
            </a:gsLst>
            <a:lin ang="1200000" scaled="1"/>
          </a:gradFill>
          <a:ln/>
        </p:spPr>
      </p:sp>
      <p:pic>
        <p:nvPicPr>
          <p:cNvPr id="8" name="Image 1" descr="//img.tukuppt.com/aippt_tpl_uploads/25/07/01/686397e7ae4cf.png"/>
          <p:cNvPicPr>
            <a:picLocks noChangeAspect="1"/>
          </p:cNvPicPr>
          <p:nvPr/>
        </p:nvPicPr>
        <p:blipFill>
          <a:blip r:embed="rId4"/>
          <a:srcRect/>
          <a:stretch/>
        </p:blipFill>
        <p:spPr>
          <a:xfrm flipH="1">
            <a:off x="787710" y="346921"/>
            <a:ext cx="255659" cy="98905"/>
          </a:xfrm>
          <a:prstGeom prst="rect">
            <a:avLst/>
          </a:prstGeom>
        </p:spPr>
      </p:pic>
      <p:pic>
        <p:nvPicPr>
          <p:cNvPr id="9" name="Image 2" descr="//img.tukuppt.com/aippt_tpl_uploads/25/07/01/686397e7ae4cf.png"/>
          <p:cNvPicPr>
            <a:picLocks noChangeAspect="1"/>
          </p:cNvPicPr>
          <p:nvPr/>
        </p:nvPicPr>
        <p:blipFill>
          <a:blip r:embed="rId4"/>
          <a:srcRect/>
          <a:stretch/>
        </p:blipFill>
        <p:spPr>
          <a:xfrm flipH="1">
            <a:off x="787710" y="549201"/>
            <a:ext cx="255659" cy="98905"/>
          </a:xfrm>
          <a:prstGeom prst="rect">
            <a:avLst/>
          </a:prstGeom>
        </p:spPr>
      </p:pic>
      <p:pic>
        <p:nvPicPr>
          <p:cNvPr id="10" name="Image 3" descr="//img.tukuppt.com/aippt_tpl_uploads/25/07/01/686397e7b8f81.png"/>
          <p:cNvPicPr>
            <a:picLocks noChangeAspect="1"/>
          </p:cNvPicPr>
          <p:nvPr/>
        </p:nvPicPr>
        <p:blipFill>
          <a:blip r:embed="rId5"/>
          <a:srcRect/>
          <a:stretch/>
        </p:blipFill>
        <p:spPr>
          <a:xfrm>
            <a:off x="539206" y="312920"/>
            <a:ext cx="321318" cy="321734"/>
          </a:xfrm>
          <a:prstGeom prst="rect">
            <a:avLst/>
          </a:prstGeom>
        </p:spPr>
      </p:pic>
      <p:pic>
        <p:nvPicPr>
          <p:cNvPr id="11" name="Image 4" descr="//img.tukuppt.com/aippt_tpl_uploads/25/07/01/686397e7af1a3.png!/fwfh2/960x960"/>
          <p:cNvPicPr>
            <a:picLocks noChangeAspect="1"/>
          </p:cNvPicPr>
          <p:nvPr/>
        </p:nvPicPr>
        <p:blipFill>
          <a:blip r:embed="rId6"/>
          <a:srcRect l="36452" t="56544" b="34700"/>
          <a:stretch/>
        </p:blipFill>
        <p:spPr>
          <a:xfrm>
            <a:off x="-4836" y="-812736"/>
            <a:ext cx="9148837" cy="1019042"/>
          </a:xfrm>
          <a:prstGeom prst="rect">
            <a:avLst/>
          </a:prstGeom>
        </p:spPr>
      </p:pic>
      <p:pic>
        <p:nvPicPr>
          <p:cNvPr id="12" name="Image 5" descr="//img.tukuppt.com/aippt_tpl_uploads/25/07/01/686397e7af1a3.png!/fwfh2/960x960"/>
          <p:cNvPicPr>
            <a:picLocks noChangeAspect="1"/>
          </p:cNvPicPr>
          <p:nvPr/>
        </p:nvPicPr>
        <p:blipFill>
          <a:blip r:embed="rId6"/>
          <a:srcRect l="36452" t="56544" b="34700"/>
          <a:stretch/>
        </p:blipFill>
        <p:spPr>
          <a:xfrm>
            <a:off x="-61352" y="4937888"/>
            <a:ext cx="9313872" cy="1019042"/>
          </a:xfrm>
          <a:prstGeom prst="rect">
            <a:avLst/>
          </a:prstGeom>
        </p:spPr>
      </p:pic>
      <p:sp>
        <p:nvSpPr>
          <p:cNvPr id="13" name="Shape 5"/>
          <p:cNvSpPr/>
          <p:nvPr/>
        </p:nvSpPr>
        <p:spPr>
          <a:xfrm>
            <a:off x="2442741" y="2475771"/>
            <a:ext cx="899035" cy="1725434"/>
          </a:xfrm>
          <a:custGeom>
            <a:avLst/>
            <a:gdLst/>
            <a:ahLst/>
            <a:cxnLst/>
            <a:rect l="l" t="t" r="r" b="b"/>
            <a:pathLst>
              <a:path w="899035" h="1725434">
                <a:moveTo>
                  <a:pt x="0" y="0"/>
                </a:moveTo>
                <a:lnTo>
                  <a:pt x="899035" y="0"/>
                </a:lnTo>
                <a:lnTo>
                  <a:pt x="899035" y="1725434"/>
                </a:lnTo>
                <a:lnTo>
                  <a:pt x="0" y="1725434"/>
                </a:lnTo>
                <a:close/>
              </a:path>
            </a:pathLst>
          </a:custGeom>
          <a:solidFill>
            <a:srgbClr val="0067B4"/>
          </a:solidFill>
          <a:ln/>
        </p:spPr>
      </p:sp>
      <p:sp>
        <p:nvSpPr>
          <p:cNvPr id="14" name="Shape 6"/>
          <p:cNvSpPr/>
          <p:nvPr/>
        </p:nvSpPr>
        <p:spPr>
          <a:xfrm>
            <a:off x="983863" y="1418253"/>
            <a:ext cx="2178115" cy="2571750"/>
          </a:xfrm>
          <a:custGeom>
            <a:avLst/>
            <a:gdLst/>
            <a:ahLst/>
            <a:cxnLst/>
            <a:rect l="l" t="t" r="r" b="b"/>
            <a:pathLst>
              <a:path w="2178115" h="2571750">
                <a:moveTo>
                  <a:pt x="0" y="0"/>
                </a:moveTo>
                <a:lnTo>
                  <a:pt x="2178115" y="0"/>
                </a:lnTo>
                <a:lnTo>
                  <a:pt x="2178115" y="2571750"/>
                </a:lnTo>
                <a:lnTo>
                  <a:pt x="0" y="2571750"/>
                </a:lnTo>
                <a:close/>
              </a:path>
            </a:pathLst>
          </a:custGeom>
          <a:blipFill rotWithShape="0">
            <a:blip r:embed="rId7">
              <a:alphaModFix/>
            </a:blip>
            <a:stretch>
              <a:fillRect l="-39600" r="-39600"/>
            </a:stretch>
          </a:blipFill>
          <a:ln/>
        </p:spPr>
      </p:sp>
      <p:sp>
        <p:nvSpPr>
          <p:cNvPr id="15" name="Text 7"/>
          <p:cNvSpPr txBox="1"/>
          <p:nvPr/>
        </p:nvSpPr>
        <p:spPr>
          <a:xfrm>
            <a:off x="4115693" y="2164507"/>
            <a:ext cx="4071938" cy="342560"/>
          </a:xfrm>
          <a:prstGeom prst="rect">
            <a:avLst/>
          </a:prstGeom>
          <a:noFill/>
          <a:ln/>
        </p:spPr>
        <p:txBody>
          <a:bodyPr wrap="square" lIns="0" tIns="0" rIns="0" bIns="0" rtlCol="0" anchor="ctr">
            <a:spAutoFit/>
          </a:bodyPr>
          <a:lstStyle/>
          <a:p>
            <a:pPr marL="0" indent="0" algn="l">
              <a:buNone/>
            </a:pPr>
            <a:r>
              <a:rPr lang="zh-CN" altLang="en-US" sz="1350" b="1" kern="0" spc="75" dirty="0">
                <a:solidFill>
                  <a:srgbClr val="000000"/>
                </a:solidFill>
                <a:latin typeface="SourceHanSansSC-Regular"/>
                <a:ea typeface="SourceHanSansSC-Regular"/>
                <a:cs typeface="SourceHanSansSC-Regular"/>
              </a:rPr>
              <a:t>决策规则</a:t>
            </a:r>
            <a:endParaRPr lang="en-US" sz="1125" dirty="0"/>
          </a:p>
        </p:txBody>
      </p:sp>
      <p:sp>
        <p:nvSpPr>
          <p:cNvPr id="16" name="Shape 8"/>
          <p:cNvSpPr/>
          <p:nvPr/>
        </p:nvSpPr>
        <p:spPr>
          <a:xfrm>
            <a:off x="4115693" y="2475771"/>
            <a:ext cx="3910110" cy="0"/>
          </a:xfrm>
          <a:custGeom>
            <a:avLst/>
            <a:gdLst/>
            <a:ahLst/>
            <a:cxnLst/>
            <a:rect l="l" t="t" r="r" b="b"/>
            <a:pathLst>
              <a:path w="3910110">
                <a:moveTo>
                  <a:pt x="0" y="0"/>
                </a:moveTo>
                <a:lnTo>
                  <a:pt x="3910110" y="0"/>
                </a:lnTo>
              </a:path>
            </a:pathLst>
          </a:custGeom>
          <a:noFill/>
          <a:ln w="19050">
            <a:solidFill>
              <a:srgbClr val="0067B4"/>
            </a:solidFill>
            <a:prstDash val="solid"/>
            <a:headEnd type="none"/>
            <a:tailEnd type="none"/>
          </a:ln>
        </p:spPr>
      </p:sp>
      <p:sp>
        <p:nvSpPr>
          <p:cNvPr id="17" name="Text 9"/>
          <p:cNvSpPr txBox="1"/>
          <p:nvPr/>
        </p:nvSpPr>
        <p:spPr>
          <a:xfrm>
            <a:off x="4107250" y="2704128"/>
            <a:ext cx="3952875" cy="800100"/>
          </a:xfrm>
          <a:prstGeom prst="rect">
            <a:avLst/>
          </a:prstGeom>
          <a:noFill/>
          <a:ln/>
        </p:spPr>
        <p:txBody>
          <a:bodyPr wrap="square" lIns="0" tIns="0" rIns="0" bIns="0" rtlCol="0" anchor="t">
            <a:spAutoFit/>
          </a:bodyPr>
          <a:lstStyle/>
          <a:p>
            <a:pPr marL="0" indent="0" algn="l">
              <a:lnSpc>
                <a:spcPct val="112000"/>
              </a:lnSpc>
              <a:buNone/>
            </a:pPr>
            <a:r>
              <a:rPr lang="zh-CN" altLang="en-US" sz="900" dirty="0">
                <a:solidFill>
                  <a:srgbClr val="2A2A2A"/>
                </a:solidFill>
                <a:latin typeface="SourceHanSansSC-Regular"/>
                <a:ea typeface="SourceHanSansSC-Regular"/>
                <a:cs typeface="SourceHanSansSC-Regular"/>
              </a:rPr>
              <a:t>只有当固定成本节约额超过损失的贡献毛利时，停产业务分部才会使利润增加。在洛弗尔公司的案例中，需要分析数字手表分部的贡献毛利和固定成本情况，以确定是否应该停产。</a:t>
            </a:r>
            <a:endParaRPr lang="en-US" sz="900" dirty="0"/>
          </a:p>
        </p:txBody>
      </p:sp>
      <p:sp>
        <p:nvSpPr>
          <p:cNvPr id="18" name="文本框 17">
            <a:extLst>
              <a:ext uri="{FF2B5EF4-FFF2-40B4-BE49-F238E27FC236}">
                <a16:creationId xmlns:a16="http://schemas.microsoft.com/office/drawing/2014/main" id="{E527A5BC-2777-4156-92CC-0D24D9D32F67}"/>
              </a:ext>
            </a:extLst>
          </p:cNvPr>
          <p:cNvSpPr txBox="1"/>
          <p:nvPr/>
        </p:nvSpPr>
        <p:spPr>
          <a:xfrm>
            <a:off x="4060565" y="1107089"/>
            <a:ext cx="4099571" cy="738664"/>
          </a:xfrm>
          <a:prstGeom prst="rect">
            <a:avLst/>
          </a:prstGeom>
          <a:noFill/>
        </p:spPr>
        <p:txBody>
          <a:bodyPr wrap="square">
            <a:spAutoFit/>
          </a:bodyPr>
          <a:lstStyle/>
          <a:p>
            <a:r>
              <a:rPr lang="zh-CN" altLang="en-US" sz="1400" dirty="0"/>
              <a:t>由于数字手表受欢迎程度下降，洛弗尔公司的数字手表生产线已连续数年未实现盈利。洛弗尔公司正在考虑停产该产品线。</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img.tukuppt.com/aippt_uploads/34576449/25/07/03/6866a18678cda.png!/fwfh2/960x960"/>
          <p:cNvPicPr>
            <a:picLocks noChangeAspect="1"/>
          </p:cNvPicPr>
          <p:nvPr/>
        </p:nvPicPr>
        <p:blipFill>
          <a:blip r:embed="rId3"/>
          <a:stretch>
            <a:fillRect/>
          </a:stretch>
        </p:blipFill>
        <p:spPr>
          <a:xfrm>
            <a:off x="0" y="0"/>
            <a:ext cx="9140180" cy="5131830"/>
          </a:xfrm>
          <a:prstGeom prst="rect">
            <a:avLst/>
          </a:prstGeom>
        </p:spPr>
      </p:pic>
      <p:sp>
        <p:nvSpPr>
          <p:cNvPr id="3" name="Shape 0"/>
          <p:cNvSpPr/>
          <p:nvPr/>
        </p:nvSpPr>
        <p:spPr>
          <a:xfrm>
            <a:off x="979384" y="287863"/>
            <a:ext cx="2872893" cy="412023"/>
          </a:xfrm>
          <a:custGeom>
            <a:avLst/>
            <a:gdLst/>
            <a:ahLst/>
            <a:cxnLst/>
            <a:rect l="l" t="t" r="r" b="b"/>
            <a:pathLst>
              <a:path w="2872893" h="412023">
                <a:moveTo>
                  <a:pt x="68568" y="0"/>
                </a:moveTo>
                <a:lnTo>
                  <a:pt x="2803673" y="0"/>
                </a:lnTo>
                <a:cubicBezTo>
                  <a:pt x="2841542" y="0"/>
                  <a:pt x="2872241" y="30699"/>
                  <a:pt x="2872241" y="68568"/>
                </a:cubicBezTo>
                <a:lnTo>
                  <a:pt x="2872241" y="342840"/>
                </a:lnTo>
                <a:cubicBezTo>
                  <a:pt x="2872241" y="380710"/>
                  <a:pt x="2841542" y="411409"/>
                  <a:pt x="2803673" y="411409"/>
                </a:cubicBezTo>
                <a:lnTo>
                  <a:pt x="68568" y="411409"/>
                </a:lnTo>
                <a:cubicBezTo>
                  <a:pt x="30699" y="411409"/>
                  <a:pt x="0" y="380710"/>
                  <a:pt x="0" y="342840"/>
                </a:cubicBezTo>
                <a:lnTo>
                  <a:pt x="0" y="68568"/>
                </a:lnTo>
                <a:cubicBezTo>
                  <a:pt x="0" y="30724"/>
                  <a:pt x="30724" y="0"/>
                  <a:pt x="68568" y="0"/>
                </a:cubicBezTo>
                <a:close/>
              </a:path>
            </a:pathLst>
          </a:custGeom>
          <a:solidFill>
            <a:srgbClr val="0067B4"/>
          </a:solidFill>
          <a:ln/>
          <a:effectLst>
            <a:outerShdw dist="38093" dir="2700000" algn="bl" rotWithShape="0">
              <a:srgbClr val="000000">
                <a:alpha val="38824"/>
              </a:srgbClr>
            </a:outerShdw>
          </a:effectLst>
        </p:spPr>
      </p:sp>
      <p:sp>
        <p:nvSpPr>
          <p:cNvPr id="4" name="Shape 1"/>
          <p:cNvSpPr/>
          <p:nvPr/>
        </p:nvSpPr>
        <p:spPr>
          <a:xfrm>
            <a:off x="1188456" y="329442"/>
            <a:ext cx="2735844" cy="339064"/>
          </a:xfrm>
          <a:custGeom>
            <a:avLst/>
            <a:gdLst/>
            <a:ahLst/>
            <a:cxnLst/>
            <a:rect l="l" t="t" r="r" b="b"/>
            <a:pathLst>
              <a:path w="2735844" h="339064">
                <a:moveTo>
                  <a:pt x="0" y="0"/>
                </a:moveTo>
                <a:lnTo>
                  <a:pt x="2735844" y="0"/>
                </a:lnTo>
                <a:lnTo>
                  <a:pt x="2735844" y="339064"/>
                </a:lnTo>
                <a:lnTo>
                  <a:pt x="0" y="339064"/>
                </a:lnTo>
                <a:close/>
              </a:path>
            </a:pathLst>
          </a:custGeom>
          <a:noFill/>
          <a:ln/>
        </p:spPr>
      </p:sp>
      <p:sp>
        <p:nvSpPr>
          <p:cNvPr id="5" name="Text 2"/>
          <p:cNvSpPr txBox="1"/>
          <p:nvPr/>
        </p:nvSpPr>
        <p:spPr>
          <a:xfrm>
            <a:off x="1188456" y="329442"/>
            <a:ext cx="2735844" cy="339064"/>
          </a:xfrm>
          <a:prstGeom prst="rect">
            <a:avLst/>
          </a:prstGeom>
          <a:noFill/>
          <a:ln/>
        </p:spPr>
        <p:txBody>
          <a:bodyPr wrap="square" lIns="1252" tIns="653" rIns="1252" bIns="653" rtlCol="0" anchor="t">
            <a:spAutoFit/>
          </a:bodyPr>
          <a:lstStyle/>
          <a:p>
            <a:pPr marL="0" indent="0" algn="l">
              <a:buNone/>
            </a:pPr>
            <a:r>
              <a:rPr lang="zh-CN" altLang="en-US" sz="1601" dirty="0">
                <a:solidFill>
                  <a:srgbClr val="64CBFF"/>
                </a:solidFill>
                <a:latin typeface="SourceHanSansSC-Medium"/>
                <a:ea typeface="SourceHanSansSC-Medium"/>
                <a:cs typeface="SourceHanSansSC-Medium"/>
              </a:rPr>
              <a:t>贡献毛利法</a:t>
            </a:r>
            <a:endParaRPr lang="en-US" sz="1601" dirty="0"/>
          </a:p>
        </p:txBody>
      </p:sp>
      <p:sp>
        <p:nvSpPr>
          <p:cNvPr id="6" name="Shape 3"/>
          <p:cNvSpPr/>
          <p:nvPr/>
        </p:nvSpPr>
        <p:spPr>
          <a:xfrm>
            <a:off x="471488" y="198466"/>
            <a:ext cx="461756" cy="542999"/>
          </a:xfrm>
          <a:custGeom>
            <a:avLst/>
            <a:gdLst/>
            <a:ahLst/>
            <a:cxnLst/>
            <a:rect l="l" t="t" r="r" b="b"/>
            <a:pathLst>
              <a:path w="461756" h="542999">
                <a:moveTo>
                  <a:pt x="77457" y="0"/>
                </a:moveTo>
                <a:lnTo>
                  <a:pt x="384743" y="0"/>
                </a:lnTo>
                <a:cubicBezTo>
                  <a:pt x="427521" y="0"/>
                  <a:pt x="462200" y="34678"/>
                  <a:pt x="462200" y="77457"/>
                </a:cubicBezTo>
                <a:lnTo>
                  <a:pt x="462200" y="466009"/>
                </a:lnTo>
                <a:cubicBezTo>
                  <a:pt x="462200" y="508787"/>
                  <a:pt x="427521" y="543466"/>
                  <a:pt x="384743" y="543466"/>
                </a:cubicBezTo>
                <a:lnTo>
                  <a:pt x="77457" y="543466"/>
                </a:lnTo>
                <a:cubicBezTo>
                  <a:pt x="34678" y="543466"/>
                  <a:pt x="0" y="508787"/>
                  <a:pt x="0" y="466009"/>
                </a:cubicBezTo>
                <a:lnTo>
                  <a:pt x="0" y="77457"/>
                </a:lnTo>
                <a:cubicBezTo>
                  <a:pt x="0" y="34678"/>
                  <a:pt x="34678" y="0"/>
                  <a:pt x="77457" y="0"/>
                </a:cubicBezTo>
                <a:close/>
              </a:path>
            </a:pathLst>
          </a:custGeom>
          <a:solidFill>
            <a:srgbClr val="0067B4"/>
          </a:solidFill>
          <a:ln/>
          <a:effectLst>
            <a:outerShdw dist="38093" dir="2700000" algn="bl" rotWithShape="0">
              <a:srgbClr val="000000">
                <a:alpha val="38824"/>
              </a:srgbClr>
            </a:outerShdw>
          </a:effectLst>
        </p:spPr>
      </p:sp>
      <p:sp>
        <p:nvSpPr>
          <p:cNvPr id="7" name="Shape 4"/>
          <p:cNvSpPr/>
          <p:nvPr/>
        </p:nvSpPr>
        <p:spPr>
          <a:xfrm>
            <a:off x="482166" y="206110"/>
            <a:ext cx="433263" cy="535355"/>
          </a:xfrm>
          <a:custGeom>
            <a:avLst/>
            <a:gdLst/>
            <a:ahLst/>
            <a:cxnLst/>
            <a:rect l="l" t="t" r="r" b="b"/>
            <a:pathLst>
              <a:path w="433263" h="535355">
                <a:moveTo>
                  <a:pt x="73647" y="0"/>
                </a:moveTo>
                <a:lnTo>
                  <a:pt x="366966" y="0"/>
                </a:lnTo>
                <a:cubicBezTo>
                  <a:pt x="396171" y="0"/>
                  <a:pt x="421567" y="15237"/>
                  <a:pt x="432995" y="35554"/>
                </a:cubicBezTo>
                <a:cubicBezTo>
                  <a:pt x="186658" y="119359"/>
                  <a:pt x="11428" y="311096"/>
                  <a:pt x="1270" y="535847"/>
                </a:cubicBezTo>
                <a:cubicBezTo>
                  <a:pt x="0" y="533307"/>
                  <a:pt x="0" y="532038"/>
                  <a:pt x="0" y="529498"/>
                </a:cubicBezTo>
                <a:lnTo>
                  <a:pt x="0" y="60949"/>
                </a:lnTo>
                <a:cubicBezTo>
                  <a:pt x="0" y="26665"/>
                  <a:pt x="33014" y="0"/>
                  <a:pt x="73647" y="0"/>
                </a:cubicBezTo>
                <a:close/>
              </a:path>
            </a:pathLst>
          </a:custGeom>
          <a:gradFill>
            <a:gsLst>
              <a:gs pos="0">
                <a:srgbClr val="64CBFF">
                  <a:alpha val="34902"/>
                </a:srgbClr>
              </a:gs>
              <a:gs pos="100000">
                <a:srgbClr val="2F5897">
                  <a:alpha val="100000"/>
                </a:srgbClr>
              </a:gs>
            </a:gsLst>
            <a:lin ang="1200000" scaled="1"/>
          </a:gradFill>
          <a:ln/>
        </p:spPr>
      </p:sp>
      <p:pic>
        <p:nvPicPr>
          <p:cNvPr id="8" name="Image 1" descr="//img.tukuppt.com/aippt_tpl_uploads/25/07/01/686397e7ae4cf.png"/>
          <p:cNvPicPr>
            <a:picLocks noChangeAspect="1"/>
          </p:cNvPicPr>
          <p:nvPr/>
        </p:nvPicPr>
        <p:blipFill>
          <a:blip r:embed="rId4"/>
          <a:srcRect/>
          <a:stretch/>
        </p:blipFill>
        <p:spPr>
          <a:xfrm flipH="1">
            <a:off x="787710" y="346921"/>
            <a:ext cx="255659" cy="98905"/>
          </a:xfrm>
          <a:prstGeom prst="rect">
            <a:avLst/>
          </a:prstGeom>
        </p:spPr>
      </p:pic>
      <p:pic>
        <p:nvPicPr>
          <p:cNvPr id="9" name="Image 2" descr="//img.tukuppt.com/aippt_tpl_uploads/25/07/01/686397e7ae4cf.png"/>
          <p:cNvPicPr>
            <a:picLocks noChangeAspect="1"/>
          </p:cNvPicPr>
          <p:nvPr/>
        </p:nvPicPr>
        <p:blipFill>
          <a:blip r:embed="rId4"/>
          <a:srcRect/>
          <a:stretch/>
        </p:blipFill>
        <p:spPr>
          <a:xfrm flipH="1">
            <a:off x="787710" y="549201"/>
            <a:ext cx="255659" cy="98905"/>
          </a:xfrm>
          <a:prstGeom prst="rect">
            <a:avLst/>
          </a:prstGeom>
        </p:spPr>
      </p:pic>
      <p:pic>
        <p:nvPicPr>
          <p:cNvPr id="10" name="Image 3" descr="//img.tukuppt.com/aippt_tpl_uploads/25/07/01/686397e7b8f81.png"/>
          <p:cNvPicPr>
            <a:picLocks noChangeAspect="1"/>
          </p:cNvPicPr>
          <p:nvPr/>
        </p:nvPicPr>
        <p:blipFill>
          <a:blip r:embed="rId5"/>
          <a:srcRect/>
          <a:stretch/>
        </p:blipFill>
        <p:spPr>
          <a:xfrm>
            <a:off x="539206" y="312920"/>
            <a:ext cx="321318" cy="321734"/>
          </a:xfrm>
          <a:prstGeom prst="rect">
            <a:avLst/>
          </a:prstGeom>
        </p:spPr>
      </p:pic>
      <p:pic>
        <p:nvPicPr>
          <p:cNvPr id="11" name="Image 4" descr="//img.tukuppt.com/aippt_tpl_uploads/25/07/01/686397e7af1a3.png!/fwfh2/960x960"/>
          <p:cNvPicPr>
            <a:picLocks noChangeAspect="1"/>
          </p:cNvPicPr>
          <p:nvPr/>
        </p:nvPicPr>
        <p:blipFill>
          <a:blip r:embed="rId6"/>
          <a:srcRect l="36452" t="56544" b="34700"/>
          <a:stretch/>
        </p:blipFill>
        <p:spPr>
          <a:xfrm>
            <a:off x="-4836" y="-812736"/>
            <a:ext cx="9148837" cy="1019042"/>
          </a:xfrm>
          <a:prstGeom prst="rect">
            <a:avLst/>
          </a:prstGeom>
        </p:spPr>
      </p:pic>
      <p:pic>
        <p:nvPicPr>
          <p:cNvPr id="12" name="Image 5" descr="//img.tukuppt.com/aippt_tpl_uploads/25/07/01/686397e7af1a3.png!/fwfh2/960x960"/>
          <p:cNvPicPr>
            <a:picLocks noChangeAspect="1"/>
          </p:cNvPicPr>
          <p:nvPr/>
        </p:nvPicPr>
        <p:blipFill>
          <a:blip r:embed="rId6"/>
          <a:srcRect l="36452" t="56544" b="34700"/>
          <a:stretch/>
        </p:blipFill>
        <p:spPr>
          <a:xfrm>
            <a:off x="-61352" y="4937888"/>
            <a:ext cx="9313872" cy="1019042"/>
          </a:xfrm>
          <a:prstGeom prst="rect">
            <a:avLst/>
          </a:prstGeom>
        </p:spPr>
      </p:pic>
      <p:sp>
        <p:nvSpPr>
          <p:cNvPr id="13" name="Shape 5"/>
          <p:cNvSpPr/>
          <p:nvPr/>
        </p:nvSpPr>
        <p:spPr>
          <a:xfrm>
            <a:off x="2442741" y="2475771"/>
            <a:ext cx="899035" cy="1725434"/>
          </a:xfrm>
          <a:custGeom>
            <a:avLst/>
            <a:gdLst/>
            <a:ahLst/>
            <a:cxnLst/>
            <a:rect l="l" t="t" r="r" b="b"/>
            <a:pathLst>
              <a:path w="899035" h="1725434">
                <a:moveTo>
                  <a:pt x="0" y="0"/>
                </a:moveTo>
                <a:lnTo>
                  <a:pt x="899035" y="0"/>
                </a:lnTo>
                <a:lnTo>
                  <a:pt x="899035" y="1725434"/>
                </a:lnTo>
                <a:lnTo>
                  <a:pt x="0" y="1725434"/>
                </a:lnTo>
                <a:close/>
              </a:path>
            </a:pathLst>
          </a:custGeom>
          <a:solidFill>
            <a:srgbClr val="0067B4"/>
          </a:solidFill>
          <a:ln/>
        </p:spPr>
      </p:sp>
      <p:sp>
        <p:nvSpPr>
          <p:cNvPr id="14" name="Shape 6"/>
          <p:cNvSpPr/>
          <p:nvPr/>
        </p:nvSpPr>
        <p:spPr>
          <a:xfrm>
            <a:off x="983863" y="1418253"/>
            <a:ext cx="2178115" cy="2571750"/>
          </a:xfrm>
          <a:custGeom>
            <a:avLst/>
            <a:gdLst/>
            <a:ahLst/>
            <a:cxnLst/>
            <a:rect l="l" t="t" r="r" b="b"/>
            <a:pathLst>
              <a:path w="2178115" h="2571750">
                <a:moveTo>
                  <a:pt x="0" y="0"/>
                </a:moveTo>
                <a:lnTo>
                  <a:pt x="2178115" y="0"/>
                </a:lnTo>
                <a:lnTo>
                  <a:pt x="2178115" y="2571750"/>
                </a:lnTo>
                <a:lnTo>
                  <a:pt x="0" y="2571750"/>
                </a:lnTo>
                <a:close/>
              </a:path>
            </a:pathLst>
          </a:custGeom>
          <a:blipFill rotWithShape="0">
            <a:blip r:embed="rId7">
              <a:alphaModFix/>
            </a:blip>
            <a:stretch>
              <a:fillRect l="-39600" r="-39600"/>
            </a:stretch>
          </a:blipFill>
          <a:ln/>
        </p:spPr>
      </p:sp>
      <p:graphicFrame>
        <p:nvGraphicFramePr>
          <p:cNvPr id="19" name="表格 18">
            <a:extLst>
              <a:ext uri="{FF2B5EF4-FFF2-40B4-BE49-F238E27FC236}">
                <a16:creationId xmlns:a16="http://schemas.microsoft.com/office/drawing/2014/main" id="{7AAABCCB-09FC-44D3-842A-3001507DD712}"/>
              </a:ext>
            </a:extLst>
          </p:cNvPr>
          <p:cNvGraphicFramePr>
            <a:graphicFrameLocks noGrp="1"/>
          </p:cNvGraphicFramePr>
          <p:nvPr>
            <p:extLst>
              <p:ext uri="{D42A27DB-BD31-4B8C-83A1-F6EECF244321}">
                <p14:modId xmlns:p14="http://schemas.microsoft.com/office/powerpoint/2010/main" val="2352880518"/>
              </p:ext>
            </p:extLst>
          </p:nvPr>
        </p:nvGraphicFramePr>
        <p:xfrm>
          <a:off x="5062883" y="668506"/>
          <a:ext cx="3377191" cy="3924552"/>
        </p:xfrm>
        <a:graphic>
          <a:graphicData uri="http://schemas.openxmlformats.org/drawingml/2006/table">
            <a:tbl>
              <a:tblPr/>
              <a:tblGrid>
                <a:gridCol w="2016050">
                  <a:extLst>
                    <a:ext uri="{9D8B030D-6E8A-4147-A177-3AD203B41FA5}">
                      <a16:colId xmlns:a16="http://schemas.microsoft.com/office/drawing/2014/main" val="3100012266"/>
                    </a:ext>
                  </a:extLst>
                </a:gridCol>
                <a:gridCol w="1361141">
                  <a:extLst>
                    <a:ext uri="{9D8B030D-6E8A-4147-A177-3AD203B41FA5}">
                      <a16:colId xmlns:a16="http://schemas.microsoft.com/office/drawing/2014/main" val="2058018387"/>
                    </a:ext>
                  </a:extLst>
                </a:gridCol>
              </a:tblGrid>
              <a:tr h="191901">
                <a:tc>
                  <a:txBody>
                    <a:bodyPr/>
                    <a:lstStyle/>
                    <a:p>
                      <a:r>
                        <a:rPr lang="zh-CN" altLang="en-US" sz="1200"/>
                        <a:t>项目</a:t>
                      </a:r>
                    </a:p>
                  </a:txBody>
                  <a:tcPr marL="47975" marR="47975" marT="23988" marB="23988" anchor="ctr">
                    <a:lnL>
                      <a:noFill/>
                    </a:lnL>
                    <a:lnR>
                      <a:noFill/>
                    </a:lnR>
                    <a:lnT>
                      <a:noFill/>
                    </a:lnT>
                    <a:lnB>
                      <a:noFill/>
                    </a:lnB>
                  </a:tcPr>
                </a:tc>
                <a:tc>
                  <a:txBody>
                    <a:bodyPr/>
                    <a:lstStyle/>
                    <a:p>
                      <a:r>
                        <a:rPr lang="zh-CN" altLang="en-US" sz="1200"/>
                        <a:t>金额（美元）</a:t>
                      </a:r>
                    </a:p>
                  </a:txBody>
                  <a:tcPr marL="47975" marR="47975" marT="23988" marB="23988" anchor="ctr">
                    <a:lnL>
                      <a:noFill/>
                    </a:lnL>
                    <a:lnR>
                      <a:noFill/>
                    </a:lnR>
                    <a:lnT>
                      <a:noFill/>
                    </a:lnT>
                    <a:lnB>
                      <a:noFill/>
                    </a:lnB>
                  </a:tcPr>
                </a:tc>
                <a:extLst>
                  <a:ext uri="{0D108BD9-81ED-4DB2-BD59-A6C34878D82A}">
                    <a16:rowId xmlns:a16="http://schemas.microsoft.com/office/drawing/2014/main" val="1661803011"/>
                  </a:ext>
                </a:extLst>
              </a:tr>
              <a:tr h="191901">
                <a:tc>
                  <a:txBody>
                    <a:bodyPr/>
                    <a:lstStyle/>
                    <a:p>
                      <a:r>
                        <a:rPr lang="zh-CN" altLang="en-US" sz="1200" b="1"/>
                        <a:t>销售收入</a:t>
                      </a:r>
                      <a:endParaRPr lang="zh-CN" altLang="en-US" sz="1200"/>
                    </a:p>
                  </a:txBody>
                  <a:tcPr marL="47975" marR="47975" marT="23988" marB="23988" anchor="ctr">
                    <a:lnL>
                      <a:noFill/>
                    </a:lnL>
                    <a:lnR>
                      <a:noFill/>
                    </a:lnR>
                    <a:lnT>
                      <a:noFill/>
                    </a:lnT>
                    <a:lnB>
                      <a:noFill/>
                    </a:lnB>
                  </a:tcPr>
                </a:tc>
                <a:tc>
                  <a:txBody>
                    <a:bodyPr/>
                    <a:lstStyle/>
                    <a:p>
                      <a:r>
                        <a:rPr lang="en-US" altLang="zh-CN" sz="1200" b="1"/>
                        <a:t>$500,000</a:t>
                      </a:r>
                      <a:endParaRPr lang="zh-CN" altLang="en-US" sz="1200"/>
                    </a:p>
                  </a:txBody>
                  <a:tcPr marL="47975" marR="47975" marT="23988" marB="23988" anchor="ctr">
                    <a:lnL>
                      <a:noFill/>
                    </a:lnL>
                    <a:lnR>
                      <a:noFill/>
                    </a:lnR>
                    <a:lnT>
                      <a:noFill/>
                    </a:lnT>
                    <a:lnB>
                      <a:noFill/>
                    </a:lnB>
                  </a:tcPr>
                </a:tc>
                <a:extLst>
                  <a:ext uri="{0D108BD9-81ED-4DB2-BD59-A6C34878D82A}">
                    <a16:rowId xmlns:a16="http://schemas.microsoft.com/office/drawing/2014/main" val="202099956"/>
                  </a:ext>
                </a:extLst>
              </a:tr>
              <a:tr h="191901">
                <a:tc>
                  <a:txBody>
                    <a:bodyPr/>
                    <a:lstStyle/>
                    <a:p>
                      <a:r>
                        <a:rPr lang="zh-CN" altLang="en-US" sz="1200" b="1"/>
                        <a:t>减：变动费用</a:t>
                      </a:r>
                      <a:endParaRPr lang="zh-CN" altLang="en-US" sz="1200"/>
                    </a:p>
                  </a:txBody>
                  <a:tcPr marL="47975" marR="47975" marT="23988" marB="23988" anchor="ctr">
                    <a:lnL>
                      <a:noFill/>
                    </a:lnL>
                    <a:lnR>
                      <a:noFill/>
                    </a:lnR>
                    <a:lnT>
                      <a:noFill/>
                    </a:lnT>
                    <a:lnB>
                      <a:noFill/>
                    </a:lnB>
                  </a:tcPr>
                </a:tc>
                <a:tc>
                  <a:txBody>
                    <a:bodyPr/>
                    <a:lstStyle/>
                    <a:p>
                      <a:endParaRPr lang="zh-CN" altLang="en-US" sz="1200"/>
                    </a:p>
                  </a:txBody>
                  <a:tcPr marL="47975" marR="47975" marT="23988" marB="23988" anchor="ctr">
                    <a:lnL>
                      <a:noFill/>
                    </a:lnL>
                    <a:lnR>
                      <a:noFill/>
                    </a:lnR>
                    <a:lnT>
                      <a:noFill/>
                    </a:lnT>
                    <a:lnB>
                      <a:noFill/>
                    </a:lnB>
                  </a:tcPr>
                </a:tc>
                <a:extLst>
                  <a:ext uri="{0D108BD9-81ED-4DB2-BD59-A6C34878D82A}">
                    <a16:rowId xmlns:a16="http://schemas.microsoft.com/office/drawing/2014/main" val="2430224523"/>
                  </a:ext>
                </a:extLst>
              </a:tr>
              <a:tr h="191901">
                <a:tc>
                  <a:txBody>
                    <a:bodyPr/>
                    <a:lstStyle/>
                    <a:p>
                      <a:r>
                        <a:rPr lang="zh-CN" altLang="en-US" sz="1200"/>
                        <a:t>变动制造成本</a:t>
                      </a:r>
                    </a:p>
                  </a:txBody>
                  <a:tcPr marL="47975" marR="47975" marT="23988" marB="23988" anchor="ctr">
                    <a:lnL>
                      <a:noFill/>
                    </a:lnL>
                    <a:lnR>
                      <a:noFill/>
                    </a:lnR>
                    <a:lnT>
                      <a:noFill/>
                    </a:lnT>
                    <a:lnB>
                      <a:noFill/>
                    </a:lnB>
                  </a:tcPr>
                </a:tc>
                <a:tc>
                  <a:txBody>
                    <a:bodyPr/>
                    <a:lstStyle/>
                    <a:p>
                      <a:r>
                        <a:rPr lang="en-US" altLang="zh-CN" sz="1200"/>
                        <a:t>$120,000</a:t>
                      </a:r>
                    </a:p>
                  </a:txBody>
                  <a:tcPr marL="47975" marR="47975" marT="23988" marB="23988" anchor="ctr">
                    <a:lnL>
                      <a:noFill/>
                    </a:lnL>
                    <a:lnR>
                      <a:noFill/>
                    </a:lnR>
                    <a:lnT>
                      <a:noFill/>
                    </a:lnT>
                    <a:lnB>
                      <a:noFill/>
                    </a:lnB>
                  </a:tcPr>
                </a:tc>
                <a:extLst>
                  <a:ext uri="{0D108BD9-81ED-4DB2-BD59-A6C34878D82A}">
                    <a16:rowId xmlns:a16="http://schemas.microsoft.com/office/drawing/2014/main" val="3924158058"/>
                  </a:ext>
                </a:extLst>
              </a:tr>
              <a:tr h="191901">
                <a:tc>
                  <a:txBody>
                    <a:bodyPr/>
                    <a:lstStyle/>
                    <a:p>
                      <a:r>
                        <a:rPr lang="zh-CN" altLang="en-US" sz="1200"/>
                        <a:t>变动运输成本</a:t>
                      </a:r>
                    </a:p>
                  </a:txBody>
                  <a:tcPr marL="47975" marR="47975" marT="23988" marB="23988" anchor="ctr">
                    <a:lnL>
                      <a:noFill/>
                    </a:lnL>
                    <a:lnR>
                      <a:noFill/>
                    </a:lnR>
                    <a:lnT>
                      <a:noFill/>
                    </a:lnT>
                    <a:lnB>
                      <a:noFill/>
                    </a:lnB>
                  </a:tcPr>
                </a:tc>
                <a:tc>
                  <a:txBody>
                    <a:bodyPr/>
                    <a:lstStyle/>
                    <a:p>
                      <a:r>
                        <a:rPr lang="en-US" altLang="zh-CN" sz="1200"/>
                        <a:t>$5,000</a:t>
                      </a:r>
                    </a:p>
                  </a:txBody>
                  <a:tcPr marL="47975" marR="47975" marT="23988" marB="23988" anchor="ctr">
                    <a:lnL>
                      <a:noFill/>
                    </a:lnL>
                    <a:lnR>
                      <a:noFill/>
                    </a:lnR>
                    <a:lnT>
                      <a:noFill/>
                    </a:lnT>
                    <a:lnB>
                      <a:noFill/>
                    </a:lnB>
                  </a:tcPr>
                </a:tc>
                <a:extLst>
                  <a:ext uri="{0D108BD9-81ED-4DB2-BD59-A6C34878D82A}">
                    <a16:rowId xmlns:a16="http://schemas.microsoft.com/office/drawing/2014/main" val="1480576357"/>
                  </a:ext>
                </a:extLst>
              </a:tr>
              <a:tr h="191901">
                <a:tc>
                  <a:txBody>
                    <a:bodyPr/>
                    <a:lstStyle/>
                    <a:p>
                      <a:r>
                        <a:rPr lang="zh-CN" altLang="en-US" sz="1200"/>
                        <a:t>销售佣金</a:t>
                      </a:r>
                    </a:p>
                  </a:txBody>
                  <a:tcPr marL="47975" marR="47975" marT="23988" marB="23988" anchor="ctr">
                    <a:lnL>
                      <a:noFill/>
                    </a:lnL>
                    <a:lnR>
                      <a:noFill/>
                    </a:lnR>
                    <a:lnT>
                      <a:noFill/>
                    </a:lnT>
                    <a:lnB>
                      <a:noFill/>
                    </a:lnB>
                  </a:tcPr>
                </a:tc>
                <a:tc>
                  <a:txBody>
                    <a:bodyPr/>
                    <a:lstStyle/>
                    <a:p>
                      <a:r>
                        <a:rPr lang="en-US" altLang="zh-CN" sz="1200"/>
                        <a:t>$75,000</a:t>
                      </a:r>
                    </a:p>
                  </a:txBody>
                  <a:tcPr marL="47975" marR="47975" marT="23988" marB="23988" anchor="ctr">
                    <a:lnL>
                      <a:noFill/>
                    </a:lnL>
                    <a:lnR>
                      <a:noFill/>
                    </a:lnR>
                    <a:lnT>
                      <a:noFill/>
                    </a:lnT>
                    <a:lnB>
                      <a:noFill/>
                    </a:lnB>
                  </a:tcPr>
                </a:tc>
                <a:extLst>
                  <a:ext uri="{0D108BD9-81ED-4DB2-BD59-A6C34878D82A}">
                    <a16:rowId xmlns:a16="http://schemas.microsoft.com/office/drawing/2014/main" val="3294268020"/>
                  </a:ext>
                </a:extLst>
              </a:tr>
              <a:tr h="191901">
                <a:tc>
                  <a:txBody>
                    <a:bodyPr/>
                    <a:lstStyle/>
                    <a:p>
                      <a:r>
                        <a:rPr lang="zh-CN" altLang="en-US" sz="1200" b="1"/>
                        <a:t>变动费用合计</a:t>
                      </a:r>
                      <a:endParaRPr lang="zh-CN" altLang="en-US" sz="1200"/>
                    </a:p>
                  </a:txBody>
                  <a:tcPr marL="47975" marR="47975" marT="23988" marB="23988" anchor="ctr">
                    <a:lnL>
                      <a:noFill/>
                    </a:lnL>
                    <a:lnR>
                      <a:noFill/>
                    </a:lnR>
                    <a:lnT>
                      <a:noFill/>
                    </a:lnT>
                    <a:lnB>
                      <a:noFill/>
                    </a:lnB>
                  </a:tcPr>
                </a:tc>
                <a:tc>
                  <a:txBody>
                    <a:bodyPr/>
                    <a:lstStyle/>
                    <a:p>
                      <a:r>
                        <a:rPr lang="en-US" altLang="zh-CN" sz="1200" b="1"/>
                        <a:t>$200,000</a:t>
                      </a:r>
                      <a:endParaRPr lang="zh-CN" altLang="en-US" sz="1200"/>
                    </a:p>
                  </a:txBody>
                  <a:tcPr marL="47975" marR="47975" marT="23988" marB="23988" anchor="ctr">
                    <a:lnL>
                      <a:noFill/>
                    </a:lnL>
                    <a:lnR>
                      <a:noFill/>
                    </a:lnR>
                    <a:lnT>
                      <a:noFill/>
                    </a:lnT>
                    <a:lnB>
                      <a:noFill/>
                    </a:lnB>
                  </a:tcPr>
                </a:tc>
                <a:extLst>
                  <a:ext uri="{0D108BD9-81ED-4DB2-BD59-A6C34878D82A}">
                    <a16:rowId xmlns:a16="http://schemas.microsoft.com/office/drawing/2014/main" val="2003424949"/>
                  </a:ext>
                </a:extLst>
              </a:tr>
              <a:tr h="191901">
                <a:tc>
                  <a:txBody>
                    <a:bodyPr/>
                    <a:lstStyle/>
                    <a:p>
                      <a:r>
                        <a:rPr lang="zh-CN" altLang="en-US" sz="1200" b="1"/>
                        <a:t>贡献毛益</a:t>
                      </a:r>
                      <a:endParaRPr lang="zh-CN" altLang="en-US" sz="1200"/>
                    </a:p>
                  </a:txBody>
                  <a:tcPr marL="47975" marR="47975" marT="23988" marB="23988" anchor="ctr">
                    <a:lnL>
                      <a:noFill/>
                    </a:lnL>
                    <a:lnR>
                      <a:noFill/>
                    </a:lnR>
                    <a:lnT>
                      <a:noFill/>
                    </a:lnT>
                    <a:lnB>
                      <a:noFill/>
                    </a:lnB>
                  </a:tcPr>
                </a:tc>
                <a:tc>
                  <a:txBody>
                    <a:bodyPr/>
                    <a:lstStyle/>
                    <a:p>
                      <a:r>
                        <a:rPr lang="en-US" altLang="zh-CN" sz="1200" b="1"/>
                        <a:t>$300,000</a:t>
                      </a:r>
                      <a:endParaRPr lang="zh-CN" altLang="en-US" sz="1200"/>
                    </a:p>
                  </a:txBody>
                  <a:tcPr marL="47975" marR="47975" marT="23988" marB="23988" anchor="ctr">
                    <a:lnL>
                      <a:noFill/>
                    </a:lnL>
                    <a:lnR>
                      <a:noFill/>
                    </a:lnR>
                    <a:lnT>
                      <a:noFill/>
                    </a:lnT>
                    <a:lnB>
                      <a:noFill/>
                    </a:lnB>
                  </a:tcPr>
                </a:tc>
                <a:extLst>
                  <a:ext uri="{0D108BD9-81ED-4DB2-BD59-A6C34878D82A}">
                    <a16:rowId xmlns:a16="http://schemas.microsoft.com/office/drawing/2014/main" val="3327181134"/>
                  </a:ext>
                </a:extLst>
              </a:tr>
              <a:tr h="191901">
                <a:tc>
                  <a:txBody>
                    <a:bodyPr/>
                    <a:lstStyle/>
                    <a:p>
                      <a:r>
                        <a:rPr lang="zh-CN" altLang="en-US" sz="1200" b="1"/>
                        <a:t>减：固定费用</a:t>
                      </a:r>
                      <a:endParaRPr lang="zh-CN" altLang="en-US" sz="1200"/>
                    </a:p>
                  </a:txBody>
                  <a:tcPr marL="47975" marR="47975" marT="23988" marB="23988" anchor="ctr">
                    <a:lnL>
                      <a:noFill/>
                    </a:lnL>
                    <a:lnR>
                      <a:noFill/>
                    </a:lnR>
                    <a:lnT>
                      <a:noFill/>
                    </a:lnT>
                    <a:lnB>
                      <a:noFill/>
                    </a:lnB>
                  </a:tcPr>
                </a:tc>
                <a:tc>
                  <a:txBody>
                    <a:bodyPr/>
                    <a:lstStyle/>
                    <a:p>
                      <a:endParaRPr lang="zh-CN" altLang="en-US" sz="1200"/>
                    </a:p>
                  </a:txBody>
                  <a:tcPr marL="47975" marR="47975" marT="23988" marB="23988" anchor="ctr">
                    <a:lnL>
                      <a:noFill/>
                    </a:lnL>
                    <a:lnR>
                      <a:noFill/>
                    </a:lnR>
                    <a:lnT>
                      <a:noFill/>
                    </a:lnT>
                    <a:lnB>
                      <a:noFill/>
                    </a:lnB>
                  </a:tcPr>
                </a:tc>
                <a:extLst>
                  <a:ext uri="{0D108BD9-81ED-4DB2-BD59-A6C34878D82A}">
                    <a16:rowId xmlns:a16="http://schemas.microsoft.com/office/drawing/2014/main" val="260085413"/>
                  </a:ext>
                </a:extLst>
              </a:tr>
              <a:tr h="191901">
                <a:tc>
                  <a:txBody>
                    <a:bodyPr/>
                    <a:lstStyle/>
                    <a:p>
                      <a:r>
                        <a:rPr lang="zh-CN" altLang="en-US" sz="1200"/>
                        <a:t>工厂通用制造费用</a:t>
                      </a:r>
                    </a:p>
                  </a:txBody>
                  <a:tcPr marL="47975" marR="47975" marT="23988" marB="23988" anchor="ctr">
                    <a:lnL>
                      <a:noFill/>
                    </a:lnL>
                    <a:lnR>
                      <a:noFill/>
                    </a:lnR>
                    <a:lnT>
                      <a:noFill/>
                    </a:lnT>
                    <a:lnB>
                      <a:noFill/>
                    </a:lnB>
                  </a:tcPr>
                </a:tc>
                <a:tc>
                  <a:txBody>
                    <a:bodyPr/>
                    <a:lstStyle/>
                    <a:p>
                      <a:r>
                        <a:rPr lang="en-US" altLang="zh-CN" sz="1200"/>
                        <a:t>$60,000</a:t>
                      </a:r>
                    </a:p>
                  </a:txBody>
                  <a:tcPr marL="47975" marR="47975" marT="23988" marB="23988" anchor="ctr">
                    <a:lnL>
                      <a:noFill/>
                    </a:lnL>
                    <a:lnR>
                      <a:noFill/>
                    </a:lnR>
                    <a:lnT>
                      <a:noFill/>
                    </a:lnT>
                    <a:lnB>
                      <a:noFill/>
                    </a:lnB>
                  </a:tcPr>
                </a:tc>
                <a:extLst>
                  <a:ext uri="{0D108BD9-81ED-4DB2-BD59-A6C34878D82A}">
                    <a16:rowId xmlns:a16="http://schemas.microsoft.com/office/drawing/2014/main" val="3954867352"/>
                  </a:ext>
                </a:extLst>
              </a:tr>
              <a:tr h="191901">
                <a:tc>
                  <a:txBody>
                    <a:bodyPr/>
                    <a:lstStyle/>
                    <a:p>
                      <a:r>
                        <a:rPr lang="zh-CN" altLang="en-US" sz="1200"/>
                        <a:t>生产线经理薪资</a:t>
                      </a:r>
                    </a:p>
                  </a:txBody>
                  <a:tcPr marL="47975" marR="47975" marT="23988" marB="23988" anchor="ctr">
                    <a:lnL>
                      <a:noFill/>
                    </a:lnL>
                    <a:lnR>
                      <a:noFill/>
                    </a:lnR>
                    <a:lnT>
                      <a:noFill/>
                    </a:lnT>
                    <a:lnB>
                      <a:noFill/>
                    </a:lnB>
                  </a:tcPr>
                </a:tc>
                <a:tc>
                  <a:txBody>
                    <a:bodyPr/>
                    <a:lstStyle/>
                    <a:p>
                      <a:r>
                        <a:rPr lang="en-US" altLang="zh-CN" sz="1200"/>
                        <a:t>$90,000</a:t>
                      </a:r>
                    </a:p>
                  </a:txBody>
                  <a:tcPr marL="47975" marR="47975" marT="23988" marB="23988" anchor="ctr">
                    <a:lnL>
                      <a:noFill/>
                    </a:lnL>
                    <a:lnR>
                      <a:noFill/>
                    </a:lnR>
                    <a:lnT>
                      <a:noFill/>
                    </a:lnT>
                    <a:lnB>
                      <a:noFill/>
                    </a:lnB>
                  </a:tcPr>
                </a:tc>
                <a:extLst>
                  <a:ext uri="{0D108BD9-81ED-4DB2-BD59-A6C34878D82A}">
                    <a16:rowId xmlns:a16="http://schemas.microsoft.com/office/drawing/2014/main" val="438616613"/>
                  </a:ext>
                </a:extLst>
              </a:tr>
              <a:tr h="191901">
                <a:tc>
                  <a:txBody>
                    <a:bodyPr/>
                    <a:lstStyle/>
                    <a:p>
                      <a:r>
                        <a:rPr lang="zh-CN" altLang="en-US" sz="1200"/>
                        <a:t>设备折旧</a:t>
                      </a:r>
                    </a:p>
                  </a:txBody>
                  <a:tcPr marL="47975" marR="47975" marT="23988" marB="23988" anchor="ctr">
                    <a:lnL>
                      <a:noFill/>
                    </a:lnL>
                    <a:lnR>
                      <a:noFill/>
                    </a:lnR>
                    <a:lnT>
                      <a:noFill/>
                    </a:lnT>
                    <a:lnB>
                      <a:noFill/>
                    </a:lnB>
                  </a:tcPr>
                </a:tc>
                <a:tc>
                  <a:txBody>
                    <a:bodyPr/>
                    <a:lstStyle/>
                    <a:p>
                      <a:r>
                        <a:rPr lang="en-US" altLang="zh-CN" sz="1200"/>
                        <a:t>$50,000</a:t>
                      </a:r>
                    </a:p>
                  </a:txBody>
                  <a:tcPr marL="47975" marR="47975" marT="23988" marB="23988" anchor="ctr">
                    <a:lnL>
                      <a:noFill/>
                    </a:lnL>
                    <a:lnR>
                      <a:noFill/>
                    </a:lnR>
                    <a:lnT>
                      <a:noFill/>
                    </a:lnT>
                    <a:lnB>
                      <a:noFill/>
                    </a:lnB>
                  </a:tcPr>
                </a:tc>
                <a:extLst>
                  <a:ext uri="{0D108BD9-81ED-4DB2-BD59-A6C34878D82A}">
                    <a16:rowId xmlns:a16="http://schemas.microsoft.com/office/drawing/2014/main" val="1678815867"/>
                  </a:ext>
                </a:extLst>
              </a:tr>
              <a:tr h="191901">
                <a:tc>
                  <a:txBody>
                    <a:bodyPr/>
                    <a:lstStyle/>
                    <a:p>
                      <a:r>
                        <a:rPr lang="zh-CN" altLang="en-US" sz="1200"/>
                        <a:t>直接广告费用</a:t>
                      </a:r>
                    </a:p>
                  </a:txBody>
                  <a:tcPr marL="47975" marR="47975" marT="23988" marB="23988" anchor="ctr">
                    <a:lnL>
                      <a:noFill/>
                    </a:lnL>
                    <a:lnR>
                      <a:noFill/>
                    </a:lnR>
                    <a:lnT>
                      <a:noFill/>
                    </a:lnT>
                    <a:lnB>
                      <a:noFill/>
                    </a:lnB>
                  </a:tcPr>
                </a:tc>
                <a:tc>
                  <a:txBody>
                    <a:bodyPr/>
                    <a:lstStyle/>
                    <a:p>
                      <a:r>
                        <a:rPr lang="en-US" altLang="zh-CN" sz="1200"/>
                        <a:t>$100,000</a:t>
                      </a:r>
                    </a:p>
                  </a:txBody>
                  <a:tcPr marL="47975" marR="47975" marT="23988" marB="23988" anchor="ctr">
                    <a:lnL>
                      <a:noFill/>
                    </a:lnL>
                    <a:lnR>
                      <a:noFill/>
                    </a:lnR>
                    <a:lnT>
                      <a:noFill/>
                    </a:lnT>
                    <a:lnB>
                      <a:noFill/>
                    </a:lnB>
                  </a:tcPr>
                </a:tc>
                <a:extLst>
                  <a:ext uri="{0D108BD9-81ED-4DB2-BD59-A6C34878D82A}">
                    <a16:rowId xmlns:a16="http://schemas.microsoft.com/office/drawing/2014/main" val="3634040026"/>
                  </a:ext>
                </a:extLst>
              </a:tr>
              <a:tr h="191901">
                <a:tc>
                  <a:txBody>
                    <a:bodyPr/>
                    <a:lstStyle/>
                    <a:p>
                      <a:r>
                        <a:rPr lang="zh-CN" altLang="en-US" sz="1200"/>
                        <a:t>工厂场地租金</a:t>
                      </a:r>
                    </a:p>
                  </a:txBody>
                  <a:tcPr marL="47975" marR="47975" marT="23988" marB="23988" anchor="ctr">
                    <a:lnL>
                      <a:noFill/>
                    </a:lnL>
                    <a:lnR>
                      <a:noFill/>
                    </a:lnR>
                    <a:lnT>
                      <a:noFill/>
                    </a:lnT>
                    <a:lnB>
                      <a:noFill/>
                    </a:lnB>
                  </a:tcPr>
                </a:tc>
                <a:tc>
                  <a:txBody>
                    <a:bodyPr/>
                    <a:lstStyle/>
                    <a:p>
                      <a:r>
                        <a:rPr lang="en-US" altLang="zh-CN" sz="1200"/>
                        <a:t>$70,000</a:t>
                      </a:r>
                    </a:p>
                  </a:txBody>
                  <a:tcPr marL="47975" marR="47975" marT="23988" marB="23988" anchor="ctr">
                    <a:lnL>
                      <a:noFill/>
                    </a:lnL>
                    <a:lnR>
                      <a:noFill/>
                    </a:lnR>
                    <a:lnT>
                      <a:noFill/>
                    </a:lnT>
                    <a:lnB>
                      <a:noFill/>
                    </a:lnB>
                  </a:tcPr>
                </a:tc>
                <a:extLst>
                  <a:ext uri="{0D108BD9-81ED-4DB2-BD59-A6C34878D82A}">
                    <a16:rowId xmlns:a16="http://schemas.microsoft.com/office/drawing/2014/main" val="396886182"/>
                  </a:ext>
                </a:extLst>
              </a:tr>
              <a:tr h="191901">
                <a:tc>
                  <a:txBody>
                    <a:bodyPr/>
                    <a:lstStyle/>
                    <a:p>
                      <a:r>
                        <a:rPr lang="zh-CN" altLang="en-US" sz="1200"/>
                        <a:t>通用行政管理费用</a:t>
                      </a:r>
                    </a:p>
                  </a:txBody>
                  <a:tcPr marL="47975" marR="47975" marT="23988" marB="23988" anchor="ctr">
                    <a:lnL>
                      <a:noFill/>
                    </a:lnL>
                    <a:lnR>
                      <a:noFill/>
                    </a:lnR>
                    <a:lnT>
                      <a:noFill/>
                    </a:lnT>
                    <a:lnB>
                      <a:noFill/>
                    </a:lnB>
                  </a:tcPr>
                </a:tc>
                <a:tc>
                  <a:txBody>
                    <a:bodyPr/>
                    <a:lstStyle/>
                    <a:p>
                      <a:r>
                        <a:rPr lang="en-US" altLang="zh-CN" sz="1200"/>
                        <a:t>$30,000</a:t>
                      </a:r>
                    </a:p>
                  </a:txBody>
                  <a:tcPr marL="47975" marR="47975" marT="23988" marB="23988" anchor="ctr">
                    <a:lnL>
                      <a:noFill/>
                    </a:lnL>
                    <a:lnR>
                      <a:noFill/>
                    </a:lnR>
                    <a:lnT>
                      <a:noFill/>
                    </a:lnT>
                    <a:lnB>
                      <a:noFill/>
                    </a:lnB>
                  </a:tcPr>
                </a:tc>
                <a:extLst>
                  <a:ext uri="{0D108BD9-81ED-4DB2-BD59-A6C34878D82A}">
                    <a16:rowId xmlns:a16="http://schemas.microsoft.com/office/drawing/2014/main" val="555980665"/>
                  </a:ext>
                </a:extLst>
              </a:tr>
              <a:tr h="191901">
                <a:tc>
                  <a:txBody>
                    <a:bodyPr/>
                    <a:lstStyle/>
                    <a:p>
                      <a:r>
                        <a:rPr lang="zh-CN" altLang="en-US" sz="1200" b="1"/>
                        <a:t>固定费用合计</a:t>
                      </a:r>
                      <a:endParaRPr lang="zh-CN" altLang="en-US" sz="1200"/>
                    </a:p>
                  </a:txBody>
                  <a:tcPr marL="47975" marR="47975" marT="23988" marB="23988" anchor="ctr">
                    <a:lnL>
                      <a:noFill/>
                    </a:lnL>
                    <a:lnR>
                      <a:noFill/>
                    </a:lnR>
                    <a:lnT>
                      <a:noFill/>
                    </a:lnT>
                    <a:lnB>
                      <a:noFill/>
                    </a:lnB>
                  </a:tcPr>
                </a:tc>
                <a:tc>
                  <a:txBody>
                    <a:bodyPr/>
                    <a:lstStyle/>
                    <a:p>
                      <a:r>
                        <a:rPr lang="en-US" altLang="zh-CN" sz="1200" b="1"/>
                        <a:t>$400,000</a:t>
                      </a:r>
                      <a:endParaRPr lang="zh-CN" altLang="en-US" sz="1200"/>
                    </a:p>
                  </a:txBody>
                  <a:tcPr marL="47975" marR="47975" marT="23988" marB="23988" anchor="ctr">
                    <a:lnL>
                      <a:noFill/>
                    </a:lnL>
                    <a:lnR>
                      <a:noFill/>
                    </a:lnR>
                    <a:lnT>
                      <a:noFill/>
                    </a:lnT>
                    <a:lnB>
                      <a:noFill/>
                    </a:lnB>
                  </a:tcPr>
                </a:tc>
                <a:extLst>
                  <a:ext uri="{0D108BD9-81ED-4DB2-BD59-A6C34878D82A}">
                    <a16:rowId xmlns:a16="http://schemas.microsoft.com/office/drawing/2014/main" val="3797912570"/>
                  </a:ext>
                </a:extLst>
              </a:tr>
              <a:tr h="191901">
                <a:tc>
                  <a:txBody>
                    <a:bodyPr/>
                    <a:lstStyle/>
                    <a:p>
                      <a:r>
                        <a:rPr lang="zh-CN" altLang="en-US" sz="1200" b="1"/>
                        <a:t>营业净损失</a:t>
                      </a:r>
                      <a:endParaRPr lang="zh-CN" altLang="en-US" sz="1200"/>
                    </a:p>
                  </a:txBody>
                  <a:tcPr marL="47975" marR="47975" marT="23988" marB="23988" anchor="ctr">
                    <a:lnL>
                      <a:noFill/>
                    </a:lnL>
                    <a:lnR>
                      <a:noFill/>
                    </a:lnR>
                    <a:lnT>
                      <a:noFill/>
                    </a:lnT>
                    <a:lnB>
                      <a:noFill/>
                    </a:lnB>
                  </a:tcPr>
                </a:tc>
                <a:tc>
                  <a:txBody>
                    <a:bodyPr/>
                    <a:lstStyle/>
                    <a:p>
                      <a:r>
                        <a:rPr lang="en-US" altLang="zh-CN" sz="1200" b="1" dirty="0"/>
                        <a:t>$(100,000)</a:t>
                      </a:r>
                      <a:endParaRPr lang="zh-CN" altLang="en-US" sz="1200" dirty="0"/>
                    </a:p>
                  </a:txBody>
                  <a:tcPr marL="47975" marR="47975" marT="23988" marB="23988" anchor="ctr">
                    <a:lnL>
                      <a:noFill/>
                    </a:lnL>
                    <a:lnR>
                      <a:noFill/>
                    </a:lnR>
                    <a:lnT>
                      <a:noFill/>
                    </a:lnT>
                    <a:lnB>
                      <a:noFill/>
                    </a:lnB>
                  </a:tcPr>
                </a:tc>
                <a:extLst>
                  <a:ext uri="{0D108BD9-81ED-4DB2-BD59-A6C34878D82A}">
                    <a16:rowId xmlns:a16="http://schemas.microsoft.com/office/drawing/2014/main" val="3184047207"/>
                  </a:ext>
                </a:extLst>
              </a:tr>
            </a:tbl>
          </a:graphicData>
        </a:graphic>
      </p:graphicFrame>
      <p:sp>
        <p:nvSpPr>
          <p:cNvPr id="21" name="文本框 20">
            <a:extLst>
              <a:ext uri="{FF2B5EF4-FFF2-40B4-BE49-F238E27FC236}">
                <a16:creationId xmlns:a16="http://schemas.microsoft.com/office/drawing/2014/main" id="{1DF526AF-BF3C-4A06-9D22-D63F07A945B9}"/>
              </a:ext>
            </a:extLst>
          </p:cNvPr>
          <p:cNvSpPr txBox="1"/>
          <p:nvPr/>
        </p:nvSpPr>
        <p:spPr>
          <a:xfrm>
            <a:off x="2154347" y="-559884"/>
            <a:ext cx="4658496" cy="553998"/>
          </a:xfrm>
          <a:prstGeom prst="rect">
            <a:avLst/>
          </a:prstGeom>
          <a:solidFill>
            <a:schemeClr val="accent4">
              <a:lumMod val="40000"/>
              <a:lumOff val="60000"/>
            </a:schemeClr>
          </a:solidFill>
        </p:spPr>
        <p:txBody>
          <a:bodyPr wrap="square">
            <a:spAutoFit/>
          </a:bodyPr>
          <a:lstStyle/>
          <a:p>
            <a:r>
              <a:rPr lang="zh-CN" altLang="en-US" sz="1000" dirty="0">
                <a:effectLst/>
              </a:rPr>
              <a:t>调查显示，如果数字手表产品线被停产，</a:t>
            </a:r>
            <a:r>
              <a:rPr lang="zh-CN" altLang="en-US" sz="1000" b="1" dirty="0">
                <a:effectLst/>
              </a:rPr>
              <a:t>总的固定工厂间接费用及一般行政管理费用将不会受到影响</a:t>
            </a:r>
            <a:r>
              <a:rPr lang="zh-CN" altLang="en-US" sz="1000" dirty="0">
                <a:effectLst/>
              </a:rPr>
              <a:t>。目前分配给该产品的固定工厂间接费用及一般行政管理费用将被重新分配给其他产品线。</a:t>
            </a:r>
          </a:p>
        </p:txBody>
      </p:sp>
      <p:sp>
        <p:nvSpPr>
          <p:cNvPr id="23" name="文本框 22">
            <a:extLst>
              <a:ext uri="{FF2B5EF4-FFF2-40B4-BE49-F238E27FC236}">
                <a16:creationId xmlns:a16="http://schemas.microsoft.com/office/drawing/2014/main" id="{8D48437D-EC0E-4DD0-977B-80946C89253C}"/>
              </a:ext>
            </a:extLst>
          </p:cNvPr>
          <p:cNvSpPr txBox="1"/>
          <p:nvPr/>
        </p:nvSpPr>
        <p:spPr>
          <a:xfrm>
            <a:off x="4425137" y="93526"/>
            <a:ext cx="4652682" cy="307777"/>
          </a:xfrm>
          <a:prstGeom prst="rect">
            <a:avLst/>
          </a:prstGeom>
          <a:solidFill>
            <a:schemeClr val="accent5">
              <a:lumMod val="40000"/>
              <a:lumOff val="60000"/>
            </a:schemeClr>
          </a:solidFill>
        </p:spPr>
        <p:txBody>
          <a:bodyPr wrap="square">
            <a:spAutoFit/>
          </a:bodyPr>
          <a:lstStyle/>
          <a:p>
            <a:r>
              <a:rPr lang="zh-CN" altLang="en-US" sz="1400" dirty="0">
                <a:effectLst/>
              </a:rPr>
              <a:t>用于制造数字手表的设备</a:t>
            </a:r>
            <a:r>
              <a:rPr lang="zh-CN" altLang="en-US" sz="1400" b="1" dirty="0">
                <a:effectLst/>
              </a:rPr>
              <a:t>没有残值或替代用途</a:t>
            </a:r>
            <a:r>
              <a:rPr lang="zh-CN" altLang="en-US" sz="1400" dirty="0">
                <a:effectLst/>
              </a:rPr>
              <a:t>。</a:t>
            </a:r>
          </a:p>
        </p:txBody>
      </p:sp>
      <p:sp>
        <p:nvSpPr>
          <p:cNvPr id="25" name="文本框 24">
            <a:extLst>
              <a:ext uri="{FF2B5EF4-FFF2-40B4-BE49-F238E27FC236}">
                <a16:creationId xmlns:a16="http://schemas.microsoft.com/office/drawing/2014/main" id="{E54FC79C-BD87-479D-B580-FAC3CDCF3419}"/>
              </a:ext>
            </a:extLst>
          </p:cNvPr>
          <p:cNvSpPr txBox="1"/>
          <p:nvPr/>
        </p:nvSpPr>
        <p:spPr>
          <a:xfrm>
            <a:off x="3341776" y="4977941"/>
            <a:ext cx="4000318" cy="307777"/>
          </a:xfrm>
          <a:prstGeom prst="rect">
            <a:avLst/>
          </a:prstGeom>
          <a:solidFill>
            <a:schemeClr val="accent2">
              <a:lumMod val="40000"/>
              <a:lumOff val="60000"/>
            </a:schemeClr>
          </a:solidFill>
        </p:spPr>
        <p:txBody>
          <a:bodyPr wrap="square">
            <a:spAutoFit/>
          </a:bodyPr>
          <a:lstStyle/>
          <a:p>
            <a:r>
              <a:rPr lang="zh-CN" altLang="en-US" sz="1400" dirty="0">
                <a:effectLst/>
              </a:rPr>
              <a:t>洛弗尔公司应该</a:t>
            </a:r>
            <a:r>
              <a:rPr lang="zh-CN" altLang="en-US" sz="1400" b="1" dirty="0">
                <a:effectLst/>
              </a:rPr>
              <a:t>保留</a:t>
            </a:r>
            <a:r>
              <a:rPr lang="zh-CN" altLang="en-US" sz="1400" dirty="0">
                <a:effectLst/>
              </a:rPr>
              <a:t>还是</a:t>
            </a:r>
            <a:r>
              <a:rPr lang="zh-CN" altLang="en-US" sz="1400" b="1" dirty="0">
                <a:effectLst/>
              </a:rPr>
              <a:t>停产</a:t>
            </a:r>
            <a:r>
              <a:rPr lang="zh-CN" altLang="en-US" sz="1400" dirty="0">
                <a:effectLst/>
              </a:rPr>
              <a:t>数字手表分部？</a:t>
            </a:r>
          </a:p>
        </p:txBody>
      </p:sp>
    </p:spTree>
    <p:extLst>
      <p:ext uri="{BB962C8B-B14F-4D97-AF65-F5344CB8AC3E}">
        <p14:creationId xmlns:p14="http://schemas.microsoft.com/office/powerpoint/2010/main" val="31572198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img.tukuppt.com/aippt_uploads/34576449/25/07/03/6866a18678cda.png!/fwfh2/960x960"/>
          <p:cNvPicPr>
            <a:picLocks noChangeAspect="1"/>
          </p:cNvPicPr>
          <p:nvPr/>
        </p:nvPicPr>
        <p:blipFill>
          <a:blip r:embed="rId3"/>
          <a:stretch>
            <a:fillRect/>
          </a:stretch>
        </p:blipFill>
        <p:spPr>
          <a:xfrm>
            <a:off x="0" y="0"/>
            <a:ext cx="9140180" cy="5131830"/>
          </a:xfrm>
          <a:prstGeom prst="rect">
            <a:avLst/>
          </a:prstGeom>
        </p:spPr>
      </p:pic>
      <p:sp>
        <p:nvSpPr>
          <p:cNvPr id="3" name="Shape 0"/>
          <p:cNvSpPr/>
          <p:nvPr/>
        </p:nvSpPr>
        <p:spPr>
          <a:xfrm>
            <a:off x="979384" y="287863"/>
            <a:ext cx="2872893" cy="412023"/>
          </a:xfrm>
          <a:custGeom>
            <a:avLst/>
            <a:gdLst/>
            <a:ahLst/>
            <a:cxnLst/>
            <a:rect l="l" t="t" r="r" b="b"/>
            <a:pathLst>
              <a:path w="2872893" h="412023">
                <a:moveTo>
                  <a:pt x="68568" y="0"/>
                </a:moveTo>
                <a:lnTo>
                  <a:pt x="2803673" y="0"/>
                </a:lnTo>
                <a:cubicBezTo>
                  <a:pt x="2841542" y="0"/>
                  <a:pt x="2872241" y="30699"/>
                  <a:pt x="2872241" y="68568"/>
                </a:cubicBezTo>
                <a:lnTo>
                  <a:pt x="2872241" y="342840"/>
                </a:lnTo>
                <a:cubicBezTo>
                  <a:pt x="2872241" y="380710"/>
                  <a:pt x="2841542" y="411409"/>
                  <a:pt x="2803673" y="411409"/>
                </a:cubicBezTo>
                <a:lnTo>
                  <a:pt x="68568" y="411409"/>
                </a:lnTo>
                <a:cubicBezTo>
                  <a:pt x="30699" y="411409"/>
                  <a:pt x="0" y="380710"/>
                  <a:pt x="0" y="342840"/>
                </a:cubicBezTo>
                <a:lnTo>
                  <a:pt x="0" y="68568"/>
                </a:lnTo>
                <a:cubicBezTo>
                  <a:pt x="0" y="30724"/>
                  <a:pt x="30724" y="0"/>
                  <a:pt x="68568" y="0"/>
                </a:cubicBezTo>
                <a:close/>
              </a:path>
            </a:pathLst>
          </a:custGeom>
          <a:solidFill>
            <a:srgbClr val="0067B4"/>
          </a:solidFill>
          <a:ln/>
          <a:effectLst>
            <a:outerShdw dist="38093" dir="2700000" algn="bl" rotWithShape="0">
              <a:srgbClr val="000000">
                <a:alpha val="38824"/>
              </a:srgbClr>
            </a:outerShdw>
          </a:effectLst>
        </p:spPr>
      </p:sp>
      <p:sp>
        <p:nvSpPr>
          <p:cNvPr id="4" name="Shape 1"/>
          <p:cNvSpPr/>
          <p:nvPr/>
        </p:nvSpPr>
        <p:spPr>
          <a:xfrm>
            <a:off x="1188456" y="329442"/>
            <a:ext cx="2735844" cy="339064"/>
          </a:xfrm>
          <a:custGeom>
            <a:avLst/>
            <a:gdLst/>
            <a:ahLst/>
            <a:cxnLst/>
            <a:rect l="l" t="t" r="r" b="b"/>
            <a:pathLst>
              <a:path w="2735844" h="339064">
                <a:moveTo>
                  <a:pt x="0" y="0"/>
                </a:moveTo>
                <a:lnTo>
                  <a:pt x="2735844" y="0"/>
                </a:lnTo>
                <a:lnTo>
                  <a:pt x="2735844" y="339064"/>
                </a:lnTo>
                <a:lnTo>
                  <a:pt x="0" y="339064"/>
                </a:lnTo>
                <a:close/>
              </a:path>
            </a:pathLst>
          </a:custGeom>
          <a:noFill/>
          <a:ln/>
        </p:spPr>
      </p:sp>
      <p:sp>
        <p:nvSpPr>
          <p:cNvPr id="5" name="Text 2"/>
          <p:cNvSpPr txBox="1"/>
          <p:nvPr/>
        </p:nvSpPr>
        <p:spPr>
          <a:xfrm>
            <a:off x="1188456" y="329442"/>
            <a:ext cx="2735844" cy="339064"/>
          </a:xfrm>
          <a:prstGeom prst="rect">
            <a:avLst/>
          </a:prstGeom>
          <a:noFill/>
          <a:ln/>
        </p:spPr>
        <p:txBody>
          <a:bodyPr wrap="square" lIns="1252" tIns="653" rIns="1252" bIns="653" rtlCol="0" anchor="t">
            <a:spAutoFit/>
          </a:bodyPr>
          <a:lstStyle/>
          <a:p>
            <a:pPr marL="0" indent="0" algn="l">
              <a:buNone/>
            </a:pPr>
            <a:r>
              <a:rPr lang="zh-CN" altLang="en-US" sz="1601" dirty="0">
                <a:solidFill>
                  <a:srgbClr val="64CBFF"/>
                </a:solidFill>
                <a:latin typeface="SourceHanSansSC-Medium"/>
                <a:ea typeface="SourceHanSansSC-Medium"/>
                <a:cs typeface="SourceHanSansSC-Medium"/>
              </a:rPr>
              <a:t>比较利润表法</a:t>
            </a:r>
            <a:endParaRPr lang="en-US" sz="1601" dirty="0"/>
          </a:p>
        </p:txBody>
      </p:sp>
      <p:sp>
        <p:nvSpPr>
          <p:cNvPr id="6" name="Shape 3"/>
          <p:cNvSpPr/>
          <p:nvPr/>
        </p:nvSpPr>
        <p:spPr>
          <a:xfrm>
            <a:off x="471488" y="198466"/>
            <a:ext cx="461756" cy="542999"/>
          </a:xfrm>
          <a:custGeom>
            <a:avLst/>
            <a:gdLst/>
            <a:ahLst/>
            <a:cxnLst/>
            <a:rect l="l" t="t" r="r" b="b"/>
            <a:pathLst>
              <a:path w="461756" h="542999">
                <a:moveTo>
                  <a:pt x="77457" y="0"/>
                </a:moveTo>
                <a:lnTo>
                  <a:pt x="384743" y="0"/>
                </a:lnTo>
                <a:cubicBezTo>
                  <a:pt x="427521" y="0"/>
                  <a:pt x="462200" y="34678"/>
                  <a:pt x="462200" y="77457"/>
                </a:cubicBezTo>
                <a:lnTo>
                  <a:pt x="462200" y="466009"/>
                </a:lnTo>
                <a:cubicBezTo>
                  <a:pt x="462200" y="508787"/>
                  <a:pt x="427521" y="543466"/>
                  <a:pt x="384743" y="543466"/>
                </a:cubicBezTo>
                <a:lnTo>
                  <a:pt x="77457" y="543466"/>
                </a:lnTo>
                <a:cubicBezTo>
                  <a:pt x="34678" y="543466"/>
                  <a:pt x="0" y="508787"/>
                  <a:pt x="0" y="466009"/>
                </a:cubicBezTo>
                <a:lnTo>
                  <a:pt x="0" y="77457"/>
                </a:lnTo>
                <a:cubicBezTo>
                  <a:pt x="0" y="34678"/>
                  <a:pt x="34678" y="0"/>
                  <a:pt x="77457" y="0"/>
                </a:cubicBezTo>
                <a:close/>
              </a:path>
            </a:pathLst>
          </a:custGeom>
          <a:solidFill>
            <a:srgbClr val="0067B4"/>
          </a:solidFill>
          <a:ln/>
          <a:effectLst>
            <a:outerShdw dist="38093" dir="2700000" algn="bl" rotWithShape="0">
              <a:srgbClr val="000000">
                <a:alpha val="38824"/>
              </a:srgbClr>
            </a:outerShdw>
          </a:effectLst>
        </p:spPr>
      </p:sp>
      <p:sp>
        <p:nvSpPr>
          <p:cNvPr id="7" name="Shape 4"/>
          <p:cNvSpPr/>
          <p:nvPr/>
        </p:nvSpPr>
        <p:spPr>
          <a:xfrm>
            <a:off x="482166" y="206110"/>
            <a:ext cx="433263" cy="535355"/>
          </a:xfrm>
          <a:custGeom>
            <a:avLst/>
            <a:gdLst/>
            <a:ahLst/>
            <a:cxnLst/>
            <a:rect l="l" t="t" r="r" b="b"/>
            <a:pathLst>
              <a:path w="433263" h="535355">
                <a:moveTo>
                  <a:pt x="73647" y="0"/>
                </a:moveTo>
                <a:lnTo>
                  <a:pt x="366966" y="0"/>
                </a:lnTo>
                <a:cubicBezTo>
                  <a:pt x="396171" y="0"/>
                  <a:pt x="421567" y="15237"/>
                  <a:pt x="432995" y="35554"/>
                </a:cubicBezTo>
                <a:cubicBezTo>
                  <a:pt x="186658" y="119359"/>
                  <a:pt x="11428" y="311096"/>
                  <a:pt x="1270" y="535847"/>
                </a:cubicBezTo>
                <a:cubicBezTo>
                  <a:pt x="0" y="533307"/>
                  <a:pt x="0" y="532038"/>
                  <a:pt x="0" y="529498"/>
                </a:cubicBezTo>
                <a:lnTo>
                  <a:pt x="0" y="60949"/>
                </a:lnTo>
                <a:cubicBezTo>
                  <a:pt x="0" y="26665"/>
                  <a:pt x="33014" y="0"/>
                  <a:pt x="73647" y="0"/>
                </a:cubicBezTo>
                <a:close/>
              </a:path>
            </a:pathLst>
          </a:custGeom>
          <a:gradFill>
            <a:gsLst>
              <a:gs pos="0">
                <a:srgbClr val="64CBFF">
                  <a:alpha val="34902"/>
                </a:srgbClr>
              </a:gs>
              <a:gs pos="100000">
                <a:srgbClr val="2F5897">
                  <a:alpha val="100000"/>
                </a:srgbClr>
              </a:gs>
            </a:gsLst>
            <a:lin ang="1200000" scaled="1"/>
          </a:gradFill>
          <a:ln/>
        </p:spPr>
      </p:sp>
      <p:pic>
        <p:nvPicPr>
          <p:cNvPr id="8" name="Image 1" descr="//img.tukuppt.com/aippt_tpl_uploads/25/07/01/686397e7ae4cf.png"/>
          <p:cNvPicPr>
            <a:picLocks noChangeAspect="1"/>
          </p:cNvPicPr>
          <p:nvPr/>
        </p:nvPicPr>
        <p:blipFill>
          <a:blip r:embed="rId4"/>
          <a:srcRect/>
          <a:stretch/>
        </p:blipFill>
        <p:spPr>
          <a:xfrm flipH="1">
            <a:off x="787710" y="346921"/>
            <a:ext cx="255659" cy="98905"/>
          </a:xfrm>
          <a:prstGeom prst="rect">
            <a:avLst/>
          </a:prstGeom>
        </p:spPr>
      </p:pic>
      <p:pic>
        <p:nvPicPr>
          <p:cNvPr id="9" name="Image 2" descr="//img.tukuppt.com/aippt_tpl_uploads/25/07/01/686397e7ae4cf.png"/>
          <p:cNvPicPr>
            <a:picLocks noChangeAspect="1"/>
          </p:cNvPicPr>
          <p:nvPr/>
        </p:nvPicPr>
        <p:blipFill>
          <a:blip r:embed="rId4"/>
          <a:srcRect/>
          <a:stretch/>
        </p:blipFill>
        <p:spPr>
          <a:xfrm flipH="1">
            <a:off x="787710" y="549201"/>
            <a:ext cx="255659" cy="98905"/>
          </a:xfrm>
          <a:prstGeom prst="rect">
            <a:avLst/>
          </a:prstGeom>
        </p:spPr>
      </p:pic>
      <p:pic>
        <p:nvPicPr>
          <p:cNvPr id="10" name="Image 3" descr="//img.tukuppt.com/aippt_tpl_uploads/25/07/01/686397e7b8f81.png"/>
          <p:cNvPicPr>
            <a:picLocks noChangeAspect="1"/>
          </p:cNvPicPr>
          <p:nvPr/>
        </p:nvPicPr>
        <p:blipFill>
          <a:blip r:embed="rId5"/>
          <a:srcRect/>
          <a:stretch/>
        </p:blipFill>
        <p:spPr>
          <a:xfrm>
            <a:off x="539206" y="312920"/>
            <a:ext cx="321318" cy="321734"/>
          </a:xfrm>
          <a:prstGeom prst="rect">
            <a:avLst/>
          </a:prstGeom>
        </p:spPr>
      </p:pic>
      <p:pic>
        <p:nvPicPr>
          <p:cNvPr id="11" name="Image 4" descr="//img.tukuppt.com/aippt_tpl_uploads/25/07/01/686397e7af1a3.png!/fwfh2/960x960"/>
          <p:cNvPicPr>
            <a:picLocks noChangeAspect="1"/>
          </p:cNvPicPr>
          <p:nvPr/>
        </p:nvPicPr>
        <p:blipFill>
          <a:blip r:embed="rId6"/>
          <a:srcRect l="36452" t="56544" b="34700"/>
          <a:stretch/>
        </p:blipFill>
        <p:spPr>
          <a:xfrm>
            <a:off x="-4836" y="-812736"/>
            <a:ext cx="9148837" cy="1019042"/>
          </a:xfrm>
          <a:prstGeom prst="rect">
            <a:avLst/>
          </a:prstGeom>
        </p:spPr>
      </p:pic>
      <p:pic>
        <p:nvPicPr>
          <p:cNvPr id="12" name="Image 5" descr="//img.tukuppt.com/aippt_tpl_uploads/25/07/01/686397e7af1a3.png!/fwfh2/960x960"/>
          <p:cNvPicPr>
            <a:picLocks noChangeAspect="1"/>
          </p:cNvPicPr>
          <p:nvPr/>
        </p:nvPicPr>
        <p:blipFill>
          <a:blip r:embed="rId6"/>
          <a:srcRect l="36452" t="56544" b="34700"/>
          <a:stretch/>
        </p:blipFill>
        <p:spPr>
          <a:xfrm>
            <a:off x="-61352" y="4937888"/>
            <a:ext cx="9313872" cy="1019042"/>
          </a:xfrm>
          <a:prstGeom prst="rect">
            <a:avLst/>
          </a:prstGeom>
        </p:spPr>
      </p:pic>
      <p:pic>
        <p:nvPicPr>
          <p:cNvPr id="16" name="Image 6" descr="//static3.tukuppt.com/design/material/001/976/66887ce7da092.png?x-bce-process=image/resize,m_mfit,w_960,h_960"/>
          <p:cNvPicPr>
            <a:picLocks noChangeAspect="1"/>
          </p:cNvPicPr>
          <p:nvPr/>
        </p:nvPicPr>
        <p:blipFill>
          <a:blip r:embed="rId7"/>
          <a:stretch>
            <a:fillRect/>
          </a:stretch>
        </p:blipFill>
        <p:spPr>
          <a:xfrm>
            <a:off x="799881" y="1166747"/>
            <a:ext cx="3341302" cy="3341302"/>
          </a:xfrm>
          <a:prstGeom prst="rect">
            <a:avLst/>
          </a:prstGeom>
        </p:spPr>
      </p:pic>
      <p:graphicFrame>
        <p:nvGraphicFramePr>
          <p:cNvPr id="18" name="表格 17">
            <a:extLst>
              <a:ext uri="{FF2B5EF4-FFF2-40B4-BE49-F238E27FC236}">
                <a16:creationId xmlns:a16="http://schemas.microsoft.com/office/drawing/2014/main" id="{D2B4AE02-47AC-49F1-8187-27B14FE87986}"/>
              </a:ext>
            </a:extLst>
          </p:cNvPr>
          <p:cNvGraphicFramePr>
            <a:graphicFrameLocks noGrp="1"/>
          </p:cNvGraphicFramePr>
          <p:nvPr>
            <p:extLst>
              <p:ext uri="{D42A27DB-BD31-4B8C-83A1-F6EECF244321}">
                <p14:modId xmlns:p14="http://schemas.microsoft.com/office/powerpoint/2010/main" val="129269462"/>
              </p:ext>
            </p:extLst>
          </p:nvPr>
        </p:nvGraphicFramePr>
        <p:xfrm>
          <a:off x="4202535" y="1842609"/>
          <a:ext cx="4401930" cy="1920240"/>
        </p:xfrm>
        <a:graphic>
          <a:graphicData uri="http://schemas.openxmlformats.org/drawingml/2006/table">
            <a:tbl>
              <a:tblPr>
                <a:tableStyleId>{284E427A-3D55-4303-BF80-6455036E1DE7}</a:tableStyleId>
              </a:tblPr>
              <a:tblGrid>
                <a:gridCol w="3018384">
                  <a:extLst>
                    <a:ext uri="{9D8B030D-6E8A-4147-A177-3AD203B41FA5}">
                      <a16:colId xmlns:a16="http://schemas.microsoft.com/office/drawing/2014/main" val="3046450272"/>
                    </a:ext>
                  </a:extLst>
                </a:gridCol>
                <a:gridCol w="1383546">
                  <a:extLst>
                    <a:ext uri="{9D8B030D-6E8A-4147-A177-3AD203B41FA5}">
                      <a16:colId xmlns:a16="http://schemas.microsoft.com/office/drawing/2014/main" val="1184072329"/>
                    </a:ext>
                  </a:extLst>
                </a:gridCol>
              </a:tblGrid>
              <a:tr h="0">
                <a:tc>
                  <a:txBody>
                    <a:bodyPr/>
                    <a:lstStyle/>
                    <a:p>
                      <a:r>
                        <a:rPr lang="zh-CN" altLang="en-US" sz="1200" dirty="0"/>
                        <a:t>项目</a:t>
                      </a:r>
                    </a:p>
                  </a:txBody>
                  <a:tcPr anchor="ctr">
                    <a:solidFill>
                      <a:schemeClr val="accent2"/>
                    </a:solidFill>
                  </a:tcPr>
                </a:tc>
                <a:tc>
                  <a:txBody>
                    <a:bodyPr/>
                    <a:lstStyle/>
                    <a:p>
                      <a:r>
                        <a:rPr lang="zh-CN" altLang="en-US" sz="1200" dirty="0"/>
                        <a:t>金额（美元）</a:t>
                      </a:r>
                    </a:p>
                  </a:txBody>
                  <a:tcPr anchor="ctr">
                    <a:solidFill>
                      <a:schemeClr val="accent2"/>
                    </a:solidFill>
                  </a:tcPr>
                </a:tc>
                <a:extLst>
                  <a:ext uri="{0D108BD9-81ED-4DB2-BD59-A6C34878D82A}">
                    <a16:rowId xmlns:a16="http://schemas.microsoft.com/office/drawing/2014/main" val="40909017"/>
                  </a:ext>
                </a:extLst>
              </a:tr>
              <a:tr h="0">
                <a:tc>
                  <a:txBody>
                    <a:bodyPr/>
                    <a:lstStyle/>
                    <a:p>
                      <a:r>
                        <a:rPr lang="zh-CN" altLang="en-US" sz="1200" b="1" dirty="0"/>
                        <a:t>若停产数字手表将损失的贡献毛益</a:t>
                      </a:r>
                      <a:endParaRPr lang="zh-CN" altLang="en-US" sz="1200" dirty="0"/>
                    </a:p>
                  </a:txBody>
                  <a:tcPr anchor="ctr"/>
                </a:tc>
                <a:tc>
                  <a:txBody>
                    <a:bodyPr/>
                    <a:lstStyle/>
                    <a:p>
                      <a:r>
                        <a:rPr lang="en-US" altLang="zh-CN" sz="1200" b="1" dirty="0"/>
                        <a:t>$(300,000)</a:t>
                      </a:r>
                      <a:endParaRPr lang="zh-CN" altLang="en-US" sz="1200" dirty="0"/>
                    </a:p>
                  </a:txBody>
                  <a:tcPr anchor="ctr"/>
                </a:tc>
                <a:extLst>
                  <a:ext uri="{0D108BD9-81ED-4DB2-BD59-A6C34878D82A}">
                    <a16:rowId xmlns:a16="http://schemas.microsoft.com/office/drawing/2014/main" val="3231742883"/>
                  </a:ext>
                </a:extLst>
              </a:tr>
              <a:tr h="0">
                <a:tc>
                  <a:txBody>
                    <a:bodyPr/>
                    <a:lstStyle/>
                    <a:p>
                      <a:r>
                        <a:rPr lang="zh-CN" altLang="en-US" sz="1200" b="1"/>
                        <a:t>减：可避免的固定成本</a:t>
                      </a:r>
                      <a:endParaRPr lang="zh-CN" altLang="en-US" sz="1200"/>
                    </a:p>
                  </a:txBody>
                  <a:tcPr anchor="ctr"/>
                </a:tc>
                <a:tc>
                  <a:txBody>
                    <a:bodyPr/>
                    <a:lstStyle/>
                    <a:p>
                      <a:r>
                        <a:rPr lang="en-US" altLang="zh-CN" sz="1200" b="1"/>
                        <a:t>$260,000</a:t>
                      </a:r>
                      <a:endParaRPr lang="zh-CN" altLang="en-US" sz="1200"/>
                    </a:p>
                  </a:txBody>
                  <a:tcPr anchor="ctr"/>
                </a:tc>
                <a:extLst>
                  <a:ext uri="{0D108BD9-81ED-4DB2-BD59-A6C34878D82A}">
                    <a16:rowId xmlns:a16="http://schemas.microsoft.com/office/drawing/2014/main" val="2692326541"/>
                  </a:ext>
                </a:extLst>
              </a:tr>
              <a:tr h="0">
                <a:tc>
                  <a:txBody>
                    <a:bodyPr/>
                    <a:lstStyle/>
                    <a:p>
                      <a:r>
                        <a:rPr lang="zh-CN" altLang="en-US" sz="1200"/>
                        <a:t>生产线经理薪资</a:t>
                      </a:r>
                    </a:p>
                  </a:txBody>
                  <a:tcPr anchor="ctr"/>
                </a:tc>
                <a:tc>
                  <a:txBody>
                    <a:bodyPr/>
                    <a:lstStyle/>
                    <a:p>
                      <a:r>
                        <a:rPr lang="en-US" altLang="zh-CN" sz="1200"/>
                        <a:t>90,000</a:t>
                      </a:r>
                    </a:p>
                  </a:txBody>
                  <a:tcPr anchor="ctr"/>
                </a:tc>
                <a:extLst>
                  <a:ext uri="{0D108BD9-81ED-4DB2-BD59-A6C34878D82A}">
                    <a16:rowId xmlns:a16="http://schemas.microsoft.com/office/drawing/2014/main" val="4059741190"/>
                  </a:ext>
                </a:extLst>
              </a:tr>
              <a:tr h="0">
                <a:tc>
                  <a:txBody>
                    <a:bodyPr/>
                    <a:lstStyle/>
                    <a:p>
                      <a:r>
                        <a:rPr lang="zh-CN" altLang="en-US" sz="1200"/>
                        <a:t>直接广告费用</a:t>
                      </a:r>
                    </a:p>
                  </a:txBody>
                  <a:tcPr anchor="ctr"/>
                </a:tc>
                <a:tc>
                  <a:txBody>
                    <a:bodyPr/>
                    <a:lstStyle/>
                    <a:p>
                      <a:r>
                        <a:rPr lang="en-US" altLang="zh-CN" sz="1200"/>
                        <a:t>100,000</a:t>
                      </a:r>
                    </a:p>
                  </a:txBody>
                  <a:tcPr anchor="ctr"/>
                </a:tc>
                <a:extLst>
                  <a:ext uri="{0D108BD9-81ED-4DB2-BD59-A6C34878D82A}">
                    <a16:rowId xmlns:a16="http://schemas.microsoft.com/office/drawing/2014/main" val="1174310191"/>
                  </a:ext>
                </a:extLst>
              </a:tr>
              <a:tr h="0">
                <a:tc>
                  <a:txBody>
                    <a:bodyPr/>
                    <a:lstStyle/>
                    <a:p>
                      <a:r>
                        <a:rPr lang="zh-CN" altLang="en-US" sz="1200"/>
                        <a:t>工厂场地租金</a:t>
                      </a:r>
                    </a:p>
                  </a:txBody>
                  <a:tcPr anchor="ctr"/>
                </a:tc>
                <a:tc>
                  <a:txBody>
                    <a:bodyPr/>
                    <a:lstStyle/>
                    <a:p>
                      <a:r>
                        <a:rPr lang="en-US" altLang="zh-CN" sz="1200"/>
                        <a:t>70,000</a:t>
                      </a:r>
                    </a:p>
                  </a:txBody>
                  <a:tcPr anchor="ctr"/>
                </a:tc>
                <a:extLst>
                  <a:ext uri="{0D108BD9-81ED-4DB2-BD59-A6C34878D82A}">
                    <a16:rowId xmlns:a16="http://schemas.microsoft.com/office/drawing/2014/main" val="2135446575"/>
                  </a:ext>
                </a:extLst>
              </a:tr>
              <a:tr h="0">
                <a:tc>
                  <a:txBody>
                    <a:bodyPr/>
                    <a:lstStyle/>
                    <a:p>
                      <a:r>
                        <a:rPr lang="zh-CN" altLang="en-US" sz="1200" b="1" dirty="0"/>
                        <a:t>停产该分部带来的净不利影响</a:t>
                      </a:r>
                      <a:endParaRPr lang="zh-CN" altLang="en-US" sz="1200" dirty="0"/>
                    </a:p>
                  </a:txBody>
                  <a:tcPr anchor="ctr"/>
                </a:tc>
                <a:tc>
                  <a:txBody>
                    <a:bodyPr/>
                    <a:lstStyle/>
                    <a:p>
                      <a:r>
                        <a:rPr lang="en-US" altLang="zh-CN" sz="1200" b="1" dirty="0"/>
                        <a:t>$(40,000)</a:t>
                      </a:r>
                      <a:endParaRPr lang="zh-CN" altLang="en-US" sz="1200" dirty="0"/>
                    </a:p>
                  </a:txBody>
                  <a:tcPr anchor="ctr"/>
                </a:tc>
                <a:extLst>
                  <a:ext uri="{0D108BD9-81ED-4DB2-BD59-A6C34878D82A}">
                    <a16:rowId xmlns:a16="http://schemas.microsoft.com/office/drawing/2014/main" val="2867587953"/>
                  </a:ext>
                </a:extLst>
              </a:tr>
            </a:tbl>
          </a:graphicData>
        </a:graphic>
      </p:graphicFrame>
      <p:sp>
        <p:nvSpPr>
          <p:cNvPr id="19" name="Rectangle 1">
            <a:extLst>
              <a:ext uri="{FF2B5EF4-FFF2-40B4-BE49-F238E27FC236}">
                <a16:creationId xmlns:a16="http://schemas.microsoft.com/office/drawing/2014/main" id="{90603B6C-043C-4ED0-92F1-3C2E96011DB9}"/>
              </a:ext>
            </a:extLst>
          </p:cNvPr>
          <p:cNvSpPr>
            <a:spLocks noChangeArrowheads="1"/>
          </p:cNvSpPr>
          <p:nvPr/>
        </p:nvSpPr>
        <p:spPr bwMode="auto">
          <a:xfrm>
            <a:off x="2767995" y="1001359"/>
            <a:ext cx="283072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1" i="0" u="none" strike="noStrike" cap="none" normalizeH="0" baseline="0" dirty="0">
                <a:ln>
                  <a:noFill/>
                </a:ln>
                <a:solidFill>
                  <a:schemeClr val="tx1"/>
                </a:solidFill>
                <a:effectLst/>
                <a:latin typeface="Arial" panose="020B0604020202020204" pitchFamily="34" charset="0"/>
              </a:rPr>
              <a:t>贡献毛益法分析表</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600" b="0" i="0" u="none" strike="noStrike" cap="none" normalizeH="0" baseline="0" dirty="0">
              <a:ln>
                <a:noFill/>
              </a:ln>
              <a:solidFill>
                <a:schemeClr val="tx1"/>
              </a:solidFill>
              <a:effectLst/>
              <a:latin typeface="Arial" panose="020B0604020202020204" pitchFamily="34" charset="0"/>
            </a:endParaRPr>
          </a:p>
        </p:txBody>
      </p:sp>
      <p:sp>
        <p:nvSpPr>
          <p:cNvPr id="20" name="Rectangle 2">
            <a:extLst>
              <a:ext uri="{FF2B5EF4-FFF2-40B4-BE49-F238E27FC236}">
                <a16:creationId xmlns:a16="http://schemas.microsoft.com/office/drawing/2014/main" id="{CB1015E2-E3D6-476B-826F-381E235BD3A7}"/>
              </a:ext>
            </a:extLst>
          </p:cNvPr>
          <p:cNvSpPr>
            <a:spLocks noChangeArrowheads="1"/>
          </p:cNvSpPr>
          <p:nvPr/>
        </p:nvSpPr>
        <p:spPr bwMode="auto">
          <a:xfrm>
            <a:off x="1056867" y="4354884"/>
            <a:ext cx="7891904"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000" b="1" i="1" u="none" strike="noStrike" cap="none" normalizeH="0" baseline="0" dirty="0">
                <a:ln>
                  <a:noFill/>
                </a:ln>
                <a:solidFill>
                  <a:schemeClr val="tx1"/>
                </a:solidFill>
                <a:effectLst/>
                <a:latin typeface="Arial" panose="020B0604020202020204" pitchFamily="34" charset="0"/>
              </a:rPr>
              <a:t>说明：由于可避免的固定成本（$260,000）小于将损失的贡献毛益（$300,000），停产数字手表分部将导致公司整体利润减少 $40,000。</a:t>
            </a:r>
            <a:endParaRPr kumimoji="0" lang="zh-CN" altLang="zh-CN" sz="1000" b="1"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3599271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img.tukuppt.com/aippt_uploads/34576449/25/07/03/6866a18678cda.png!/fwfh2/960x960"/>
          <p:cNvPicPr>
            <a:picLocks noChangeAspect="1"/>
          </p:cNvPicPr>
          <p:nvPr/>
        </p:nvPicPr>
        <p:blipFill>
          <a:blip r:embed="rId3"/>
          <a:stretch>
            <a:fillRect/>
          </a:stretch>
        </p:blipFill>
        <p:spPr>
          <a:xfrm>
            <a:off x="0" y="0"/>
            <a:ext cx="9140180" cy="5131830"/>
          </a:xfrm>
          <a:prstGeom prst="rect">
            <a:avLst/>
          </a:prstGeom>
        </p:spPr>
      </p:pic>
      <p:sp>
        <p:nvSpPr>
          <p:cNvPr id="3" name="Shape 0"/>
          <p:cNvSpPr/>
          <p:nvPr/>
        </p:nvSpPr>
        <p:spPr>
          <a:xfrm>
            <a:off x="979384" y="287863"/>
            <a:ext cx="2872893" cy="412023"/>
          </a:xfrm>
          <a:custGeom>
            <a:avLst/>
            <a:gdLst/>
            <a:ahLst/>
            <a:cxnLst/>
            <a:rect l="l" t="t" r="r" b="b"/>
            <a:pathLst>
              <a:path w="2872893" h="412023">
                <a:moveTo>
                  <a:pt x="68568" y="0"/>
                </a:moveTo>
                <a:lnTo>
                  <a:pt x="2803673" y="0"/>
                </a:lnTo>
                <a:cubicBezTo>
                  <a:pt x="2841542" y="0"/>
                  <a:pt x="2872241" y="30699"/>
                  <a:pt x="2872241" y="68568"/>
                </a:cubicBezTo>
                <a:lnTo>
                  <a:pt x="2872241" y="342840"/>
                </a:lnTo>
                <a:cubicBezTo>
                  <a:pt x="2872241" y="380710"/>
                  <a:pt x="2841542" y="411409"/>
                  <a:pt x="2803673" y="411409"/>
                </a:cubicBezTo>
                <a:lnTo>
                  <a:pt x="68568" y="411409"/>
                </a:lnTo>
                <a:cubicBezTo>
                  <a:pt x="30699" y="411409"/>
                  <a:pt x="0" y="380710"/>
                  <a:pt x="0" y="342840"/>
                </a:cubicBezTo>
                <a:lnTo>
                  <a:pt x="0" y="68568"/>
                </a:lnTo>
                <a:cubicBezTo>
                  <a:pt x="0" y="30724"/>
                  <a:pt x="30724" y="0"/>
                  <a:pt x="68568" y="0"/>
                </a:cubicBezTo>
                <a:close/>
              </a:path>
            </a:pathLst>
          </a:custGeom>
          <a:solidFill>
            <a:srgbClr val="0067B4"/>
          </a:solidFill>
          <a:ln/>
          <a:effectLst>
            <a:outerShdw dist="38093" dir="2700000" algn="bl" rotWithShape="0">
              <a:srgbClr val="000000">
                <a:alpha val="38824"/>
              </a:srgbClr>
            </a:outerShdw>
          </a:effectLst>
        </p:spPr>
      </p:sp>
      <p:sp>
        <p:nvSpPr>
          <p:cNvPr id="4" name="Shape 1"/>
          <p:cNvSpPr/>
          <p:nvPr/>
        </p:nvSpPr>
        <p:spPr>
          <a:xfrm>
            <a:off x="1188456" y="329442"/>
            <a:ext cx="2735844" cy="339064"/>
          </a:xfrm>
          <a:custGeom>
            <a:avLst/>
            <a:gdLst/>
            <a:ahLst/>
            <a:cxnLst/>
            <a:rect l="l" t="t" r="r" b="b"/>
            <a:pathLst>
              <a:path w="2735844" h="339064">
                <a:moveTo>
                  <a:pt x="0" y="0"/>
                </a:moveTo>
                <a:lnTo>
                  <a:pt x="2735844" y="0"/>
                </a:lnTo>
                <a:lnTo>
                  <a:pt x="2735844" y="339064"/>
                </a:lnTo>
                <a:lnTo>
                  <a:pt x="0" y="339064"/>
                </a:lnTo>
                <a:close/>
              </a:path>
            </a:pathLst>
          </a:custGeom>
          <a:noFill/>
          <a:ln/>
        </p:spPr>
      </p:sp>
      <p:sp>
        <p:nvSpPr>
          <p:cNvPr id="5" name="Text 2"/>
          <p:cNvSpPr txBox="1"/>
          <p:nvPr/>
        </p:nvSpPr>
        <p:spPr>
          <a:xfrm>
            <a:off x="1188456" y="329442"/>
            <a:ext cx="2735844" cy="339064"/>
          </a:xfrm>
          <a:prstGeom prst="rect">
            <a:avLst/>
          </a:prstGeom>
          <a:noFill/>
          <a:ln/>
        </p:spPr>
        <p:txBody>
          <a:bodyPr wrap="square" lIns="1252" tIns="653" rIns="1252" bIns="653" rtlCol="0" anchor="t">
            <a:spAutoFit/>
          </a:bodyPr>
          <a:lstStyle/>
          <a:p>
            <a:pPr marL="0" indent="0" algn="l">
              <a:buNone/>
            </a:pPr>
            <a:r>
              <a:rPr lang="zh-CN" altLang="en-US" sz="1601" dirty="0">
                <a:solidFill>
                  <a:srgbClr val="64CBFF"/>
                </a:solidFill>
                <a:latin typeface="SourceHanSansSC-Medium"/>
                <a:ea typeface="SourceHanSansSC-Medium"/>
                <a:cs typeface="SourceHanSansSC-Medium"/>
              </a:rPr>
              <a:t>比较利润表法</a:t>
            </a:r>
            <a:endParaRPr lang="en-US" sz="1601" dirty="0"/>
          </a:p>
        </p:txBody>
      </p:sp>
      <p:sp>
        <p:nvSpPr>
          <p:cNvPr id="6" name="Shape 3"/>
          <p:cNvSpPr/>
          <p:nvPr/>
        </p:nvSpPr>
        <p:spPr>
          <a:xfrm>
            <a:off x="471488" y="198466"/>
            <a:ext cx="461756" cy="542999"/>
          </a:xfrm>
          <a:custGeom>
            <a:avLst/>
            <a:gdLst/>
            <a:ahLst/>
            <a:cxnLst/>
            <a:rect l="l" t="t" r="r" b="b"/>
            <a:pathLst>
              <a:path w="461756" h="542999">
                <a:moveTo>
                  <a:pt x="77457" y="0"/>
                </a:moveTo>
                <a:lnTo>
                  <a:pt x="384743" y="0"/>
                </a:lnTo>
                <a:cubicBezTo>
                  <a:pt x="427521" y="0"/>
                  <a:pt x="462200" y="34678"/>
                  <a:pt x="462200" y="77457"/>
                </a:cubicBezTo>
                <a:lnTo>
                  <a:pt x="462200" y="466009"/>
                </a:lnTo>
                <a:cubicBezTo>
                  <a:pt x="462200" y="508787"/>
                  <a:pt x="427521" y="543466"/>
                  <a:pt x="384743" y="543466"/>
                </a:cubicBezTo>
                <a:lnTo>
                  <a:pt x="77457" y="543466"/>
                </a:lnTo>
                <a:cubicBezTo>
                  <a:pt x="34678" y="543466"/>
                  <a:pt x="0" y="508787"/>
                  <a:pt x="0" y="466009"/>
                </a:cubicBezTo>
                <a:lnTo>
                  <a:pt x="0" y="77457"/>
                </a:lnTo>
                <a:cubicBezTo>
                  <a:pt x="0" y="34678"/>
                  <a:pt x="34678" y="0"/>
                  <a:pt x="77457" y="0"/>
                </a:cubicBezTo>
                <a:close/>
              </a:path>
            </a:pathLst>
          </a:custGeom>
          <a:solidFill>
            <a:srgbClr val="0067B4"/>
          </a:solidFill>
          <a:ln/>
          <a:effectLst>
            <a:outerShdw dist="38093" dir="2700000" algn="bl" rotWithShape="0">
              <a:srgbClr val="000000">
                <a:alpha val="38824"/>
              </a:srgbClr>
            </a:outerShdw>
          </a:effectLst>
        </p:spPr>
      </p:sp>
      <p:sp>
        <p:nvSpPr>
          <p:cNvPr id="7" name="Shape 4"/>
          <p:cNvSpPr/>
          <p:nvPr/>
        </p:nvSpPr>
        <p:spPr>
          <a:xfrm>
            <a:off x="482166" y="206110"/>
            <a:ext cx="433263" cy="535355"/>
          </a:xfrm>
          <a:custGeom>
            <a:avLst/>
            <a:gdLst/>
            <a:ahLst/>
            <a:cxnLst/>
            <a:rect l="l" t="t" r="r" b="b"/>
            <a:pathLst>
              <a:path w="433263" h="535355">
                <a:moveTo>
                  <a:pt x="73647" y="0"/>
                </a:moveTo>
                <a:lnTo>
                  <a:pt x="366966" y="0"/>
                </a:lnTo>
                <a:cubicBezTo>
                  <a:pt x="396171" y="0"/>
                  <a:pt x="421567" y="15237"/>
                  <a:pt x="432995" y="35554"/>
                </a:cubicBezTo>
                <a:cubicBezTo>
                  <a:pt x="186658" y="119359"/>
                  <a:pt x="11428" y="311096"/>
                  <a:pt x="1270" y="535847"/>
                </a:cubicBezTo>
                <a:cubicBezTo>
                  <a:pt x="0" y="533307"/>
                  <a:pt x="0" y="532038"/>
                  <a:pt x="0" y="529498"/>
                </a:cubicBezTo>
                <a:lnTo>
                  <a:pt x="0" y="60949"/>
                </a:lnTo>
                <a:cubicBezTo>
                  <a:pt x="0" y="26665"/>
                  <a:pt x="33014" y="0"/>
                  <a:pt x="73647" y="0"/>
                </a:cubicBezTo>
                <a:close/>
              </a:path>
            </a:pathLst>
          </a:custGeom>
          <a:gradFill>
            <a:gsLst>
              <a:gs pos="0">
                <a:srgbClr val="64CBFF">
                  <a:alpha val="34902"/>
                </a:srgbClr>
              </a:gs>
              <a:gs pos="100000">
                <a:srgbClr val="2F5897">
                  <a:alpha val="100000"/>
                </a:srgbClr>
              </a:gs>
            </a:gsLst>
            <a:lin ang="1200000" scaled="1"/>
          </a:gradFill>
          <a:ln/>
        </p:spPr>
      </p:sp>
      <p:pic>
        <p:nvPicPr>
          <p:cNvPr id="8" name="Image 1" descr="//img.tukuppt.com/aippt_tpl_uploads/25/07/01/686397e7ae4cf.png"/>
          <p:cNvPicPr>
            <a:picLocks noChangeAspect="1"/>
          </p:cNvPicPr>
          <p:nvPr/>
        </p:nvPicPr>
        <p:blipFill>
          <a:blip r:embed="rId4"/>
          <a:srcRect/>
          <a:stretch/>
        </p:blipFill>
        <p:spPr>
          <a:xfrm flipH="1">
            <a:off x="787710" y="346921"/>
            <a:ext cx="255659" cy="98905"/>
          </a:xfrm>
          <a:prstGeom prst="rect">
            <a:avLst/>
          </a:prstGeom>
        </p:spPr>
      </p:pic>
      <p:pic>
        <p:nvPicPr>
          <p:cNvPr id="9" name="Image 2" descr="//img.tukuppt.com/aippt_tpl_uploads/25/07/01/686397e7ae4cf.png"/>
          <p:cNvPicPr>
            <a:picLocks noChangeAspect="1"/>
          </p:cNvPicPr>
          <p:nvPr/>
        </p:nvPicPr>
        <p:blipFill>
          <a:blip r:embed="rId4"/>
          <a:srcRect/>
          <a:stretch/>
        </p:blipFill>
        <p:spPr>
          <a:xfrm flipH="1">
            <a:off x="787710" y="549201"/>
            <a:ext cx="255659" cy="98905"/>
          </a:xfrm>
          <a:prstGeom prst="rect">
            <a:avLst/>
          </a:prstGeom>
        </p:spPr>
      </p:pic>
      <p:pic>
        <p:nvPicPr>
          <p:cNvPr id="10" name="Image 3" descr="//img.tukuppt.com/aippt_tpl_uploads/25/07/01/686397e7b8f81.png"/>
          <p:cNvPicPr>
            <a:picLocks noChangeAspect="1"/>
          </p:cNvPicPr>
          <p:nvPr/>
        </p:nvPicPr>
        <p:blipFill>
          <a:blip r:embed="rId5"/>
          <a:srcRect/>
          <a:stretch/>
        </p:blipFill>
        <p:spPr>
          <a:xfrm>
            <a:off x="539206" y="312920"/>
            <a:ext cx="321318" cy="321734"/>
          </a:xfrm>
          <a:prstGeom prst="rect">
            <a:avLst/>
          </a:prstGeom>
        </p:spPr>
      </p:pic>
      <p:pic>
        <p:nvPicPr>
          <p:cNvPr id="11" name="Image 4" descr="//img.tukuppt.com/aippt_tpl_uploads/25/07/01/686397e7af1a3.png!/fwfh2/960x960"/>
          <p:cNvPicPr>
            <a:picLocks noChangeAspect="1"/>
          </p:cNvPicPr>
          <p:nvPr/>
        </p:nvPicPr>
        <p:blipFill>
          <a:blip r:embed="rId6"/>
          <a:srcRect l="36452" t="56544" b="34700"/>
          <a:stretch/>
        </p:blipFill>
        <p:spPr>
          <a:xfrm>
            <a:off x="-4836" y="-812736"/>
            <a:ext cx="9148837" cy="1019042"/>
          </a:xfrm>
          <a:prstGeom prst="rect">
            <a:avLst/>
          </a:prstGeom>
        </p:spPr>
      </p:pic>
      <p:pic>
        <p:nvPicPr>
          <p:cNvPr id="12" name="Image 5" descr="//img.tukuppt.com/aippt_tpl_uploads/25/07/01/686397e7af1a3.png!/fwfh2/960x960"/>
          <p:cNvPicPr>
            <a:picLocks noChangeAspect="1"/>
          </p:cNvPicPr>
          <p:nvPr/>
        </p:nvPicPr>
        <p:blipFill>
          <a:blip r:embed="rId6"/>
          <a:srcRect l="36452" t="56544" b="34700"/>
          <a:stretch/>
        </p:blipFill>
        <p:spPr>
          <a:xfrm>
            <a:off x="-61352" y="4937888"/>
            <a:ext cx="9313872" cy="1019042"/>
          </a:xfrm>
          <a:prstGeom prst="rect">
            <a:avLst/>
          </a:prstGeom>
        </p:spPr>
      </p:pic>
      <p:sp>
        <p:nvSpPr>
          <p:cNvPr id="13" name="Shape 5"/>
          <p:cNvSpPr/>
          <p:nvPr/>
        </p:nvSpPr>
        <p:spPr>
          <a:xfrm>
            <a:off x="4641062" y="1716692"/>
            <a:ext cx="3137403" cy="2578327"/>
          </a:xfrm>
          <a:custGeom>
            <a:avLst/>
            <a:gdLst/>
            <a:ahLst/>
            <a:cxnLst/>
            <a:rect l="l" t="t" r="r" b="b"/>
            <a:pathLst>
              <a:path w="3137403" h="2578327">
                <a:moveTo>
                  <a:pt x="0" y="0"/>
                </a:moveTo>
                <a:lnTo>
                  <a:pt x="3137403" y="0"/>
                </a:lnTo>
                <a:lnTo>
                  <a:pt x="3137403" y="2578327"/>
                </a:lnTo>
                <a:lnTo>
                  <a:pt x="0" y="2578327"/>
                </a:lnTo>
                <a:close/>
              </a:path>
            </a:pathLst>
          </a:custGeom>
          <a:noFill/>
          <a:ln w="14288">
            <a:solidFill>
              <a:srgbClr val="0067B4"/>
            </a:solidFill>
            <a:prstDash val="solid"/>
          </a:ln>
        </p:spPr>
      </p:sp>
      <p:sp>
        <p:nvSpPr>
          <p:cNvPr id="14" name="Text 6"/>
          <p:cNvSpPr txBox="1"/>
          <p:nvPr/>
        </p:nvSpPr>
        <p:spPr>
          <a:xfrm>
            <a:off x="4975077" y="1140438"/>
            <a:ext cx="2732469" cy="493520"/>
          </a:xfrm>
          <a:prstGeom prst="rect">
            <a:avLst/>
          </a:prstGeom>
          <a:noFill/>
          <a:ln/>
        </p:spPr>
        <p:txBody>
          <a:bodyPr wrap="square" lIns="0" tIns="0" rIns="0" bIns="0" rtlCol="0" anchor="ctr">
            <a:spAutoFit/>
          </a:bodyPr>
          <a:lstStyle/>
          <a:p>
            <a:pPr marL="0" indent="0" algn="ctr">
              <a:buNone/>
            </a:pPr>
            <a:r>
              <a:rPr lang="zh-CN" altLang="en-US" sz="1350" b="1" dirty="0">
                <a:solidFill>
                  <a:srgbClr val="333333"/>
                </a:solidFill>
                <a:latin typeface="SourceHanSansSC-Medium"/>
                <a:ea typeface="SourceHanSansSC-Medium"/>
                <a:cs typeface="SourceHanSansSC-Medium"/>
              </a:rPr>
              <a:t>分析方法</a:t>
            </a:r>
            <a:endParaRPr lang="en-US" sz="1350" dirty="0"/>
          </a:p>
        </p:txBody>
      </p:sp>
      <p:sp>
        <p:nvSpPr>
          <p:cNvPr id="15" name="Text 7"/>
          <p:cNvSpPr txBox="1"/>
          <p:nvPr/>
        </p:nvSpPr>
        <p:spPr>
          <a:xfrm>
            <a:off x="4961372" y="2039699"/>
            <a:ext cx="2496784" cy="1077218"/>
          </a:xfrm>
          <a:prstGeom prst="rect">
            <a:avLst/>
          </a:prstGeom>
          <a:noFill/>
          <a:ln/>
        </p:spPr>
        <p:txBody>
          <a:bodyPr wrap="square" lIns="0" tIns="0" rIns="0" bIns="0" rtlCol="0" anchor="t">
            <a:spAutoFit/>
          </a:bodyPr>
          <a:lstStyle/>
          <a:p>
            <a:r>
              <a:rPr lang="zh-CN" altLang="en-US" sz="1400" dirty="0">
                <a:effectLst/>
              </a:rPr>
              <a:t>洛弗尔公司的问题也可以通过编制对比利润表来解决，该表分别列示包含和不包含数字手表分部时的经营结果。</a:t>
            </a:r>
            <a:br>
              <a:rPr lang="zh-CN" altLang="en-US" sz="1400" dirty="0">
                <a:effectLst/>
              </a:rPr>
            </a:br>
            <a:r>
              <a:rPr lang="zh-CN" altLang="en-US" sz="1400" dirty="0">
                <a:effectLst/>
              </a:rPr>
              <a:t>让我们来看看这第二种方法。</a:t>
            </a:r>
          </a:p>
        </p:txBody>
      </p:sp>
      <p:pic>
        <p:nvPicPr>
          <p:cNvPr id="16" name="Image 6" descr="//static3.tukuppt.com/design/material/001/976/66887ce7da092.png?x-bce-process=image/resize,m_mfit,w_960,h_960"/>
          <p:cNvPicPr>
            <a:picLocks noChangeAspect="1"/>
          </p:cNvPicPr>
          <p:nvPr/>
        </p:nvPicPr>
        <p:blipFill>
          <a:blip r:embed="rId7"/>
          <a:stretch>
            <a:fillRect/>
          </a:stretch>
        </p:blipFill>
        <p:spPr>
          <a:xfrm>
            <a:off x="799881" y="1166747"/>
            <a:ext cx="3341302" cy="3341302"/>
          </a:xfrm>
          <a:prstGeom prst="rect">
            <a:avLst/>
          </a:prstGeom>
        </p:spPr>
      </p:pic>
      <p:sp>
        <p:nvSpPr>
          <p:cNvPr id="17" name="Shape 8"/>
          <p:cNvSpPr/>
          <p:nvPr/>
        </p:nvSpPr>
        <p:spPr>
          <a:xfrm rot="5400000">
            <a:off x="4641062" y="1298403"/>
            <a:ext cx="203898" cy="203898"/>
          </a:xfrm>
          <a:custGeom>
            <a:avLst/>
            <a:gdLst/>
            <a:ahLst/>
            <a:cxnLst/>
            <a:rect l="l" t="t" r="r" b="b"/>
            <a:pathLst>
              <a:path w="203898" h="203898">
                <a:moveTo>
                  <a:pt x="101949" y="0"/>
                </a:moveTo>
                <a:lnTo>
                  <a:pt x="0" y="203898"/>
                </a:lnTo>
                <a:lnTo>
                  <a:pt x="203898" y="203898"/>
                </a:lnTo>
                <a:lnTo>
                  <a:pt x="101949" y="0"/>
                </a:lnTo>
                <a:close/>
              </a:path>
            </a:pathLst>
          </a:custGeom>
          <a:solidFill>
            <a:srgbClr val="0067B4"/>
          </a:solidFill>
          <a:ln/>
        </p:spPr>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img.tukuppt.com/aippt_uploads/34576449/25/07/03/6866a18678cda.png!/fwfh2/960x960"/>
          <p:cNvPicPr>
            <a:picLocks noChangeAspect="1"/>
          </p:cNvPicPr>
          <p:nvPr/>
        </p:nvPicPr>
        <p:blipFill>
          <a:blip r:embed="rId3"/>
          <a:stretch>
            <a:fillRect/>
          </a:stretch>
        </p:blipFill>
        <p:spPr>
          <a:xfrm>
            <a:off x="0" y="0"/>
            <a:ext cx="9140180" cy="5131830"/>
          </a:xfrm>
          <a:prstGeom prst="rect">
            <a:avLst/>
          </a:prstGeom>
        </p:spPr>
      </p:pic>
      <p:sp>
        <p:nvSpPr>
          <p:cNvPr id="3" name="Shape 0"/>
          <p:cNvSpPr/>
          <p:nvPr/>
        </p:nvSpPr>
        <p:spPr>
          <a:xfrm>
            <a:off x="979384" y="287863"/>
            <a:ext cx="2872893" cy="412023"/>
          </a:xfrm>
          <a:custGeom>
            <a:avLst/>
            <a:gdLst/>
            <a:ahLst/>
            <a:cxnLst/>
            <a:rect l="l" t="t" r="r" b="b"/>
            <a:pathLst>
              <a:path w="2872893" h="412023">
                <a:moveTo>
                  <a:pt x="68568" y="0"/>
                </a:moveTo>
                <a:lnTo>
                  <a:pt x="2803673" y="0"/>
                </a:lnTo>
                <a:cubicBezTo>
                  <a:pt x="2841542" y="0"/>
                  <a:pt x="2872241" y="30699"/>
                  <a:pt x="2872241" y="68568"/>
                </a:cubicBezTo>
                <a:lnTo>
                  <a:pt x="2872241" y="342840"/>
                </a:lnTo>
                <a:cubicBezTo>
                  <a:pt x="2872241" y="380710"/>
                  <a:pt x="2841542" y="411409"/>
                  <a:pt x="2803673" y="411409"/>
                </a:cubicBezTo>
                <a:lnTo>
                  <a:pt x="68568" y="411409"/>
                </a:lnTo>
                <a:cubicBezTo>
                  <a:pt x="30699" y="411409"/>
                  <a:pt x="0" y="380710"/>
                  <a:pt x="0" y="342840"/>
                </a:cubicBezTo>
                <a:lnTo>
                  <a:pt x="0" y="68568"/>
                </a:lnTo>
                <a:cubicBezTo>
                  <a:pt x="0" y="30724"/>
                  <a:pt x="30724" y="0"/>
                  <a:pt x="68568" y="0"/>
                </a:cubicBezTo>
                <a:close/>
              </a:path>
            </a:pathLst>
          </a:custGeom>
          <a:solidFill>
            <a:srgbClr val="0067B4"/>
          </a:solidFill>
          <a:ln/>
          <a:effectLst>
            <a:outerShdw dist="38093" dir="2700000" algn="bl" rotWithShape="0">
              <a:srgbClr val="000000">
                <a:alpha val="38824"/>
              </a:srgbClr>
            </a:outerShdw>
          </a:effectLst>
        </p:spPr>
      </p:sp>
      <p:sp>
        <p:nvSpPr>
          <p:cNvPr id="4" name="Shape 1"/>
          <p:cNvSpPr/>
          <p:nvPr/>
        </p:nvSpPr>
        <p:spPr>
          <a:xfrm>
            <a:off x="1188456" y="329442"/>
            <a:ext cx="2735844" cy="339064"/>
          </a:xfrm>
          <a:custGeom>
            <a:avLst/>
            <a:gdLst/>
            <a:ahLst/>
            <a:cxnLst/>
            <a:rect l="l" t="t" r="r" b="b"/>
            <a:pathLst>
              <a:path w="2735844" h="339064">
                <a:moveTo>
                  <a:pt x="0" y="0"/>
                </a:moveTo>
                <a:lnTo>
                  <a:pt x="2735844" y="0"/>
                </a:lnTo>
                <a:lnTo>
                  <a:pt x="2735844" y="339064"/>
                </a:lnTo>
                <a:lnTo>
                  <a:pt x="0" y="339064"/>
                </a:lnTo>
                <a:close/>
              </a:path>
            </a:pathLst>
          </a:custGeom>
          <a:noFill/>
          <a:ln/>
        </p:spPr>
      </p:sp>
      <p:sp>
        <p:nvSpPr>
          <p:cNvPr id="5" name="Text 2"/>
          <p:cNvSpPr txBox="1"/>
          <p:nvPr/>
        </p:nvSpPr>
        <p:spPr>
          <a:xfrm>
            <a:off x="1188456" y="329442"/>
            <a:ext cx="2735844" cy="339064"/>
          </a:xfrm>
          <a:prstGeom prst="rect">
            <a:avLst/>
          </a:prstGeom>
          <a:noFill/>
          <a:ln/>
        </p:spPr>
        <p:txBody>
          <a:bodyPr wrap="square" lIns="1252" tIns="653" rIns="1252" bIns="653" rtlCol="0" anchor="t">
            <a:spAutoFit/>
          </a:bodyPr>
          <a:lstStyle/>
          <a:p>
            <a:pPr marL="0" indent="0" algn="l">
              <a:buNone/>
            </a:pPr>
            <a:r>
              <a:rPr lang="zh-CN" altLang="en-US" sz="1601" dirty="0">
                <a:solidFill>
                  <a:srgbClr val="64CBFF"/>
                </a:solidFill>
                <a:latin typeface="SourceHanSansSC-Medium"/>
                <a:ea typeface="SourceHanSansSC-Medium"/>
                <a:cs typeface="SourceHanSansSC-Medium"/>
              </a:rPr>
              <a:t>比较利润表法</a:t>
            </a:r>
            <a:endParaRPr lang="en-US" sz="1601" dirty="0"/>
          </a:p>
        </p:txBody>
      </p:sp>
      <p:sp>
        <p:nvSpPr>
          <p:cNvPr id="6" name="Shape 3"/>
          <p:cNvSpPr/>
          <p:nvPr/>
        </p:nvSpPr>
        <p:spPr>
          <a:xfrm>
            <a:off x="471488" y="198466"/>
            <a:ext cx="461756" cy="542999"/>
          </a:xfrm>
          <a:custGeom>
            <a:avLst/>
            <a:gdLst/>
            <a:ahLst/>
            <a:cxnLst/>
            <a:rect l="l" t="t" r="r" b="b"/>
            <a:pathLst>
              <a:path w="461756" h="542999">
                <a:moveTo>
                  <a:pt x="77457" y="0"/>
                </a:moveTo>
                <a:lnTo>
                  <a:pt x="384743" y="0"/>
                </a:lnTo>
                <a:cubicBezTo>
                  <a:pt x="427521" y="0"/>
                  <a:pt x="462200" y="34678"/>
                  <a:pt x="462200" y="77457"/>
                </a:cubicBezTo>
                <a:lnTo>
                  <a:pt x="462200" y="466009"/>
                </a:lnTo>
                <a:cubicBezTo>
                  <a:pt x="462200" y="508787"/>
                  <a:pt x="427521" y="543466"/>
                  <a:pt x="384743" y="543466"/>
                </a:cubicBezTo>
                <a:lnTo>
                  <a:pt x="77457" y="543466"/>
                </a:lnTo>
                <a:cubicBezTo>
                  <a:pt x="34678" y="543466"/>
                  <a:pt x="0" y="508787"/>
                  <a:pt x="0" y="466009"/>
                </a:cubicBezTo>
                <a:lnTo>
                  <a:pt x="0" y="77457"/>
                </a:lnTo>
                <a:cubicBezTo>
                  <a:pt x="0" y="34678"/>
                  <a:pt x="34678" y="0"/>
                  <a:pt x="77457" y="0"/>
                </a:cubicBezTo>
                <a:close/>
              </a:path>
            </a:pathLst>
          </a:custGeom>
          <a:solidFill>
            <a:srgbClr val="0067B4"/>
          </a:solidFill>
          <a:ln/>
          <a:effectLst>
            <a:outerShdw dist="38093" dir="2700000" algn="bl" rotWithShape="0">
              <a:srgbClr val="000000">
                <a:alpha val="38824"/>
              </a:srgbClr>
            </a:outerShdw>
          </a:effectLst>
        </p:spPr>
      </p:sp>
      <p:sp>
        <p:nvSpPr>
          <p:cNvPr id="7" name="Shape 4"/>
          <p:cNvSpPr/>
          <p:nvPr/>
        </p:nvSpPr>
        <p:spPr>
          <a:xfrm>
            <a:off x="482166" y="206110"/>
            <a:ext cx="433263" cy="535355"/>
          </a:xfrm>
          <a:custGeom>
            <a:avLst/>
            <a:gdLst/>
            <a:ahLst/>
            <a:cxnLst/>
            <a:rect l="l" t="t" r="r" b="b"/>
            <a:pathLst>
              <a:path w="433263" h="535355">
                <a:moveTo>
                  <a:pt x="73647" y="0"/>
                </a:moveTo>
                <a:lnTo>
                  <a:pt x="366966" y="0"/>
                </a:lnTo>
                <a:cubicBezTo>
                  <a:pt x="396171" y="0"/>
                  <a:pt x="421567" y="15237"/>
                  <a:pt x="432995" y="35554"/>
                </a:cubicBezTo>
                <a:cubicBezTo>
                  <a:pt x="186658" y="119359"/>
                  <a:pt x="11428" y="311096"/>
                  <a:pt x="1270" y="535847"/>
                </a:cubicBezTo>
                <a:cubicBezTo>
                  <a:pt x="0" y="533307"/>
                  <a:pt x="0" y="532038"/>
                  <a:pt x="0" y="529498"/>
                </a:cubicBezTo>
                <a:lnTo>
                  <a:pt x="0" y="60949"/>
                </a:lnTo>
                <a:cubicBezTo>
                  <a:pt x="0" y="26665"/>
                  <a:pt x="33014" y="0"/>
                  <a:pt x="73647" y="0"/>
                </a:cubicBezTo>
                <a:close/>
              </a:path>
            </a:pathLst>
          </a:custGeom>
          <a:gradFill>
            <a:gsLst>
              <a:gs pos="0">
                <a:srgbClr val="64CBFF">
                  <a:alpha val="34902"/>
                </a:srgbClr>
              </a:gs>
              <a:gs pos="100000">
                <a:srgbClr val="2F5897">
                  <a:alpha val="100000"/>
                </a:srgbClr>
              </a:gs>
            </a:gsLst>
            <a:lin ang="1200000" scaled="1"/>
          </a:gradFill>
          <a:ln/>
        </p:spPr>
      </p:sp>
      <p:pic>
        <p:nvPicPr>
          <p:cNvPr id="8" name="Image 1" descr="//img.tukuppt.com/aippt_tpl_uploads/25/07/01/686397e7ae4cf.png"/>
          <p:cNvPicPr>
            <a:picLocks noChangeAspect="1"/>
          </p:cNvPicPr>
          <p:nvPr/>
        </p:nvPicPr>
        <p:blipFill>
          <a:blip r:embed="rId4"/>
          <a:srcRect/>
          <a:stretch/>
        </p:blipFill>
        <p:spPr>
          <a:xfrm flipH="1">
            <a:off x="787710" y="346921"/>
            <a:ext cx="255659" cy="98905"/>
          </a:xfrm>
          <a:prstGeom prst="rect">
            <a:avLst/>
          </a:prstGeom>
        </p:spPr>
      </p:pic>
      <p:pic>
        <p:nvPicPr>
          <p:cNvPr id="9" name="Image 2" descr="//img.tukuppt.com/aippt_tpl_uploads/25/07/01/686397e7ae4cf.png"/>
          <p:cNvPicPr>
            <a:picLocks noChangeAspect="1"/>
          </p:cNvPicPr>
          <p:nvPr/>
        </p:nvPicPr>
        <p:blipFill>
          <a:blip r:embed="rId4"/>
          <a:srcRect/>
          <a:stretch/>
        </p:blipFill>
        <p:spPr>
          <a:xfrm flipH="1">
            <a:off x="787710" y="549201"/>
            <a:ext cx="255659" cy="98905"/>
          </a:xfrm>
          <a:prstGeom prst="rect">
            <a:avLst/>
          </a:prstGeom>
        </p:spPr>
      </p:pic>
      <p:pic>
        <p:nvPicPr>
          <p:cNvPr id="10" name="Image 3" descr="//img.tukuppt.com/aippt_tpl_uploads/25/07/01/686397e7b8f81.png"/>
          <p:cNvPicPr>
            <a:picLocks noChangeAspect="1"/>
          </p:cNvPicPr>
          <p:nvPr/>
        </p:nvPicPr>
        <p:blipFill>
          <a:blip r:embed="rId5"/>
          <a:srcRect/>
          <a:stretch/>
        </p:blipFill>
        <p:spPr>
          <a:xfrm>
            <a:off x="539206" y="312920"/>
            <a:ext cx="321318" cy="321734"/>
          </a:xfrm>
          <a:prstGeom prst="rect">
            <a:avLst/>
          </a:prstGeom>
        </p:spPr>
      </p:pic>
      <p:pic>
        <p:nvPicPr>
          <p:cNvPr id="11" name="Image 4" descr="//img.tukuppt.com/aippt_tpl_uploads/25/07/01/686397e7af1a3.png!/fwfh2/960x960"/>
          <p:cNvPicPr>
            <a:picLocks noChangeAspect="1"/>
          </p:cNvPicPr>
          <p:nvPr/>
        </p:nvPicPr>
        <p:blipFill>
          <a:blip r:embed="rId6"/>
          <a:srcRect l="36452" t="56544" b="34700"/>
          <a:stretch/>
        </p:blipFill>
        <p:spPr>
          <a:xfrm>
            <a:off x="-4836" y="-812736"/>
            <a:ext cx="9148837" cy="1019042"/>
          </a:xfrm>
          <a:prstGeom prst="rect">
            <a:avLst/>
          </a:prstGeom>
        </p:spPr>
      </p:pic>
      <p:pic>
        <p:nvPicPr>
          <p:cNvPr id="12" name="Image 5" descr="//img.tukuppt.com/aippt_tpl_uploads/25/07/01/686397e7af1a3.png!/fwfh2/960x960"/>
          <p:cNvPicPr>
            <a:picLocks noChangeAspect="1"/>
          </p:cNvPicPr>
          <p:nvPr/>
        </p:nvPicPr>
        <p:blipFill>
          <a:blip r:embed="rId6"/>
          <a:srcRect l="36452" t="56544" b="34700"/>
          <a:stretch/>
        </p:blipFill>
        <p:spPr>
          <a:xfrm>
            <a:off x="-61352" y="4937888"/>
            <a:ext cx="9313872" cy="1019042"/>
          </a:xfrm>
          <a:prstGeom prst="rect">
            <a:avLst/>
          </a:prstGeom>
        </p:spPr>
      </p:pic>
      <p:pic>
        <p:nvPicPr>
          <p:cNvPr id="16" name="Image 6" descr="//static3.tukuppt.com/design/material/001/976/66887ce7da092.png?x-bce-process=image/resize,m_mfit,w_960,h_960"/>
          <p:cNvPicPr>
            <a:picLocks noChangeAspect="1"/>
          </p:cNvPicPr>
          <p:nvPr/>
        </p:nvPicPr>
        <p:blipFill>
          <a:blip r:embed="rId7"/>
          <a:stretch>
            <a:fillRect/>
          </a:stretch>
        </p:blipFill>
        <p:spPr>
          <a:xfrm>
            <a:off x="799881" y="1166747"/>
            <a:ext cx="3341302" cy="3341302"/>
          </a:xfrm>
          <a:prstGeom prst="rect">
            <a:avLst/>
          </a:prstGeom>
        </p:spPr>
      </p:pic>
      <p:graphicFrame>
        <p:nvGraphicFramePr>
          <p:cNvPr id="18" name="表格 17">
            <a:extLst>
              <a:ext uri="{FF2B5EF4-FFF2-40B4-BE49-F238E27FC236}">
                <a16:creationId xmlns:a16="http://schemas.microsoft.com/office/drawing/2014/main" id="{105265A0-2A5F-45E5-80D9-9001A8533C4C}"/>
              </a:ext>
            </a:extLst>
          </p:cNvPr>
          <p:cNvGraphicFramePr>
            <a:graphicFrameLocks noGrp="1"/>
          </p:cNvGraphicFramePr>
          <p:nvPr>
            <p:extLst>
              <p:ext uri="{D42A27DB-BD31-4B8C-83A1-F6EECF244321}">
                <p14:modId xmlns:p14="http://schemas.microsoft.com/office/powerpoint/2010/main" val="250461222"/>
              </p:ext>
            </p:extLst>
          </p:nvPr>
        </p:nvGraphicFramePr>
        <p:xfrm>
          <a:off x="4541763" y="598653"/>
          <a:ext cx="4089287" cy="3911147"/>
        </p:xfrm>
        <a:graphic>
          <a:graphicData uri="http://schemas.openxmlformats.org/drawingml/2006/table">
            <a:tbl>
              <a:tblPr>
                <a:tableStyleId>{D113A9D2-9D6B-4929-AA2D-F23B5EE8CBE7}</a:tableStyleId>
              </a:tblPr>
              <a:tblGrid>
                <a:gridCol w="1237520">
                  <a:extLst>
                    <a:ext uri="{9D8B030D-6E8A-4147-A177-3AD203B41FA5}">
                      <a16:colId xmlns:a16="http://schemas.microsoft.com/office/drawing/2014/main" val="1437303254"/>
                    </a:ext>
                  </a:extLst>
                </a:gridCol>
                <a:gridCol w="950589">
                  <a:extLst>
                    <a:ext uri="{9D8B030D-6E8A-4147-A177-3AD203B41FA5}">
                      <a16:colId xmlns:a16="http://schemas.microsoft.com/office/drawing/2014/main" val="3974356886"/>
                    </a:ext>
                  </a:extLst>
                </a:gridCol>
                <a:gridCol w="950589">
                  <a:extLst>
                    <a:ext uri="{9D8B030D-6E8A-4147-A177-3AD203B41FA5}">
                      <a16:colId xmlns:a16="http://schemas.microsoft.com/office/drawing/2014/main" val="1910129707"/>
                    </a:ext>
                  </a:extLst>
                </a:gridCol>
                <a:gridCol w="950589">
                  <a:extLst>
                    <a:ext uri="{9D8B030D-6E8A-4147-A177-3AD203B41FA5}">
                      <a16:colId xmlns:a16="http://schemas.microsoft.com/office/drawing/2014/main" val="1626442187"/>
                    </a:ext>
                  </a:extLst>
                </a:gridCol>
              </a:tblGrid>
              <a:tr h="329789">
                <a:tc>
                  <a:txBody>
                    <a:bodyPr/>
                    <a:lstStyle/>
                    <a:p>
                      <a:r>
                        <a:rPr lang="zh-CN" altLang="en-US" sz="1100" b="1"/>
                        <a:t>项目</a:t>
                      </a:r>
                    </a:p>
                  </a:txBody>
                  <a:tcPr marL="44085" marR="44085" marT="22043" marB="22043" anchor="ctr">
                    <a:solidFill>
                      <a:schemeClr val="accent1">
                        <a:lumMod val="75000"/>
                      </a:schemeClr>
                    </a:solidFill>
                  </a:tcPr>
                </a:tc>
                <a:tc>
                  <a:txBody>
                    <a:bodyPr/>
                    <a:lstStyle/>
                    <a:p>
                      <a:r>
                        <a:rPr lang="zh-CN" altLang="en-US" sz="1100" b="1"/>
                        <a:t>保留数字手表</a:t>
                      </a:r>
                    </a:p>
                  </a:txBody>
                  <a:tcPr marL="44085" marR="44085" marT="22043" marB="22043" anchor="ctr">
                    <a:solidFill>
                      <a:schemeClr val="accent1">
                        <a:lumMod val="75000"/>
                      </a:schemeClr>
                    </a:solidFill>
                  </a:tcPr>
                </a:tc>
                <a:tc>
                  <a:txBody>
                    <a:bodyPr/>
                    <a:lstStyle/>
                    <a:p>
                      <a:r>
                        <a:rPr lang="zh-CN" altLang="en-US" sz="1100" b="1"/>
                        <a:t>停产数字手表</a:t>
                      </a:r>
                    </a:p>
                  </a:txBody>
                  <a:tcPr marL="44085" marR="44085" marT="22043" marB="22043" anchor="ctr">
                    <a:solidFill>
                      <a:schemeClr val="accent1">
                        <a:lumMod val="75000"/>
                      </a:schemeClr>
                    </a:solidFill>
                  </a:tcPr>
                </a:tc>
                <a:tc>
                  <a:txBody>
                    <a:bodyPr/>
                    <a:lstStyle/>
                    <a:p>
                      <a:r>
                        <a:rPr lang="zh-CN" altLang="en-US" sz="1100" b="1" dirty="0"/>
                        <a:t>差异</a:t>
                      </a:r>
                    </a:p>
                  </a:txBody>
                  <a:tcPr marL="44085" marR="44085" marT="22043" marB="22043" anchor="ctr">
                    <a:solidFill>
                      <a:schemeClr val="accent1">
                        <a:lumMod val="75000"/>
                      </a:schemeClr>
                    </a:solidFill>
                  </a:tcPr>
                </a:tc>
                <a:extLst>
                  <a:ext uri="{0D108BD9-81ED-4DB2-BD59-A6C34878D82A}">
                    <a16:rowId xmlns:a16="http://schemas.microsoft.com/office/drawing/2014/main" val="2199557727"/>
                  </a:ext>
                </a:extLst>
              </a:tr>
              <a:tr h="176341">
                <a:tc>
                  <a:txBody>
                    <a:bodyPr/>
                    <a:lstStyle/>
                    <a:p>
                      <a:r>
                        <a:rPr lang="zh-CN" altLang="en-US" sz="1100" b="1"/>
                        <a:t>销售收入</a:t>
                      </a:r>
                      <a:endParaRPr lang="zh-CN" altLang="en-US" sz="1100"/>
                    </a:p>
                  </a:txBody>
                  <a:tcPr marL="44085" marR="44085" marT="22043" marB="22043" anchor="ctr"/>
                </a:tc>
                <a:tc>
                  <a:txBody>
                    <a:bodyPr/>
                    <a:lstStyle/>
                    <a:p>
                      <a:r>
                        <a:rPr lang="en-US" altLang="zh-CN" sz="1100" dirty="0"/>
                        <a:t>$500,000</a:t>
                      </a:r>
                    </a:p>
                  </a:txBody>
                  <a:tcPr marL="44085" marR="44085" marT="22043" marB="22043" anchor="ctr"/>
                </a:tc>
                <a:tc>
                  <a:txBody>
                    <a:bodyPr/>
                    <a:lstStyle/>
                    <a:p>
                      <a:r>
                        <a:rPr lang="en-US" altLang="zh-CN" sz="1100"/>
                        <a:t>$—</a:t>
                      </a:r>
                    </a:p>
                  </a:txBody>
                  <a:tcPr marL="44085" marR="44085" marT="22043" marB="22043" anchor="ctr"/>
                </a:tc>
                <a:tc>
                  <a:txBody>
                    <a:bodyPr/>
                    <a:lstStyle/>
                    <a:p>
                      <a:r>
                        <a:rPr lang="en-US" altLang="zh-CN" sz="1100"/>
                        <a:t>$(500,000)</a:t>
                      </a:r>
                    </a:p>
                  </a:txBody>
                  <a:tcPr marL="44085" marR="44085" marT="22043" marB="22043" anchor="ctr"/>
                </a:tc>
                <a:extLst>
                  <a:ext uri="{0D108BD9-81ED-4DB2-BD59-A6C34878D82A}">
                    <a16:rowId xmlns:a16="http://schemas.microsoft.com/office/drawing/2014/main" val="1167417361"/>
                  </a:ext>
                </a:extLst>
              </a:tr>
              <a:tr h="176341">
                <a:tc>
                  <a:txBody>
                    <a:bodyPr/>
                    <a:lstStyle/>
                    <a:p>
                      <a:r>
                        <a:rPr lang="zh-CN" altLang="en-US" sz="1100" b="1"/>
                        <a:t>减：变动费用</a:t>
                      </a:r>
                      <a:endParaRPr lang="zh-CN" altLang="en-US" sz="1100"/>
                    </a:p>
                  </a:txBody>
                  <a:tcPr marL="44085" marR="44085" marT="22043" marB="22043" anchor="ctr"/>
                </a:tc>
                <a:tc>
                  <a:txBody>
                    <a:bodyPr/>
                    <a:lstStyle/>
                    <a:p>
                      <a:endParaRPr lang="zh-CN" altLang="en-US" sz="1100"/>
                    </a:p>
                  </a:txBody>
                  <a:tcPr marL="44085" marR="44085" marT="22043" marB="22043" anchor="ctr"/>
                </a:tc>
                <a:tc>
                  <a:txBody>
                    <a:bodyPr/>
                    <a:lstStyle/>
                    <a:p>
                      <a:endParaRPr lang="zh-CN" altLang="en-US" sz="1100"/>
                    </a:p>
                  </a:txBody>
                  <a:tcPr marL="44085" marR="44085" marT="22043" marB="22043" anchor="ctr"/>
                </a:tc>
                <a:tc>
                  <a:txBody>
                    <a:bodyPr/>
                    <a:lstStyle/>
                    <a:p>
                      <a:endParaRPr lang="zh-CN" altLang="en-US" sz="1100"/>
                    </a:p>
                  </a:txBody>
                  <a:tcPr marL="44085" marR="44085" marT="22043" marB="22043" anchor="ctr"/>
                </a:tc>
                <a:extLst>
                  <a:ext uri="{0D108BD9-81ED-4DB2-BD59-A6C34878D82A}">
                    <a16:rowId xmlns:a16="http://schemas.microsoft.com/office/drawing/2014/main" val="4114279707"/>
                  </a:ext>
                </a:extLst>
              </a:tr>
              <a:tr h="176341">
                <a:tc>
                  <a:txBody>
                    <a:bodyPr/>
                    <a:lstStyle/>
                    <a:p>
                      <a:r>
                        <a:rPr lang="zh-CN" altLang="en-US" sz="1100"/>
                        <a:t>制造成本</a:t>
                      </a:r>
                    </a:p>
                  </a:txBody>
                  <a:tcPr marL="44085" marR="44085" marT="22043" marB="22043" anchor="ctr"/>
                </a:tc>
                <a:tc>
                  <a:txBody>
                    <a:bodyPr/>
                    <a:lstStyle/>
                    <a:p>
                      <a:r>
                        <a:rPr lang="en-US" altLang="zh-CN" sz="1100"/>
                        <a:t>$120,000</a:t>
                      </a:r>
                    </a:p>
                  </a:txBody>
                  <a:tcPr marL="44085" marR="44085" marT="22043" marB="22043" anchor="ctr"/>
                </a:tc>
                <a:tc>
                  <a:txBody>
                    <a:bodyPr/>
                    <a:lstStyle/>
                    <a:p>
                      <a:r>
                        <a:rPr lang="en-US" altLang="zh-CN" sz="1100"/>
                        <a:t>$—</a:t>
                      </a:r>
                    </a:p>
                  </a:txBody>
                  <a:tcPr marL="44085" marR="44085" marT="22043" marB="22043" anchor="ctr"/>
                </a:tc>
                <a:tc>
                  <a:txBody>
                    <a:bodyPr/>
                    <a:lstStyle/>
                    <a:p>
                      <a:r>
                        <a:rPr lang="en-US" altLang="zh-CN" sz="1100"/>
                        <a:t>$120,000</a:t>
                      </a:r>
                    </a:p>
                  </a:txBody>
                  <a:tcPr marL="44085" marR="44085" marT="22043" marB="22043" anchor="ctr"/>
                </a:tc>
                <a:extLst>
                  <a:ext uri="{0D108BD9-81ED-4DB2-BD59-A6C34878D82A}">
                    <a16:rowId xmlns:a16="http://schemas.microsoft.com/office/drawing/2014/main" val="3099811"/>
                  </a:ext>
                </a:extLst>
              </a:tr>
              <a:tr h="176341">
                <a:tc>
                  <a:txBody>
                    <a:bodyPr/>
                    <a:lstStyle/>
                    <a:p>
                      <a:r>
                        <a:rPr lang="zh-CN" altLang="en-US" sz="1100"/>
                        <a:t>运输费用</a:t>
                      </a:r>
                    </a:p>
                  </a:txBody>
                  <a:tcPr marL="44085" marR="44085" marT="22043" marB="22043" anchor="ctr"/>
                </a:tc>
                <a:tc>
                  <a:txBody>
                    <a:bodyPr/>
                    <a:lstStyle/>
                    <a:p>
                      <a:r>
                        <a:rPr lang="en-US" altLang="zh-CN" sz="1100"/>
                        <a:t>$5,000</a:t>
                      </a:r>
                    </a:p>
                  </a:txBody>
                  <a:tcPr marL="44085" marR="44085" marT="22043" marB="22043" anchor="ctr"/>
                </a:tc>
                <a:tc>
                  <a:txBody>
                    <a:bodyPr/>
                    <a:lstStyle/>
                    <a:p>
                      <a:r>
                        <a:rPr lang="en-US" altLang="zh-CN" sz="1100"/>
                        <a:t>$—</a:t>
                      </a:r>
                    </a:p>
                  </a:txBody>
                  <a:tcPr marL="44085" marR="44085" marT="22043" marB="22043" anchor="ctr"/>
                </a:tc>
                <a:tc>
                  <a:txBody>
                    <a:bodyPr/>
                    <a:lstStyle/>
                    <a:p>
                      <a:r>
                        <a:rPr lang="en-US" altLang="zh-CN" sz="1100"/>
                        <a:t>$5,000</a:t>
                      </a:r>
                    </a:p>
                  </a:txBody>
                  <a:tcPr marL="44085" marR="44085" marT="22043" marB="22043" anchor="ctr"/>
                </a:tc>
                <a:extLst>
                  <a:ext uri="{0D108BD9-81ED-4DB2-BD59-A6C34878D82A}">
                    <a16:rowId xmlns:a16="http://schemas.microsoft.com/office/drawing/2014/main" val="2311927116"/>
                  </a:ext>
                </a:extLst>
              </a:tr>
              <a:tr h="176341">
                <a:tc>
                  <a:txBody>
                    <a:bodyPr/>
                    <a:lstStyle/>
                    <a:p>
                      <a:r>
                        <a:rPr lang="zh-CN" altLang="en-US" sz="1100"/>
                        <a:t>销售佣金</a:t>
                      </a:r>
                    </a:p>
                  </a:txBody>
                  <a:tcPr marL="44085" marR="44085" marT="22043" marB="22043" anchor="ctr"/>
                </a:tc>
                <a:tc>
                  <a:txBody>
                    <a:bodyPr/>
                    <a:lstStyle/>
                    <a:p>
                      <a:r>
                        <a:rPr lang="en-US" altLang="zh-CN" sz="1100"/>
                        <a:t>$75,000</a:t>
                      </a:r>
                    </a:p>
                  </a:txBody>
                  <a:tcPr marL="44085" marR="44085" marT="22043" marB="22043" anchor="ctr"/>
                </a:tc>
                <a:tc>
                  <a:txBody>
                    <a:bodyPr/>
                    <a:lstStyle/>
                    <a:p>
                      <a:r>
                        <a:rPr lang="en-US" altLang="zh-CN" sz="1100"/>
                        <a:t>$—</a:t>
                      </a:r>
                    </a:p>
                  </a:txBody>
                  <a:tcPr marL="44085" marR="44085" marT="22043" marB="22043" anchor="ctr"/>
                </a:tc>
                <a:tc>
                  <a:txBody>
                    <a:bodyPr/>
                    <a:lstStyle/>
                    <a:p>
                      <a:r>
                        <a:rPr lang="en-US" altLang="zh-CN" sz="1100"/>
                        <a:t>$75,000</a:t>
                      </a:r>
                    </a:p>
                  </a:txBody>
                  <a:tcPr marL="44085" marR="44085" marT="22043" marB="22043" anchor="ctr"/>
                </a:tc>
                <a:extLst>
                  <a:ext uri="{0D108BD9-81ED-4DB2-BD59-A6C34878D82A}">
                    <a16:rowId xmlns:a16="http://schemas.microsoft.com/office/drawing/2014/main" val="700145379"/>
                  </a:ext>
                </a:extLst>
              </a:tr>
              <a:tr h="176341">
                <a:tc>
                  <a:txBody>
                    <a:bodyPr/>
                    <a:lstStyle/>
                    <a:p>
                      <a:r>
                        <a:rPr lang="zh-CN" altLang="en-US" sz="1100" b="1"/>
                        <a:t>变动费用合计</a:t>
                      </a:r>
                      <a:endParaRPr lang="zh-CN" altLang="en-US" sz="1100"/>
                    </a:p>
                  </a:txBody>
                  <a:tcPr marL="44085" marR="44085" marT="22043" marB="22043" anchor="ctr"/>
                </a:tc>
                <a:tc>
                  <a:txBody>
                    <a:bodyPr/>
                    <a:lstStyle/>
                    <a:p>
                      <a:r>
                        <a:rPr lang="en-US" altLang="zh-CN" sz="1100" b="1"/>
                        <a:t>$200,000</a:t>
                      </a:r>
                      <a:endParaRPr lang="zh-CN" altLang="en-US" sz="1100"/>
                    </a:p>
                  </a:txBody>
                  <a:tcPr marL="44085" marR="44085" marT="22043" marB="22043" anchor="ctr"/>
                </a:tc>
                <a:tc>
                  <a:txBody>
                    <a:bodyPr/>
                    <a:lstStyle/>
                    <a:p>
                      <a:r>
                        <a:rPr lang="en-US" altLang="zh-CN" sz="1100" b="1"/>
                        <a:t>$—</a:t>
                      </a:r>
                      <a:endParaRPr lang="zh-CN" altLang="en-US" sz="1100"/>
                    </a:p>
                  </a:txBody>
                  <a:tcPr marL="44085" marR="44085" marT="22043" marB="22043" anchor="ctr"/>
                </a:tc>
                <a:tc>
                  <a:txBody>
                    <a:bodyPr/>
                    <a:lstStyle/>
                    <a:p>
                      <a:r>
                        <a:rPr lang="en-US" altLang="zh-CN" sz="1100" b="1"/>
                        <a:t>$200,000</a:t>
                      </a:r>
                      <a:endParaRPr lang="zh-CN" altLang="en-US" sz="1100"/>
                    </a:p>
                  </a:txBody>
                  <a:tcPr marL="44085" marR="44085" marT="22043" marB="22043" anchor="ctr"/>
                </a:tc>
                <a:extLst>
                  <a:ext uri="{0D108BD9-81ED-4DB2-BD59-A6C34878D82A}">
                    <a16:rowId xmlns:a16="http://schemas.microsoft.com/office/drawing/2014/main" val="2903620148"/>
                  </a:ext>
                </a:extLst>
              </a:tr>
              <a:tr h="176341">
                <a:tc>
                  <a:txBody>
                    <a:bodyPr/>
                    <a:lstStyle/>
                    <a:p>
                      <a:r>
                        <a:rPr lang="zh-CN" altLang="en-US" sz="1100" b="1"/>
                        <a:t>贡献毛益</a:t>
                      </a:r>
                      <a:endParaRPr lang="zh-CN" altLang="en-US" sz="1100"/>
                    </a:p>
                  </a:txBody>
                  <a:tcPr marL="44085" marR="44085" marT="22043" marB="22043" anchor="ctr"/>
                </a:tc>
                <a:tc>
                  <a:txBody>
                    <a:bodyPr/>
                    <a:lstStyle/>
                    <a:p>
                      <a:r>
                        <a:rPr lang="en-US" altLang="zh-CN" sz="1100" b="1"/>
                        <a:t>$300,000</a:t>
                      </a:r>
                      <a:endParaRPr lang="zh-CN" altLang="en-US" sz="1100"/>
                    </a:p>
                  </a:txBody>
                  <a:tcPr marL="44085" marR="44085" marT="22043" marB="22043" anchor="ctr"/>
                </a:tc>
                <a:tc>
                  <a:txBody>
                    <a:bodyPr/>
                    <a:lstStyle/>
                    <a:p>
                      <a:r>
                        <a:rPr lang="en-US" altLang="zh-CN" sz="1100" b="1"/>
                        <a:t>$—</a:t>
                      </a:r>
                      <a:endParaRPr lang="zh-CN" altLang="en-US" sz="1100"/>
                    </a:p>
                  </a:txBody>
                  <a:tcPr marL="44085" marR="44085" marT="22043" marB="22043" anchor="ctr"/>
                </a:tc>
                <a:tc>
                  <a:txBody>
                    <a:bodyPr/>
                    <a:lstStyle/>
                    <a:p>
                      <a:r>
                        <a:rPr lang="en-US" altLang="zh-CN" sz="1100" b="1"/>
                        <a:t>$(300,000)</a:t>
                      </a:r>
                      <a:endParaRPr lang="zh-CN" altLang="en-US" sz="1100"/>
                    </a:p>
                  </a:txBody>
                  <a:tcPr marL="44085" marR="44085" marT="22043" marB="22043" anchor="ctr"/>
                </a:tc>
                <a:extLst>
                  <a:ext uri="{0D108BD9-81ED-4DB2-BD59-A6C34878D82A}">
                    <a16:rowId xmlns:a16="http://schemas.microsoft.com/office/drawing/2014/main" val="1063149512"/>
                  </a:ext>
                </a:extLst>
              </a:tr>
              <a:tr h="176341">
                <a:tc>
                  <a:txBody>
                    <a:bodyPr/>
                    <a:lstStyle/>
                    <a:p>
                      <a:r>
                        <a:rPr lang="zh-CN" altLang="en-US" sz="1100" b="1"/>
                        <a:t>减：固定费用</a:t>
                      </a:r>
                      <a:endParaRPr lang="zh-CN" altLang="en-US" sz="1100"/>
                    </a:p>
                  </a:txBody>
                  <a:tcPr marL="44085" marR="44085" marT="22043" marB="22043" anchor="ctr"/>
                </a:tc>
                <a:tc>
                  <a:txBody>
                    <a:bodyPr/>
                    <a:lstStyle/>
                    <a:p>
                      <a:endParaRPr lang="zh-CN" altLang="en-US" sz="1100"/>
                    </a:p>
                  </a:txBody>
                  <a:tcPr marL="44085" marR="44085" marT="22043" marB="22043" anchor="ctr"/>
                </a:tc>
                <a:tc>
                  <a:txBody>
                    <a:bodyPr/>
                    <a:lstStyle/>
                    <a:p>
                      <a:endParaRPr lang="zh-CN" altLang="en-US" sz="1100"/>
                    </a:p>
                  </a:txBody>
                  <a:tcPr marL="44085" marR="44085" marT="22043" marB="22043" anchor="ctr"/>
                </a:tc>
                <a:tc>
                  <a:txBody>
                    <a:bodyPr/>
                    <a:lstStyle/>
                    <a:p>
                      <a:endParaRPr lang="zh-CN" altLang="en-US" sz="1100"/>
                    </a:p>
                  </a:txBody>
                  <a:tcPr marL="44085" marR="44085" marT="22043" marB="22043" anchor="ctr"/>
                </a:tc>
                <a:extLst>
                  <a:ext uri="{0D108BD9-81ED-4DB2-BD59-A6C34878D82A}">
                    <a16:rowId xmlns:a16="http://schemas.microsoft.com/office/drawing/2014/main" val="473097356"/>
                  </a:ext>
                </a:extLst>
              </a:tr>
              <a:tr h="308597">
                <a:tc>
                  <a:txBody>
                    <a:bodyPr/>
                    <a:lstStyle/>
                    <a:p>
                      <a:r>
                        <a:rPr lang="zh-CN" altLang="en-US" sz="1100"/>
                        <a:t>工厂通用制造费用</a:t>
                      </a:r>
                    </a:p>
                  </a:txBody>
                  <a:tcPr marL="44085" marR="44085" marT="22043" marB="22043" anchor="ctr"/>
                </a:tc>
                <a:tc>
                  <a:txBody>
                    <a:bodyPr/>
                    <a:lstStyle/>
                    <a:p>
                      <a:r>
                        <a:rPr lang="en-US" altLang="zh-CN" sz="1100"/>
                        <a:t>$60,000</a:t>
                      </a:r>
                    </a:p>
                  </a:txBody>
                  <a:tcPr marL="44085" marR="44085" marT="22043" marB="22043" anchor="ctr"/>
                </a:tc>
                <a:tc>
                  <a:txBody>
                    <a:bodyPr/>
                    <a:lstStyle/>
                    <a:p>
                      <a:r>
                        <a:rPr lang="en-US" altLang="zh-CN" sz="1100"/>
                        <a:t>$60,000</a:t>
                      </a:r>
                    </a:p>
                  </a:txBody>
                  <a:tcPr marL="44085" marR="44085" marT="22043" marB="22043" anchor="ctr"/>
                </a:tc>
                <a:tc>
                  <a:txBody>
                    <a:bodyPr/>
                    <a:lstStyle/>
                    <a:p>
                      <a:r>
                        <a:rPr lang="en-US" altLang="zh-CN" sz="1100"/>
                        <a:t>$—</a:t>
                      </a:r>
                    </a:p>
                  </a:txBody>
                  <a:tcPr marL="44085" marR="44085" marT="22043" marB="22043" anchor="ctr"/>
                </a:tc>
                <a:extLst>
                  <a:ext uri="{0D108BD9-81ED-4DB2-BD59-A6C34878D82A}">
                    <a16:rowId xmlns:a16="http://schemas.microsoft.com/office/drawing/2014/main" val="422150923"/>
                  </a:ext>
                </a:extLst>
              </a:tr>
              <a:tr h="176341">
                <a:tc>
                  <a:txBody>
                    <a:bodyPr/>
                    <a:lstStyle/>
                    <a:p>
                      <a:r>
                        <a:rPr lang="zh-CN" altLang="en-US" sz="1100"/>
                        <a:t>生产线经理薪酬</a:t>
                      </a:r>
                    </a:p>
                  </a:txBody>
                  <a:tcPr marL="44085" marR="44085" marT="22043" marB="22043" anchor="ctr"/>
                </a:tc>
                <a:tc>
                  <a:txBody>
                    <a:bodyPr/>
                    <a:lstStyle/>
                    <a:p>
                      <a:r>
                        <a:rPr lang="en-US" altLang="zh-CN" sz="1100"/>
                        <a:t>$90,000</a:t>
                      </a:r>
                    </a:p>
                  </a:txBody>
                  <a:tcPr marL="44085" marR="44085" marT="22043" marB="22043" anchor="ctr"/>
                </a:tc>
                <a:tc>
                  <a:txBody>
                    <a:bodyPr/>
                    <a:lstStyle/>
                    <a:p>
                      <a:r>
                        <a:rPr lang="en-US" altLang="zh-CN" sz="1100"/>
                        <a:t>$—</a:t>
                      </a:r>
                    </a:p>
                  </a:txBody>
                  <a:tcPr marL="44085" marR="44085" marT="22043" marB="22043" anchor="ctr"/>
                </a:tc>
                <a:tc>
                  <a:txBody>
                    <a:bodyPr/>
                    <a:lstStyle/>
                    <a:p>
                      <a:r>
                        <a:rPr lang="en-US" altLang="zh-CN" sz="1100"/>
                        <a:t>$90,000</a:t>
                      </a:r>
                    </a:p>
                  </a:txBody>
                  <a:tcPr marL="44085" marR="44085" marT="22043" marB="22043" anchor="ctr"/>
                </a:tc>
                <a:extLst>
                  <a:ext uri="{0D108BD9-81ED-4DB2-BD59-A6C34878D82A}">
                    <a16:rowId xmlns:a16="http://schemas.microsoft.com/office/drawing/2014/main" val="3733990326"/>
                  </a:ext>
                </a:extLst>
              </a:tr>
              <a:tr h="176341">
                <a:tc>
                  <a:txBody>
                    <a:bodyPr/>
                    <a:lstStyle/>
                    <a:p>
                      <a:r>
                        <a:rPr lang="zh-CN" altLang="en-US" sz="1100"/>
                        <a:t>设备折旧</a:t>
                      </a:r>
                    </a:p>
                  </a:txBody>
                  <a:tcPr marL="44085" marR="44085" marT="22043" marB="22043" anchor="ctr"/>
                </a:tc>
                <a:tc>
                  <a:txBody>
                    <a:bodyPr/>
                    <a:lstStyle/>
                    <a:p>
                      <a:r>
                        <a:rPr lang="en-US" altLang="zh-CN" sz="1100"/>
                        <a:t>$50,000</a:t>
                      </a:r>
                    </a:p>
                  </a:txBody>
                  <a:tcPr marL="44085" marR="44085" marT="22043" marB="22043" anchor="ctr"/>
                </a:tc>
                <a:tc>
                  <a:txBody>
                    <a:bodyPr/>
                    <a:lstStyle/>
                    <a:p>
                      <a:r>
                        <a:rPr lang="en-US" altLang="zh-CN" sz="1100"/>
                        <a:t>$50,000</a:t>
                      </a:r>
                    </a:p>
                  </a:txBody>
                  <a:tcPr marL="44085" marR="44085" marT="22043" marB="22043" anchor="ctr"/>
                </a:tc>
                <a:tc>
                  <a:txBody>
                    <a:bodyPr/>
                    <a:lstStyle/>
                    <a:p>
                      <a:r>
                        <a:rPr lang="en-US" altLang="zh-CN" sz="1100"/>
                        <a:t>$—</a:t>
                      </a:r>
                    </a:p>
                  </a:txBody>
                  <a:tcPr marL="44085" marR="44085" marT="22043" marB="22043" anchor="ctr"/>
                </a:tc>
                <a:extLst>
                  <a:ext uri="{0D108BD9-81ED-4DB2-BD59-A6C34878D82A}">
                    <a16:rowId xmlns:a16="http://schemas.microsoft.com/office/drawing/2014/main" val="252257783"/>
                  </a:ext>
                </a:extLst>
              </a:tr>
              <a:tr h="176341">
                <a:tc>
                  <a:txBody>
                    <a:bodyPr/>
                    <a:lstStyle/>
                    <a:p>
                      <a:r>
                        <a:rPr lang="zh-CN" altLang="en-US" sz="1100"/>
                        <a:t>直接广告费用</a:t>
                      </a:r>
                    </a:p>
                  </a:txBody>
                  <a:tcPr marL="44085" marR="44085" marT="22043" marB="22043" anchor="ctr"/>
                </a:tc>
                <a:tc>
                  <a:txBody>
                    <a:bodyPr/>
                    <a:lstStyle/>
                    <a:p>
                      <a:r>
                        <a:rPr lang="en-US" altLang="zh-CN" sz="1100"/>
                        <a:t>$100,000</a:t>
                      </a:r>
                    </a:p>
                  </a:txBody>
                  <a:tcPr marL="44085" marR="44085" marT="22043" marB="22043" anchor="ctr"/>
                </a:tc>
                <a:tc>
                  <a:txBody>
                    <a:bodyPr/>
                    <a:lstStyle/>
                    <a:p>
                      <a:r>
                        <a:rPr lang="en-US" altLang="zh-CN" sz="1100"/>
                        <a:t>$—</a:t>
                      </a:r>
                    </a:p>
                  </a:txBody>
                  <a:tcPr marL="44085" marR="44085" marT="22043" marB="22043" anchor="ctr"/>
                </a:tc>
                <a:tc>
                  <a:txBody>
                    <a:bodyPr/>
                    <a:lstStyle/>
                    <a:p>
                      <a:r>
                        <a:rPr lang="en-US" altLang="zh-CN" sz="1100"/>
                        <a:t>$100,000</a:t>
                      </a:r>
                    </a:p>
                  </a:txBody>
                  <a:tcPr marL="44085" marR="44085" marT="22043" marB="22043" anchor="ctr"/>
                </a:tc>
                <a:extLst>
                  <a:ext uri="{0D108BD9-81ED-4DB2-BD59-A6C34878D82A}">
                    <a16:rowId xmlns:a16="http://schemas.microsoft.com/office/drawing/2014/main" val="3576387580"/>
                  </a:ext>
                </a:extLst>
              </a:tr>
              <a:tr h="176341">
                <a:tc>
                  <a:txBody>
                    <a:bodyPr/>
                    <a:lstStyle/>
                    <a:p>
                      <a:r>
                        <a:rPr lang="zh-CN" altLang="en-US" sz="1100"/>
                        <a:t>工厂场地租金</a:t>
                      </a:r>
                    </a:p>
                  </a:txBody>
                  <a:tcPr marL="44085" marR="44085" marT="22043" marB="22043" anchor="ctr"/>
                </a:tc>
                <a:tc>
                  <a:txBody>
                    <a:bodyPr/>
                    <a:lstStyle/>
                    <a:p>
                      <a:r>
                        <a:rPr lang="en-US" altLang="zh-CN" sz="1100"/>
                        <a:t>$70,000</a:t>
                      </a:r>
                    </a:p>
                  </a:txBody>
                  <a:tcPr marL="44085" marR="44085" marT="22043" marB="22043" anchor="ctr"/>
                </a:tc>
                <a:tc>
                  <a:txBody>
                    <a:bodyPr/>
                    <a:lstStyle/>
                    <a:p>
                      <a:r>
                        <a:rPr lang="en-US" altLang="zh-CN" sz="1100"/>
                        <a:t>$—</a:t>
                      </a:r>
                    </a:p>
                  </a:txBody>
                  <a:tcPr marL="44085" marR="44085" marT="22043" marB="22043" anchor="ctr"/>
                </a:tc>
                <a:tc>
                  <a:txBody>
                    <a:bodyPr/>
                    <a:lstStyle/>
                    <a:p>
                      <a:r>
                        <a:rPr lang="en-US" altLang="zh-CN" sz="1100"/>
                        <a:t>$70,000</a:t>
                      </a:r>
                    </a:p>
                  </a:txBody>
                  <a:tcPr marL="44085" marR="44085" marT="22043" marB="22043" anchor="ctr"/>
                </a:tc>
                <a:extLst>
                  <a:ext uri="{0D108BD9-81ED-4DB2-BD59-A6C34878D82A}">
                    <a16:rowId xmlns:a16="http://schemas.microsoft.com/office/drawing/2014/main" val="2228327821"/>
                  </a:ext>
                </a:extLst>
              </a:tr>
              <a:tr h="308597">
                <a:tc>
                  <a:txBody>
                    <a:bodyPr/>
                    <a:lstStyle/>
                    <a:p>
                      <a:r>
                        <a:rPr lang="zh-CN" altLang="en-US" sz="1100"/>
                        <a:t>通用行政管理费用</a:t>
                      </a:r>
                    </a:p>
                  </a:txBody>
                  <a:tcPr marL="44085" marR="44085" marT="22043" marB="22043" anchor="ctr"/>
                </a:tc>
                <a:tc>
                  <a:txBody>
                    <a:bodyPr/>
                    <a:lstStyle/>
                    <a:p>
                      <a:r>
                        <a:rPr lang="en-US" altLang="zh-CN" sz="1100"/>
                        <a:t>$30,000</a:t>
                      </a:r>
                    </a:p>
                  </a:txBody>
                  <a:tcPr marL="44085" marR="44085" marT="22043" marB="22043" anchor="ctr"/>
                </a:tc>
                <a:tc>
                  <a:txBody>
                    <a:bodyPr/>
                    <a:lstStyle/>
                    <a:p>
                      <a:r>
                        <a:rPr lang="en-US" altLang="zh-CN" sz="1100"/>
                        <a:t>$30,000</a:t>
                      </a:r>
                    </a:p>
                  </a:txBody>
                  <a:tcPr marL="44085" marR="44085" marT="22043" marB="22043" anchor="ctr"/>
                </a:tc>
                <a:tc>
                  <a:txBody>
                    <a:bodyPr/>
                    <a:lstStyle/>
                    <a:p>
                      <a:r>
                        <a:rPr lang="en-US" altLang="zh-CN" sz="1100"/>
                        <a:t>$—</a:t>
                      </a:r>
                    </a:p>
                  </a:txBody>
                  <a:tcPr marL="44085" marR="44085" marT="22043" marB="22043" anchor="ctr"/>
                </a:tc>
                <a:extLst>
                  <a:ext uri="{0D108BD9-81ED-4DB2-BD59-A6C34878D82A}">
                    <a16:rowId xmlns:a16="http://schemas.microsoft.com/office/drawing/2014/main" val="516317815"/>
                  </a:ext>
                </a:extLst>
              </a:tr>
              <a:tr h="176341">
                <a:tc>
                  <a:txBody>
                    <a:bodyPr/>
                    <a:lstStyle/>
                    <a:p>
                      <a:r>
                        <a:rPr lang="zh-CN" altLang="en-US" sz="1100" b="1"/>
                        <a:t>固定费用合计</a:t>
                      </a:r>
                      <a:endParaRPr lang="zh-CN" altLang="en-US" sz="1100"/>
                    </a:p>
                  </a:txBody>
                  <a:tcPr marL="44085" marR="44085" marT="22043" marB="22043" anchor="ctr"/>
                </a:tc>
                <a:tc>
                  <a:txBody>
                    <a:bodyPr/>
                    <a:lstStyle/>
                    <a:p>
                      <a:r>
                        <a:rPr lang="en-US" altLang="zh-CN" sz="1100" b="1"/>
                        <a:t>$400,000</a:t>
                      </a:r>
                      <a:endParaRPr lang="zh-CN" altLang="en-US" sz="1100"/>
                    </a:p>
                  </a:txBody>
                  <a:tcPr marL="44085" marR="44085" marT="22043" marB="22043" anchor="ctr"/>
                </a:tc>
                <a:tc>
                  <a:txBody>
                    <a:bodyPr/>
                    <a:lstStyle/>
                    <a:p>
                      <a:r>
                        <a:rPr lang="en-US" altLang="zh-CN" sz="1100" b="1"/>
                        <a:t>$140,000</a:t>
                      </a:r>
                      <a:endParaRPr lang="zh-CN" altLang="en-US" sz="1100"/>
                    </a:p>
                  </a:txBody>
                  <a:tcPr marL="44085" marR="44085" marT="22043" marB="22043" anchor="ctr"/>
                </a:tc>
                <a:tc>
                  <a:txBody>
                    <a:bodyPr/>
                    <a:lstStyle/>
                    <a:p>
                      <a:r>
                        <a:rPr lang="en-US" altLang="zh-CN" sz="1100" b="1"/>
                        <a:t>$260,000</a:t>
                      </a:r>
                      <a:endParaRPr lang="zh-CN" altLang="en-US" sz="1100"/>
                    </a:p>
                  </a:txBody>
                  <a:tcPr marL="44085" marR="44085" marT="22043" marB="22043" anchor="ctr"/>
                </a:tc>
                <a:extLst>
                  <a:ext uri="{0D108BD9-81ED-4DB2-BD59-A6C34878D82A}">
                    <a16:rowId xmlns:a16="http://schemas.microsoft.com/office/drawing/2014/main" val="1822953749"/>
                  </a:ext>
                </a:extLst>
              </a:tr>
              <a:tr h="176341">
                <a:tc>
                  <a:txBody>
                    <a:bodyPr/>
                    <a:lstStyle/>
                    <a:p>
                      <a:r>
                        <a:rPr lang="zh-CN" altLang="en-US" sz="1100" b="1"/>
                        <a:t>营业净亏损</a:t>
                      </a:r>
                      <a:endParaRPr lang="zh-CN" altLang="en-US" sz="1100"/>
                    </a:p>
                  </a:txBody>
                  <a:tcPr marL="44085" marR="44085" marT="22043" marB="22043" anchor="ctr"/>
                </a:tc>
                <a:tc>
                  <a:txBody>
                    <a:bodyPr/>
                    <a:lstStyle/>
                    <a:p>
                      <a:r>
                        <a:rPr lang="en-US" altLang="zh-CN" sz="1100" b="1"/>
                        <a:t>$(100,000)</a:t>
                      </a:r>
                      <a:endParaRPr lang="zh-CN" altLang="en-US" sz="1100"/>
                    </a:p>
                  </a:txBody>
                  <a:tcPr marL="44085" marR="44085" marT="22043" marB="22043" anchor="ctr"/>
                </a:tc>
                <a:tc>
                  <a:txBody>
                    <a:bodyPr/>
                    <a:lstStyle/>
                    <a:p>
                      <a:r>
                        <a:rPr lang="en-US" altLang="zh-CN" sz="1100" b="1"/>
                        <a:t>$(140,000)</a:t>
                      </a:r>
                      <a:endParaRPr lang="zh-CN" altLang="en-US" sz="1100"/>
                    </a:p>
                  </a:txBody>
                  <a:tcPr marL="44085" marR="44085" marT="22043" marB="22043" anchor="ctr"/>
                </a:tc>
                <a:tc>
                  <a:txBody>
                    <a:bodyPr/>
                    <a:lstStyle/>
                    <a:p>
                      <a:r>
                        <a:rPr lang="en-US" altLang="zh-CN" sz="1100" b="1" dirty="0"/>
                        <a:t>$(40,000)</a:t>
                      </a:r>
                      <a:endParaRPr lang="zh-CN" altLang="en-US" sz="1100" dirty="0"/>
                    </a:p>
                  </a:txBody>
                  <a:tcPr marL="44085" marR="44085" marT="22043" marB="22043" anchor="ctr"/>
                </a:tc>
                <a:extLst>
                  <a:ext uri="{0D108BD9-81ED-4DB2-BD59-A6C34878D82A}">
                    <a16:rowId xmlns:a16="http://schemas.microsoft.com/office/drawing/2014/main" val="3252609562"/>
                  </a:ext>
                </a:extLst>
              </a:tr>
            </a:tbl>
          </a:graphicData>
        </a:graphic>
      </p:graphicFrame>
      <p:sp>
        <p:nvSpPr>
          <p:cNvPr id="20" name="文本框 19">
            <a:extLst>
              <a:ext uri="{FF2B5EF4-FFF2-40B4-BE49-F238E27FC236}">
                <a16:creationId xmlns:a16="http://schemas.microsoft.com/office/drawing/2014/main" id="{C53916A4-1824-4420-AB49-F491E7D9FAC8}"/>
              </a:ext>
            </a:extLst>
          </p:cNvPr>
          <p:cNvSpPr txBox="1"/>
          <p:nvPr/>
        </p:nvSpPr>
        <p:spPr>
          <a:xfrm>
            <a:off x="1523029" y="1166747"/>
            <a:ext cx="4658496" cy="2431435"/>
          </a:xfrm>
          <a:prstGeom prst="rect">
            <a:avLst/>
          </a:prstGeom>
          <a:solidFill>
            <a:schemeClr val="accent2">
              <a:lumMod val="40000"/>
              <a:lumOff val="60000"/>
            </a:schemeClr>
          </a:solidFill>
        </p:spPr>
        <p:txBody>
          <a:bodyPr wrap="square">
            <a:spAutoFit/>
          </a:bodyPr>
          <a:lstStyle/>
          <a:p>
            <a:pPr>
              <a:spcBef>
                <a:spcPts val="600"/>
              </a:spcBef>
              <a:spcAft>
                <a:spcPts val="600"/>
              </a:spcAft>
            </a:pPr>
            <a:r>
              <a:rPr lang="zh-CN" altLang="en-US" sz="1400" dirty="0"/>
              <a:t>通过比较两种方案可见：</a:t>
            </a:r>
          </a:p>
          <a:p>
            <a:pPr lvl="1">
              <a:spcBef>
                <a:spcPts val="600"/>
              </a:spcBef>
              <a:spcAft>
                <a:spcPts val="600"/>
              </a:spcAft>
              <a:buFont typeface="Arial" panose="020B0604020202020204" pitchFamily="34" charset="0"/>
              <a:buChar char="•"/>
            </a:pPr>
            <a:r>
              <a:rPr lang="zh-CN" altLang="en-US" sz="1400" dirty="0"/>
              <a:t>停产数字手表后，固定费用减少</a:t>
            </a:r>
            <a:r>
              <a:rPr lang="en-US" altLang="zh-CN" sz="1400" dirty="0"/>
              <a:t>$260,000</a:t>
            </a:r>
            <a:r>
              <a:rPr lang="zh-CN" altLang="en-US" sz="1400" dirty="0"/>
              <a:t>（即可避免的成本：生产线经理薪酬</a:t>
            </a:r>
            <a:r>
              <a:rPr lang="en-US" altLang="zh-CN" sz="1400" dirty="0"/>
              <a:t>$90,000</a:t>
            </a:r>
            <a:r>
              <a:rPr lang="zh-CN" altLang="en-US" sz="1400" dirty="0"/>
              <a:t>、直接广告费</a:t>
            </a:r>
            <a:r>
              <a:rPr lang="en-US" altLang="zh-CN" sz="1400" dirty="0"/>
              <a:t>$100,000</a:t>
            </a:r>
            <a:r>
              <a:rPr lang="zh-CN" altLang="en-US" sz="1400" dirty="0"/>
              <a:t>、工厂租金</a:t>
            </a:r>
            <a:r>
              <a:rPr lang="en-US" altLang="zh-CN" sz="1400" dirty="0"/>
              <a:t>$70,000</a:t>
            </a:r>
            <a:r>
              <a:rPr lang="zh-CN" altLang="en-US" sz="1400" dirty="0"/>
              <a:t>）；</a:t>
            </a:r>
          </a:p>
          <a:p>
            <a:pPr lvl="1">
              <a:spcBef>
                <a:spcPts val="600"/>
              </a:spcBef>
              <a:spcAft>
                <a:spcPts val="600"/>
              </a:spcAft>
              <a:buFont typeface="Arial" panose="020B0604020202020204" pitchFamily="34" charset="0"/>
              <a:buChar char="•"/>
            </a:pPr>
            <a:r>
              <a:rPr lang="zh-CN" altLang="en-US" sz="1400" dirty="0"/>
              <a:t>但也会损失贡献毛益</a:t>
            </a:r>
            <a:r>
              <a:rPr lang="en-US" altLang="zh-CN" sz="1400" dirty="0"/>
              <a:t>$300,000</a:t>
            </a:r>
            <a:r>
              <a:rPr lang="zh-CN" altLang="en-US" sz="1400" dirty="0"/>
              <a:t>；</a:t>
            </a:r>
          </a:p>
          <a:p>
            <a:pPr lvl="1">
              <a:spcBef>
                <a:spcPts val="600"/>
              </a:spcBef>
              <a:spcAft>
                <a:spcPts val="600"/>
              </a:spcAft>
              <a:buFont typeface="Arial" panose="020B0604020202020204" pitchFamily="34" charset="0"/>
              <a:buChar char="•"/>
            </a:pPr>
            <a:r>
              <a:rPr lang="zh-CN" altLang="en-US" sz="1400" dirty="0"/>
              <a:t>综合影响导致停产后的营业亏损反而增加</a:t>
            </a:r>
            <a:r>
              <a:rPr lang="en-US" altLang="zh-CN" sz="1400" dirty="0"/>
              <a:t>$40,000</a:t>
            </a:r>
            <a:r>
              <a:rPr lang="zh-CN" altLang="en-US" sz="1400" dirty="0"/>
              <a:t>（即</a:t>
            </a:r>
            <a:r>
              <a:rPr lang="en-US" altLang="zh-CN" sz="1400" dirty="0"/>
              <a:t>$140,000 – $100,000 = $40,000</a:t>
            </a:r>
            <a:r>
              <a:rPr lang="zh-CN" altLang="en-US" sz="1400" dirty="0"/>
              <a:t>）。</a:t>
            </a:r>
            <a:endParaRPr lang="en-US" altLang="zh-CN" sz="1400" dirty="0"/>
          </a:p>
          <a:p>
            <a:pPr>
              <a:spcBef>
                <a:spcPts val="600"/>
              </a:spcBef>
              <a:spcAft>
                <a:spcPts val="600"/>
              </a:spcAft>
            </a:pPr>
            <a:r>
              <a:rPr lang="zh-CN" altLang="en-US" sz="1400" dirty="0"/>
              <a:t>因此，从财务角度分析，</a:t>
            </a:r>
            <a:r>
              <a:rPr lang="zh-CN" altLang="en-US" sz="1400" b="1" dirty="0"/>
              <a:t>应继续保留</a:t>
            </a:r>
            <a:r>
              <a:rPr lang="zh-CN" altLang="en-US" sz="1400" dirty="0"/>
              <a:t>数字手表产品线。</a:t>
            </a:r>
          </a:p>
        </p:txBody>
      </p:sp>
    </p:spTree>
    <p:extLst>
      <p:ext uri="{BB962C8B-B14F-4D97-AF65-F5344CB8AC3E}">
        <p14:creationId xmlns:p14="http://schemas.microsoft.com/office/powerpoint/2010/main" val="28496454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1000"/>
                                        <p:tgtEl>
                                          <p:spTgt spid="20"/>
                                        </p:tgtEl>
                                      </p:cBhvr>
                                    </p:animEffect>
                                    <p:anim calcmode="lin" valueType="num">
                                      <p:cBhvr>
                                        <p:cTn id="8" dur="1000" fill="hold"/>
                                        <p:tgtEl>
                                          <p:spTgt spid="20"/>
                                        </p:tgtEl>
                                        <p:attrNameLst>
                                          <p:attrName>ppt_x</p:attrName>
                                        </p:attrNameLst>
                                      </p:cBhvr>
                                      <p:tavLst>
                                        <p:tav tm="0">
                                          <p:val>
                                            <p:strVal val="#ppt_x"/>
                                          </p:val>
                                        </p:tav>
                                        <p:tav tm="100000">
                                          <p:val>
                                            <p:strVal val="#ppt_x"/>
                                          </p:val>
                                        </p:tav>
                                      </p:tavLst>
                                    </p:anim>
                                    <p:anim calcmode="lin" valueType="num">
                                      <p:cBhvr>
                                        <p:cTn id="9"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img.tukuppt.com/aippt_uploads/34576449/25/07/03/6866a18678cda.png!/fwfh2/960x960"/>
          <p:cNvPicPr>
            <a:picLocks noChangeAspect="1"/>
          </p:cNvPicPr>
          <p:nvPr/>
        </p:nvPicPr>
        <p:blipFill>
          <a:blip r:embed="rId3"/>
          <a:stretch>
            <a:fillRect/>
          </a:stretch>
        </p:blipFill>
        <p:spPr>
          <a:xfrm>
            <a:off x="0" y="0"/>
            <a:ext cx="9140180" cy="5131830"/>
          </a:xfrm>
          <a:prstGeom prst="rect">
            <a:avLst/>
          </a:prstGeom>
        </p:spPr>
      </p:pic>
      <p:sp>
        <p:nvSpPr>
          <p:cNvPr id="3" name="Shape 0"/>
          <p:cNvSpPr/>
          <p:nvPr/>
        </p:nvSpPr>
        <p:spPr>
          <a:xfrm>
            <a:off x="979384" y="287863"/>
            <a:ext cx="2872893" cy="412023"/>
          </a:xfrm>
          <a:custGeom>
            <a:avLst/>
            <a:gdLst/>
            <a:ahLst/>
            <a:cxnLst/>
            <a:rect l="l" t="t" r="r" b="b"/>
            <a:pathLst>
              <a:path w="2872893" h="412023">
                <a:moveTo>
                  <a:pt x="68568" y="0"/>
                </a:moveTo>
                <a:lnTo>
                  <a:pt x="2803673" y="0"/>
                </a:lnTo>
                <a:cubicBezTo>
                  <a:pt x="2841542" y="0"/>
                  <a:pt x="2872241" y="30699"/>
                  <a:pt x="2872241" y="68568"/>
                </a:cubicBezTo>
                <a:lnTo>
                  <a:pt x="2872241" y="342840"/>
                </a:lnTo>
                <a:cubicBezTo>
                  <a:pt x="2872241" y="380710"/>
                  <a:pt x="2841542" y="411409"/>
                  <a:pt x="2803673" y="411409"/>
                </a:cubicBezTo>
                <a:lnTo>
                  <a:pt x="68568" y="411409"/>
                </a:lnTo>
                <a:cubicBezTo>
                  <a:pt x="30699" y="411409"/>
                  <a:pt x="0" y="380710"/>
                  <a:pt x="0" y="342840"/>
                </a:cubicBezTo>
                <a:lnTo>
                  <a:pt x="0" y="68568"/>
                </a:lnTo>
                <a:cubicBezTo>
                  <a:pt x="0" y="30724"/>
                  <a:pt x="30724" y="0"/>
                  <a:pt x="68568" y="0"/>
                </a:cubicBezTo>
                <a:close/>
              </a:path>
            </a:pathLst>
          </a:custGeom>
          <a:solidFill>
            <a:srgbClr val="0067B4"/>
          </a:solidFill>
          <a:ln/>
          <a:effectLst>
            <a:outerShdw dist="38093" dir="2700000" algn="bl" rotWithShape="0">
              <a:srgbClr val="000000">
                <a:alpha val="38824"/>
              </a:srgbClr>
            </a:outerShdw>
          </a:effectLst>
        </p:spPr>
      </p:sp>
      <p:sp>
        <p:nvSpPr>
          <p:cNvPr id="4" name="Shape 1"/>
          <p:cNvSpPr/>
          <p:nvPr/>
        </p:nvSpPr>
        <p:spPr>
          <a:xfrm>
            <a:off x="1188456" y="329442"/>
            <a:ext cx="2735844" cy="339064"/>
          </a:xfrm>
          <a:custGeom>
            <a:avLst/>
            <a:gdLst/>
            <a:ahLst/>
            <a:cxnLst/>
            <a:rect l="l" t="t" r="r" b="b"/>
            <a:pathLst>
              <a:path w="2735844" h="339064">
                <a:moveTo>
                  <a:pt x="0" y="0"/>
                </a:moveTo>
                <a:lnTo>
                  <a:pt x="2735844" y="0"/>
                </a:lnTo>
                <a:lnTo>
                  <a:pt x="2735844" y="339064"/>
                </a:lnTo>
                <a:lnTo>
                  <a:pt x="0" y="339064"/>
                </a:lnTo>
                <a:close/>
              </a:path>
            </a:pathLst>
          </a:custGeom>
          <a:noFill/>
          <a:ln/>
        </p:spPr>
      </p:sp>
      <p:sp>
        <p:nvSpPr>
          <p:cNvPr id="5" name="Text 2"/>
          <p:cNvSpPr txBox="1"/>
          <p:nvPr/>
        </p:nvSpPr>
        <p:spPr>
          <a:xfrm>
            <a:off x="1188456" y="329442"/>
            <a:ext cx="2735844" cy="339064"/>
          </a:xfrm>
          <a:prstGeom prst="rect">
            <a:avLst/>
          </a:prstGeom>
          <a:noFill/>
          <a:ln/>
        </p:spPr>
        <p:txBody>
          <a:bodyPr wrap="square" lIns="1252" tIns="653" rIns="1252" bIns="653" rtlCol="0" anchor="t">
            <a:spAutoFit/>
          </a:bodyPr>
          <a:lstStyle/>
          <a:p>
            <a:pPr marL="0" indent="0" algn="l">
              <a:buNone/>
            </a:pPr>
            <a:r>
              <a:rPr lang="zh-CN" altLang="en-US" sz="1601" dirty="0">
                <a:solidFill>
                  <a:srgbClr val="64CBFF"/>
                </a:solidFill>
                <a:latin typeface="SourceHanSansSC-Medium"/>
                <a:ea typeface="SourceHanSansSC-Medium"/>
                <a:cs typeface="SourceHanSansSC-Medium"/>
              </a:rPr>
              <a:t>已分配固定成本的影响</a:t>
            </a:r>
            <a:endParaRPr lang="en-US" sz="1601" dirty="0"/>
          </a:p>
        </p:txBody>
      </p:sp>
      <p:sp>
        <p:nvSpPr>
          <p:cNvPr id="6" name="Shape 3"/>
          <p:cNvSpPr/>
          <p:nvPr/>
        </p:nvSpPr>
        <p:spPr>
          <a:xfrm>
            <a:off x="471488" y="198466"/>
            <a:ext cx="461756" cy="542999"/>
          </a:xfrm>
          <a:custGeom>
            <a:avLst/>
            <a:gdLst/>
            <a:ahLst/>
            <a:cxnLst/>
            <a:rect l="l" t="t" r="r" b="b"/>
            <a:pathLst>
              <a:path w="461756" h="542999">
                <a:moveTo>
                  <a:pt x="77457" y="0"/>
                </a:moveTo>
                <a:lnTo>
                  <a:pt x="384743" y="0"/>
                </a:lnTo>
                <a:cubicBezTo>
                  <a:pt x="427521" y="0"/>
                  <a:pt x="462200" y="34678"/>
                  <a:pt x="462200" y="77457"/>
                </a:cubicBezTo>
                <a:lnTo>
                  <a:pt x="462200" y="466009"/>
                </a:lnTo>
                <a:cubicBezTo>
                  <a:pt x="462200" y="508787"/>
                  <a:pt x="427521" y="543466"/>
                  <a:pt x="384743" y="543466"/>
                </a:cubicBezTo>
                <a:lnTo>
                  <a:pt x="77457" y="543466"/>
                </a:lnTo>
                <a:cubicBezTo>
                  <a:pt x="34678" y="543466"/>
                  <a:pt x="0" y="508787"/>
                  <a:pt x="0" y="466009"/>
                </a:cubicBezTo>
                <a:lnTo>
                  <a:pt x="0" y="77457"/>
                </a:lnTo>
                <a:cubicBezTo>
                  <a:pt x="0" y="34678"/>
                  <a:pt x="34678" y="0"/>
                  <a:pt x="77457" y="0"/>
                </a:cubicBezTo>
                <a:close/>
              </a:path>
            </a:pathLst>
          </a:custGeom>
          <a:solidFill>
            <a:srgbClr val="0067B4"/>
          </a:solidFill>
          <a:ln/>
          <a:effectLst>
            <a:outerShdw dist="38093" dir="2700000" algn="bl" rotWithShape="0">
              <a:srgbClr val="000000">
                <a:alpha val="38824"/>
              </a:srgbClr>
            </a:outerShdw>
          </a:effectLst>
        </p:spPr>
      </p:sp>
      <p:sp>
        <p:nvSpPr>
          <p:cNvPr id="7" name="Shape 4"/>
          <p:cNvSpPr/>
          <p:nvPr/>
        </p:nvSpPr>
        <p:spPr>
          <a:xfrm>
            <a:off x="482166" y="206110"/>
            <a:ext cx="433263" cy="535355"/>
          </a:xfrm>
          <a:custGeom>
            <a:avLst/>
            <a:gdLst/>
            <a:ahLst/>
            <a:cxnLst/>
            <a:rect l="l" t="t" r="r" b="b"/>
            <a:pathLst>
              <a:path w="433263" h="535355">
                <a:moveTo>
                  <a:pt x="73647" y="0"/>
                </a:moveTo>
                <a:lnTo>
                  <a:pt x="366966" y="0"/>
                </a:lnTo>
                <a:cubicBezTo>
                  <a:pt x="396171" y="0"/>
                  <a:pt x="421567" y="15237"/>
                  <a:pt x="432995" y="35554"/>
                </a:cubicBezTo>
                <a:cubicBezTo>
                  <a:pt x="186658" y="119359"/>
                  <a:pt x="11428" y="311096"/>
                  <a:pt x="1270" y="535847"/>
                </a:cubicBezTo>
                <a:cubicBezTo>
                  <a:pt x="0" y="533307"/>
                  <a:pt x="0" y="532038"/>
                  <a:pt x="0" y="529498"/>
                </a:cubicBezTo>
                <a:lnTo>
                  <a:pt x="0" y="60949"/>
                </a:lnTo>
                <a:cubicBezTo>
                  <a:pt x="0" y="26665"/>
                  <a:pt x="33014" y="0"/>
                  <a:pt x="73647" y="0"/>
                </a:cubicBezTo>
                <a:close/>
              </a:path>
            </a:pathLst>
          </a:custGeom>
          <a:gradFill>
            <a:gsLst>
              <a:gs pos="0">
                <a:srgbClr val="64CBFF">
                  <a:alpha val="34902"/>
                </a:srgbClr>
              </a:gs>
              <a:gs pos="100000">
                <a:srgbClr val="2F5897">
                  <a:alpha val="100000"/>
                </a:srgbClr>
              </a:gs>
            </a:gsLst>
            <a:lin ang="1200000" scaled="1"/>
          </a:gradFill>
          <a:ln/>
        </p:spPr>
      </p:sp>
      <p:pic>
        <p:nvPicPr>
          <p:cNvPr id="8" name="Image 1" descr="//img.tukuppt.com/aippt_tpl_uploads/25/07/01/686397e7ae4cf.png"/>
          <p:cNvPicPr>
            <a:picLocks noChangeAspect="1"/>
          </p:cNvPicPr>
          <p:nvPr/>
        </p:nvPicPr>
        <p:blipFill>
          <a:blip r:embed="rId4"/>
          <a:srcRect/>
          <a:stretch/>
        </p:blipFill>
        <p:spPr>
          <a:xfrm flipH="1">
            <a:off x="787710" y="346921"/>
            <a:ext cx="255659" cy="98905"/>
          </a:xfrm>
          <a:prstGeom prst="rect">
            <a:avLst/>
          </a:prstGeom>
        </p:spPr>
      </p:pic>
      <p:pic>
        <p:nvPicPr>
          <p:cNvPr id="9" name="Image 2" descr="//img.tukuppt.com/aippt_tpl_uploads/25/07/01/686397e7ae4cf.png"/>
          <p:cNvPicPr>
            <a:picLocks noChangeAspect="1"/>
          </p:cNvPicPr>
          <p:nvPr/>
        </p:nvPicPr>
        <p:blipFill>
          <a:blip r:embed="rId4"/>
          <a:srcRect/>
          <a:stretch/>
        </p:blipFill>
        <p:spPr>
          <a:xfrm flipH="1">
            <a:off x="787710" y="549201"/>
            <a:ext cx="255659" cy="98905"/>
          </a:xfrm>
          <a:prstGeom prst="rect">
            <a:avLst/>
          </a:prstGeom>
        </p:spPr>
      </p:pic>
      <p:pic>
        <p:nvPicPr>
          <p:cNvPr id="10" name="Image 3" descr="//img.tukuppt.com/aippt_tpl_uploads/25/07/01/686397e7b8f81.png"/>
          <p:cNvPicPr>
            <a:picLocks noChangeAspect="1"/>
          </p:cNvPicPr>
          <p:nvPr/>
        </p:nvPicPr>
        <p:blipFill>
          <a:blip r:embed="rId5"/>
          <a:srcRect/>
          <a:stretch/>
        </p:blipFill>
        <p:spPr>
          <a:xfrm>
            <a:off x="539206" y="312920"/>
            <a:ext cx="321318" cy="321734"/>
          </a:xfrm>
          <a:prstGeom prst="rect">
            <a:avLst/>
          </a:prstGeom>
        </p:spPr>
      </p:pic>
      <p:pic>
        <p:nvPicPr>
          <p:cNvPr id="11" name="Image 4" descr="//img.tukuppt.com/aippt_tpl_uploads/25/07/01/686397e7af1a3.png!/fwfh2/960x960"/>
          <p:cNvPicPr>
            <a:picLocks noChangeAspect="1"/>
          </p:cNvPicPr>
          <p:nvPr/>
        </p:nvPicPr>
        <p:blipFill>
          <a:blip r:embed="rId6"/>
          <a:srcRect l="36452" t="56544" b="34700"/>
          <a:stretch/>
        </p:blipFill>
        <p:spPr>
          <a:xfrm>
            <a:off x="-4836" y="-812736"/>
            <a:ext cx="9148837" cy="1019042"/>
          </a:xfrm>
          <a:prstGeom prst="rect">
            <a:avLst/>
          </a:prstGeom>
        </p:spPr>
      </p:pic>
      <p:pic>
        <p:nvPicPr>
          <p:cNvPr id="12" name="Image 5" descr="//img.tukuppt.com/aippt_tpl_uploads/25/07/01/686397e7af1a3.png!/fwfh2/960x960"/>
          <p:cNvPicPr>
            <a:picLocks noChangeAspect="1"/>
          </p:cNvPicPr>
          <p:nvPr/>
        </p:nvPicPr>
        <p:blipFill>
          <a:blip r:embed="rId6"/>
          <a:srcRect l="36452" t="56544" b="34700"/>
          <a:stretch/>
        </p:blipFill>
        <p:spPr>
          <a:xfrm>
            <a:off x="-61352" y="4937888"/>
            <a:ext cx="9313872" cy="1019042"/>
          </a:xfrm>
          <a:prstGeom prst="rect">
            <a:avLst/>
          </a:prstGeom>
        </p:spPr>
      </p:pic>
      <p:sp>
        <p:nvSpPr>
          <p:cNvPr id="13" name="Shape 5"/>
          <p:cNvSpPr/>
          <p:nvPr/>
        </p:nvSpPr>
        <p:spPr>
          <a:xfrm>
            <a:off x="1114106" y="1603481"/>
            <a:ext cx="3083476" cy="485483"/>
          </a:xfrm>
          <a:custGeom>
            <a:avLst/>
            <a:gdLst/>
            <a:ahLst/>
            <a:cxnLst/>
            <a:rect l="l" t="t" r="r" b="b"/>
            <a:pathLst>
              <a:path w="3083476" h="485483">
                <a:moveTo>
                  <a:pt x="0" y="0"/>
                </a:moveTo>
                <a:lnTo>
                  <a:pt x="3083476" y="0"/>
                </a:lnTo>
                <a:lnTo>
                  <a:pt x="3083476" y="485483"/>
                </a:lnTo>
                <a:lnTo>
                  <a:pt x="0" y="485483"/>
                </a:lnTo>
                <a:close/>
              </a:path>
            </a:pathLst>
          </a:custGeom>
          <a:solidFill>
            <a:srgbClr val="0067B4"/>
          </a:solidFill>
          <a:ln/>
        </p:spPr>
      </p:sp>
      <p:sp>
        <p:nvSpPr>
          <p:cNvPr id="14" name="Text 6"/>
          <p:cNvSpPr txBox="1"/>
          <p:nvPr/>
        </p:nvSpPr>
        <p:spPr>
          <a:xfrm>
            <a:off x="1254964" y="1654556"/>
            <a:ext cx="2822267" cy="383333"/>
          </a:xfrm>
          <a:prstGeom prst="rect">
            <a:avLst/>
          </a:prstGeom>
          <a:noFill/>
          <a:ln/>
        </p:spPr>
        <p:txBody>
          <a:bodyPr wrap="square" lIns="0" tIns="0" rIns="0" bIns="0" rtlCol="0" anchor="ctr">
            <a:spAutoFit/>
          </a:bodyPr>
          <a:lstStyle/>
          <a:p>
            <a:pPr marL="0" indent="0" algn="l">
              <a:buNone/>
            </a:pPr>
            <a:r>
              <a:rPr lang="zh-CN" altLang="en-US" sz="1350" dirty="0">
                <a:solidFill>
                  <a:srgbClr val="FFFFFF"/>
                </a:solidFill>
                <a:latin typeface="SourceHanSansSC-Regular"/>
                <a:ea typeface="SourceHanSansSC-Regular"/>
                <a:cs typeface="SourceHanSansSC-Regular"/>
              </a:rPr>
              <a:t>成本分配</a:t>
            </a:r>
            <a:endParaRPr lang="en-US" sz="1350" dirty="0"/>
          </a:p>
        </p:txBody>
      </p:sp>
      <p:sp>
        <p:nvSpPr>
          <p:cNvPr id="15" name="Text 7"/>
          <p:cNvSpPr txBox="1"/>
          <p:nvPr/>
        </p:nvSpPr>
        <p:spPr>
          <a:xfrm>
            <a:off x="1114106" y="2329033"/>
            <a:ext cx="3103984" cy="1738313"/>
          </a:xfrm>
          <a:prstGeom prst="rect">
            <a:avLst/>
          </a:prstGeom>
          <a:noFill/>
          <a:ln/>
        </p:spPr>
        <p:txBody>
          <a:bodyPr wrap="square" lIns="0" tIns="0" rIns="0" bIns="0" rtlCol="0" anchor="t">
            <a:spAutoFit/>
          </a:bodyPr>
          <a:lstStyle/>
          <a:p>
            <a:pPr marL="0" indent="0" algn="l">
              <a:buNone/>
            </a:pPr>
            <a:r>
              <a:rPr lang="zh-CN" altLang="en-US" sz="900" dirty="0">
                <a:solidFill>
                  <a:srgbClr val="000000"/>
                </a:solidFill>
                <a:latin typeface="SourceHanSansSC-Regular"/>
                <a:ea typeface="SourceHanSansSC-Regular"/>
                <a:cs typeface="SourceHanSansSC-Regular"/>
              </a:rPr>
              <a:t>已分配的固定成本可能使一个分部看起来比实际情况盈利能力更差。在决策时，需要正确认识已分配固定成本的性质，避免因成本分配方式而做出错误决策。</a:t>
            </a:r>
            <a:endParaRPr lang="en-US" sz="900" dirty="0"/>
          </a:p>
        </p:txBody>
      </p:sp>
      <p:pic>
        <p:nvPicPr>
          <p:cNvPr id="16" name="Image 6" descr="//static3.tukuppt.com/design/material/002/079/6688ac2de44dc.png?x-bce-process=image/resize,m_mfit,w_960,h_960"/>
          <p:cNvPicPr>
            <a:picLocks noChangeAspect="1"/>
          </p:cNvPicPr>
          <p:nvPr/>
        </p:nvPicPr>
        <p:blipFill>
          <a:blip r:embed="rId7"/>
          <a:stretch>
            <a:fillRect/>
          </a:stretch>
        </p:blipFill>
        <p:spPr>
          <a:xfrm>
            <a:off x="5154097" y="1436399"/>
            <a:ext cx="2926928" cy="2926928"/>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img.tukuppt.com/aippt_tpl_uploads/25/07/01/686397e7a6107.png"/>
          <p:cNvPicPr>
            <a:picLocks noChangeAspect="1"/>
          </p:cNvPicPr>
          <p:nvPr/>
        </p:nvPicPr>
        <p:blipFill>
          <a:blip r:embed="rId4"/>
          <a:srcRect/>
          <a:stretch/>
        </p:blipFill>
        <p:spPr>
          <a:xfrm flipH="1">
            <a:off x="-1744075" y="-312485"/>
            <a:ext cx="6071588" cy="5942568"/>
          </a:xfrm>
          <a:prstGeom prst="rect">
            <a:avLst/>
          </a:prstGeom>
        </p:spPr>
      </p:pic>
      <p:sp>
        <p:nvSpPr>
          <p:cNvPr id="3" name="Text 0"/>
          <p:cNvSpPr txBox="1"/>
          <p:nvPr/>
        </p:nvSpPr>
        <p:spPr>
          <a:xfrm>
            <a:off x="4118077" y="1908001"/>
            <a:ext cx="4105275" cy="1371600"/>
          </a:xfrm>
          <a:prstGeom prst="rect">
            <a:avLst/>
          </a:prstGeom>
          <a:noFill/>
          <a:ln/>
        </p:spPr>
        <p:txBody>
          <a:bodyPr wrap="square" lIns="0" tIns="0" rIns="0" bIns="0" rtlCol="0" anchor="t">
            <a:spAutoFit/>
          </a:bodyPr>
          <a:lstStyle/>
          <a:p>
            <a:pPr marL="0" indent="0" algn="l">
              <a:lnSpc>
                <a:spcPct val="96000"/>
              </a:lnSpc>
              <a:buNone/>
            </a:pPr>
            <a:r>
              <a:rPr lang="zh-CN" altLang="en-US" sz="4500" dirty="0">
                <a:solidFill>
                  <a:srgbClr val="0067B4"/>
                </a:solidFill>
                <a:latin typeface="SourceHanSansSC-Heavy"/>
                <a:ea typeface="SourceHanSansSC-Heavy"/>
                <a:cs typeface="SourceHanSansSC-Heavy"/>
              </a:rPr>
              <a:t>自制或外购决策</a:t>
            </a:r>
            <a:endParaRPr lang="en-US" sz="4500" dirty="0"/>
          </a:p>
        </p:txBody>
      </p:sp>
      <p:sp>
        <p:nvSpPr>
          <p:cNvPr id="4" name="Text 1"/>
          <p:cNvSpPr txBox="1"/>
          <p:nvPr/>
        </p:nvSpPr>
        <p:spPr>
          <a:xfrm>
            <a:off x="4118077" y="1357413"/>
            <a:ext cx="1038225" cy="409575"/>
          </a:xfrm>
          <a:prstGeom prst="rect">
            <a:avLst/>
          </a:prstGeom>
          <a:noFill/>
          <a:ln/>
        </p:spPr>
        <p:txBody>
          <a:bodyPr wrap="square" lIns="0" tIns="0" rIns="0" bIns="0" rtlCol="0" anchor="t">
            <a:spAutoFit/>
          </a:bodyPr>
          <a:lstStyle/>
          <a:p>
            <a:pPr marL="0" indent="0" algn="ctr">
              <a:lnSpc>
                <a:spcPct val="96000"/>
              </a:lnSpc>
              <a:buNone/>
            </a:pPr>
            <a:r>
              <a:rPr lang="en" altLang="en-US" sz="2700" dirty="0">
                <a:solidFill>
                  <a:srgbClr val="000000"/>
                </a:solidFill>
                <a:latin typeface="SourceHanSansSC-Heavy"/>
                <a:ea typeface="SourceHanSansSC-Heavy"/>
                <a:cs typeface="SourceHanSansSC-Heavy"/>
              </a:rPr>
              <a:t>PART-</a:t>
            </a:r>
            <a:endParaRPr lang="en-US" sz="2700" dirty="0"/>
          </a:p>
        </p:txBody>
      </p:sp>
      <p:sp>
        <p:nvSpPr>
          <p:cNvPr id="5" name="Text 2"/>
          <p:cNvSpPr txBox="1"/>
          <p:nvPr/>
        </p:nvSpPr>
        <p:spPr>
          <a:xfrm>
            <a:off x="5156302" y="1357413"/>
            <a:ext cx="1038225" cy="409575"/>
          </a:xfrm>
          <a:prstGeom prst="rect">
            <a:avLst/>
          </a:prstGeom>
          <a:noFill/>
          <a:ln/>
        </p:spPr>
        <p:txBody>
          <a:bodyPr wrap="square" lIns="0" tIns="0" rIns="0" bIns="0" rtlCol="0" anchor="t">
            <a:spAutoFit/>
          </a:bodyPr>
          <a:lstStyle/>
          <a:p>
            <a:pPr marL="0" indent="0" algn="l">
              <a:lnSpc>
                <a:spcPct val="96000"/>
              </a:lnSpc>
              <a:buNone/>
            </a:pPr>
            <a:r>
              <a:rPr lang="en-US" sz="2700" dirty="0">
                <a:solidFill>
                  <a:srgbClr val="000000"/>
                </a:solidFill>
                <a:latin typeface="SourceHanSansSC-Heavy"/>
                <a:ea typeface="SourceHanSansSC-Heavy"/>
                <a:cs typeface="SourceHanSansSC-Heavy"/>
              </a:rPr>
              <a:t>06</a:t>
            </a:r>
            <a:endParaRPr lang="en-US" sz="27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img.tukuppt.com/aippt_uploads/34576449/25/07/03/6866a18678cda.png!/fwfh2/960x960"/>
          <p:cNvPicPr>
            <a:picLocks noChangeAspect="1"/>
          </p:cNvPicPr>
          <p:nvPr/>
        </p:nvPicPr>
        <p:blipFill>
          <a:blip r:embed="rId3"/>
          <a:stretch>
            <a:fillRect/>
          </a:stretch>
        </p:blipFill>
        <p:spPr>
          <a:xfrm>
            <a:off x="0" y="0"/>
            <a:ext cx="9140180" cy="5131830"/>
          </a:xfrm>
          <a:prstGeom prst="rect">
            <a:avLst/>
          </a:prstGeom>
        </p:spPr>
      </p:pic>
      <p:sp>
        <p:nvSpPr>
          <p:cNvPr id="3" name="Shape 0"/>
          <p:cNvSpPr/>
          <p:nvPr/>
        </p:nvSpPr>
        <p:spPr>
          <a:xfrm>
            <a:off x="979384" y="287863"/>
            <a:ext cx="2872893" cy="412023"/>
          </a:xfrm>
          <a:custGeom>
            <a:avLst/>
            <a:gdLst/>
            <a:ahLst/>
            <a:cxnLst/>
            <a:rect l="l" t="t" r="r" b="b"/>
            <a:pathLst>
              <a:path w="2872893" h="412023">
                <a:moveTo>
                  <a:pt x="68568" y="0"/>
                </a:moveTo>
                <a:lnTo>
                  <a:pt x="2803673" y="0"/>
                </a:lnTo>
                <a:cubicBezTo>
                  <a:pt x="2841542" y="0"/>
                  <a:pt x="2872241" y="30699"/>
                  <a:pt x="2872241" y="68568"/>
                </a:cubicBezTo>
                <a:lnTo>
                  <a:pt x="2872241" y="342840"/>
                </a:lnTo>
                <a:cubicBezTo>
                  <a:pt x="2872241" y="380710"/>
                  <a:pt x="2841542" y="411409"/>
                  <a:pt x="2803673" y="411409"/>
                </a:cubicBezTo>
                <a:lnTo>
                  <a:pt x="68568" y="411409"/>
                </a:lnTo>
                <a:cubicBezTo>
                  <a:pt x="30699" y="411409"/>
                  <a:pt x="0" y="380710"/>
                  <a:pt x="0" y="342840"/>
                </a:cubicBezTo>
                <a:lnTo>
                  <a:pt x="0" y="68568"/>
                </a:lnTo>
                <a:cubicBezTo>
                  <a:pt x="0" y="30724"/>
                  <a:pt x="30724" y="0"/>
                  <a:pt x="68568" y="0"/>
                </a:cubicBezTo>
                <a:close/>
              </a:path>
            </a:pathLst>
          </a:custGeom>
          <a:solidFill>
            <a:srgbClr val="0067B4"/>
          </a:solidFill>
          <a:ln/>
          <a:effectLst>
            <a:outerShdw dist="38093" dir="2700000" algn="bl" rotWithShape="0">
              <a:srgbClr val="000000">
                <a:alpha val="38824"/>
              </a:srgbClr>
            </a:outerShdw>
          </a:effectLst>
        </p:spPr>
      </p:sp>
      <p:sp>
        <p:nvSpPr>
          <p:cNvPr id="4" name="Shape 1"/>
          <p:cNvSpPr/>
          <p:nvPr/>
        </p:nvSpPr>
        <p:spPr>
          <a:xfrm>
            <a:off x="1188456" y="329442"/>
            <a:ext cx="2735844" cy="339064"/>
          </a:xfrm>
          <a:custGeom>
            <a:avLst/>
            <a:gdLst/>
            <a:ahLst/>
            <a:cxnLst/>
            <a:rect l="l" t="t" r="r" b="b"/>
            <a:pathLst>
              <a:path w="2735844" h="339064">
                <a:moveTo>
                  <a:pt x="0" y="0"/>
                </a:moveTo>
                <a:lnTo>
                  <a:pt x="2735844" y="0"/>
                </a:lnTo>
                <a:lnTo>
                  <a:pt x="2735844" y="339064"/>
                </a:lnTo>
                <a:lnTo>
                  <a:pt x="0" y="339064"/>
                </a:lnTo>
                <a:close/>
              </a:path>
            </a:pathLst>
          </a:custGeom>
          <a:noFill/>
          <a:ln/>
        </p:spPr>
      </p:sp>
      <p:sp>
        <p:nvSpPr>
          <p:cNvPr id="5" name="Text 2"/>
          <p:cNvSpPr txBox="1"/>
          <p:nvPr/>
        </p:nvSpPr>
        <p:spPr>
          <a:xfrm>
            <a:off x="1188456" y="329442"/>
            <a:ext cx="2735844" cy="339064"/>
          </a:xfrm>
          <a:prstGeom prst="rect">
            <a:avLst/>
          </a:prstGeom>
          <a:noFill/>
          <a:ln/>
        </p:spPr>
        <p:txBody>
          <a:bodyPr wrap="square" lIns="1252" tIns="653" rIns="1252" bIns="653" rtlCol="0" anchor="t">
            <a:spAutoFit/>
          </a:bodyPr>
          <a:lstStyle/>
          <a:p>
            <a:pPr marL="0" indent="0" algn="l">
              <a:buNone/>
            </a:pPr>
            <a:r>
              <a:rPr lang="zh-CN" altLang="en-US" sz="1601" dirty="0">
                <a:solidFill>
                  <a:srgbClr val="64CBFF"/>
                </a:solidFill>
                <a:latin typeface="SourceHanSansSC-Medium"/>
                <a:ea typeface="SourceHanSansSC-Medium"/>
                <a:cs typeface="SourceHanSansSC-Medium"/>
              </a:rPr>
              <a:t>纵向一体化概念</a:t>
            </a:r>
            <a:endParaRPr lang="en-US" sz="1601" dirty="0"/>
          </a:p>
        </p:txBody>
      </p:sp>
      <p:sp>
        <p:nvSpPr>
          <p:cNvPr id="6" name="Shape 3"/>
          <p:cNvSpPr/>
          <p:nvPr/>
        </p:nvSpPr>
        <p:spPr>
          <a:xfrm>
            <a:off x="471488" y="198466"/>
            <a:ext cx="461756" cy="542999"/>
          </a:xfrm>
          <a:custGeom>
            <a:avLst/>
            <a:gdLst/>
            <a:ahLst/>
            <a:cxnLst/>
            <a:rect l="l" t="t" r="r" b="b"/>
            <a:pathLst>
              <a:path w="461756" h="542999">
                <a:moveTo>
                  <a:pt x="77457" y="0"/>
                </a:moveTo>
                <a:lnTo>
                  <a:pt x="384743" y="0"/>
                </a:lnTo>
                <a:cubicBezTo>
                  <a:pt x="427521" y="0"/>
                  <a:pt x="462200" y="34678"/>
                  <a:pt x="462200" y="77457"/>
                </a:cubicBezTo>
                <a:lnTo>
                  <a:pt x="462200" y="466009"/>
                </a:lnTo>
                <a:cubicBezTo>
                  <a:pt x="462200" y="508787"/>
                  <a:pt x="427521" y="543466"/>
                  <a:pt x="384743" y="543466"/>
                </a:cubicBezTo>
                <a:lnTo>
                  <a:pt x="77457" y="543466"/>
                </a:lnTo>
                <a:cubicBezTo>
                  <a:pt x="34678" y="543466"/>
                  <a:pt x="0" y="508787"/>
                  <a:pt x="0" y="466009"/>
                </a:cubicBezTo>
                <a:lnTo>
                  <a:pt x="0" y="77457"/>
                </a:lnTo>
                <a:cubicBezTo>
                  <a:pt x="0" y="34678"/>
                  <a:pt x="34678" y="0"/>
                  <a:pt x="77457" y="0"/>
                </a:cubicBezTo>
                <a:close/>
              </a:path>
            </a:pathLst>
          </a:custGeom>
          <a:solidFill>
            <a:srgbClr val="0067B4"/>
          </a:solidFill>
          <a:ln/>
          <a:effectLst>
            <a:outerShdw dist="38093" dir="2700000" algn="bl" rotWithShape="0">
              <a:srgbClr val="000000">
                <a:alpha val="38824"/>
              </a:srgbClr>
            </a:outerShdw>
          </a:effectLst>
        </p:spPr>
      </p:sp>
      <p:sp>
        <p:nvSpPr>
          <p:cNvPr id="7" name="Shape 4"/>
          <p:cNvSpPr/>
          <p:nvPr/>
        </p:nvSpPr>
        <p:spPr>
          <a:xfrm>
            <a:off x="482166" y="206110"/>
            <a:ext cx="433263" cy="535355"/>
          </a:xfrm>
          <a:custGeom>
            <a:avLst/>
            <a:gdLst/>
            <a:ahLst/>
            <a:cxnLst/>
            <a:rect l="l" t="t" r="r" b="b"/>
            <a:pathLst>
              <a:path w="433263" h="535355">
                <a:moveTo>
                  <a:pt x="73647" y="0"/>
                </a:moveTo>
                <a:lnTo>
                  <a:pt x="366966" y="0"/>
                </a:lnTo>
                <a:cubicBezTo>
                  <a:pt x="396171" y="0"/>
                  <a:pt x="421567" y="15237"/>
                  <a:pt x="432995" y="35554"/>
                </a:cubicBezTo>
                <a:cubicBezTo>
                  <a:pt x="186658" y="119359"/>
                  <a:pt x="11428" y="311096"/>
                  <a:pt x="1270" y="535847"/>
                </a:cubicBezTo>
                <a:cubicBezTo>
                  <a:pt x="0" y="533307"/>
                  <a:pt x="0" y="532038"/>
                  <a:pt x="0" y="529498"/>
                </a:cubicBezTo>
                <a:lnTo>
                  <a:pt x="0" y="60949"/>
                </a:lnTo>
                <a:cubicBezTo>
                  <a:pt x="0" y="26665"/>
                  <a:pt x="33014" y="0"/>
                  <a:pt x="73647" y="0"/>
                </a:cubicBezTo>
                <a:close/>
              </a:path>
            </a:pathLst>
          </a:custGeom>
          <a:gradFill>
            <a:gsLst>
              <a:gs pos="0">
                <a:srgbClr val="64CBFF">
                  <a:alpha val="34902"/>
                </a:srgbClr>
              </a:gs>
              <a:gs pos="100000">
                <a:srgbClr val="2F5897">
                  <a:alpha val="100000"/>
                </a:srgbClr>
              </a:gs>
            </a:gsLst>
            <a:lin ang="1200000" scaled="1"/>
          </a:gradFill>
          <a:ln/>
        </p:spPr>
      </p:sp>
      <p:pic>
        <p:nvPicPr>
          <p:cNvPr id="8" name="Image 1" descr="//img.tukuppt.com/aippt_tpl_uploads/25/07/01/686397e7ae4cf.png"/>
          <p:cNvPicPr>
            <a:picLocks noChangeAspect="1"/>
          </p:cNvPicPr>
          <p:nvPr/>
        </p:nvPicPr>
        <p:blipFill>
          <a:blip r:embed="rId4"/>
          <a:srcRect/>
          <a:stretch/>
        </p:blipFill>
        <p:spPr>
          <a:xfrm flipH="1">
            <a:off x="787710" y="346921"/>
            <a:ext cx="255659" cy="98905"/>
          </a:xfrm>
          <a:prstGeom prst="rect">
            <a:avLst/>
          </a:prstGeom>
        </p:spPr>
      </p:pic>
      <p:pic>
        <p:nvPicPr>
          <p:cNvPr id="9" name="Image 2" descr="//img.tukuppt.com/aippt_tpl_uploads/25/07/01/686397e7ae4cf.png"/>
          <p:cNvPicPr>
            <a:picLocks noChangeAspect="1"/>
          </p:cNvPicPr>
          <p:nvPr/>
        </p:nvPicPr>
        <p:blipFill>
          <a:blip r:embed="rId4"/>
          <a:srcRect/>
          <a:stretch/>
        </p:blipFill>
        <p:spPr>
          <a:xfrm flipH="1">
            <a:off x="787710" y="549201"/>
            <a:ext cx="255659" cy="98905"/>
          </a:xfrm>
          <a:prstGeom prst="rect">
            <a:avLst/>
          </a:prstGeom>
        </p:spPr>
      </p:pic>
      <p:pic>
        <p:nvPicPr>
          <p:cNvPr id="10" name="Image 3" descr="//img.tukuppt.com/aippt_tpl_uploads/25/07/01/686397e7b8f81.png"/>
          <p:cNvPicPr>
            <a:picLocks noChangeAspect="1"/>
          </p:cNvPicPr>
          <p:nvPr/>
        </p:nvPicPr>
        <p:blipFill>
          <a:blip r:embed="rId5"/>
          <a:srcRect/>
          <a:stretch/>
        </p:blipFill>
        <p:spPr>
          <a:xfrm>
            <a:off x="539206" y="312920"/>
            <a:ext cx="321318" cy="321734"/>
          </a:xfrm>
          <a:prstGeom prst="rect">
            <a:avLst/>
          </a:prstGeom>
        </p:spPr>
      </p:pic>
      <p:pic>
        <p:nvPicPr>
          <p:cNvPr id="11" name="Image 4" descr="//img.tukuppt.com/aippt_tpl_uploads/25/07/01/686397e7af1a3.png!/fwfh2/960x960"/>
          <p:cNvPicPr>
            <a:picLocks noChangeAspect="1"/>
          </p:cNvPicPr>
          <p:nvPr/>
        </p:nvPicPr>
        <p:blipFill>
          <a:blip r:embed="rId6"/>
          <a:srcRect l="36452" t="56544" b="34700"/>
          <a:stretch/>
        </p:blipFill>
        <p:spPr>
          <a:xfrm>
            <a:off x="-4836" y="-812736"/>
            <a:ext cx="9148837" cy="1019042"/>
          </a:xfrm>
          <a:prstGeom prst="rect">
            <a:avLst/>
          </a:prstGeom>
        </p:spPr>
      </p:pic>
      <p:pic>
        <p:nvPicPr>
          <p:cNvPr id="12" name="Image 5" descr="//img.tukuppt.com/aippt_tpl_uploads/25/07/01/686397e7af1a3.png!/fwfh2/960x960"/>
          <p:cNvPicPr>
            <a:picLocks noChangeAspect="1"/>
          </p:cNvPicPr>
          <p:nvPr/>
        </p:nvPicPr>
        <p:blipFill>
          <a:blip r:embed="rId6"/>
          <a:srcRect l="36452" t="56544" b="34700"/>
          <a:stretch/>
        </p:blipFill>
        <p:spPr>
          <a:xfrm>
            <a:off x="-61352" y="4937888"/>
            <a:ext cx="9313872" cy="1019042"/>
          </a:xfrm>
          <a:prstGeom prst="rect">
            <a:avLst/>
          </a:prstGeom>
        </p:spPr>
      </p:pic>
      <p:sp>
        <p:nvSpPr>
          <p:cNvPr id="13" name="Shape 5"/>
          <p:cNvSpPr/>
          <p:nvPr/>
        </p:nvSpPr>
        <p:spPr>
          <a:xfrm>
            <a:off x="826616" y="1692055"/>
            <a:ext cx="3319219" cy="2127897"/>
          </a:xfrm>
          <a:custGeom>
            <a:avLst/>
            <a:gdLst/>
            <a:ahLst/>
            <a:cxnLst/>
            <a:rect l="l" t="t" r="r" b="b"/>
            <a:pathLst>
              <a:path w="3319219" h="2127897">
                <a:moveTo>
                  <a:pt x="0" y="0"/>
                </a:moveTo>
                <a:lnTo>
                  <a:pt x="2323453" y="0"/>
                </a:lnTo>
                <a:lnTo>
                  <a:pt x="3319219" y="1063948"/>
                </a:lnTo>
                <a:lnTo>
                  <a:pt x="2323453" y="2127897"/>
                </a:lnTo>
                <a:lnTo>
                  <a:pt x="0" y="2127897"/>
                </a:lnTo>
                <a:lnTo>
                  <a:pt x="0" y="1063948"/>
                </a:lnTo>
                <a:lnTo>
                  <a:pt x="0" y="0"/>
                </a:lnTo>
                <a:close/>
              </a:path>
            </a:pathLst>
          </a:custGeom>
          <a:blipFill rotWithShape="0">
            <a:blip r:embed="rId7">
              <a:alphaModFix/>
            </a:blip>
            <a:stretch>
              <a:fillRect l="-4920" r="-4920"/>
            </a:stretch>
          </a:blipFill>
          <a:ln/>
        </p:spPr>
      </p:sp>
      <p:sp>
        <p:nvSpPr>
          <p:cNvPr id="14" name="Shape 6"/>
          <p:cNvSpPr/>
          <p:nvPr/>
        </p:nvSpPr>
        <p:spPr>
          <a:xfrm>
            <a:off x="826616" y="1692055"/>
            <a:ext cx="676063" cy="2128346"/>
          </a:xfrm>
          <a:custGeom>
            <a:avLst/>
            <a:gdLst/>
            <a:ahLst/>
            <a:cxnLst/>
            <a:rect l="l" t="t" r="r" b="b"/>
            <a:pathLst>
              <a:path w="676063" h="2128346">
                <a:moveTo>
                  <a:pt x="0" y="0"/>
                </a:moveTo>
                <a:lnTo>
                  <a:pt x="676063" y="0"/>
                </a:lnTo>
                <a:lnTo>
                  <a:pt x="676063" y="2128346"/>
                </a:lnTo>
                <a:lnTo>
                  <a:pt x="0" y="2128346"/>
                </a:lnTo>
                <a:close/>
              </a:path>
            </a:pathLst>
          </a:custGeom>
          <a:solidFill>
            <a:srgbClr val="147BC8"/>
          </a:solidFill>
          <a:ln/>
        </p:spPr>
      </p:sp>
      <p:pic>
        <p:nvPicPr>
          <p:cNvPr id="15" name="Image 6"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26616" y="2456064"/>
            <a:ext cx="600326" cy="600326"/>
          </a:xfrm>
          <a:prstGeom prst="rect">
            <a:avLst/>
          </a:prstGeom>
        </p:spPr>
      </p:pic>
      <p:sp>
        <p:nvSpPr>
          <p:cNvPr id="16" name="Text 7"/>
          <p:cNvSpPr txBox="1"/>
          <p:nvPr/>
        </p:nvSpPr>
        <p:spPr>
          <a:xfrm>
            <a:off x="5534819" y="1816473"/>
            <a:ext cx="2525648" cy="467882"/>
          </a:xfrm>
          <a:prstGeom prst="rect">
            <a:avLst/>
          </a:prstGeom>
          <a:noFill/>
          <a:ln/>
        </p:spPr>
        <p:txBody>
          <a:bodyPr wrap="square" lIns="0" tIns="0" rIns="0" bIns="0" rtlCol="0" anchor="ctr">
            <a:spAutoFit/>
          </a:bodyPr>
          <a:lstStyle/>
          <a:p>
            <a:pPr marL="0" indent="0" algn="l">
              <a:buNone/>
            </a:pPr>
            <a:r>
              <a:rPr lang="zh-CN" altLang="en-US" sz="1350" b="1" dirty="0">
                <a:solidFill>
                  <a:srgbClr val="0067B4"/>
                </a:solidFill>
                <a:latin typeface="SourceHanSansSC-Regular"/>
                <a:ea typeface="SourceHanSansSC-Regular"/>
                <a:cs typeface="SourceHanSansSC-Regular"/>
              </a:rPr>
              <a:t>企业模式</a:t>
            </a:r>
            <a:endParaRPr lang="en-US" sz="1350" dirty="0"/>
          </a:p>
        </p:txBody>
      </p:sp>
      <p:sp>
        <p:nvSpPr>
          <p:cNvPr id="17" name="Text 8"/>
          <p:cNvSpPr txBox="1"/>
          <p:nvPr/>
        </p:nvSpPr>
        <p:spPr>
          <a:xfrm>
            <a:off x="4798154" y="2395995"/>
            <a:ext cx="3262313" cy="1452531"/>
          </a:xfrm>
          <a:prstGeom prst="rect">
            <a:avLst/>
          </a:prstGeom>
          <a:noFill/>
          <a:ln/>
        </p:spPr>
        <p:txBody>
          <a:bodyPr wrap="square" lIns="0" tIns="0" rIns="0" bIns="0" rtlCol="0" anchor="t">
            <a:spAutoFit/>
          </a:bodyPr>
          <a:lstStyle/>
          <a:p>
            <a:pPr marL="0" indent="0" algn="l">
              <a:buNone/>
            </a:pPr>
            <a:r>
              <a:rPr lang="zh-CN" altLang="en-US" sz="900" dirty="0">
                <a:solidFill>
                  <a:srgbClr val="2A2A2A"/>
                </a:solidFill>
                <a:latin typeface="SourceHanSansSC-Regular"/>
                <a:ea typeface="SourceHanSansSC-Regular"/>
                <a:cs typeface="SourceHanSansSC-Regular"/>
              </a:rPr>
              <a:t>当一家公司参与整个价值链中的多个活动时，它就是纵向一体化的。决定在内部执行价值链中的一项活动，而不是从外部供应商那里购买，称为“自制或外购”决策。纵向一体化有其优势和劣势。</a:t>
            </a:r>
            <a:endParaRPr lang="en-US" sz="314" dirty="0"/>
          </a:p>
        </p:txBody>
      </p:sp>
      <p:pic>
        <p:nvPicPr>
          <p:cNvPr id="18" name="Image 7" descr="preencoded.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4798154" y="1974358"/>
            <a:ext cx="580513" cy="167313"/>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img.tukuppt.com/aippt_uploads/34576449/25/07/03/6866a18678cda.png!/fwfh2/960x960"/>
          <p:cNvPicPr>
            <a:picLocks noChangeAspect="1"/>
          </p:cNvPicPr>
          <p:nvPr/>
        </p:nvPicPr>
        <p:blipFill>
          <a:blip r:embed="rId3"/>
          <a:stretch>
            <a:fillRect/>
          </a:stretch>
        </p:blipFill>
        <p:spPr>
          <a:xfrm>
            <a:off x="0" y="0"/>
            <a:ext cx="9140180" cy="5131830"/>
          </a:xfrm>
          <a:prstGeom prst="rect">
            <a:avLst/>
          </a:prstGeom>
        </p:spPr>
      </p:pic>
      <p:sp>
        <p:nvSpPr>
          <p:cNvPr id="3" name="Shape 0"/>
          <p:cNvSpPr/>
          <p:nvPr/>
        </p:nvSpPr>
        <p:spPr>
          <a:xfrm>
            <a:off x="979384" y="287863"/>
            <a:ext cx="2872893" cy="412023"/>
          </a:xfrm>
          <a:custGeom>
            <a:avLst/>
            <a:gdLst/>
            <a:ahLst/>
            <a:cxnLst/>
            <a:rect l="l" t="t" r="r" b="b"/>
            <a:pathLst>
              <a:path w="2872893" h="412023">
                <a:moveTo>
                  <a:pt x="68568" y="0"/>
                </a:moveTo>
                <a:lnTo>
                  <a:pt x="2803673" y="0"/>
                </a:lnTo>
                <a:cubicBezTo>
                  <a:pt x="2841542" y="0"/>
                  <a:pt x="2872241" y="30699"/>
                  <a:pt x="2872241" y="68568"/>
                </a:cubicBezTo>
                <a:lnTo>
                  <a:pt x="2872241" y="342840"/>
                </a:lnTo>
                <a:cubicBezTo>
                  <a:pt x="2872241" y="380710"/>
                  <a:pt x="2841542" y="411409"/>
                  <a:pt x="2803673" y="411409"/>
                </a:cubicBezTo>
                <a:lnTo>
                  <a:pt x="68568" y="411409"/>
                </a:lnTo>
                <a:cubicBezTo>
                  <a:pt x="30699" y="411409"/>
                  <a:pt x="0" y="380710"/>
                  <a:pt x="0" y="342840"/>
                </a:cubicBezTo>
                <a:lnTo>
                  <a:pt x="0" y="68568"/>
                </a:lnTo>
                <a:cubicBezTo>
                  <a:pt x="0" y="30724"/>
                  <a:pt x="30724" y="0"/>
                  <a:pt x="68568" y="0"/>
                </a:cubicBezTo>
                <a:close/>
              </a:path>
            </a:pathLst>
          </a:custGeom>
          <a:solidFill>
            <a:srgbClr val="0067B4"/>
          </a:solidFill>
          <a:ln/>
          <a:effectLst>
            <a:outerShdw dist="38093" dir="2700000" algn="bl" rotWithShape="0">
              <a:srgbClr val="000000">
                <a:alpha val="38824"/>
              </a:srgbClr>
            </a:outerShdw>
          </a:effectLst>
        </p:spPr>
      </p:sp>
      <p:sp>
        <p:nvSpPr>
          <p:cNvPr id="4" name="Shape 1"/>
          <p:cNvSpPr/>
          <p:nvPr/>
        </p:nvSpPr>
        <p:spPr>
          <a:xfrm>
            <a:off x="1188456" y="329442"/>
            <a:ext cx="2735844" cy="339064"/>
          </a:xfrm>
          <a:custGeom>
            <a:avLst/>
            <a:gdLst/>
            <a:ahLst/>
            <a:cxnLst/>
            <a:rect l="l" t="t" r="r" b="b"/>
            <a:pathLst>
              <a:path w="2735844" h="339064">
                <a:moveTo>
                  <a:pt x="0" y="0"/>
                </a:moveTo>
                <a:lnTo>
                  <a:pt x="2735844" y="0"/>
                </a:lnTo>
                <a:lnTo>
                  <a:pt x="2735844" y="339064"/>
                </a:lnTo>
                <a:lnTo>
                  <a:pt x="0" y="339064"/>
                </a:lnTo>
                <a:close/>
              </a:path>
            </a:pathLst>
          </a:custGeom>
          <a:noFill/>
          <a:ln/>
        </p:spPr>
      </p:sp>
      <p:sp>
        <p:nvSpPr>
          <p:cNvPr id="5" name="Text 2"/>
          <p:cNvSpPr txBox="1"/>
          <p:nvPr/>
        </p:nvSpPr>
        <p:spPr>
          <a:xfrm>
            <a:off x="1188456" y="329442"/>
            <a:ext cx="2735844" cy="339064"/>
          </a:xfrm>
          <a:prstGeom prst="rect">
            <a:avLst/>
          </a:prstGeom>
          <a:noFill/>
          <a:ln/>
        </p:spPr>
        <p:txBody>
          <a:bodyPr wrap="square" lIns="1252" tIns="653" rIns="1252" bIns="653" rtlCol="0" anchor="t">
            <a:spAutoFit/>
          </a:bodyPr>
          <a:lstStyle/>
          <a:p>
            <a:pPr marL="0" indent="0" algn="l">
              <a:buNone/>
            </a:pPr>
            <a:r>
              <a:rPr lang="zh-CN" altLang="en-US" sz="1601" dirty="0">
                <a:solidFill>
                  <a:srgbClr val="64CBFF"/>
                </a:solidFill>
                <a:latin typeface="SourceHanSansSC-Medium"/>
                <a:ea typeface="SourceHanSansSC-Medium"/>
                <a:cs typeface="SourceHanSansSC-Medium"/>
              </a:rPr>
              <a:t>纵向一体化的优劣势</a:t>
            </a:r>
            <a:endParaRPr lang="en-US" sz="1601" dirty="0"/>
          </a:p>
        </p:txBody>
      </p:sp>
      <p:sp>
        <p:nvSpPr>
          <p:cNvPr id="6" name="Shape 3"/>
          <p:cNvSpPr/>
          <p:nvPr/>
        </p:nvSpPr>
        <p:spPr>
          <a:xfrm>
            <a:off x="471488" y="198466"/>
            <a:ext cx="461756" cy="542999"/>
          </a:xfrm>
          <a:custGeom>
            <a:avLst/>
            <a:gdLst/>
            <a:ahLst/>
            <a:cxnLst/>
            <a:rect l="l" t="t" r="r" b="b"/>
            <a:pathLst>
              <a:path w="461756" h="542999">
                <a:moveTo>
                  <a:pt x="77457" y="0"/>
                </a:moveTo>
                <a:lnTo>
                  <a:pt x="384743" y="0"/>
                </a:lnTo>
                <a:cubicBezTo>
                  <a:pt x="427521" y="0"/>
                  <a:pt x="462200" y="34678"/>
                  <a:pt x="462200" y="77457"/>
                </a:cubicBezTo>
                <a:lnTo>
                  <a:pt x="462200" y="466009"/>
                </a:lnTo>
                <a:cubicBezTo>
                  <a:pt x="462200" y="508787"/>
                  <a:pt x="427521" y="543466"/>
                  <a:pt x="384743" y="543466"/>
                </a:cubicBezTo>
                <a:lnTo>
                  <a:pt x="77457" y="543466"/>
                </a:lnTo>
                <a:cubicBezTo>
                  <a:pt x="34678" y="543466"/>
                  <a:pt x="0" y="508787"/>
                  <a:pt x="0" y="466009"/>
                </a:cubicBezTo>
                <a:lnTo>
                  <a:pt x="0" y="77457"/>
                </a:lnTo>
                <a:cubicBezTo>
                  <a:pt x="0" y="34678"/>
                  <a:pt x="34678" y="0"/>
                  <a:pt x="77457" y="0"/>
                </a:cubicBezTo>
                <a:close/>
              </a:path>
            </a:pathLst>
          </a:custGeom>
          <a:solidFill>
            <a:srgbClr val="0067B4"/>
          </a:solidFill>
          <a:ln/>
          <a:effectLst>
            <a:outerShdw dist="38093" dir="2700000" algn="bl" rotWithShape="0">
              <a:srgbClr val="000000">
                <a:alpha val="38824"/>
              </a:srgbClr>
            </a:outerShdw>
          </a:effectLst>
        </p:spPr>
      </p:sp>
      <p:sp>
        <p:nvSpPr>
          <p:cNvPr id="7" name="Shape 4"/>
          <p:cNvSpPr/>
          <p:nvPr/>
        </p:nvSpPr>
        <p:spPr>
          <a:xfrm>
            <a:off x="482166" y="206110"/>
            <a:ext cx="433263" cy="535355"/>
          </a:xfrm>
          <a:custGeom>
            <a:avLst/>
            <a:gdLst/>
            <a:ahLst/>
            <a:cxnLst/>
            <a:rect l="l" t="t" r="r" b="b"/>
            <a:pathLst>
              <a:path w="433263" h="535355">
                <a:moveTo>
                  <a:pt x="73647" y="0"/>
                </a:moveTo>
                <a:lnTo>
                  <a:pt x="366966" y="0"/>
                </a:lnTo>
                <a:cubicBezTo>
                  <a:pt x="396171" y="0"/>
                  <a:pt x="421567" y="15237"/>
                  <a:pt x="432995" y="35554"/>
                </a:cubicBezTo>
                <a:cubicBezTo>
                  <a:pt x="186658" y="119359"/>
                  <a:pt x="11428" y="311096"/>
                  <a:pt x="1270" y="535847"/>
                </a:cubicBezTo>
                <a:cubicBezTo>
                  <a:pt x="0" y="533307"/>
                  <a:pt x="0" y="532038"/>
                  <a:pt x="0" y="529498"/>
                </a:cubicBezTo>
                <a:lnTo>
                  <a:pt x="0" y="60949"/>
                </a:lnTo>
                <a:cubicBezTo>
                  <a:pt x="0" y="26665"/>
                  <a:pt x="33014" y="0"/>
                  <a:pt x="73647" y="0"/>
                </a:cubicBezTo>
                <a:close/>
              </a:path>
            </a:pathLst>
          </a:custGeom>
          <a:gradFill>
            <a:gsLst>
              <a:gs pos="0">
                <a:srgbClr val="64CBFF">
                  <a:alpha val="34902"/>
                </a:srgbClr>
              </a:gs>
              <a:gs pos="100000">
                <a:srgbClr val="2F5897">
                  <a:alpha val="100000"/>
                </a:srgbClr>
              </a:gs>
            </a:gsLst>
            <a:lin ang="1200000" scaled="1"/>
          </a:gradFill>
          <a:ln/>
        </p:spPr>
      </p:sp>
      <p:pic>
        <p:nvPicPr>
          <p:cNvPr id="8" name="Image 1" descr="//img.tukuppt.com/aippt_tpl_uploads/25/07/01/686397e7ae4cf.png"/>
          <p:cNvPicPr>
            <a:picLocks noChangeAspect="1"/>
          </p:cNvPicPr>
          <p:nvPr/>
        </p:nvPicPr>
        <p:blipFill>
          <a:blip r:embed="rId4"/>
          <a:srcRect/>
          <a:stretch/>
        </p:blipFill>
        <p:spPr>
          <a:xfrm flipH="1">
            <a:off x="787710" y="346921"/>
            <a:ext cx="255659" cy="98905"/>
          </a:xfrm>
          <a:prstGeom prst="rect">
            <a:avLst/>
          </a:prstGeom>
        </p:spPr>
      </p:pic>
      <p:pic>
        <p:nvPicPr>
          <p:cNvPr id="9" name="Image 2" descr="//img.tukuppt.com/aippt_tpl_uploads/25/07/01/686397e7ae4cf.png"/>
          <p:cNvPicPr>
            <a:picLocks noChangeAspect="1"/>
          </p:cNvPicPr>
          <p:nvPr/>
        </p:nvPicPr>
        <p:blipFill>
          <a:blip r:embed="rId4"/>
          <a:srcRect/>
          <a:stretch/>
        </p:blipFill>
        <p:spPr>
          <a:xfrm flipH="1">
            <a:off x="787710" y="549201"/>
            <a:ext cx="255659" cy="98905"/>
          </a:xfrm>
          <a:prstGeom prst="rect">
            <a:avLst/>
          </a:prstGeom>
        </p:spPr>
      </p:pic>
      <p:pic>
        <p:nvPicPr>
          <p:cNvPr id="10" name="Image 3" descr="//img.tukuppt.com/aippt_tpl_uploads/25/07/01/686397e7b8f81.png"/>
          <p:cNvPicPr>
            <a:picLocks noChangeAspect="1"/>
          </p:cNvPicPr>
          <p:nvPr/>
        </p:nvPicPr>
        <p:blipFill>
          <a:blip r:embed="rId5"/>
          <a:srcRect/>
          <a:stretch/>
        </p:blipFill>
        <p:spPr>
          <a:xfrm>
            <a:off x="539206" y="312920"/>
            <a:ext cx="321318" cy="321734"/>
          </a:xfrm>
          <a:prstGeom prst="rect">
            <a:avLst/>
          </a:prstGeom>
        </p:spPr>
      </p:pic>
      <p:pic>
        <p:nvPicPr>
          <p:cNvPr id="11" name="Image 4" descr="//img.tukuppt.com/aippt_tpl_uploads/25/07/01/686397e7af1a3.png!/fwfh2/960x960"/>
          <p:cNvPicPr>
            <a:picLocks noChangeAspect="1"/>
          </p:cNvPicPr>
          <p:nvPr/>
        </p:nvPicPr>
        <p:blipFill>
          <a:blip r:embed="rId6"/>
          <a:srcRect l="36452" t="56544" b="34700"/>
          <a:stretch/>
        </p:blipFill>
        <p:spPr>
          <a:xfrm>
            <a:off x="-4836" y="-812736"/>
            <a:ext cx="9148837" cy="1019042"/>
          </a:xfrm>
          <a:prstGeom prst="rect">
            <a:avLst/>
          </a:prstGeom>
        </p:spPr>
      </p:pic>
      <p:pic>
        <p:nvPicPr>
          <p:cNvPr id="12" name="Image 5" descr="//img.tukuppt.com/aippt_tpl_uploads/25/07/01/686397e7af1a3.png!/fwfh2/960x960"/>
          <p:cNvPicPr>
            <a:picLocks noChangeAspect="1"/>
          </p:cNvPicPr>
          <p:nvPr/>
        </p:nvPicPr>
        <p:blipFill>
          <a:blip r:embed="rId6"/>
          <a:srcRect l="36452" t="56544" b="34700"/>
          <a:stretch/>
        </p:blipFill>
        <p:spPr>
          <a:xfrm>
            <a:off x="-61352" y="4937888"/>
            <a:ext cx="9313872" cy="1019042"/>
          </a:xfrm>
          <a:prstGeom prst="rect">
            <a:avLst/>
          </a:prstGeom>
        </p:spPr>
      </p:pic>
      <p:sp>
        <p:nvSpPr>
          <p:cNvPr id="13" name="Shape 5"/>
          <p:cNvSpPr/>
          <p:nvPr/>
        </p:nvSpPr>
        <p:spPr>
          <a:xfrm>
            <a:off x="4445441" y="1421483"/>
            <a:ext cx="3743757" cy="2666177"/>
          </a:xfrm>
          <a:custGeom>
            <a:avLst/>
            <a:gdLst/>
            <a:ahLst/>
            <a:cxnLst/>
            <a:rect l="l" t="t" r="r" b="b"/>
            <a:pathLst>
              <a:path w="3743757" h="2666177">
                <a:moveTo>
                  <a:pt x="0" y="0"/>
                </a:moveTo>
                <a:lnTo>
                  <a:pt x="3743757" y="0"/>
                </a:lnTo>
                <a:lnTo>
                  <a:pt x="3743757" y="2666177"/>
                </a:lnTo>
                <a:lnTo>
                  <a:pt x="0" y="2666177"/>
                </a:lnTo>
                <a:close/>
              </a:path>
            </a:pathLst>
          </a:custGeom>
          <a:solidFill>
            <a:srgbClr val="E8E8E8">
              <a:alpha val="80000"/>
            </a:srgbClr>
          </a:solidFill>
          <a:ln/>
        </p:spPr>
      </p:sp>
      <p:sp>
        <p:nvSpPr>
          <p:cNvPr id="14" name="Text 6"/>
          <p:cNvSpPr txBox="1"/>
          <p:nvPr/>
        </p:nvSpPr>
        <p:spPr>
          <a:xfrm>
            <a:off x="4737572" y="2548404"/>
            <a:ext cx="3066900" cy="439051"/>
          </a:xfrm>
          <a:prstGeom prst="rect">
            <a:avLst/>
          </a:prstGeom>
          <a:noFill/>
          <a:ln/>
        </p:spPr>
        <p:txBody>
          <a:bodyPr wrap="square" lIns="0" tIns="0" rIns="0" bIns="0" rtlCol="0" anchor="ctr">
            <a:spAutoFit/>
          </a:bodyPr>
          <a:lstStyle/>
          <a:p>
            <a:pPr marL="0" indent="0" algn="l">
              <a:buNone/>
            </a:pPr>
            <a:r>
              <a:rPr lang="zh-CN" altLang="en-US" sz="1350" dirty="0">
                <a:solidFill>
                  <a:srgbClr val="000000"/>
                </a:solidFill>
                <a:latin typeface="SourceHanSansSC-Regular"/>
                <a:ea typeface="SourceHanSansSC-Regular"/>
                <a:cs typeface="SourceHanSansSC-Regular"/>
              </a:rPr>
              <a:t>利弊分析</a:t>
            </a:r>
            <a:endParaRPr lang="en-US" sz="1350" dirty="0"/>
          </a:p>
        </p:txBody>
      </p:sp>
      <p:sp>
        <p:nvSpPr>
          <p:cNvPr id="15" name="Text 7"/>
          <p:cNvSpPr txBox="1"/>
          <p:nvPr/>
        </p:nvSpPr>
        <p:spPr>
          <a:xfrm>
            <a:off x="4731563" y="3053229"/>
            <a:ext cx="3127077" cy="703895"/>
          </a:xfrm>
          <a:prstGeom prst="rect">
            <a:avLst/>
          </a:prstGeom>
          <a:noFill/>
          <a:ln/>
        </p:spPr>
        <p:txBody>
          <a:bodyPr wrap="square" lIns="0" tIns="0" rIns="0" bIns="0" rtlCol="0" anchor="t">
            <a:spAutoFit/>
          </a:bodyPr>
          <a:lstStyle/>
          <a:p>
            <a:pPr marL="0" indent="0" algn="l">
              <a:buNone/>
            </a:pPr>
            <a:r>
              <a:rPr lang="zh-CN" altLang="en-US" sz="900" dirty="0">
                <a:solidFill>
                  <a:srgbClr val="000000"/>
                </a:solidFill>
                <a:latin typeface="SourceHanSansSC-Regular"/>
                <a:ea typeface="SourceHanSansSC-Regular"/>
                <a:cs typeface="SourceHanSansSC-Regular"/>
              </a:rPr>
              <a:t>纵向一体化的优势包括零部件和材料的流动更顺畅、更好的质量控制以及实现利润；劣势是公司可能无法利用能够创造规模经济优势的供应商。</a:t>
            </a:r>
            <a:endParaRPr lang="en-US" sz="900" dirty="0"/>
          </a:p>
        </p:txBody>
      </p:sp>
      <p:pic>
        <p:nvPicPr>
          <p:cNvPr id="16" name="Image 6"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632274" y="1751812"/>
            <a:ext cx="654050" cy="654050"/>
          </a:xfrm>
          <a:prstGeom prst="rect">
            <a:avLst/>
          </a:prstGeom>
        </p:spPr>
      </p:pic>
      <p:sp>
        <p:nvSpPr>
          <p:cNvPr id="17" name="Shape 8"/>
          <p:cNvSpPr/>
          <p:nvPr/>
        </p:nvSpPr>
        <p:spPr>
          <a:xfrm>
            <a:off x="767601" y="1421483"/>
            <a:ext cx="3721539" cy="2655068"/>
          </a:xfrm>
          <a:custGeom>
            <a:avLst/>
            <a:gdLst/>
            <a:ahLst/>
            <a:cxnLst/>
            <a:rect l="l" t="t" r="r" b="b"/>
            <a:pathLst>
              <a:path w="3721539" h="2655068">
                <a:moveTo>
                  <a:pt x="0" y="0"/>
                </a:moveTo>
                <a:lnTo>
                  <a:pt x="3721539" y="0"/>
                </a:lnTo>
                <a:lnTo>
                  <a:pt x="3721539" y="2655068"/>
                </a:lnTo>
                <a:lnTo>
                  <a:pt x="0" y="2655068"/>
                </a:lnTo>
                <a:close/>
              </a:path>
            </a:pathLst>
          </a:custGeom>
          <a:blipFill rotWithShape="0">
            <a:blip r:embed="rId9">
              <a:alphaModFix/>
            </a:blip>
            <a:stretch>
              <a:fillRect l="-3953" r="-3953"/>
            </a:stretch>
          </a:blipFill>
          <a:ln/>
        </p:spPr>
      </p:sp>
      <p:sp>
        <p:nvSpPr>
          <p:cNvPr id="18" name="Shape 9"/>
          <p:cNvSpPr/>
          <p:nvPr/>
        </p:nvSpPr>
        <p:spPr>
          <a:xfrm>
            <a:off x="7967017" y="3865479"/>
            <a:ext cx="444363" cy="444363"/>
          </a:xfrm>
          <a:custGeom>
            <a:avLst/>
            <a:gdLst/>
            <a:ahLst/>
            <a:cxnLst/>
            <a:rect l="l" t="t" r="r" b="b"/>
            <a:pathLst>
              <a:path w="444363" h="444363">
                <a:moveTo>
                  <a:pt x="0" y="0"/>
                </a:moveTo>
                <a:lnTo>
                  <a:pt x="444363" y="0"/>
                </a:lnTo>
                <a:lnTo>
                  <a:pt x="444363" y="444363"/>
                </a:lnTo>
                <a:lnTo>
                  <a:pt x="0" y="444363"/>
                </a:lnTo>
                <a:close/>
              </a:path>
            </a:pathLst>
          </a:custGeom>
          <a:solidFill>
            <a:srgbClr val="0067B4"/>
          </a:solidFill>
          <a:ln/>
        </p:spPr>
      </p:sp>
      <p:sp>
        <p:nvSpPr>
          <p:cNvPr id="19" name="Shape 10"/>
          <p:cNvSpPr/>
          <p:nvPr/>
        </p:nvSpPr>
        <p:spPr>
          <a:xfrm>
            <a:off x="7895631" y="4160692"/>
            <a:ext cx="211072" cy="211072"/>
          </a:xfrm>
          <a:custGeom>
            <a:avLst/>
            <a:gdLst/>
            <a:ahLst/>
            <a:cxnLst/>
            <a:rect l="l" t="t" r="r" b="b"/>
            <a:pathLst>
              <a:path w="211072" h="211072">
                <a:moveTo>
                  <a:pt x="0" y="0"/>
                </a:moveTo>
                <a:lnTo>
                  <a:pt x="211072" y="0"/>
                </a:lnTo>
                <a:lnTo>
                  <a:pt x="211072" y="211072"/>
                </a:lnTo>
                <a:lnTo>
                  <a:pt x="0" y="211072"/>
                </a:lnTo>
                <a:close/>
              </a:path>
            </a:pathLst>
          </a:custGeom>
          <a:noFill/>
          <a:ln w="9525">
            <a:solidFill>
              <a:srgbClr val="0067B4"/>
            </a:solidFill>
            <a:prstDash val="solid"/>
          </a:ln>
        </p:spPr>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img.tukuppt.com/aippt_uploads/34576449/25/07/03/6866a18678cda.png!/fwfh2/960x960"/>
          <p:cNvPicPr>
            <a:picLocks noChangeAspect="1"/>
          </p:cNvPicPr>
          <p:nvPr/>
        </p:nvPicPr>
        <p:blipFill>
          <a:blip r:embed="rId3"/>
          <a:stretch>
            <a:fillRect/>
          </a:stretch>
        </p:blipFill>
        <p:spPr>
          <a:xfrm>
            <a:off x="0" y="0"/>
            <a:ext cx="9140180" cy="5131830"/>
          </a:xfrm>
          <a:prstGeom prst="rect">
            <a:avLst/>
          </a:prstGeom>
        </p:spPr>
      </p:pic>
      <p:sp>
        <p:nvSpPr>
          <p:cNvPr id="3" name="Shape 0"/>
          <p:cNvSpPr/>
          <p:nvPr/>
        </p:nvSpPr>
        <p:spPr>
          <a:xfrm>
            <a:off x="979384" y="287863"/>
            <a:ext cx="2872893" cy="412023"/>
          </a:xfrm>
          <a:custGeom>
            <a:avLst/>
            <a:gdLst/>
            <a:ahLst/>
            <a:cxnLst/>
            <a:rect l="l" t="t" r="r" b="b"/>
            <a:pathLst>
              <a:path w="2872893" h="412023">
                <a:moveTo>
                  <a:pt x="68568" y="0"/>
                </a:moveTo>
                <a:lnTo>
                  <a:pt x="2803673" y="0"/>
                </a:lnTo>
                <a:cubicBezTo>
                  <a:pt x="2841542" y="0"/>
                  <a:pt x="2872241" y="30699"/>
                  <a:pt x="2872241" y="68568"/>
                </a:cubicBezTo>
                <a:lnTo>
                  <a:pt x="2872241" y="342840"/>
                </a:lnTo>
                <a:cubicBezTo>
                  <a:pt x="2872241" y="380710"/>
                  <a:pt x="2841542" y="411409"/>
                  <a:pt x="2803673" y="411409"/>
                </a:cubicBezTo>
                <a:lnTo>
                  <a:pt x="68568" y="411409"/>
                </a:lnTo>
                <a:cubicBezTo>
                  <a:pt x="30699" y="411409"/>
                  <a:pt x="0" y="380710"/>
                  <a:pt x="0" y="342840"/>
                </a:cubicBezTo>
                <a:lnTo>
                  <a:pt x="0" y="68568"/>
                </a:lnTo>
                <a:cubicBezTo>
                  <a:pt x="0" y="30724"/>
                  <a:pt x="30724" y="0"/>
                  <a:pt x="68568" y="0"/>
                </a:cubicBezTo>
                <a:close/>
              </a:path>
            </a:pathLst>
          </a:custGeom>
          <a:solidFill>
            <a:srgbClr val="0067B4"/>
          </a:solidFill>
          <a:ln/>
          <a:effectLst>
            <a:outerShdw dist="38093" dir="2700000" algn="bl" rotWithShape="0">
              <a:srgbClr val="000000">
                <a:alpha val="38824"/>
              </a:srgbClr>
            </a:outerShdw>
          </a:effectLst>
        </p:spPr>
      </p:sp>
      <p:sp>
        <p:nvSpPr>
          <p:cNvPr id="4" name="Shape 1"/>
          <p:cNvSpPr/>
          <p:nvPr/>
        </p:nvSpPr>
        <p:spPr>
          <a:xfrm>
            <a:off x="1188456" y="329442"/>
            <a:ext cx="2735844" cy="339064"/>
          </a:xfrm>
          <a:custGeom>
            <a:avLst/>
            <a:gdLst/>
            <a:ahLst/>
            <a:cxnLst/>
            <a:rect l="l" t="t" r="r" b="b"/>
            <a:pathLst>
              <a:path w="2735844" h="339064">
                <a:moveTo>
                  <a:pt x="0" y="0"/>
                </a:moveTo>
                <a:lnTo>
                  <a:pt x="2735844" y="0"/>
                </a:lnTo>
                <a:lnTo>
                  <a:pt x="2735844" y="339064"/>
                </a:lnTo>
                <a:lnTo>
                  <a:pt x="0" y="339064"/>
                </a:lnTo>
                <a:close/>
              </a:path>
            </a:pathLst>
          </a:custGeom>
          <a:noFill/>
          <a:ln/>
        </p:spPr>
      </p:sp>
      <p:sp>
        <p:nvSpPr>
          <p:cNvPr id="5" name="Text 2"/>
          <p:cNvSpPr txBox="1"/>
          <p:nvPr/>
        </p:nvSpPr>
        <p:spPr>
          <a:xfrm>
            <a:off x="1188456" y="329442"/>
            <a:ext cx="2735844" cy="339064"/>
          </a:xfrm>
          <a:prstGeom prst="rect">
            <a:avLst/>
          </a:prstGeom>
          <a:noFill/>
          <a:ln/>
        </p:spPr>
        <p:txBody>
          <a:bodyPr wrap="square" lIns="1252" tIns="653" rIns="1252" bIns="653" rtlCol="0" anchor="t">
            <a:spAutoFit/>
          </a:bodyPr>
          <a:lstStyle/>
          <a:p>
            <a:pPr marL="0" indent="0" algn="l">
              <a:buNone/>
            </a:pPr>
            <a:r>
              <a:rPr lang="zh-CN" altLang="en-US" sz="1601" dirty="0">
                <a:solidFill>
                  <a:srgbClr val="64CBFF"/>
                </a:solidFill>
                <a:latin typeface="SourceHanSansSC-Medium"/>
                <a:ea typeface="SourceHanSansSC-Medium"/>
                <a:cs typeface="SourceHanSansSC-Medium"/>
              </a:rPr>
              <a:t>案例分析：埃塞克斯公司</a:t>
            </a:r>
            <a:endParaRPr lang="en-US" sz="1601" dirty="0"/>
          </a:p>
        </p:txBody>
      </p:sp>
      <p:sp>
        <p:nvSpPr>
          <p:cNvPr id="6" name="Shape 3"/>
          <p:cNvSpPr/>
          <p:nvPr/>
        </p:nvSpPr>
        <p:spPr>
          <a:xfrm>
            <a:off x="471488" y="198466"/>
            <a:ext cx="461756" cy="542999"/>
          </a:xfrm>
          <a:custGeom>
            <a:avLst/>
            <a:gdLst/>
            <a:ahLst/>
            <a:cxnLst/>
            <a:rect l="l" t="t" r="r" b="b"/>
            <a:pathLst>
              <a:path w="461756" h="542999">
                <a:moveTo>
                  <a:pt x="77457" y="0"/>
                </a:moveTo>
                <a:lnTo>
                  <a:pt x="384743" y="0"/>
                </a:lnTo>
                <a:cubicBezTo>
                  <a:pt x="427521" y="0"/>
                  <a:pt x="462200" y="34678"/>
                  <a:pt x="462200" y="77457"/>
                </a:cubicBezTo>
                <a:lnTo>
                  <a:pt x="462200" y="466009"/>
                </a:lnTo>
                <a:cubicBezTo>
                  <a:pt x="462200" y="508787"/>
                  <a:pt x="427521" y="543466"/>
                  <a:pt x="384743" y="543466"/>
                </a:cubicBezTo>
                <a:lnTo>
                  <a:pt x="77457" y="543466"/>
                </a:lnTo>
                <a:cubicBezTo>
                  <a:pt x="34678" y="543466"/>
                  <a:pt x="0" y="508787"/>
                  <a:pt x="0" y="466009"/>
                </a:cubicBezTo>
                <a:lnTo>
                  <a:pt x="0" y="77457"/>
                </a:lnTo>
                <a:cubicBezTo>
                  <a:pt x="0" y="34678"/>
                  <a:pt x="34678" y="0"/>
                  <a:pt x="77457" y="0"/>
                </a:cubicBezTo>
                <a:close/>
              </a:path>
            </a:pathLst>
          </a:custGeom>
          <a:solidFill>
            <a:srgbClr val="0067B4"/>
          </a:solidFill>
          <a:ln/>
          <a:effectLst>
            <a:outerShdw dist="38093" dir="2700000" algn="bl" rotWithShape="0">
              <a:srgbClr val="000000">
                <a:alpha val="38824"/>
              </a:srgbClr>
            </a:outerShdw>
          </a:effectLst>
        </p:spPr>
      </p:sp>
      <p:sp>
        <p:nvSpPr>
          <p:cNvPr id="7" name="Shape 4"/>
          <p:cNvSpPr/>
          <p:nvPr/>
        </p:nvSpPr>
        <p:spPr>
          <a:xfrm>
            <a:off x="482166" y="206110"/>
            <a:ext cx="433263" cy="535355"/>
          </a:xfrm>
          <a:custGeom>
            <a:avLst/>
            <a:gdLst/>
            <a:ahLst/>
            <a:cxnLst/>
            <a:rect l="l" t="t" r="r" b="b"/>
            <a:pathLst>
              <a:path w="433263" h="535355">
                <a:moveTo>
                  <a:pt x="73647" y="0"/>
                </a:moveTo>
                <a:lnTo>
                  <a:pt x="366966" y="0"/>
                </a:lnTo>
                <a:cubicBezTo>
                  <a:pt x="396171" y="0"/>
                  <a:pt x="421567" y="15237"/>
                  <a:pt x="432995" y="35554"/>
                </a:cubicBezTo>
                <a:cubicBezTo>
                  <a:pt x="186658" y="119359"/>
                  <a:pt x="11428" y="311096"/>
                  <a:pt x="1270" y="535847"/>
                </a:cubicBezTo>
                <a:cubicBezTo>
                  <a:pt x="0" y="533307"/>
                  <a:pt x="0" y="532038"/>
                  <a:pt x="0" y="529498"/>
                </a:cubicBezTo>
                <a:lnTo>
                  <a:pt x="0" y="60949"/>
                </a:lnTo>
                <a:cubicBezTo>
                  <a:pt x="0" y="26665"/>
                  <a:pt x="33014" y="0"/>
                  <a:pt x="73647" y="0"/>
                </a:cubicBezTo>
                <a:close/>
              </a:path>
            </a:pathLst>
          </a:custGeom>
          <a:gradFill>
            <a:gsLst>
              <a:gs pos="0">
                <a:srgbClr val="64CBFF">
                  <a:alpha val="34902"/>
                </a:srgbClr>
              </a:gs>
              <a:gs pos="100000">
                <a:srgbClr val="2F5897">
                  <a:alpha val="100000"/>
                </a:srgbClr>
              </a:gs>
            </a:gsLst>
            <a:lin ang="1200000" scaled="1"/>
          </a:gradFill>
          <a:ln/>
        </p:spPr>
      </p:sp>
      <p:pic>
        <p:nvPicPr>
          <p:cNvPr id="8" name="Image 1" descr="//img.tukuppt.com/aippt_tpl_uploads/25/07/01/686397e7ae4cf.png"/>
          <p:cNvPicPr>
            <a:picLocks noChangeAspect="1"/>
          </p:cNvPicPr>
          <p:nvPr/>
        </p:nvPicPr>
        <p:blipFill>
          <a:blip r:embed="rId4"/>
          <a:srcRect/>
          <a:stretch/>
        </p:blipFill>
        <p:spPr>
          <a:xfrm flipH="1">
            <a:off x="787710" y="346921"/>
            <a:ext cx="255659" cy="98905"/>
          </a:xfrm>
          <a:prstGeom prst="rect">
            <a:avLst/>
          </a:prstGeom>
        </p:spPr>
      </p:pic>
      <p:pic>
        <p:nvPicPr>
          <p:cNvPr id="9" name="Image 2" descr="//img.tukuppt.com/aippt_tpl_uploads/25/07/01/686397e7ae4cf.png"/>
          <p:cNvPicPr>
            <a:picLocks noChangeAspect="1"/>
          </p:cNvPicPr>
          <p:nvPr/>
        </p:nvPicPr>
        <p:blipFill>
          <a:blip r:embed="rId4"/>
          <a:srcRect/>
          <a:stretch/>
        </p:blipFill>
        <p:spPr>
          <a:xfrm flipH="1">
            <a:off x="787710" y="549201"/>
            <a:ext cx="255659" cy="98905"/>
          </a:xfrm>
          <a:prstGeom prst="rect">
            <a:avLst/>
          </a:prstGeom>
        </p:spPr>
      </p:pic>
      <p:pic>
        <p:nvPicPr>
          <p:cNvPr id="10" name="Image 3" descr="//img.tukuppt.com/aippt_tpl_uploads/25/07/01/686397e7b8f81.png"/>
          <p:cNvPicPr>
            <a:picLocks noChangeAspect="1"/>
          </p:cNvPicPr>
          <p:nvPr/>
        </p:nvPicPr>
        <p:blipFill>
          <a:blip r:embed="rId5"/>
          <a:srcRect/>
          <a:stretch/>
        </p:blipFill>
        <p:spPr>
          <a:xfrm>
            <a:off x="539206" y="312920"/>
            <a:ext cx="321318" cy="321734"/>
          </a:xfrm>
          <a:prstGeom prst="rect">
            <a:avLst/>
          </a:prstGeom>
        </p:spPr>
      </p:pic>
      <p:pic>
        <p:nvPicPr>
          <p:cNvPr id="11" name="Image 4" descr="//img.tukuppt.com/aippt_tpl_uploads/25/07/01/686397e7af1a3.png!/fwfh2/960x960"/>
          <p:cNvPicPr>
            <a:picLocks noChangeAspect="1"/>
          </p:cNvPicPr>
          <p:nvPr/>
        </p:nvPicPr>
        <p:blipFill>
          <a:blip r:embed="rId6"/>
          <a:srcRect l="36452" t="56544" b="34700"/>
          <a:stretch/>
        </p:blipFill>
        <p:spPr>
          <a:xfrm>
            <a:off x="-4836" y="-812736"/>
            <a:ext cx="9148837" cy="1019042"/>
          </a:xfrm>
          <a:prstGeom prst="rect">
            <a:avLst/>
          </a:prstGeom>
        </p:spPr>
      </p:pic>
      <p:pic>
        <p:nvPicPr>
          <p:cNvPr id="12" name="Image 5" descr="//img.tukuppt.com/aippt_tpl_uploads/25/07/01/686397e7af1a3.png!/fwfh2/960x960"/>
          <p:cNvPicPr>
            <a:picLocks noChangeAspect="1"/>
          </p:cNvPicPr>
          <p:nvPr/>
        </p:nvPicPr>
        <p:blipFill>
          <a:blip r:embed="rId6"/>
          <a:srcRect l="36452" t="56544" b="34700"/>
          <a:stretch/>
        </p:blipFill>
        <p:spPr>
          <a:xfrm>
            <a:off x="-61352" y="4937888"/>
            <a:ext cx="9313872" cy="1019042"/>
          </a:xfrm>
          <a:prstGeom prst="rect">
            <a:avLst/>
          </a:prstGeom>
        </p:spPr>
      </p:pic>
      <p:pic>
        <p:nvPicPr>
          <p:cNvPr id="13" name="Image 6"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66034" y="1438902"/>
            <a:ext cx="3537013" cy="330634"/>
          </a:xfrm>
          <a:prstGeom prst="rect">
            <a:avLst/>
          </a:prstGeom>
        </p:spPr>
      </p:pic>
      <p:sp>
        <p:nvSpPr>
          <p:cNvPr id="15" name="Text 5"/>
          <p:cNvSpPr txBox="1"/>
          <p:nvPr/>
        </p:nvSpPr>
        <p:spPr>
          <a:xfrm>
            <a:off x="990360" y="1506588"/>
            <a:ext cx="3290888" cy="204788"/>
          </a:xfrm>
          <a:prstGeom prst="rect">
            <a:avLst/>
          </a:prstGeom>
          <a:noFill/>
          <a:ln/>
        </p:spPr>
        <p:txBody>
          <a:bodyPr wrap="square" lIns="0" tIns="0" rIns="0" bIns="0" rtlCol="0" anchor="t">
            <a:spAutoFit/>
          </a:bodyPr>
          <a:lstStyle/>
          <a:p>
            <a:pPr marL="0" indent="0" algn="l">
              <a:lnSpc>
                <a:spcPct val="96000"/>
              </a:lnSpc>
              <a:buNone/>
            </a:pPr>
            <a:r>
              <a:rPr lang="zh-CN" altLang="en-US" sz="1350" b="1" dirty="0">
                <a:solidFill>
                  <a:srgbClr val="FFFFFF"/>
                </a:solidFill>
                <a:latin typeface="SourceHanSansSC-Regular"/>
                <a:ea typeface="SourceHanSansSC-Regular"/>
                <a:cs typeface="SourceHanSansSC-Regular"/>
              </a:rPr>
              <a:t>成本分析</a:t>
            </a:r>
            <a:endParaRPr lang="en-US" sz="1350" dirty="0"/>
          </a:p>
        </p:txBody>
      </p:sp>
      <p:sp>
        <p:nvSpPr>
          <p:cNvPr id="16" name="Text 6"/>
          <p:cNvSpPr txBox="1"/>
          <p:nvPr/>
        </p:nvSpPr>
        <p:spPr>
          <a:xfrm>
            <a:off x="866034" y="1984953"/>
            <a:ext cx="3525407" cy="276999"/>
          </a:xfrm>
          <a:prstGeom prst="rect">
            <a:avLst/>
          </a:prstGeom>
          <a:noFill/>
          <a:ln/>
        </p:spPr>
        <p:txBody>
          <a:bodyPr wrap="square" lIns="0" tIns="0" rIns="0" bIns="0" rtlCol="0" anchor="t">
            <a:spAutoFit/>
          </a:bodyPr>
          <a:lstStyle/>
          <a:p>
            <a:pPr marL="0" indent="0" algn="l">
              <a:buNone/>
            </a:pPr>
            <a:r>
              <a:rPr lang="zh-CN" altLang="en-US" sz="900" dirty="0">
                <a:solidFill>
                  <a:srgbClr val="2A2A2A"/>
                </a:solidFill>
                <a:latin typeface="SourceHanSansSC-Regular"/>
                <a:ea typeface="SourceHanSansSC-Regular"/>
                <a:cs typeface="SourceHanSansSC-Regular"/>
              </a:rPr>
              <a:t>埃塞克斯公司生产零件4A，需要比较自制和外购的成本。该零件的单位产品成本：</a:t>
            </a:r>
            <a:endParaRPr lang="en-US" sz="314" dirty="0"/>
          </a:p>
        </p:txBody>
      </p:sp>
      <p:pic>
        <p:nvPicPr>
          <p:cNvPr id="17" name="Image 8"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87710" y="4409103"/>
            <a:ext cx="910176" cy="396958"/>
          </a:xfrm>
          <a:prstGeom prst="rect">
            <a:avLst/>
          </a:prstGeom>
        </p:spPr>
      </p:pic>
      <p:sp>
        <p:nvSpPr>
          <p:cNvPr id="18" name="Text 7"/>
          <p:cNvSpPr txBox="1"/>
          <p:nvPr/>
        </p:nvSpPr>
        <p:spPr>
          <a:xfrm>
            <a:off x="933244" y="4531086"/>
            <a:ext cx="581025" cy="204788"/>
          </a:xfrm>
          <a:prstGeom prst="rect">
            <a:avLst/>
          </a:prstGeom>
          <a:noFill/>
          <a:ln/>
        </p:spPr>
        <p:txBody>
          <a:bodyPr wrap="square" lIns="0" tIns="0" rIns="0" bIns="0" rtlCol="0" anchor="t">
            <a:spAutoFit/>
          </a:bodyPr>
          <a:lstStyle/>
          <a:p>
            <a:pPr marL="0" indent="0" algn="ctr">
              <a:lnSpc>
                <a:spcPct val="96000"/>
              </a:lnSpc>
              <a:buNone/>
            </a:pPr>
            <a:r>
              <a:rPr lang="en" altLang="en-US" sz="1350" dirty="0">
                <a:solidFill>
                  <a:srgbClr val="FFFFFF"/>
                </a:solidFill>
                <a:latin typeface="SourceHanSansSC-Regular"/>
                <a:ea typeface="SourceHanSansSC-Regular"/>
                <a:cs typeface="SourceHanSansSC-Regular"/>
              </a:rPr>
              <a:t>START</a:t>
            </a:r>
            <a:endParaRPr lang="en-US" sz="1350" dirty="0"/>
          </a:p>
        </p:txBody>
      </p:sp>
      <p:sp>
        <p:nvSpPr>
          <p:cNvPr id="19" name="Shape 8"/>
          <p:cNvSpPr/>
          <p:nvPr/>
        </p:nvSpPr>
        <p:spPr>
          <a:xfrm>
            <a:off x="7697774" y="3737082"/>
            <a:ext cx="805079" cy="805079"/>
          </a:xfrm>
          <a:custGeom>
            <a:avLst/>
            <a:gdLst/>
            <a:ahLst/>
            <a:cxnLst/>
            <a:rect l="l" t="t" r="r" b="b"/>
            <a:pathLst>
              <a:path w="805079" h="805079">
                <a:moveTo>
                  <a:pt x="402539" y="0"/>
                </a:moveTo>
                <a:cubicBezTo>
                  <a:pt x="624707" y="0"/>
                  <a:pt x="805079" y="180372"/>
                  <a:pt x="805079" y="402539"/>
                </a:cubicBezTo>
                <a:cubicBezTo>
                  <a:pt x="805079" y="624707"/>
                  <a:pt x="624707" y="805079"/>
                  <a:pt x="402539" y="805079"/>
                </a:cubicBezTo>
                <a:cubicBezTo>
                  <a:pt x="180372" y="805079"/>
                  <a:pt x="0" y="624707"/>
                  <a:pt x="0" y="402539"/>
                </a:cubicBezTo>
                <a:cubicBezTo>
                  <a:pt x="0" y="180372"/>
                  <a:pt x="180372" y="0"/>
                  <a:pt x="402539" y="0"/>
                </a:cubicBezTo>
                <a:close/>
              </a:path>
            </a:pathLst>
          </a:custGeom>
          <a:solidFill>
            <a:srgbClr val="147BC8"/>
          </a:solidFill>
          <a:ln/>
        </p:spPr>
      </p:sp>
      <p:sp>
        <p:nvSpPr>
          <p:cNvPr id="20" name="Shape 9"/>
          <p:cNvSpPr/>
          <p:nvPr/>
        </p:nvSpPr>
        <p:spPr>
          <a:xfrm>
            <a:off x="8401159" y="3329606"/>
            <a:ext cx="305082" cy="305082"/>
          </a:xfrm>
          <a:custGeom>
            <a:avLst/>
            <a:gdLst/>
            <a:ahLst/>
            <a:cxnLst/>
            <a:rect l="l" t="t" r="r" b="b"/>
            <a:pathLst>
              <a:path w="305082" h="305082">
                <a:moveTo>
                  <a:pt x="152541" y="0"/>
                </a:moveTo>
                <a:cubicBezTo>
                  <a:pt x="236731" y="0"/>
                  <a:pt x="305082" y="68351"/>
                  <a:pt x="305082" y="152541"/>
                </a:cubicBezTo>
                <a:cubicBezTo>
                  <a:pt x="305082" y="236731"/>
                  <a:pt x="236731" y="305082"/>
                  <a:pt x="152541" y="305082"/>
                </a:cubicBezTo>
                <a:cubicBezTo>
                  <a:pt x="68351" y="305082"/>
                  <a:pt x="0" y="236731"/>
                  <a:pt x="0" y="152541"/>
                </a:cubicBezTo>
                <a:cubicBezTo>
                  <a:pt x="0" y="68351"/>
                  <a:pt x="68351" y="0"/>
                  <a:pt x="152541" y="0"/>
                </a:cubicBezTo>
                <a:close/>
              </a:path>
            </a:pathLst>
          </a:custGeom>
          <a:solidFill>
            <a:srgbClr val="0067B4"/>
          </a:solidFill>
          <a:ln/>
        </p:spPr>
      </p:sp>
      <p:graphicFrame>
        <p:nvGraphicFramePr>
          <p:cNvPr id="21" name="表格 20">
            <a:extLst>
              <a:ext uri="{FF2B5EF4-FFF2-40B4-BE49-F238E27FC236}">
                <a16:creationId xmlns:a16="http://schemas.microsoft.com/office/drawing/2014/main" id="{0982EC55-67C6-4CE0-B74A-D5974C8A3F14}"/>
              </a:ext>
            </a:extLst>
          </p:cNvPr>
          <p:cNvGraphicFramePr>
            <a:graphicFrameLocks noGrp="1"/>
          </p:cNvGraphicFramePr>
          <p:nvPr>
            <p:extLst>
              <p:ext uri="{D42A27DB-BD31-4B8C-83A1-F6EECF244321}">
                <p14:modId xmlns:p14="http://schemas.microsoft.com/office/powerpoint/2010/main" val="2453174183"/>
              </p:ext>
            </p:extLst>
          </p:nvPr>
        </p:nvGraphicFramePr>
        <p:xfrm>
          <a:off x="1697886" y="2416804"/>
          <a:ext cx="2504121" cy="1950720"/>
        </p:xfrm>
        <a:graphic>
          <a:graphicData uri="http://schemas.openxmlformats.org/drawingml/2006/table">
            <a:tbl>
              <a:tblPr>
                <a:tableStyleId>{284E427A-3D55-4303-BF80-6455036E1DE7}</a:tableStyleId>
              </a:tblPr>
              <a:tblGrid>
                <a:gridCol w="1626792">
                  <a:extLst>
                    <a:ext uri="{9D8B030D-6E8A-4147-A177-3AD203B41FA5}">
                      <a16:colId xmlns:a16="http://schemas.microsoft.com/office/drawing/2014/main" val="3521665956"/>
                    </a:ext>
                  </a:extLst>
                </a:gridCol>
                <a:gridCol w="877329">
                  <a:extLst>
                    <a:ext uri="{9D8B030D-6E8A-4147-A177-3AD203B41FA5}">
                      <a16:colId xmlns:a16="http://schemas.microsoft.com/office/drawing/2014/main" val="1686546639"/>
                    </a:ext>
                  </a:extLst>
                </a:gridCol>
              </a:tblGrid>
              <a:tr h="0">
                <a:tc>
                  <a:txBody>
                    <a:bodyPr/>
                    <a:lstStyle/>
                    <a:p>
                      <a:r>
                        <a:rPr lang="zh-CN" altLang="en-US" sz="1000"/>
                        <a:t>项目</a:t>
                      </a:r>
                    </a:p>
                  </a:txBody>
                  <a:tcPr anchor="ctr"/>
                </a:tc>
                <a:tc>
                  <a:txBody>
                    <a:bodyPr/>
                    <a:lstStyle/>
                    <a:p>
                      <a:r>
                        <a:rPr lang="zh-CN" altLang="en-US" sz="1000"/>
                        <a:t>金额（美元）</a:t>
                      </a:r>
                    </a:p>
                  </a:txBody>
                  <a:tcPr anchor="ctr"/>
                </a:tc>
                <a:extLst>
                  <a:ext uri="{0D108BD9-81ED-4DB2-BD59-A6C34878D82A}">
                    <a16:rowId xmlns:a16="http://schemas.microsoft.com/office/drawing/2014/main" val="330276160"/>
                  </a:ext>
                </a:extLst>
              </a:tr>
              <a:tr h="0">
                <a:tc>
                  <a:txBody>
                    <a:bodyPr/>
                    <a:lstStyle/>
                    <a:p>
                      <a:r>
                        <a:rPr lang="zh-CN" altLang="en-US" sz="1000"/>
                        <a:t>直接材料</a:t>
                      </a:r>
                    </a:p>
                  </a:txBody>
                  <a:tcPr anchor="ctr"/>
                </a:tc>
                <a:tc>
                  <a:txBody>
                    <a:bodyPr/>
                    <a:lstStyle/>
                    <a:p>
                      <a:r>
                        <a:rPr lang="en-US" altLang="zh-CN" sz="1000"/>
                        <a:t>$9</a:t>
                      </a:r>
                    </a:p>
                  </a:txBody>
                  <a:tcPr anchor="ctr"/>
                </a:tc>
                <a:extLst>
                  <a:ext uri="{0D108BD9-81ED-4DB2-BD59-A6C34878D82A}">
                    <a16:rowId xmlns:a16="http://schemas.microsoft.com/office/drawing/2014/main" val="1672384890"/>
                  </a:ext>
                </a:extLst>
              </a:tr>
              <a:tr h="0">
                <a:tc>
                  <a:txBody>
                    <a:bodyPr/>
                    <a:lstStyle/>
                    <a:p>
                      <a:r>
                        <a:rPr lang="zh-CN" altLang="en-US" sz="1000"/>
                        <a:t>直接人工</a:t>
                      </a:r>
                    </a:p>
                  </a:txBody>
                  <a:tcPr anchor="ctr"/>
                </a:tc>
                <a:tc>
                  <a:txBody>
                    <a:bodyPr/>
                    <a:lstStyle/>
                    <a:p>
                      <a:r>
                        <a:rPr lang="en-US" altLang="zh-CN" sz="1000" dirty="0"/>
                        <a:t>$5</a:t>
                      </a:r>
                    </a:p>
                  </a:txBody>
                  <a:tcPr anchor="ctr"/>
                </a:tc>
                <a:extLst>
                  <a:ext uri="{0D108BD9-81ED-4DB2-BD59-A6C34878D82A}">
                    <a16:rowId xmlns:a16="http://schemas.microsoft.com/office/drawing/2014/main" val="1531772786"/>
                  </a:ext>
                </a:extLst>
              </a:tr>
              <a:tr h="0">
                <a:tc>
                  <a:txBody>
                    <a:bodyPr/>
                    <a:lstStyle/>
                    <a:p>
                      <a:r>
                        <a:rPr lang="zh-CN" altLang="en-US" sz="1000"/>
                        <a:t>变动制造费用</a:t>
                      </a:r>
                    </a:p>
                  </a:txBody>
                  <a:tcPr anchor="ctr"/>
                </a:tc>
                <a:tc>
                  <a:txBody>
                    <a:bodyPr/>
                    <a:lstStyle/>
                    <a:p>
                      <a:r>
                        <a:rPr lang="en-US" altLang="zh-CN" sz="1000"/>
                        <a:t>$1</a:t>
                      </a:r>
                    </a:p>
                  </a:txBody>
                  <a:tcPr anchor="ctr"/>
                </a:tc>
                <a:extLst>
                  <a:ext uri="{0D108BD9-81ED-4DB2-BD59-A6C34878D82A}">
                    <a16:rowId xmlns:a16="http://schemas.microsoft.com/office/drawing/2014/main" val="4218072525"/>
                  </a:ext>
                </a:extLst>
              </a:tr>
              <a:tr h="0">
                <a:tc>
                  <a:txBody>
                    <a:bodyPr/>
                    <a:lstStyle/>
                    <a:p>
                      <a:r>
                        <a:rPr lang="zh-CN" altLang="en-US" sz="1000"/>
                        <a:t>专用设备折旧</a:t>
                      </a:r>
                    </a:p>
                  </a:txBody>
                  <a:tcPr anchor="ctr"/>
                </a:tc>
                <a:tc>
                  <a:txBody>
                    <a:bodyPr/>
                    <a:lstStyle/>
                    <a:p>
                      <a:r>
                        <a:rPr lang="en-US" altLang="zh-CN" sz="1000"/>
                        <a:t>$3</a:t>
                      </a:r>
                    </a:p>
                  </a:txBody>
                  <a:tcPr anchor="ctr"/>
                </a:tc>
                <a:extLst>
                  <a:ext uri="{0D108BD9-81ED-4DB2-BD59-A6C34878D82A}">
                    <a16:rowId xmlns:a16="http://schemas.microsoft.com/office/drawing/2014/main" val="2946461717"/>
                  </a:ext>
                </a:extLst>
              </a:tr>
              <a:tr h="0">
                <a:tc>
                  <a:txBody>
                    <a:bodyPr/>
                    <a:lstStyle/>
                    <a:p>
                      <a:r>
                        <a:rPr lang="zh-CN" altLang="en-US" sz="1000"/>
                        <a:t>主管薪酬</a:t>
                      </a:r>
                    </a:p>
                  </a:txBody>
                  <a:tcPr anchor="ctr"/>
                </a:tc>
                <a:tc>
                  <a:txBody>
                    <a:bodyPr/>
                    <a:lstStyle/>
                    <a:p>
                      <a:r>
                        <a:rPr lang="en-US" altLang="zh-CN" sz="1000"/>
                        <a:t>$2</a:t>
                      </a:r>
                    </a:p>
                  </a:txBody>
                  <a:tcPr anchor="ctr"/>
                </a:tc>
                <a:extLst>
                  <a:ext uri="{0D108BD9-81ED-4DB2-BD59-A6C34878D82A}">
                    <a16:rowId xmlns:a16="http://schemas.microsoft.com/office/drawing/2014/main" val="3830813348"/>
                  </a:ext>
                </a:extLst>
              </a:tr>
              <a:tr h="0">
                <a:tc>
                  <a:txBody>
                    <a:bodyPr/>
                    <a:lstStyle/>
                    <a:p>
                      <a:r>
                        <a:rPr lang="zh-CN" altLang="en-US" sz="1000"/>
                        <a:t>通用工厂制造费用</a:t>
                      </a:r>
                    </a:p>
                  </a:txBody>
                  <a:tcPr anchor="ctr"/>
                </a:tc>
                <a:tc>
                  <a:txBody>
                    <a:bodyPr/>
                    <a:lstStyle/>
                    <a:p>
                      <a:r>
                        <a:rPr lang="en-US" altLang="zh-CN" sz="1000"/>
                        <a:t>$10</a:t>
                      </a:r>
                    </a:p>
                  </a:txBody>
                  <a:tcPr anchor="ctr"/>
                </a:tc>
                <a:extLst>
                  <a:ext uri="{0D108BD9-81ED-4DB2-BD59-A6C34878D82A}">
                    <a16:rowId xmlns:a16="http://schemas.microsoft.com/office/drawing/2014/main" val="2598663115"/>
                  </a:ext>
                </a:extLst>
              </a:tr>
              <a:tr h="0">
                <a:tc>
                  <a:txBody>
                    <a:bodyPr/>
                    <a:lstStyle/>
                    <a:p>
                      <a:r>
                        <a:rPr lang="zh-CN" altLang="en-US" sz="1000" b="1" dirty="0"/>
                        <a:t>单位产品成本</a:t>
                      </a:r>
                      <a:endParaRPr lang="zh-CN" altLang="en-US" sz="1000" dirty="0"/>
                    </a:p>
                  </a:txBody>
                  <a:tcPr anchor="ctr"/>
                </a:tc>
                <a:tc>
                  <a:txBody>
                    <a:bodyPr/>
                    <a:lstStyle/>
                    <a:p>
                      <a:r>
                        <a:rPr lang="en-US" altLang="zh-CN" sz="1000" b="1" dirty="0"/>
                        <a:t>$30</a:t>
                      </a:r>
                      <a:endParaRPr lang="zh-CN" altLang="en-US" sz="1000" dirty="0"/>
                    </a:p>
                  </a:txBody>
                  <a:tcPr anchor="ctr"/>
                </a:tc>
                <a:extLst>
                  <a:ext uri="{0D108BD9-81ED-4DB2-BD59-A6C34878D82A}">
                    <a16:rowId xmlns:a16="http://schemas.microsoft.com/office/drawing/2014/main" val="465228942"/>
                  </a:ext>
                </a:extLst>
              </a:tr>
            </a:tbl>
          </a:graphicData>
        </a:graphic>
      </p:graphicFrame>
      <p:sp>
        <p:nvSpPr>
          <p:cNvPr id="23" name="文本框 22">
            <a:extLst>
              <a:ext uri="{FF2B5EF4-FFF2-40B4-BE49-F238E27FC236}">
                <a16:creationId xmlns:a16="http://schemas.microsoft.com/office/drawing/2014/main" id="{1B250774-01A5-4AEE-B81C-4CA2A8F5ACB5}"/>
              </a:ext>
            </a:extLst>
          </p:cNvPr>
          <p:cNvSpPr txBox="1"/>
          <p:nvPr/>
        </p:nvSpPr>
        <p:spPr>
          <a:xfrm>
            <a:off x="4917831" y="1447811"/>
            <a:ext cx="3885392" cy="1815882"/>
          </a:xfrm>
          <a:prstGeom prst="rect">
            <a:avLst/>
          </a:prstGeom>
          <a:noFill/>
        </p:spPr>
        <p:txBody>
          <a:bodyPr wrap="square">
            <a:spAutoFit/>
          </a:bodyPr>
          <a:lstStyle/>
          <a:p>
            <a:pPr>
              <a:buFont typeface="Arial" panose="020B0604020202020204" pitchFamily="34" charset="0"/>
              <a:buChar char="•"/>
            </a:pPr>
            <a:r>
              <a:rPr lang="zh-CN" altLang="en-US" sz="1400" dirty="0"/>
              <a:t>用于制造零件</a:t>
            </a:r>
            <a:r>
              <a:rPr lang="en-US" altLang="zh-CN" sz="1400" dirty="0"/>
              <a:t>4A</a:t>
            </a:r>
            <a:r>
              <a:rPr lang="zh-CN" altLang="en-US" sz="1400" dirty="0"/>
              <a:t>的专用设备无残值。</a:t>
            </a:r>
          </a:p>
          <a:p>
            <a:pPr>
              <a:buFont typeface="Arial" panose="020B0604020202020204" pitchFamily="34" charset="0"/>
              <a:buChar char="•"/>
            </a:pPr>
            <a:r>
              <a:rPr lang="zh-CN" altLang="en-US" sz="1400" dirty="0"/>
              <a:t>按直接人工工时分配的总工厂管理费用不会受此决策影响。</a:t>
            </a:r>
          </a:p>
          <a:p>
            <a:pPr>
              <a:buFont typeface="Arial" panose="020B0604020202020204" pitchFamily="34" charset="0"/>
              <a:buChar char="•"/>
            </a:pPr>
            <a:r>
              <a:rPr lang="en-US" altLang="zh-CN" sz="1400" dirty="0"/>
              <a:t>30</a:t>
            </a:r>
            <a:r>
              <a:rPr lang="zh-CN" altLang="en-US" sz="1400" dirty="0"/>
              <a:t>美元的单位产品成本是基于每年生产</a:t>
            </a:r>
            <a:r>
              <a:rPr lang="en-US" altLang="zh-CN" sz="1400" dirty="0"/>
              <a:t>20,000</a:t>
            </a:r>
            <a:r>
              <a:rPr lang="zh-CN" altLang="en-US" sz="1400" dirty="0"/>
              <a:t>个零件计算的。</a:t>
            </a:r>
          </a:p>
          <a:p>
            <a:pPr>
              <a:buFont typeface="Arial" panose="020B0604020202020204" pitchFamily="34" charset="0"/>
              <a:buChar char="•"/>
            </a:pPr>
            <a:r>
              <a:rPr lang="zh-CN" altLang="en-US" sz="1400" dirty="0"/>
              <a:t>外部供应商提出以每个零件</a:t>
            </a:r>
            <a:r>
              <a:rPr lang="en-US" altLang="zh-CN" sz="1400" dirty="0"/>
              <a:t>25</a:t>
            </a:r>
            <a:r>
              <a:rPr lang="zh-CN" altLang="en-US" sz="1400" dirty="0"/>
              <a:t>美元的价格提供</a:t>
            </a:r>
            <a:r>
              <a:rPr lang="en-US" altLang="zh-CN" sz="1400" dirty="0"/>
              <a:t>20,000</a:t>
            </a:r>
            <a:r>
              <a:rPr lang="zh-CN" altLang="en-US" sz="1400" dirty="0"/>
              <a:t>个零件。</a:t>
            </a:r>
          </a:p>
          <a:p>
            <a:r>
              <a:rPr lang="zh-CN" altLang="en-US" sz="1400" b="1" dirty="0"/>
              <a:t>我们是否应接受供应商的报价？</a:t>
            </a:r>
            <a:endParaRPr lang="zh-CN" altLang="en-US" sz="1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0"/>
          <p:cNvSpPr/>
          <p:nvPr/>
        </p:nvSpPr>
        <p:spPr>
          <a:xfrm>
            <a:off x="979384" y="287863"/>
            <a:ext cx="2872893" cy="412023"/>
          </a:xfrm>
          <a:custGeom>
            <a:avLst/>
            <a:gdLst/>
            <a:ahLst/>
            <a:cxnLst/>
            <a:rect l="l" t="t" r="r" b="b"/>
            <a:pathLst>
              <a:path w="2872893" h="412023">
                <a:moveTo>
                  <a:pt x="68568" y="0"/>
                </a:moveTo>
                <a:lnTo>
                  <a:pt x="2803673" y="0"/>
                </a:lnTo>
                <a:cubicBezTo>
                  <a:pt x="2841542" y="0"/>
                  <a:pt x="2872241" y="30699"/>
                  <a:pt x="2872241" y="68568"/>
                </a:cubicBezTo>
                <a:lnTo>
                  <a:pt x="2872241" y="342840"/>
                </a:lnTo>
                <a:cubicBezTo>
                  <a:pt x="2872241" y="380710"/>
                  <a:pt x="2841542" y="411409"/>
                  <a:pt x="2803673" y="411409"/>
                </a:cubicBezTo>
                <a:lnTo>
                  <a:pt x="68568" y="411409"/>
                </a:lnTo>
                <a:cubicBezTo>
                  <a:pt x="30699" y="411409"/>
                  <a:pt x="0" y="380710"/>
                  <a:pt x="0" y="342840"/>
                </a:cubicBezTo>
                <a:lnTo>
                  <a:pt x="0" y="68568"/>
                </a:lnTo>
                <a:cubicBezTo>
                  <a:pt x="0" y="30724"/>
                  <a:pt x="30724" y="0"/>
                  <a:pt x="68568" y="0"/>
                </a:cubicBezTo>
                <a:close/>
              </a:path>
            </a:pathLst>
          </a:custGeom>
          <a:solidFill>
            <a:srgbClr val="0067B4"/>
          </a:solidFill>
          <a:ln/>
          <a:effectLst>
            <a:outerShdw dist="38093" dir="2700000" algn="bl" rotWithShape="0">
              <a:srgbClr val="000000">
                <a:alpha val="38824"/>
              </a:srgbClr>
            </a:outerShdw>
          </a:effectLst>
        </p:spPr>
      </p:sp>
      <p:sp>
        <p:nvSpPr>
          <p:cNvPr id="4" name="Shape 1"/>
          <p:cNvSpPr/>
          <p:nvPr/>
        </p:nvSpPr>
        <p:spPr>
          <a:xfrm>
            <a:off x="1188456" y="329442"/>
            <a:ext cx="2735844" cy="339064"/>
          </a:xfrm>
          <a:custGeom>
            <a:avLst/>
            <a:gdLst/>
            <a:ahLst/>
            <a:cxnLst/>
            <a:rect l="l" t="t" r="r" b="b"/>
            <a:pathLst>
              <a:path w="2735844" h="339064">
                <a:moveTo>
                  <a:pt x="0" y="0"/>
                </a:moveTo>
                <a:lnTo>
                  <a:pt x="2735844" y="0"/>
                </a:lnTo>
                <a:lnTo>
                  <a:pt x="2735844" y="339064"/>
                </a:lnTo>
                <a:lnTo>
                  <a:pt x="0" y="339064"/>
                </a:lnTo>
                <a:close/>
              </a:path>
            </a:pathLst>
          </a:custGeom>
          <a:noFill/>
          <a:ln/>
        </p:spPr>
      </p:sp>
      <p:sp>
        <p:nvSpPr>
          <p:cNvPr id="5" name="Text 2"/>
          <p:cNvSpPr txBox="1"/>
          <p:nvPr/>
        </p:nvSpPr>
        <p:spPr>
          <a:xfrm>
            <a:off x="1188456" y="329442"/>
            <a:ext cx="2735844" cy="339064"/>
          </a:xfrm>
          <a:prstGeom prst="rect">
            <a:avLst/>
          </a:prstGeom>
          <a:noFill/>
          <a:ln/>
        </p:spPr>
        <p:txBody>
          <a:bodyPr wrap="square" lIns="1252" tIns="653" rIns="1252" bIns="653" rtlCol="0" anchor="t">
            <a:spAutoFit/>
          </a:bodyPr>
          <a:lstStyle/>
          <a:p>
            <a:pPr marL="0" indent="0" algn="l">
              <a:buNone/>
            </a:pPr>
            <a:r>
              <a:rPr lang="zh-CN" altLang="en-US" sz="1601" dirty="0">
                <a:solidFill>
                  <a:srgbClr val="64CBFF"/>
                </a:solidFill>
                <a:latin typeface="SourceHanSansSC-Medium"/>
                <a:ea typeface="SourceHanSansSC-Medium"/>
                <a:cs typeface="SourceHanSansSC-Medium"/>
              </a:rPr>
              <a:t>案例分析：埃塞克斯公司</a:t>
            </a:r>
            <a:endParaRPr lang="en-US" sz="1601" dirty="0"/>
          </a:p>
        </p:txBody>
      </p:sp>
      <p:sp>
        <p:nvSpPr>
          <p:cNvPr id="6" name="Shape 3"/>
          <p:cNvSpPr/>
          <p:nvPr/>
        </p:nvSpPr>
        <p:spPr>
          <a:xfrm>
            <a:off x="471488" y="198466"/>
            <a:ext cx="461756" cy="542999"/>
          </a:xfrm>
          <a:custGeom>
            <a:avLst/>
            <a:gdLst/>
            <a:ahLst/>
            <a:cxnLst/>
            <a:rect l="l" t="t" r="r" b="b"/>
            <a:pathLst>
              <a:path w="461756" h="542999">
                <a:moveTo>
                  <a:pt x="77457" y="0"/>
                </a:moveTo>
                <a:lnTo>
                  <a:pt x="384743" y="0"/>
                </a:lnTo>
                <a:cubicBezTo>
                  <a:pt x="427521" y="0"/>
                  <a:pt x="462200" y="34678"/>
                  <a:pt x="462200" y="77457"/>
                </a:cubicBezTo>
                <a:lnTo>
                  <a:pt x="462200" y="466009"/>
                </a:lnTo>
                <a:cubicBezTo>
                  <a:pt x="462200" y="508787"/>
                  <a:pt x="427521" y="543466"/>
                  <a:pt x="384743" y="543466"/>
                </a:cubicBezTo>
                <a:lnTo>
                  <a:pt x="77457" y="543466"/>
                </a:lnTo>
                <a:cubicBezTo>
                  <a:pt x="34678" y="543466"/>
                  <a:pt x="0" y="508787"/>
                  <a:pt x="0" y="466009"/>
                </a:cubicBezTo>
                <a:lnTo>
                  <a:pt x="0" y="77457"/>
                </a:lnTo>
                <a:cubicBezTo>
                  <a:pt x="0" y="34678"/>
                  <a:pt x="34678" y="0"/>
                  <a:pt x="77457" y="0"/>
                </a:cubicBezTo>
                <a:close/>
              </a:path>
            </a:pathLst>
          </a:custGeom>
          <a:solidFill>
            <a:srgbClr val="0067B4"/>
          </a:solidFill>
          <a:ln/>
          <a:effectLst>
            <a:outerShdw dist="38093" dir="2700000" algn="bl" rotWithShape="0">
              <a:srgbClr val="000000">
                <a:alpha val="38824"/>
              </a:srgbClr>
            </a:outerShdw>
          </a:effectLst>
        </p:spPr>
      </p:sp>
      <p:sp>
        <p:nvSpPr>
          <p:cNvPr id="7" name="Shape 4"/>
          <p:cNvSpPr/>
          <p:nvPr/>
        </p:nvSpPr>
        <p:spPr>
          <a:xfrm>
            <a:off x="482166" y="206110"/>
            <a:ext cx="433263" cy="535355"/>
          </a:xfrm>
          <a:custGeom>
            <a:avLst/>
            <a:gdLst/>
            <a:ahLst/>
            <a:cxnLst/>
            <a:rect l="l" t="t" r="r" b="b"/>
            <a:pathLst>
              <a:path w="433263" h="535355">
                <a:moveTo>
                  <a:pt x="73647" y="0"/>
                </a:moveTo>
                <a:lnTo>
                  <a:pt x="366966" y="0"/>
                </a:lnTo>
                <a:cubicBezTo>
                  <a:pt x="396171" y="0"/>
                  <a:pt x="421567" y="15237"/>
                  <a:pt x="432995" y="35554"/>
                </a:cubicBezTo>
                <a:cubicBezTo>
                  <a:pt x="186658" y="119359"/>
                  <a:pt x="11428" y="311096"/>
                  <a:pt x="1270" y="535847"/>
                </a:cubicBezTo>
                <a:cubicBezTo>
                  <a:pt x="0" y="533307"/>
                  <a:pt x="0" y="532038"/>
                  <a:pt x="0" y="529498"/>
                </a:cubicBezTo>
                <a:lnTo>
                  <a:pt x="0" y="60949"/>
                </a:lnTo>
                <a:cubicBezTo>
                  <a:pt x="0" y="26665"/>
                  <a:pt x="33014" y="0"/>
                  <a:pt x="73647" y="0"/>
                </a:cubicBezTo>
                <a:close/>
              </a:path>
            </a:pathLst>
          </a:custGeom>
          <a:gradFill>
            <a:gsLst>
              <a:gs pos="0">
                <a:srgbClr val="64CBFF">
                  <a:alpha val="34902"/>
                </a:srgbClr>
              </a:gs>
              <a:gs pos="100000">
                <a:srgbClr val="2F5897">
                  <a:alpha val="100000"/>
                </a:srgbClr>
              </a:gs>
            </a:gsLst>
            <a:lin ang="1200000" scaled="1"/>
          </a:gradFill>
          <a:ln/>
        </p:spPr>
      </p:sp>
      <p:pic>
        <p:nvPicPr>
          <p:cNvPr id="8" name="Image 1" descr="//img.tukuppt.com/aippt_tpl_uploads/25/07/01/686397e7ae4cf.png"/>
          <p:cNvPicPr>
            <a:picLocks noChangeAspect="1"/>
          </p:cNvPicPr>
          <p:nvPr/>
        </p:nvPicPr>
        <p:blipFill>
          <a:blip r:embed="rId3"/>
          <a:srcRect/>
          <a:stretch/>
        </p:blipFill>
        <p:spPr>
          <a:xfrm flipH="1">
            <a:off x="787710" y="346921"/>
            <a:ext cx="255659" cy="98905"/>
          </a:xfrm>
          <a:prstGeom prst="rect">
            <a:avLst/>
          </a:prstGeom>
        </p:spPr>
      </p:pic>
      <p:pic>
        <p:nvPicPr>
          <p:cNvPr id="9" name="Image 2" descr="//img.tukuppt.com/aippt_tpl_uploads/25/07/01/686397e7ae4cf.png"/>
          <p:cNvPicPr>
            <a:picLocks noChangeAspect="1"/>
          </p:cNvPicPr>
          <p:nvPr/>
        </p:nvPicPr>
        <p:blipFill>
          <a:blip r:embed="rId3"/>
          <a:srcRect/>
          <a:stretch/>
        </p:blipFill>
        <p:spPr>
          <a:xfrm flipH="1">
            <a:off x="787710" y="549201"/>
            <a:ext cx="255659" cy="98905"/>
          </a:xfrm>
          <a:prstGeom prst="rect">
            <a:avLst/>
          </a:prstGeom>
        </p:spPr>
      </p:pic>
      <p:pic>
        <p:nvPicPr>
          <p:cNvPr id="10" name="Image 3" descr="//img.tukuppt.com/aippt_tpl_uploads/25/07/01/686397e7b8f81.png"/>
          <p:cNvPicPr>
            <a:picLocks noChangeAspect="1"/>
          </p:cNvPicPr>
          <p:nvPr/>
        </p:nvPicPr>
        <p:blipFill>
          <a:blip r:embed="rId4"/>
          <a:srcRect/>
          <a:stretch/>
        </p:blipFill>
        <p:spPr>
          <a:xfrm>
            <a:off x="539206" y="312920"/>
            <a:ext cx="321318" cy="321734"/>
          </a:xfrm>
          <a:prstGeom prst="rect">
            <a:avLst/>
          </a:prstGeom>
        </p:spPr>
      </p:pic>
      <p:pic>
        <p:nvPicPr>
          <p:cNvPr id="11" name="Image 4" descr="//img.tukuppt.com/aippt_tpl_uploads/25/07/01/686397e7af1a3.png!/fwfh2/960x960"/>
          <p:cNvPicPr>
            <a:picLocks noChangeAspect="1"/>
          </p:cNvPicPr>
          <p:nvPr/>
        </p:nvPicPr>
        <p:blipFill>
          <a:blip r:embed="rId5"/>
          <a:srcRect l="36452" t="56544" b="34700"/>
          <a:stretch/>
        </p:blipFill>
        <p:spPr>
          <a:xfrm>
            <a:off x="-4836" y="-812736"/>
            <a:ext cx="9148837" cy="1019042"/>
          </a:xfrm>
          <a:prstGeom prst="rect">
            <a:avLst/>
          </a:prstGeom>
        </p:spPr>
      </p:pic>
      <p:pic>
        <p:nvPicPr>
          <p:cNvPr id="12" name="Image 5" descr="//img.tukuppt.com/aippt_tpl_uploads/25/07/01/686397e7af1a3.png!/fwfh2/960x960"/>
          <p:cNvPicPr>
            <a:picLocks noChangeAspect="1"/>
          </p:cNvPicPr>
          <p:nvPr/>
        </p:nvPicPr>
        <p:blipFill>
          <a:blip r:embed="rId5"/>
          <a:srcRect l="36452" t="56544" b="34700"/>
          <a:stretch/>
        </p:blipFill>
        <p:spPr>
          <a:xfrm>
            <a:off x="-61352" y="4937888"/>
            <a:ext cx="9313872" cy="1019042"/>
          </a:xfrm>
          <a:prstGeom prst="rect">
            <a:avLst/>
          </a:prstGeom>
        </p:spPr>
      </p:pic>
      <p:sp>
        <p:nvSpPr>
          <p:cNvPr id="15" name="Text 5"/>
          <p:cNvSpPr txBox="1"/>
          <p:nvPr/>
        </p:nvSpPr>
        <p:spPr>
          <a:xfrm>
            <a:off x="990360" y="1506588"/>
            <a:ext cx="3290888" cy="204788"/>
          </a:xfrm>
          <a:prstGeom prst="rect">
            <a:avLst/>
          </a:prstGeom>
          <a:noFill/>
          <a:ln/>
        </p:spPr>
        <p:txBody>
          <a:bodyPr wrap="square" lIns="0" tIns="0" rIns="0" bIns="0" rtlCol="0" anchor="t">
            <a:spAutoFit/>
          </a:bodyPr>
          <a:lstStyle/>
          <a:p>
            <a:pPr marL="0" indent="0" algn="l">
              <a:lnSpc>
                <a:spcPct val="96000"/>
              </a:lnSpc>
              <a:buNone/>
            </a:pPr>
            <a:r>
              <a:rPr lang="zh-CN" altLang="en-US" sz="1350" b="1" dirty="0">
                <a:solidFill>
                  <a:srgbClr val="FFFFFF"/>
                </a:solidFill>
                <a:latin typeface="SourceHanSansSC-Regular"/>
                <a:ea typeface="SourceHanSansSC-Regular"/>
                <a:cs typeface="SourceHanSansSC-Regular"/>
              </a:rPr>
              <a:t>成本分析</a:t>
            </a:r>
            <a:endParaRPr lang="en-US" sz="1350" dirty="0"/>
          </a:p>
        </p:txBody>
      </p:sp>
      <p:sp>
        <p:nvSpPr>
          <p:cNvPr id="19" name="Shape 8"/>
          <p:cNvSpPr/>
          <p:nvPr/>
        </p:nvSpPr>
        <p:spPr>
          <a:xfrm>
            <a:off x="7697774" y="3737082"/>
            <a:ext cx="805079" cy="805079"/>
          </a:xfrm>
          <a:custGeom>
            <a:avLst/>
            <a:gdLst/>
            <a:ahLst/>
            <a:cxnLst/>
            <a:rect l="l" t="t" r="r" b="b"/>
            <a:pathLst>
              <a:path w="805079" h="805079">
                <a:moveTo>
                  <a:pt x="402539" y="0"/>
                </a:moveTo>
                <a:cubicBezTo>
                  <a:pt x="624707" y="0"/>
                  <a:pt x="805079" y="180372"/>
                  <a:pt x="805079" y="402539"/>
                </a:cubicBezTo>
                <a:cubicBezTo>
                  <a:pt x="805079" y="624707"/>
                  <a:pt x="624707" y="805079"/>
                  <a:pt x="402539" y="805079"/>
                </a:cubicBezTo>
                <a:cubicBezTo>
                  <a:pt x="180372" y="805079"/>
                  <a:pt x="0" y="624707"/>
                  <a:pt x="0" y="402539"/>
                </a:cubicBezTo>
                <a:cubicBezTo>
                  <a:pt x="0" y="180372"/>
                  <a:pt x="180372" y="0"/>
                  <a:pt x="402539" y="0"/>
                </a:cubicBezTo>
                <a:close/>
              </a:path>
            </a:pathLst>
          </a:custGeom>
          <a:solidFill>
            <a:srgbClr val="147BC8"/>
          </a:solidFill>
          <a:ln/>
        </p:spPr>
      </p:sp>
      <p:sp>
        <p:nvSpPr>
          <p:cNvPr id="20" name="Shape 9"/>
          <p:cNvSpPr/>
          <p:nvPr/>
        </p:nvSpPr>
        <p:spPr>
          <a:xfrm>
            <a:off x="8401159" y="3329606"/>
            <a:ext cx="305082" cy="305082"/>
          </a:xfrm>
          <a:custGeom>
            <a:avLst/>
            <a:gdLst/>
            <a:ahLst/>
            <a:cxnLst/>
            <a:rect l="l" t="t" r="r" b="b"/>
            <a:pathLst>
              <a:path w="305082" h="305082">
                <a:moveTo>
                  <a:pt x="152541" y="0"/>
                </a:moveTo>
                <a:cubicBezTo>
                  <a:pt x="236731" y="0"/>
                  <a:pt x="305082" y="68351"/>
                  <a:pt x="305082" y="152541"/>
                </a:cubicBezTo>
                <a:cubicBezTo>
                  <a:pt x="305082" y="236731"/>
                  <a:pt x="236731" y="305082"/>
                  <a:pt x="152541" y="305082"/>
                </a:cubicBezTo>
                <a:cubicBezTo>
                  <a:pt x="68351" y="305082"/>
                  <a:pt x="0" y="236731"/>
                  <a:pt x="0" y="152541"/>
                </a:cubicBezTo>
                <a:cubicBezTo>
                  <a:pt x="0" y="68351"/>
                  <a:pt x="68351" y="0"/>
                  <a:pt x="152541" y="0"/>
                </a:cubicBezTo>
                <a:close/>
              </a:path>
            </a:pathLst>
          </a:custGeom>
          <a:solidFill>
            <a:srgbClr val="0067B4"/>
          </a:solidFill>
          <a:ln/>
        </p:spPr>
      </p:sp>
      <p:sp>
        <p:nvSpPr>
          <p:cNvPr id="26" name="Rectangle 3">
            <a:extLst>
              <a:ext uri="{FF2B5EF4-FFF2-40B4-BE49-F238E27FC236}">
                <a16:creationId xmlns:a16="http://schemas.microsoft.com/office/drawing/2014/main" id="{14F20F44-2B4F-4FEC-97E5-0F1A3C7A087C}"/>
              </a:ext>
            </a:extLst>
          </p:cNvPr>
          <p:cNvSpPr>
            <a:spLocks noChangeArrowheads="1"/>
          </p:cNvSpPr>
          <p:nvPr/>
        </p:nvSpPr>
        <p:spPr bwMode="auto">
          <a:xfrm>
            <a:off x="3528313" y="4530784"/>
            <a:ext cx="387141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800" b="1" i="0" u="none" strike="noStrike" cap="none" normalizeH="0" baseline="0" dirty="0">
                <a:ln>
                  <a:noFill/>
                </a:ln>
                <a:solidFill>
                  <a:schemeClr val="tx1"/>
                </a:solidFill>
                <a:effectLst/>
                <a:latin typeface="Arial" panose="020B0604020202020204" pitchFamily="34" charset="0"/>
              </a:rPr>
              <a:t>我们应自制还是外购零件4A？</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graphicFrame>
        <p:nvGraphicFramePr>
          <p:cNvPr id="27" name="表格 26">
            <a:extLst>
              <a:ext uri="{FF2B5EF4-FFF2-40B4-BE49-F238E27FC236}">
                <a16:creationId xmlns:a16="http://schemas.microsoft.com/office/drawing/2014/main" id="{A3137D1A-E7B9-4F55-976D-53884B163EA1}"/>
              </a:ext>
            </a:extLst>
          </p:cNvPr>
          <p:cNvGraphicFramePr>
            <a:graphicFrameLocks noGrp="1"/>
          </p:cNvGraphicFramePr>
          <p:nvPr>
            <p:extLst>
              <p:ext uri="{D42A27DB-BD31-4B8C-83A1-F6EECF244321}">
                <p14:modId xmlns:p14="http://schemas.microsoft.com/office/powerpoint/2010/main" val="850592596"/>
              </p:ext>
            </p:extLst>
          </p:nvPr>
        </p:nvGraphicFramePr>
        <p:xfrm>
          <a:off x="1983477" y="1172573"/>
          <a:ext cx="6116836" cy="3268319"/>
        </p:xfrm>
        <a:graphic>
          <a:graphicData uri="http://schemas.openxmlformats.org/drawingml/2006/table">
            <a:tbl>
              <a:tblPr>
                <a:tableStyleId>{775DCB02-9BB8-47FD-8907-85C794F793BA}</a:tableStyleId>
              </a:tblPr>
              <a:tblGrid>
                <a:gridCol w="1529209">
                  <a:extLst>
                    <a:ext uri="{9D8B030D-6E8A-4147-A177-3AD203B41FA5}">
                      <a16:colId xmlns:a16="http://schemas.microsoft.com/office/drawing/2014/main" val="2451117191"/>
                    </a:ext>
                  </a:extLst>
                </a:gridCol>
                <a:gridCol w="1529209">
                  <a:extLst>
                    <a:ext uri="{9D8B030D-6E8A-4147-A177-3AD203B41FA5}">
                      <a16:colId xmlns:a16="http://schemas.microsoft.com/office/drawing/2014/main" val="4248193546"/>
                    </a:ext>
                  </a:extLst>
                </a:gridCol>
                <a:gridCol w="1529209">
                  <a:extLst>
                    <a:ext uri="{9D8B030D-6E8A-4147-A177-3AD203B41FA5}">
                      <a16:colId xmlns:a16="http://schemas.microsoft.com/office/drawing/2014/main" val="2381893090"/>
                    </a:ext>
                  </a:extLst>
                </a:gridCol>
                <a:gridCol w="1529209">
                  <a:extLst>
                    <a:ext uri="{9D8B030D-6E8A-4147-A177-3AD203B41FA5}">
                      <a16:colId xmlns:a16="http://schemas.microsoft.com/office/drawing/2014/main" val="3995132545"/>
                    </a:ext>
                  </a:extLst>
                </a:gridCol>
              </a:tblGrid>
              <a:tr h="496439">
                <a:tc>
                  <a:txBody>
                    <a:bodyPr/>
                    <a:lstStyle/>
                    <a:p>
                      <a:pPr algn="ctr"/>
                      <a:r>
                        <a:rPr lang="zh-CN" altLang="en-US" sz="1400" b="1" dirty="0"/>
                        <a:t>项目</a:t>
                      </a:r>
                    </a:p>
                  </a:txBody>
                  <a:tcPr marL="70920" marR="70920" marT="35460" marB="35460" anchor="ctr">
                    <a:solidFill>
                      <a:schemeClr val="accent4">
                        <a:lumMod val="60000"/>
                        <a:lumOff val="40000"/>
                      </a:schemeClr>
                    </a:solidFill>
                  </a:tcPr>
                </a:tc>
                <a:tc>
                  <a:txBody>
                    <a:bodyPr/>
                    <a:lstStyle/>
                    <a:p>
                      <a:pPr algn="ctr"/>
                      <a:r>
                        <a:rPr lang="zh-CN" altLang="en-US" sz="1400" b="1" dirty="0"/>
                        <a:t>单位成本（美元）</a:t>
                      </a:r>
                    </a:p>
                  </a:txBody>
                  <a:tcPr marL="70920" marR="70920" marT="35460" marB="35460" anchor="ctr">
                    <a:solidFill>
                      <a:schemeClr val="accent4">
                        <a:lumMod val="60000"/>
                        <a:lumOff val="40000"/>
                      </a:schemeClr>
                    </a:solidFill>
                  </a:tcPr>
                </a:tc>
                <a:tc gridSpan="2">
                  <a:txBody>
                    <a:bodyPr/>
                    <a:lstStyle/>
                    <a:p>
                      <a:pPr algn="ctr"/>
                      <a:r>
                        <a:rPr lang="en-US" altLang="zh-CN" sz="1400" b="1" dirty="0"/>
                        <a:t>20,000</a:t>
                      </a:r>
                      <a:r>
                        <a:rPr lang="zh-CN" altLang="en-US" sz="1400" b="1" dirty="0"/>
                        <a:t>单位成本（美元）</a:t>
                      </a:r>
                    </a:p>
                  </a:txBody>
                  <a:tcPr marL="70920" marR="70920" marT="35460" marB="35460" anchor="ctr">
                    <a:solidFill>
                      <a:schemeClr val="accent4">
                        <a:lumMod val="60000"/>
                        <a:lumOff val="40000"/>
                      </a:schemeClr>
                    </a:solidFill>
                  </a:tcPr>
                </a:tc>
                <a:tc hMerge="1">
                  <a:txBody>
                    <a:bodyPr/>
                    <a:lstStyle/>
                    <a:p>
                      <a:endParaRPr lang="zh-CN" altLang="en-US" sz="1400" dirty="0"/>
                    </a:p>
                  </a:txBody>
                  <a:tcPr marL="70920" marR="70920" marT="35460" marB="354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83586971"/>
                  </a:ext>
                </a:extLst>
              </a:tr>
              <a:tr h="283679">
                <a:tc>
                  <a:txBody>
                    <a:bodyPr/>
                    <a:lstStyle/>
                    <a:p>
                      <a:endParaRPr lang="zh-CN" altLang="en-US" sz="1400"/>
                    </a:p>
                  </a:txBody>
                  <a:tcPr marL="70920" marR="70920" marT="35460" marB="35460" anchor="ctr"/>
                </a:tc>
                <a:tc>
                  <a:txBody>
                    <a:bodyPr/>
                    <a:lstStyle/>
                    <a:p>
                      <a:endParaRPr lang="zh-CN" altLang="en-US" sz="1400"/>
                    </a:p>
                  </a:txBody>
                  <a:tcPr marL="70920" marR="70920" marT="35460" marB="35460" anchor="ctr"/>
                </a:tc>
                <a:tc>
                  <a:txBody>
                    <a:bodyPr/>
                    <a:lstStyle/>
                    <a:p>
                      <a:r>
                        <a:rPr lang="zh-CN" altLang="en-US" sz="1400" b="1" dirty="0"/>
                        <a:t>自制</a:t>
                      </a:r>
                      <a:endParaRPr lang="zh-CN" altLang="en-US" sz="1400" dirty="0"/>
                    </a:p>
                  </a:txBody>
                  <a:tcPr marL="70920" marR="70920" marT="35460" marB="35460" anchor="ctr"/>
                </a:tc>
                <a:tc>
                  <a:txBody>
                    <a:bodyPr/>
                    <a:lstStyle/>
                    <a:p>
                      <a:r>
                        <a:rPr lang="zh-CN" altLang="en-US" sz="1400" b="1"/>
                        <a:t>外购</a:t>
                      </a:r>
                      <a:endParaRPr lang="zh-CN" altLang="en-US" sz="1400"/>
                    </a:p>
                  </a:txBody>
                  <a:tcPr marL="70920" marR="70920" marT="35460" marB="35460" anchor="ctr"/>
                </a:tc>
                <a:extLst>
                  <a:ext uri="{0D108BD9-81ED-4DB2-BD59-A6C34878D82A}">
                    <a16:rowId xmlns:a16="http://schemas.microsoft.com/office/drawing/2014/main" val="1219887616"/>
                  </a:ext>
                </a:extLst>
              </a:tr>
              <a:tr h="283679">
                <a:tc>
                  <a:txBody>
                    <a:bodyPr/>
                    <a:lstStyle/>
                    <a:p>
                      <a:r>
                        <a:rPr lang="zh-CN" altLang="en-US" sz="1400" b="1"/>
                        <a:t>外购价格</a:t>
                      </a:r>
                      <a:endParaRPr lang="zh-CN" altLang="en-US" sz="1400"/>
                    </a:p>
                  </a:txBody>
                  <a:tcPr marL="70920" marR="70920" marT="35460" marB="35460" anchor="ctr"/>
                </a:tc>
                <a:tc>
                  <a:txBody>
                    <a:bodyPr/>
                    <a:lstStyle/>
                    <a:p>
                      <a:r>
                        <a:rPr lang="en-US" altLang="zh-CN" sz="1400" b="1"/>
                        <a:t>$25</a:t>
                      </a:r>
                      <a:endParaRPr lang="zh-CN" altLang="en-US" sz="1400"/>
                    </a:p>
                  </a:txBody>
                  <a:tcPr marL="70920" marR="70920" marT="35460" marB="35460" anchor="ctr"/>
                </a:tc>
                <a:tc>
                  <a:txBody>
                    <a:bodyPr/>
                    <a:lstStyle/>
                    <a:p>
                      <a:r>
                        <a:rPr lang="en-US" altLang="zh-CN" sz="1400"/>
                        <a:t>–</a:t>
                      </a:r>
                    </a:p>
                  </a:txBody>
                  <a:tcPr marL="70920" marR="70920" marT="35460" marB="35460" anchor="ctr"/>
                </a:tc>
                <a:tc>
                  <a:txBody>
                    <a:bodyPr/>
                    <a:lstStyle/>
                    <a:p>
                      <a:r>
                        <a:rPr lang="en-US" altLang="zh-CN" sz="1400" b="1"/>
                        <a:t>$500,000</a:t>
                      </a:r>
                      <a:endParaRPr lang="zh-CN" altLang="en-US" sz="1400"/>
                    </a:p>
                  </a:txBody>
                  <a:tcPr marL="70920" marR="70920" marT="35460" marB="35460" anchor="ctr"/>
                </a:tc>
                <a:extLst>
                  <a:ext uri="{0D108BD9-81ED-4DB2-BD59-A6C34878D82A}">
                    <a16:rowId xmlns:a16="http://schemas.microsoft.com/office/drawing/2014/main" val="3955033964"/>
                  </a:ext>
                </a:extLst>
              </a:tr>
              <a:tr h="283679">
                <a:tc>
                  <a:txBody>
                    <a:bodyPr/>
                    <a:lstStyle/>
                    <a:p>
                      <a:r>
                        <a:rPr lang="zh-CN" altLang="en-US" sz="1400"/>
                        <a:t>直接材料</a:t>
                      </a:r>
                    </a:p>
                  </a:txBody>
                  <a:tcPr marL="70920" marR="70920" marT="35460" marB="35460" anchor="ctr"/>
                </a:tc>
                <a:tc>
                  <a:txBody>
                    <a:bodyPr/>
                    <a:lstStyle/>
                    <a:p>
                      <a:r>
                        <a:rPr lang="en-US" altLang="zh-CN" sz="1400"/>
                        <a:t>$9</a:t>
                      </a:r>
                    </a:p>
                  </a:txBody>
                  <a:tcPr marL="70920" marR="70920" marT="35460" marB="35460" anchor="ctr"/>
                </a:tc>
                <a:tc>
                  <a:txBody>
                    <a:bodyPr/>
                    <a:lstStyle/>
                    <a:p>
                      <a:r>
                        <a:rPr lang="en-US" altLang="zh-CN" sz="1400"/>
                        <a:t>$180,000</a:t>
                      </a:r>
                    </a:p>
                  </a:txBody>
                  <a:tcPr marL="70920" marR="70920" marT="35460" marB="35460" anchor="ctr"/>
                </a:tc>
                <a:tc>
                  <a:txBody>
                    <a:bodyPr/>
                    <a:lstStyle/>
                    <a:p>
                      <a:r>
                        <a:rPr lang="en-US" altLang="zh-CN" sz="1400"/>
                        <a:t>–</a:t>
                      </a:r>
                    </a:p>
                  </a:txBody>
                  <a:tcPr marL="70920" marR="70920" marT="35460" marB="35460" anchor="ctr"/>
                </a:tc>
                <a:extLst>
                  <a:ext uri="{0D108BD9-81ED-4DB2-BD59-A6C34878D82A}">
                    <a16:rowId xmlns:a16="http://schemas.microsoft.com/office/drawing/2014/main" val="1593929193"/>
                  </a:ext>
                </a:extLst>
              </a:tr>
              <a:tr h="283679">
                <a:tc>
                  <a:txBody>
                    <a:bodyPr/>
                    <a:lstStyle/>
                    <a:p>
                      <a:r>
                        <a:rPr lang="zh-CN" altLang="en-US" sz="1400"/>
                        <a:t>直接人工</a:t>
                      </a:r>
                    </a:p>
                  </a:txBody>
                  <a:tcPr marL="70920" marR="70920" marT="35460" marB="35460" anchor="ctr"/>
                </a:tc>
                <a:tc>
                  <a:txBody>
                    <a:bodyPr/>
                    <a:lstStyle/>
                    <a:p>
                      <a:r>
                        <a:rPr lang="en-US" altLang="zh-CN" sz="1400"/>
                        <a:t>$5</a:t>
                      </a:r>
                    </a:p>
                  </a:txBody>
                  <a:tcPr marL="70920" marR="70920" marT="35460" marB="35460" anchor="ctr"/>
                </a:tc>
                <a:tc>
                  <a:txBody>
                    <a:bodyPr/>
                    <a:lstStyle/>
                    <a:p>
                      <a:r>
                        <a:rPr lang="en-US" altLang="zh-CN" sz="1400"/>
                        <a:t>$100,000</a:t>
                      </a:r>
                    </a:p>
                  </a:txBody>
                  <a:tcPr marL="70920" marR="70920" marT="35460" marB="35460" anchor="ctr"/>
                </a:tc>
                <a:tc>
                  <a:txBody>
                    <a:bodyPr/>
                    <a:lstStyle/>
                    <a:p>
                      <a:r>
                        <a:rPr lang="en-US" altLang="zh-CN" sz="1400"/>
                        <a:t>–</a:t>
                      </a:r>
                    </a:p>
                  </a:txBody>
                  <a:tcPr marL="70920" marR="70920" marT="35460" marB="35460" anchor="ctr"/>
                </a:tc>
                <a:extLst>
                  <a:ext uri="{0D108BD9-81ED-4DB2-BD59-A6C34878D82A}">
                    <a16:rowId xmlns:a16="http://schemas.microsoft.com/office/drawing/2014/main" val="3192207644"/>
                  </a:ext>
                </a:extLst>
              </a:tr>
              <a:tr h="283679">
                <a:tc>
                  <a:txBody>
                    <a:bodyPr/>
                    <a:lstStyle/>
                    <a:p>
                      <a:r>
                        <a:rPr lang="zh-CN" altLang="en-US" sz="1400"/>
                        <a:t>变动制造费用</a:t>
                      </a:r>
                    </a:p>
                  </a:txBody>
                  <a:tcPr marL="70920" marR="70920" marT="35460" marB="35460" anchor="ctr"/>
                </a:tc>
                <a:tc>
                  <a:txBody>
                    <a:bodyPr/>
                    <a:lstStyle/>
                    <a:p>
                      <a:r>
                        <a:rPr lang="en-US" altLang="zh-CN" sz="1400"/>
                        <a:t>$1</a:t>
                      </a:r>
                    </a:p>
                  </a:txBody>
                  <a:tcPr marL="70920" marR="70920" marT="35460" marB="35460" anchor="ctr"/>
                </a:tc>
                <a:tc>
                  <a:txBody>
                    <a:bodyPr/>
                    <a:lstStyle/>
                    <a:p>
                      <a:r>
                        <a:rPr lang="en-US" altLang="zh-CN" sz="1400"/>
                        <a:t>$20,000</a:t>
                      </a:r>
                    </a:p>
                  </a:txBody>
                  <a:tcPr marL="70920" marR="70920" marT="35460" marB="35460" anchor="ctr"/>
                </a:tc>
                <a:tc>
                  <a:txBody>
                    <a:bodyPr/>
                    <a:lstStyle/>
                    <a:p>
                      <a:r>
                        <a:rPr lang="en-US" altLang="zh-CN" sz="1400"/>
                        <a:t>–</a:t>
                      </a:r>
                    </a:p>
                  </a:txBody>
                  <a:tcPr marL="70920" marR="70920" marT="35460" marB="35460" anchor="ctr"/>
                </a:tc>
                <a:extLst>
                  <a:ext uri="{0D108BD9-81ED-4DB2-BD59-A6C34878D82A}">
                    <a16:rowId xmlns:a16="http://schemas.microsoft.com/office/drawing/2014/main" val="3713860450"/>
                  </a:ext>
                </a:extLst>
              </a:tr>
              <a:tr h="283679">
                <a:tc>
                  <a:txBody>
                    <a:bodyPr/>
                    <a:lstStyle/>
                    <a:p>
                      <a:r>
                        <a:rPr lang="zh-CN" altLang="en-US" sz="1400"/>
                        <a:t>设备折旧</a:t>
                      </a:r>
                    </a:p>
                  </a:txBody>
                  <a:tcPr marL="70920" marR="70920" marT="35460" marB="35460" anchor="ctr"/>
                </a:tc>
                <a:tc>
                  <a:txBody>
                    <a:bodyPr/>
                    <a:lstStyle/>
                    <a:p>
                      <a:r>
                        <a:rPr lang="en-US" altLang="zh-CN" sz="1400"/>
                        <a:t>$3</a:t>
                      </a:r>
                    </a:p>
                  </a:txBody>
                  <a:tcPr marL="70920" marR="70920" marT="35460" marB="35460" anchor="ctr"/>
                </a:tc>
                <a:tc>
                  <a:txBody>
                    <a:bodyPr/>
                    <a:lstStyle/>
                    <a:p>
                      <a:r>
                        <a:rPr lang="en-US" altLang="zh-CN" sz="1400"/>
                        <a:t>$0</a:t>
                      </a:r>
                    </a:p>
                  </a:txBody>
                  <a:tcPr marL="70920" marR="70920" marT="35460" marB="35460" anchor="ctr"/>
                </a:tc>
                <a:tc>
                  <a:txBody>
                    <a:bodyPr/>
                    <a:lstStyle/>
                    <a:p>
                      <a:r>
                        <a:rPr lang="en-US" altLang="zh-CN" sz="1400"/>
                        <a:t>–</a:t>
                      </a:r>
                    </a:p>
                  </a:txBody>
                  <a:tcPr marL="70920" marR="70920" marT="35460" marB="35460" anchor="ctr"/>
                </a:tc>
                <a:extLst>
                  <a:ext uri="{0D108BD9-81ED-4DB2-BD59-A6C34878D82A}">
                    <a16:rowId xmlns:a16="http://schemas.microsoft.com/office/drawing/2014/main" val="2102562173"/>
                  </a:ext>
                </a:extLst>
              </a:tr>
              <a:tr h="283679">
                <a:tc>
                  <a:txBody>
                    <a:bodyPr/>
                    <a:lstStyle/>
                    <a:p>
                      <a:r>
                        <a:rPr lang="zh-CN" altLang="en-US" sz="1400"/>
                        <a:t>主管薪酬</a:t>
                      </a:r>
                    </a:p>
                  </a:txBody>
                  <a:tcPr marL="70920" marR="70920" marT="35460" marB="35460" anchor="ctr"/>
                </a:tc>
                <a:tc>
                  <a:txBody>
                    <a:bodyPr/>
                    <a:lstStyle/>
                    <a:p>
                      <a:r>
                        <a:rPr lang="en-US" altLang="zh-CN" sz="1400"/>
                        <a:t>$2</a:t>
                      </a:r>
                    </a:p>
                  </a:txBody>
                  <a:tcPr marL="70920" marR="70920" marT="35460" marB="35460" anchor="ctr"/>
                </a:tc>
                <a:tc>
                  <a:txBody>
                    <a:bodyPr/>
                    <a:lstStyle/>
                    <a:p>
                      <a:r>
                        <a:rPr lang="en-US" altLang="zh-CN" sz="1400"/>
                        <a:t>$40,000</a:t>
                      </a:r>
                    </a:p>
                  </a:txBody>
                  <a:tcPr marL="70920" marR="70920" marT="35460" marB="35460" anchor="ctr"/>
                </a:tc>
                <a:tc>
                  <a:txBody>
                    <a:bodyPr/>
                    <a:lstStyle/>
                    <a:p>
                      <a:r>
                        <a:rPr lang="en-US" altLang="zh-CN" sz="1400"/>
                        <a:t>–</a:t>
                      </a:r>
                    </a:p>
                  </a:txBody>
                  <a:tcPr marL="70920" marR="70920" marT="35460" marB="35460" anchor="ctr"/>
                </a:tc>
                <a:extLst>
                  <a:ext uri="{0D108BD9-81ED-4DB2-BD59-A6C34878D82A}">
                    <a16:rowId xmlns:a16="http://schemas.microsoft.com/office/drawing/2014/main" val="821405774"/>
                  </a:ext>
                </a:extLst>
              </a:tr>
              <a:tr h="496439">
                <a:tc>
                  <a:txBody>
                    <a:bodyPr/>
                    <a:lstStyle/>
                    <a:p>
                      <a:r>
                        <a:rPr lang="zh-CN" altLang="en-US" sz="1400"/>
                        <a:t>工厂通用制造费用</a:t>
                      </a:r>
                    </a:p>
                  </a:txBody>
                  <a:tcPr marL="70920" marR="70920" marT="35460" marB="35460" anchor="ctr"/>
                </a:tc>
                <a:tc>
                  <a:txBody>
                    <a:bodyPr/>
                    <a:lstStyle/>
                    <a:p>
                      <a:r>
                        <a:rPr lang="en-US" altLang="zh-CN" sz="1400"/>
                        <a:t>$10</a:t>
                      </a:r>
                    </a:p>
                  </a:txBody>
                  <a:tcPr marL="70920" marR="70920" marT="35460" marB="35460" anchor="ctr"/>
                </a:tc>
                <a:tc>
                  <a:txBody>
                    <a:bodyPr/>
                    <a:lstStyle/>
                    <a:p>
                      <a:r>
                        <a:rPr lang="en-US" altLang="zh-CN" sz="1400"/>
                        <a:t>$0</a:t>
                      </a:r>
                    </a:p>
                  </a:txBody>
                  <a:tcPr marL="70920" marR="70920" marT="35460" marB="35460" anchor="ctr"/>
                </a:tc>
                <a:tc>
                  <a:txBody>
                    <a:bodyPr/>
                    <a:lstStyle/>
                    <a:p>
                      <a:r>
                        <a:rPr lang="en-US" altLang="zh-CN" sz="1400"/>
                        <a:t>–</a:t>
                      </a:r>
                    </a:p>
                  </a:txBody>
                  <a:tcPr marL="70920" marR="70920" marT="35460" marB="35460" anchor="ctr"/>
                </a:tc>
                <a:extLst>
                  <a:ext uri="{0D108BD9-81ED-4DB2-BD59-A6C34878D82A}">
                    <a16:rowId xmlns:a16="http://schemas.microsoft.com/office/drawing/2014/main" val="2546170789"/>
                  </a:ext>
                </a:extLst>
              </a:tr>
              <a:tr h="283679">
                <a:tc>
                  <a:txBody>
                    <a:bodyPr/>
                    <a:lstStyle/>
                    <a:p>
                      <a:r>
                        <a:rPr lang="zh-CN" altLang="en-US" sz="1400" b="1"/>
                        <a:t>总成本</a:t>
                      </a:r>
                      <a:endParaRPr lang="zh-CN" altLang="en-US" sz="1400"/>
                    </a:p>
                  </a:txBody>
                  <a:tcPr marL="70920" marR="70920" marT="35460" marB="35460" anchor="ctr"/>
                </a:tc>
                <a:tc>
                  <a:txBody>
                    <a:bodyPr/>
                    <a:lstStyle/>
                    <a:p>
                      <a:r>
                        <a:rPr lang="en-US" altLang="zh-CN" sz="1400" b="1"/>
                        <a:t>$30</a:t>
                      </a:r>
                      <a:endParaRPr lang="zh-CN" altLang="en-US" sz="1400"/>
                    </a:p>
                  </a:txBody>
                  <a:tcPr marL="70920" marR="70920" marT="35460" marB="35460" anchor="ctr"/>
                </a:tc>
                <a:tc>
                  <a:txBody>
                    <a:bodyPr/>
                    <a:lstStyle/>
                    <a:p>
                      <a:r>
                        <a:rPr lang="en-US" altLang="zh-CN" sz="1400" b="1"/>
                        <a:t>$340,000</a:t>
                      </a:r>
                      <a:endParaRPr lang="zh-CN" altLang="en-US" sz="1400"/>
                    </a:p>
                  </a:txBody>
                  <a:tcPr marL="70920" marR="70920" marT="35460" marB="35460" anchor="ctr"/>
                </a:tc>
                <a:tc>
                  <a:txBody>
                    <a:bodyPr/>
                    <a:lstStyle/>
                    <a:p>
                      <a:r>
                        <a:rPr lang="en-US" altLang="zh-CN" sz="1400" b="1" dirty="0"/>
                        <a:t>$500,000</a:t>
                      </a:r>
                      <a:endParaRPr lang="zh-CN" altLang="en-US" sz="1400" dirty="0"/>
                    </a:p>
                  </a:txBody>
                  <a:tcPr marL="70920" marR="70920" marT="35460" marB="35460" anchor="ctr"/>
                </a:tc>
                <a:extLst>
                  <a:ext uri="{0D108BD9-81ED-4DB2-BD59-A6C34878D82A}">
                    <a16:rowId xmlns:a16="http://schemas.microsoft.com/office/drawing/2014/main" val="1480575648"/>
                  </a:ext>
                </a:extLst>
              </a:tr>
            </a:tbl>
          </a:graphicData>
        </a:graphic>
      </p:graphicFrame>
    </p:spTree>
    <p:extLst>
      <p:ext uri="{BB962C8B-B14F-4D97-AF65-F5344CB8AC3E}">
        <p14:creationId xmlns:p14="http://schemas.microsoft.com/office/powerpoint/2010/main" val="365176044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img.tukuppt.com/aippt_uploads/34576449/25/07/03/6866a18678cda.png!/fwfh2/960x960"/>
          <p:cNvPicPr>
            <a:picLocks noChangeAspect="1"/>
          </p:cNvPicPr>
          <p:nvPr/>
        </p:nvPicPr>
        <p:blipFill>
          <a:blip r:embed="rId3"/>
          <a:stretch>
            <a:fillRect/>
          </a:stretch>
        </p:blipFill>
        <p:spPr>
          <a:xfrm>
            <a:off x="0" y="0"/>
            <a:ext cx="9140180" cy="5131830"/>
          </a:xfrm>
          <a:prstGeom prst="rect">
            <a:avLst/>
          </a:prstGeom>
        </p:spPr>
      </p:pic>
      <p:sp>
        <p:nvSpPr>
          <p:cNvPr id="3" name="Shape 0"/>
          <p:cNvSpPr/>
          <p:nvPr/>
        </p:nvSpPr>
        <p:spPr>
          <a:xfrm>
            <a:off x="979384" y="287863"/>
            <a:ext cx="2872893" cy="412023"/>
          </a:xfrm>
          <a:custGeom>
            <a:avLst/>
            <a:gdLst/>
            <a:ahLst/>
            <a:cxnLst/>
            <a:rect l="l" t="t" r="r" b="b"/>
            <a:pathLst>
              <a:path w="2872893" h="412023">
                <a:moveTo>
                  <a:pt x="68568" y="0"/>
                </a:moveTo>
                <a:lnTo>
                  <a:pt x="2803673" y="0"/>
                </a:lnTo>
                <a:cubicBezTo>
                  <a:pt x="2841542" y="0"/>
                  <a:pt x="2872241" y="30699"/>
                  <a:pt x="2872241" y="68568"/>
                </a:cubicBezTo>
                <a:lnTo>
                  <a:pt x="2872241" y="342840"/>
                </a:lnTo>
                <a:cubicBezTo>
                  <a:pt x="2872241" y="380710"/>
                  <a:pt x="2841542" y="411409"/>
                  <a:pt x="2803673" y="411409"/>
                </a:cubicBezTo>
                <a:lnTo>
                  <a:pt x="68568" y="411409"/>
                </a:lnTo>
                <a:cubicBezTo>
                  <a:pt x="30699" y="411409"/>
                  <a:pt x="0" y="380710"/>
                  <a:pt x="0" y="342840"/>
                </a:cubicBezTo>
                <a:lnTo>
                  <a:pt x="0" y="68568"/>
                </a:lnTo>
                <a:cubicBezTo>
                  <a:pt x="0" y="30724"/>
                  <a:pt x="30724" y="0"/>
                  <a:pt x="68568" y="0"/>
                </a:cubicBezTo>
                <a:close/>
              </a:path>
            </a:pathLst>
          </a:custGeom>
          <a:solidFill>
            <a:srgbClr val="0067B4"/>
          </a:solidFill>
          <a:ln/>
          <a:effectLst>
            <a:outerShdw dist="38093" dir="2700000" algn="bl" rotWithShape="0">
              <a:srgbClr val="000000">
                <a:alpha val="38824"/>
              </a:srgbClr>
            </a:outerShdw>
          </a:effectLst>
        </p:spPr>
      </p:sp>
      <p:sp>
        <p:nvSpPr>
          <p:cNvPr id="4" name="Shape 1"/>
          <p:cNvSpPr/>
          <p:nvPr/>
        </p:nvSpPr>
        <p:spPr>
          <a:xfrm>
            <a:off x="1188456" y="329442"/>
            <a:ext cx="2735844" cy="339064"/>
          </a:xfrm>
          <a:custGeom>
            <a:avLst/>
            <a:gdLst/>
            <a:ahLst/>
            <a:cxnLst/>
            <a:rect l="l" t="t" r="r" b="b"/>
            <a:pathLst>
              <a:path w="2735844" h="339064">
                <a:moveTo>
                  <a:pt x="0" y="0"/>
                </a:moveTo>
                <a:lnTo>
                  <a:pt x="2735844" y="0"/>
                </a:lnTo>
                <a:lnTo>
                  <a:pt x="2735844" y="339064"/>
                </a:lnTo>
                <a:lnTo>
                  <a:pt x="0" y="339064"/>
                </a:lnTo>
                <a:close/>
              </a:path>
            </a:pathLst>
          </a:custGeom>
          <a:noFill/>
          <a:ln/>
        </p:spPr>
      </p:sp>
      <p:sp>
        <p:nvSpPr>
          <p:cNvPr id="5" name="Text 2"/>
          <p:cNvSpPr txBox="1"/>
          <p:nvPr/>
        </p:nvSpPr>
        <p:spPr>
          <a:xfrm>
            <a:off x="1188456" y="329442"/>
            <a:ext cx="2735844" cy="339064"/>
          </a:xfrm>
          <a:prstGeom prst="rect">
            <a:avLst/>
          </a:prstGeom>
          <a:noFill/>
          <a:ln/>
        </p:spPr>
        <p:txBody>
          <a:bodyPr wrap="square" lIns="1252" tIns="653" rIns="1252" bIns="653" rtlCol="0" anchor="t">
            <a:spAutoFit/>
          </a:bodyPr>
          <a:lstStyle/>
          <a:p>
            <a:pPr marL="0" indent="0" algn="l">
              <a:buNone/>
            </a:pPr>
            <a:r>
              <a:rPr lang="zh-CN" altLang="en-US" sz="1601" dirty="0">
                <a:solidFill>
                  <a:srgbClr val="64CBFF"/>
                </a:solidFill>
                <a:latin typeface="SourceHanSansSC-Medium"/>
                <a:ea typeface="SourceHanSansSC-Medium"/>
                <a:cs typeface="SourceHanSansSC-Medium"/>
              </a:rPr>
              <a:t>机会成本的考虑</a:t>
            </a:r>
            <a:endParaRPr lang="en-US" sz="1601" dirty="0"/>
          </a:p>
        </p:txBody>
      </p:sp>
      <p:sp>
        <p:nvSpPr>
          <p:cNvPr id="6" name="Shape 3"/>
          <p:cNvSpPr/>
          <p:nvPr/>
        </p:nvSpPr>
        <p:spPr>
          <a:xfrm>
            <a:off x="471488" y="198466"/>
            <a:ext cx="461756" cy="542999"/>
          </a:xfrm>
          <a:custGeom>
            <a:avLst/>
            <a:gdLst/>
            <a:ahLst/>
            <a:cxnLst/>
            <a:rect l="l" t="t" r="r" b="b"/>
            <a:pathLst>
              <a:path w="461756" h="542999">
                <a:moveTo>
                  <a:pt x="77457" y="0"/>
                </a:moveTo>
                <a:lnTo>
                  <a:pt x="384743" y="0"/>
                </a:lnTo>
                <a:cubicBezTo>
                  <a:pt x="427521" y="0"/>
                  <a:pt x="462200" y="34678"/>
                  <a:pt x="462200" y="77457"/>
                </a:cubicBezTo>
                <a:lnTo>
                  <a:pt x="462200" y="466009"/>
                </a:lnTo>
                <a:cubicBezTo>
                  <a:pt x="462200" y="508787"/>
                  <a:pt x="427521" y="543466"/>
                  <a:pt x="384743" y="543466"/>
                </a:cubicBezTo>
                <a:lnTo>
                  <a:pt x="77457" y="543466"/>
                </a:lnTo>
                <a:cubicBezTo>
                  <a:pt x="34678" y="543466"/>
                  <a:pt x="0" y="508787"/>
                  <a:pt x="0" y="466009"/>
                </a:cubicBezTo>
                <a:lnTo>
                  <a:pt x="0" y="77457"/>
                </a:lnTo>
                <a:cubicBezTo>
                  <a:pt x="0" y="34678"/>
                  <a:pt x="34678" y="0"/>
                  <a:pt x="77457" y="0"/>
                </a:cubicBezTo>
                <a:close/>
              </a:path>
            </a:pathLst>
          </a:custGeom>
          <a:solidFill>
            <a:srgbClr val="0067B4"/>
          </a:solidFill>
          <a:ln/>
          <a:effectLst>
            <a:outerShdw dist="38093" dir="2700000" algn="bl" rotWithShape="0">
              <a:srgbClr val="000000">
                <a:alpha val="38824"/>
              </a:srgbClr>
            </a:outerShdw>
          </a:effectLst>
        </p:spPr>
      </p:sp>
      <p:sp>
        <p:nvSpPr>
          <p:cNvPr id="7" name="Shape 4"/>
          <p:cNvSpPr/>
          <p:nvPr/>
        </p:nvSpPr>
        <p:spPr>
          <a:xfrm>
            <a:off x="482166" y="206110"/>
            <a:ext cx="433263" cy="535355"/>
          </a:xfrm>
          <a:custGeom>
            <a:avLst/>
            <a:gdLst/>
            <a:ahLst/>
            <a:cxnLst/>
            <a:rect l="l" t="t" r="r" b="b"/>
            <a:pathLst>
              <a:path w="433263" h="535355">
                <a:moveTo>
                  <a:pt x="73647" y="0"/>
                </a:moveTo>
                <a:lnTo>
                  <a:pt x="366966" y="0"/>
                </a:lnTo>
                <a:cubicBezTo>
                  <a:pt x="396171" y="0"/>
                  <a:pt x="421567" y="15237"/>
                  <a:pt x="432995" y="35554"/>
                </a:cubicBezTo>
                <a:cubicBezTo>
                  <a:pt x="186658" y="119359"/>
                  <a:pt x="11428" y="311096"/>
                  <a:pt x="1270" y="535847"/>
                </a:cubicBezTo>
                <a:cubicBezTo>
                  <a:pt x="0" y="533307"/>
                  <a:pt x="0" y="532038"/>
                  <a:pt x="0" y="529498"/>
                </a:cubicBezTo>
                <a:lnTo>
                  <a:pt x="0" y="60949"/>
                </a:lnTo>
                <a:cubicBezTo>
                  <a:pt x="0" y="26665"/>
                  <a:pt x="33014" y="0"/>
                  <a:pt x="73647" y="0"/>
                </a:cubicBezTo>
                <a:close/>
              </a:path>
            </a:pathLst>
          </a:custGeom>
          <a:gradFill>
            <a:gsLst>
              <a:gs pos="0">
                <a:srgbClr val="64CBFF">
                  <a:alpha val="34902"/>
                </a:srgbClr>
              </a:gs>
              <a:gs pos="100000">
                <a:srgbClr val="2F5897">
                  <a:alpha val="100000"/>
                </a:srgbClr>
              </a:gs>
            </a:gsLst>
            <a:lin ang="1200000" scaled="1"/>
          </a:gradFill>
          <a:ln/>
        </p:spPr>
      </p:sp>
      <p:pic>
        <p:nvPicPr>
          <p:cNvPr id="8" name="Image 1" descr="//img.tukuppt.com/aippt_tpl_uploads/25/07/01/686397e7ae4cf.png"/>
          <p:cNvPicPr>
            <a:picLocks noChangeAspect="1"/>
          </p:cNvPicPr>
          <p:nvPr/>
        </p:nvPicPr>
        <p:blipFill>
          <a:blip r:embed="rId4"/>
          <a:srcRect/>
          <a:stretch/>
        </p:blipFill>
        <p:spPr>
          <a:xfrm flipH="1">
            <a:off x="787710" y="346921"/>
            <a:ext cx="255659" cy="98905"/>
          </a:xfrm>
          <a:prstGeom prst="rect">
            <a:avLst/>
          </a:prstGeom>
        </p:spPr>
      </p:pic>
      <p:pic>
        <p:nvPicPr>
          <p:cNvPr id="9" name="Image 2" descr="//img.tukuppt.com/aippt_tpl_uploads/25/07/01/686397e7ae4cf.png"/>
          <p:cNvPicPr>
            <a:picLocks noChangeAspect="1"/>
          </p:cNvPicPr>
          <p:nvPr/>
        </p:nvPicPr>
        <p:blipFill>
          <a:blip r:embed="rId4"/>
          <a:srcRect/>
          <a:stretch/>
        </p:blipFill>
        <p:spPr>
          <a:xfrm flipH="1">
            <a:off x="787710" y="549201"/>
            <a:ext cx="255659" cy="98905"/>
          </a:xfrm>
          <a:prstGeom prst="rect">
            <a:avLst/>
          </a:prstGeom>
        </p:spPr>
      </p:pic>
      <p:pic>
        <p:nvPicPr>
          <p:cNvPr id="10" name="Image 3" descr="//img.tukuppt.com/aippt_tpl_uploads/25/07/01/686397e7b8f81.png"/>
          <p:cNvPicPr>
            <a:picLocks noChangeAspect="1"/>
          </p:cNvPicPr>
          <p:nvPr/>
        </p:nvPicPr>
        <p:blipFill>
          <a:blip r:embed="rId5"/>
          <a:srcRect/>
          <a:stretch/>
        </p:blipFill>
        <p:spPr>
          <a:xfrm>
            <a:off x="539206" y="312920"/>
            <a:ext cx="321318" cy="321734"/>
          </a:xfrm>
          <a:prstGeom prst="rect">
            <a:avLst/>
          </a:prstGeom>
        </p:spPr>
      </p:pic>
      <p:pic>
        <p:nvPicPr>
          <p:cNvPr id="11" name="Image 4" descr="//img.tukuppt.com/aippt_tpl_uploads/25/07/01/686397e7af1a3.png!/fwfh2/960x960"/>
          <p:cNvPicPr>
            <a:picLocks noChangeAspect="1"/>
          </p:cNvPicPr>
          <p:nvPr/>
        </p:nvPicPr>
        <p:blipFill>
          <a:blip r:embed="rId6"/>
          <a:srcRect l="36452" t="56544" b="34700"/>
          <a:stretch/>
        </p:blipFill>
        <p:spPr>
          <a:xfrm>
            <a:off x="-4836" y="-812736"/>
            <a:ext cx="9148837" cy="1019042"/>
          </a:xfrm>
          <a:prstGeom prst="rect">
            <a:avLst/>
          </a:prstGeom>
        </p:spPr>
      </p:pic>
      <p:pic>
        <p:nvPicPr>
          <p:cNvPr id="12" name="Image 5" descr="//img.tukuppt.com/aippt_tpl_uploads/25/07/01/686397e7af1a3.png!/fwfh2/960x960"/>
          <p:cNvPicPr>
            <a:picLocks noChangeAspect="1"/>
          </p:cNvPicPr>
          <p:nvPr/>
        </p:nvPicPr>
        <p:blipFill>
          <a:blip r:embed="rId6"/>
          <a:srcRect l="36452" t="56544" b="34700"/>
          <a:stretch/>
        </p:blipFill>
        <p:spPr>
          <a:xfrm>
            <a:off x="-61352" y="4937888"/>
            <a:ext cx="9313872" cy="1019042"/>
          </a:xfrm>
          <a:prstGeom prst="rect">
            <a:avLst/>
          </a:prstGeom>
        </p:spPr>
      </p:pic>
      <p:sp>
        <p:nvSpPr>
          <p:cNvPr id="13" name="Shape 5"/>
          <p:cNvSpPr/>
          <p:nvPr/>
        </p:nvSpPr>
        <p:spPr>
          <a:xfrm>
            <a:off x="1207666" y="1486485"/>
            <a:ext cx="2598059" cy="2598059"/>
          </a:xfrm>
          <a:custGeom>
            <a:avLst/>
            <a:gdLst/>
            <a:ahLst/>
            <a:cxnLst/>
            <a:rect l="l" t="t" r="r" b="b"/>
            <a:pathLst>
              <a:path w="2598059" h="2598059">
                <a:moveTo>
                  <a:pt x="1299030" y="0"/>
                </a:moveTo>
                <a:cubicBezTo>
                  <a:pt x="2015984" y="0"/>
                  <a:pt x="2598059" y="582076"/>
                  <a:pt x="2598059" y="1299030"/>
                </a:cubicBezTo>
                <a:cubicBezTo>
                  <a:pt x="2598059" y="2015984"/>
                  <a:pt x="2015984" y="2598059"/>
                  <a:pt x="1299030" y="2598059"/>
                </a:cubicBezTo>
                <a:cubicBezTo>
                  <a:pt x="582076" y="2598059"/>
                  <a:pt x="0" y="2015984"/>
                  <a:pt x="0" y="1299030"/>
                </a:cubicBezTo>
                <a:cubicBezTo>
                  <a:pt x="0" y="582076"/>
                  <a:pt x="582076" y="0"/>
                  <a:pt x="1299030" y="0"/>
                </a:cubicBezTo>
                <a:close/>
              </a:path>
            </a:pathLst>
          </a:custGeom>
          <a:blipFill rotWithShape="0">
            <a:blip r:embed="rId7">
              <a:alphaModFix/>
            </a:blip>
            <a:stretch>
              <a:fillRect l="-25000" r="-25000"/>
            </a:stretch>
          </a:blipFill>
          <a:ln/>
        </p:spPr>
      </p:sp>
      <p:sp>
        <p:nvSpPr>
          <p:cNvPr id="14" name="Shape 6"/>
          <p:cNvSpPr/>
          <p:nvPr/>
        </p:nvSpPr>
        <p:spPr>
          <a:xfrm>
            <a:off x="1207666" y="1420711"/>
            <a:ext cx="730088" cy="730088"/>
          </a:xfrm>
          <a:custGeom>
            <a:avLst/>
            <a:gdLst/>
            <a:ahLst/>
            <a:cxnLst/>
            <a:rect l="l" t="t" r="r" b="b"/>
            <a:pathLst>
              <a:path w="730088" h="730088">
                <a:moveTo>
                  <a:pt x="365044" y="0"/>
                </a:moveTo>
                <a:cubicBezTo>
                  <a:pt x="566517" y="0"/>
                  <a:pt x="730088" y="163571"/>
                  <a:pt x="730088" y="365044"/>
                </a:cubicBezTo>
                <a:cubicBezTo>
                  <a:pt x="730088" y="566517"/>
                  <a:pt x="566517" y="730088"/>
                  <a:pt x="365044" y="730088"/>
                </a:cubicBezTo>
                <a:cubicBezTo>
                  <a:pt x="163571" y="730088"/>
                  <a:pt x="0" y="566517"/>
                  <a:pt x="0" y="365044"/>
                </a:cubicBezTo>
                <a:cubicBezTo>
                  <a:pt x="0" y="163571"/>
                  <a:pt x="163571" y="0"/>
                  <a:pt x="365044" y="0"/>
                </a:cubicBezTo>
                <a:close/>
              </a:path>
            </a:pathLst>
          </a:custGeom>
          <a:solidFill>
            <a:srgbClr val="0067B4"/>
          </a:solidFill>
          <a:ln/>
        </p:spPr>
      </p:sp>
      <p:sp>
        <p:nvSpPr>
          <p:cNvPr id="15" name="Shape 7"/>
          <p:cNvSpPr/>
          <p:nvPr/>
        </p:nvSpPr>
        <p:spPr>
          <a:xfrm>
            <a:off x="2973567" y="3781985"/>
            <a:ext cx="302559" cy="302559"/>
          </a:xfrm>
          <a:custGeom>
            <a:avLst/>
            <a:gdLst/>
            <a:ahLst/>
            <a:cxnLst/>
            <a:rect l="l" t="t" r="r" b="b"/>
            <a:pathLst>
              <a:path w="302559" h="302559">
                <a:moveTo>
                  <a:pt x="151279" y="0"/>
                </a:moveTo>
                <a:cubicBezTo>
                  <a:pt x="234773" y="0"/>
                  <a:pt x="302559" y="67786"/>
                  <a:pt x="302559" y="151279"/>
                </a:cubicBezTo>
                <a:cubicBezTo>
                  <a:pt x="302559" y="234773"/>
                  <a:pt x="234773" y="302559"/>
                  <a:pt x="151279" y="302559"/>
                </a:cubicBezTo>
                <a:cubicBezTo>
                  <a:pt x="67786" y="302559"/>
                  <a:pt x="0" y="234773"/>
                  <a:pt x="0" y="151279"/>
                </a:cubicBezTo>
                <a:cubicBezTo>
                  <a:pt x="0" y="67786"/>
                  <a:pt x="67786" y="0"/>
                  <a:pt x="151279" y="0"/>
                </a:cubicBezTo>
                <a:close/>
              </a:path>
            </a:pathLst>
          </a:custGeom>
          <a:solidFill>
            <a:srgbClr val="0067B4"/>
          </a:solidFill>
          <a:ln/>
        </p:spPr>
      </p:sp>
      <p:pic>
        <p:nvPicPr>
          <p:cNvPr id="16" name="Image 6"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400846" y="1613891"/>
            <a:ext cx="343728" cy="343728"/>
          </a:xfrm>
          <a:prstGeom prst="rect">
            <a:avLst/>
          </a:prstGeom>
        </p:spPr>
      </p:pic>
      <p:sp>
        <p:nvSpPr>
          <p:cNvPr id="17" name="Text 8"/>
          <p:cNvSpPr txBox="1"/>
          <p:nvPr/>
        </p:nvSpPr>
        <p:spPr>
          <a:xfrm>
            <a:off x="4799299" y="1722052"/>
            <a:ext cx="3252788" cy="507346"/>
          </a:xfrm>
          <a:prstGeom prst="rect">
            <a:avLst/>
          </a:prstGeom>
          <a:noFill/>
          <a:ln/>
        </p:spPr>
        <p:txBody>
          <a:bodyPr wrap="square" lIns="0" tIns="0" rIns="0" bIns="0" rtlCol="0" anchor="ctr">
            <a:spAutoFit/>
          </a:bodyPr>
          <a:lstStyle/>
          <a:p>
            <a:pPr marL="0" indent="0" algn="l">
              <a:buNone/>
            </a:pPr>
            <a:r>
              <a:rPr lang="zh-CN" altLang="en-US" sz="1350" b="1" dirty="0">
                <a:solidFill>
                  <a:srgbClr val="000000"/>
                </a:solidFill>
                <a:latin typeface="SourceHanSansSC-Regular"/>
                <a:ea typeface="SourceHanSansSC-Regular"/>
                <a:cs typeface="SourceHanSansSC-Regular"/>
              </a:rPr>
              <a:t>潜在影响</a:t>
            </a:r>
            <a:endParaRPr lang="en-US" sz="1350" dirty="0"/>
          </a:p>
        </p:txBody>
      </p:sp>
      <p:sp>
        <p:nvSpPr>
          <p:cNvPr id="18" name="Text 9"/>
          <p:cNvSpPr txBox="1"/>
          <p:nvPr/>
        </p:nvSpPr>
        <p:spPr>
          <a:xfrm>
            <a:off x="4799299" y="2396446"/>
            <a:ext cx="3262313" cy="553998"/>
          </a:xfrm>
          <a:prstGeom prst="rect">
            <a:avLst/>
          </a:prstGeom>
          <a:noFill/>
          <a:ln/>
        </p:spPr>
        <p:txBody>
          <a:bodyPr wrap="square" lIns="0" tIns="0" rIns="0" bIns="0" rtlCol="0" anchor="t">
            <a:spAutoFit/>
          </a:bodyPr>
          <a:lstStyle/>
          <a:p>
            <a:pPr marL="0" indent="0" algn="l">
              <a:buNone/>
            </a:pPr>
            <a:r>
              <a:rPr lang="zh-CN" altLang="en-US" sz="900" dirty="0">
                <a:solidFill>
                  <a:srgbClr val="2A2A2A"/>
                </a:solidFill>
                <a:latin typeface="SourceHanSansSC-Regular"/>
                <a:ea typeface="SourceHanSansSC-Regular"/>
                <a:cs typeface="SourceHanSansSC-Regular"/>
              </a:rPr>
              <a:t>机会成本是指因采取某种行动而放弃的利益，虽然不是实际的现金支出，也不记录在组织的正式账户中，但在决策中需要考虑其潜在影响。在埃塞克斯公司的决策中，需要评估自制或外购对其他业务的机会成本吗？</a:t>
            </a:r>
            <a:endParaRPr lang="en-US" sz="314" dirty="0"/>
          </a:p>
        </p:txBody>
      </p:sp>
      <p:sp>
        <p:nvSpPr>
          <p:cNvPr id="19" name="Shape 10"/>
          <p:cNvSpPr/>
          <p:nvPr/>
        </p:nvSpPr>
        <p:spPr>
          <a:xfrm>
            <a:off x="4799299" y="3939842"/>
            <a:ext cx="3150558" cy="0"/>
          </a:xfrm>
          <a:custGeom>
            <a:avLst/>
            <a:gdLst/>
            <a:ahLst/>
            <a:cxnLst/>
            <a:rect l="l" t="t" r="r" b="b"/>
            <a:pathLst>
              <a:path w="3150558">
                <a:moveTo>
                  <a:pt x="0" y="0"/>
                </a:moveTo>
                <a:lnTo>
                  <a:pt x="3150558" y="0"/>
                </a:lnTo>
              </a:path>
            </a:pathLst>
          </a:custGeom>
          <a:noFill/>
          <a:ln w="14288">
            <a:solidFill>
              <a:srgbClr val="0067B4"/>
            </a:solidFill>
            <a:prstDash val="solid"/>
            <a:headEnd type="none"/>
            <a:tailEnd type="none"/>
          </a:ln>
        </p:spPr>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img.tukuppt.com/aippt_tpl_uploads/25/07/01/686397e7a6107.png"/>
          <p:cNvPicPr>
            <a:picLocks noChangeAspect="1"/>
          </p:cNvPicPr>
          <p:nvPr/>
        </p:nvPicPr>
        <p:blipFill>
          <a:blip r:embed="rId4"/>
          <a:srcRect/>
          <a:stretch/>
        </p:blipFill>
        <p:spPr>
          <a:xfrm flipH="1">
            <a:off x="-1744075" y="-312485"/>
            <a:ext cx="6071588" cy="5942568"/>
          </a:xfrm>
          <a:prstGeom prst="rect">
            <a:avLst/>
          </a:prstGeom>
        </p:spPr>
      </p:pic>
      <p:sp>
        <p:nvSpPr>
          <p:cNvPr id="3" name="Text 0"/>
          <p:cNvSpPr txBox="1"/>
          <p:nvPr/>
        </p:nvSpPr>
        <p:spPr>
          <a:xfrm>
            <a:off x="4118077" y="1908001"/>
            <a:ext cx="4105275" cy="1371600"/>
          </a:xfrm>
          <a:prstGeom prst="rect">
            <a:avLst/>
          </a:prstGeom>
          <a:noFill/>
          <a:ln/>
        </p:spPr>
        <p:txBody>
          <a:bodyPr wrap="square" lIns="0" tIns="0" rIns="0" bIns="0" rtlCol="0" anchor="t">
            <a:spAutoFit/>
          </a:bodyPr>
          <a:lstStyle/>
          <a:p>
            <a:pPr marL="0" indent="0" algn="l">
              <a:lnSpc>
                <a:spcPct val="96000"/>
              </a:lnSpc>
              <a:buNone/>
            </a:pPr>
            <a:r>
              <a:rPr lang="zh-CN" altLang="en-US" sz="4500" dirty="0">
                <a:solidFill>
                  <a:srgbClr val="0067B4"/>
                </a:solidFill>
                <a:latin typeface="SourceHanSansSC-Heavy"/>
                <a:ea typeface="SourceHanSansSC-Heavy"/>
                <a:cs typeface="SourceHanSansSC-Heavy"/>
              </a:rPr>
              <a:t>特殊订单决策</a:t>
            </a:r>
            <a:endParaRPr lang="en-US" sz="4500" dirty="0"/>
          </a:p>
        </p:txBody>
      </p:sp>
      <p:sp>
        <p:nvSpPr>
          <p:cNvPr id="4" name="Text 1"/>
          <p:cNvSpPr txBox="1"/>
          <p:nvPr/>
        </p:nvSpPr>
        <p:spPr>
          <a:xfrm>
            <a:off x="4118077" y="1357413"/>
            <a:ext cx="1038225" cy="409575"/>
          </a:xfrm>
          <a:prstGeom prst="rect">
            <a:avLst/>
          </a:prstGeom>
          <a:noFill/>
          <a:ln/>
        </p:spPr>
        <p:txBody>
          <a:bodyPr wrap="square" lIns="0" tIns="0" rIns="0" bIns="0" rtlCol="0" anchor="t">
            <a:spAutoFit/>
          </a:bodyPr>
          <a:lstStyle/>
          <a:p>
            <a:pPr marL="0" indent="0" algn="ctr">
              <a:lnSpc>
                <a:spcPct val="96000"/>
              </a:lnSpc>
              <a:buNone/>
            </a:pPr>
            <a:r>
              <a:rPr lang="en" altLang="en-US" sz="2700" dirty="0">
                <a:solidFill>
                  <a:srgbClr val="000000"/>
                </a:solidFill>
                <a:latin typeface="SourceHanSansSC-Heavy"/>
                <a:ea typeface="SourceHanSansSC-Heavy"/>
                <a:cs typeface="SourceHanSansSC-Heavy"/>
              </a:rPr>
              <a:t>PART-</a:t>
            </a:r>
            <a:endParaRPr lang="en-US" sz="2700" dirty="0"/>
          </a:p>
        </p:txBody>
      </p:sp>
      <p:sp>
        <p:nvSpPr>
          <p:cNvPr id="5" name="Text 2"/>
          <p:cNvSpPr txBox="1"/>
          <p:nvPr/>
        </p:nvSpPr>
        <p:spPr>
          <a:xfrm>
            <a:off x="5156302" y="1357413"/>
            <a:ext cx="1038225" cy="409575"/>
          </a:xfrm>
          <a:prstGeom prst="rect">
            <a:avLst/>
          </a:prstGeom>
          <a:noFill/>
          <a:ln/>
        </p:spPr>
        <p:txBody>
          <a:bodyPr wrap="square" lIns="0" tIns="0" rIns="0" bIns="0" rtlCol="0" anchor="t">
            <a:spAutoFit/>
          </a:bodyPr>
          <a:lstStyle/>
          <a:p>
            <a:pPr marL="0" indent="0" algn="l">
              <a:lnSpc>
                <a:spcPct val="96000"/>
              </a:lnSpc>
              <a:buNone/>
            </a:pPr>
            <a:r>
              <a:rPr lang="en-US" sz="2700" dirty="0">
                <a:solidFill>
                  <a:srgbClr val="000000"/>
                </a:solidFill>
                <a:latin typeface="SourceHanSansSC-Heavy"/>
                <a:ea typeface="SourceHanSansSC-Heavy"/>
                <a:cs typeface="SourceHanSansSC-Heavy"/>
              </a:rPr>
              <a:t>07</a:t>
            </a:r>
            <a:endParaRPr lang="en-US" sz="27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2" name="Image 0" descr="//img.tukuppt.com/aippt_uploads/34576449/25/07/03/6866a18678cda.png!/fwfh2/960x960"/>
          <p:cNvPicPr>
            <a:picLocks noChangeAspect="1"/>
          </p:cNvPicPr>
          <p:nvPr/>
        </p:nvPicPr>
        <p:blipFill>
          <a:blip r:embed="rId3"/>
          <a:stretch>
            <a:fillRect/>
          </a:stretch>
        </p:blipFill>
        <p:spPr>
          <a:xfrm>
            <a:off x="0" y="0"/>
            <a:ext cx="9140180" cy="5131830"/>
          </a:xfrm>
          <a:prstGeom prst="rect">
            <a:avLst/>
          </a:prstGeom>
        </p:spPr>
      </p:pic>
      <p:sp>
        <p:nvSpPr>
          <p:cNvPr id="3" name="Shape 0"/>
          <p:cNvSpPr/>
          <p:nvPr/>
        </p:nvSpPr>
        <p:spPr>
          <a:xfrm>
            <a:off x="979384" y="287863"/>
            <a:ext cx="2872893" cy="412023"/>
          </a:xfrm>
          <a:custGeom>
            <a:avLst/>
            <a:gdLst/>
            <a:ahLst/>
            <a:cxnLst/>
            <a:rect l="l" t="t" r="r" b="b"/>
            <a:pathLst>
              <a:path w="2872893" h="412023">
                <a:moveTo>
                  <a:pt x="68568" y="0"/>
                </a:moveTo>
                <a:lnTo>
                  <a:pt x="2803673" y="0"/>
                </a:lnTo>
                <a:cubicBezTo>
                  <a:pt x="2841542" y="0"/>
                  <a:pt x="2872241" y="30699"/>
                  <a:pt x="2872241" y="68568"/>
                </a:cubicBezTo>
                <a:lnTo>
                  <a:pt x="2872241" y="342840"/>
                </a:lnTo>
                <a:cubicBezTo>
                  <a:pt x="2872241" y="380710"/>
                  <a:pt x="2841542" y="411409"/>
                  <a:pt x="2803673" y="411409"/>
                </a:cubicBezTo>
                <a:lnTo>
                  <a:pt x="68568" y="411409"/>
                </a:lnTo>
                <a:cubicBezTo>
                  <a:pt x="30699" y="411409"/>
                  <a:pt x="0" y="380710"/>
                  <a:pt x="0" y="342840"/>
                </a:cubicBezTo>
                <a:lnTo>
                  <a:pt x="0" y="68568"/>
                </a:lnTo>
                <a:cubicBezTo>
                  <a:pt x="0" y="30724"/>
                  <a:pt x="30724" y="0"/>
                  <a:pt x="68568" y="0"/>
                </a:cubicBezTo>
                <a:close/>
              </a:path>
            </a:pathLst>
          </a:custGeom>
          <a:solidFill>
            <a:srgbClr val="0067B4"/>
          </a:solidFill>
          <a:ln/>
          <a:effectLst>
            <a:outerShdw dist="38093" dir="2700000" algn="bl" rotWithShape="0">
              <a:srgbClr val="000000">
                <a:alpha val="38824"/>
              </a:srgbClr>
            </a:outerShdw>
          </a:effectLst>
        </p:spPr>
      </p:sp>
      <p:sp>
        <p:nvSpPr>
          <p:cNvPr id="4" name="Shape 1"/>
          <p:cNvSpPr/>
          <p:nvPr/>
        </p:nvSpPr>
        <p:spPr>
          <a:xfrm>
            <a:off x="1188456" y="329442"/>
            <a:ext cx="2735844" cy="339064"/>
          </a:xfrm>
          <a:custGeom>
            <a:avLst/>
            <a:gdLst/>
            <a:ahLst/>
            <a:cxnLst/>
            <a:rect l="l" t="t" r="r" b="b"/>
            <a:pathLst>
              <a:path w="2735844" h="339064">
                <a:moveTo>
                  <a:pt x="0" y="0"/>
                </a:moveTo>
                <a:lnTo>
                  <a:pt x="2735844" y="0"/>
                </a:lnTo>
                <a:lnTo>
                  <a:pt x="2735844" y="339064"/>
                </a:lnTo>
                <a:lnTo>
                  <a:pt x="0" y="339064"/>
                </a:lnTo>
                <a:close/>
              </a:path>
            </a:pathLst>
          </a:custGeom>
          <a:noFill/>
          <a:ln/>
        </p:spPr>
      </p:sp>
      <p:sp>
        <p:nvSpPr>
          <p:cNvPr id="5" name="Text 2"/>
          <p:cNvSpPr txBox="1"/>
          <p:nvPr/>
        </p:nvSpPr>
        <p:spPr>
          <a:xfrm>
            <a:off x="1188456" y="329442"/>
            <a:ext cx="2735844" cy="339064"/>
          </a:xfrm>
          <a:prstGeom prst="rect">
            <a:avLst/>
          </a:prstGeom>
          <a:noFill/>
          <a:ln/>
        </p:spPr>
        <p:txBody>
          <a:bodyPr wrap="square" lIns="1252" tIns="653" rIns="1252" bIns="653" rtlCol="0" anchor="t">
            <a:spAutoFit/>
          </a:bodyPr>
          <a:lstStyle/>
          <a:p>
            <a:pPr marL="0" indent="0" algn="l">
              <a:buNone/>
            </a:pPr>
            <a:r>
              <a:rPr lang="zh-CN" altLang="en-US" sz="1601" dirty="0">
                <a:solidFill>
                  <a:srgbClr val="64CBFF"/>
                </a:solidFill>
                <a:latin typeface="SourceHanSansSC-Medium"/>
                <a:ea typeface="SourceHanSansSC-Medium"/>
                <a:cs typeface="SourceHanSansSC-Medium"/>
              </a:rPr>
              <a:t>特殊订单定义</a:t>
            </a:r>
            <a:endParaRPr lang="en-US" sz="1601" dirty="0"/>
          </a:p>
        </p:txBody>
      </p:sp>
      <p:sp>
        <p:nvSpPr>
          <p:cNvPr id="6" name="Shape 3"/>
          <p:cNvSpPr/>
          <p:nvPr/>
        </p:nvSpPr>
        <p:spPr>
          <a:xfrm>
            <a:off x="471488" y="198466"/>
            <a:ext cx="461756" cy="542999"/>
          </a:xfrm>
          <a:custGeom>
            <a:avLst/>
            <a:gdLst/>
            <a:ahLst/>
            <a:cxnLst/>
            <a:rect l="l" t="t" r="r" b="b"/>
            <a:pathLst>
              <a:path w="461756" h="542999">
                <a:moveTo>
                  <a:pt x="77457" y="0"/>
                </a:moveTo>
                <a:lnTo>
                  <a:pt x="384743" y="0"/>
                </a:lnTo>
                <a:cubicBezTo>
                  <a:pt x="427521" y="0"/>
                  <a:pt x="462200" y="34678"/>
                  <a:pt x="462200" y="77457"/>
                </a:cubicBezTo>
                <a:lnTo>
                  <a:pt x="462200" y="466009"/>
                </a:lnTo>
                <a:cubicBezTo>
                  <a:pt x="462200" y="508787"/>
                  <a:pt x="427521" y="543466"/>
                  <a:pt x="384743" y="543466"/>
                </a:cubicBezTo>
                <a:lnTo>
                  <a:pt x="77457" y="543466"/>
                </a:lnTo>
                <a:cubicBezTo>
                  <a:pt x="34678" y="543466"/>
                  <a:pt x="0" y="508787"/>
                  <a:pt x="0" y="466009"/>
                </a:cubicBezTo>
                <a:lnTo>
                  <a:pt x="0" y="77457"/>
                </a:lnTo>
                <a:cubicBezTo>
                  <a:pt x="0" y="34678"/>
                  <a:pt x="34678" y="0"/>
                  <a:pt x="77457" y="0"/>
                </a:cubicBezTo>
                <a:close/>
              </a:path>
            </a:pathLst>
          </a:custGeom>
          <a:solidFill>
            <a:srgbClr val="0067B4"/>
          </a:solidFill>
          <a:ln/>
          <a:effectLst>
            <a:outerShdw dist="38093" dir="2700000" algn="bl" rotWithShape="0">
              <a:srgbClr val="000000">
                <a:alpha val="38824"/>
              </a:srgbClr>
            </a:outerShdw>
          </a:effectLst>
        </p:spPr>
      </p:sp>
      <p:sp>
        <p:nvSpPr>
          <p:cNvPr id="7" name="Shape 4"/>
          <p:cNvSpPr/>
          <p:nvPr/>
        </p:nvSpPr>
        <p:spPr>
          <a:xfrm>
            <a:off x="482166" y="206110"/>
            <a:ext cx="433263" cy="535355"/>
          </a:xfrm>
          <a:custGeom>
            <a:avLst/>
            <a:gdLst/>
            <a:ahLst/>
            <a:cxnLst/>
            <a:rect l="l" t="t" r="r" b="b"/>
            <a:pathLst>
              <a:path w="433263" h="535355">
                <a:moveTo>
                  <a:pt x="73647" y="0"/>
                </a:moveTo>
                <a:lnTo>
                  <a:pt x="366966" y="0"/>
                </a:lnTo>
                <a:cubicBezTo>
                  <a:pt x="396171" y="0"/>
                  <a:pt x="421567" y="15237"/>
                  <a:pt x="432995" y="35554"/>
                </a:cubicBezTo>
                <a:cubicBezTo>
                  <a:pt x="186658" y="119359"/>
                  <a:pt x="11428" y="311096"/>
                  <a:pt x="1270" y="535847"/>
                </a:cubicBezTo>
                <a:cubicBezTo>
                  <a:pt x="0" y="533307"/>
                  <a:pt x="0" y="532038"/>
                  <a:pt x="0" y="529498"/>
                </a:cubicBezTo>
                <a:lnTo>
                  <a:pt x="0" y="60949"/>
                </a:lnTo>
                <a:cubicBezTo>
                  <a:pt x="0" y="26665"/>
                  <a:pt x="33014" y="0"/>
                  <a:pt x="73647" y="0"/>
                </a:cubicBezTo>
                <a:close/>
              </a:path>
            </a:pathLst>
          </a:custGeom>
          <a:gradFill>
            <a:gsLst>
              <a:gs pos="0">
                <a:srgbClr val="64CBFF">
                  <a:alpha val="34902"/>
                </a:srgbClr>
              </a:gs>
              <a:gs pos="100000">
                <a:srgbClr val="2F5897">
                  <a:alpha val="100000"/>
                </a:srgbClr>
              </a:gs>
            </a:gsLst>
            <a:lin ang="1200000" scaled="1"/>
          </a:gradFill>
          <a:ln/>
        </p:spPr>
      </p:sp>
      <p:pic>
        <p:nvPicPr>
          <p:cNvPr id="8" name="Image 1" descr="//img.tukuppt.com/aippt_tpl_uploads/25/07/01/686397e7ae4cf.png"/>
          <p:cNvPicPr>
            <a:picLocks noChangeAspect="1"/>
          </p:cNvPicPr>
          <p:nvPr/>
        </p:nvPicPr>
        <p:blipFill>
          <a:blip r:embed="rId4"/>
          <a:srcRect/>
          <a:stretch/>
        </p:blipFill>
        <p:spPr>
          <a:xfrm flipH="1">
            <a:off x="787710" y="346921"/>
            <a:ext cx="255659" cy="98905"/>
          </a:xfrm>
          <a:prstGeom prst="rect">
            <a:avLst/>
          </a:prstGeom>
        </p:spPr>
      </p:pic>
      <p:pic>
        <p:nvPicPr>
          <p:cNvPr id="9" name="Image 2" descr="//img.tukuppt.com/aippt_tpl_uploads/25/07/01/686397e7ae4cf.png"/>
          <p:cNvPicPr>
            <a:picLocks noChangeAspect="1"/>
          </p:cNvPicPr>
          <p:nvPr/>
        </p:nvPicPr>
        <p:blipFill>
          <a:blip r:embed="rId4"/>
          <a:srcRect/>
          <a:stretch/>
        </p:blipFill>
        <p:spPr>
          <a:xfrm flipH="1">
            <a:off x="787710" y="549201"/>
            <a:ext cx="255659" cy="98905"/>
          </a:xfrm>
          <a:prstGeom prst="rect">
            <a:avLst/>
          </a:prstGeom>
        </p:spPr>
      </p:pic>
      <p:pic>
        <p:nvPicPr>
          <p:cNvPr id="10" name="Image 3" descr="//img.tukuppt.com/aippt_tpl_uploads/25/07/01/686397e7b8f81.png"/>
          <p:cNvPicPr>
            <a:picLocks noChangeAspect="1"/>
          </p:cNvPicPr>
          <p:nvPr/>
        </p:nvPicPr>
        <p:blipFill>
          <a:blip r:embed="rId5"/>
          <a:srcRect/>
          <a:stretch/>
        </p:blipFill>
        <p:spPr>
          <a:xfrm>
            <a:off x="539206" y="312920"/>
            <a:ext cx="321318" cy="321734"/>
          </a:xfrm>
          <a:prstGeom prst="rect">
            <a:avLst/>
          </a:prstGeom>
        </p:spPr>
      </p:pic>
      <p:pic>
        <p:nvPicPr>
          <p:cNvPr id="11" name="Image 4" descr="//img.tukuppt.com/aippt_tpl_uploads/25/07/01/686397e7af1a3.png!/fwfh2/960x960"/>
          <p:cNvPicPr>
            <a:picLocks noChangeAspect="1"/>
          </p:cNvPicPr>
          <p:nvPr/>
        </p:nvPicPr>
        <p:blipFill>
          <a:blip r:embed="rId6"/>
          <a:srcRect l="36452" t="56544" b="34700"/>
          <a:stretch/>
        </p:blipFill>
        <p:spPr>
          <a:xfrm>
            <a:off x="-4836" y="-812736"/>
            <a:ext cx="9148837" cy="1019042"/>
          </a:xfrm>
          <a:prstGeom prst="rect">
            <a:avLst/>
          </a:prstGeom>
        </p:spPr>
      </p:pic>
      <p:pic>
        <p:nvPicPr>
          <p:cNvPr id="12" name="Image 5" descr="//img.tukuppt.com/aippt_tpl_uploads/25/07/01/686397e7af1a3.png!/fwfh2/960x960"/>
          <p:cNvPicPr>
            <a:picLocks noChangeAspect="1"/>
          </p:cNvPicPr>
          <p:nvPr/>
        </p:nvPicPr>
        <p:blipFill>
          <a:blip r:embed="rId6"/>
          <a:srcRect l="36452" t="56544" b="34700"/>
          <a:stretch/>
        </p:blipFill>
        <p:spPr>
          <a:xfrm>
            <a:off x="-61352" y="4937888"/>
            <a:ext cx="9313872" cy="1019042"/>
          </a:xfrm>
          <a:prstGeom prst="rect">
            <a:avLst/>
          </a:prstGeom>
        </p:spPr>
      </p:pic>
      <p:sp>
        <p:nvSpPr>
          <p:cNvPr id="13" name="Shape 5"/>
          <p:cNvSpPr/>
          <p:nvPr/>
        </p:nvSpPr>
        <p:spPr>
          <a:xfrm>
            <a:off x="4445441" y="1421483"/>
            <a:ext cx="3743757" cy="2666177"/>
          </a:xfrm>
          <a:custGeom>
            <a:avLst/>
            <a:gdLst/>
            <a:ahLst/>
            <a:cxnLst/>
            <a:rect l="l" t="t" r="r" b="b"/>
            <a:pathLst>
              <a:path w="3743757" h="2666177">
                <a:moveTo>
                  <a:pt x="0" y="0"/>
                </a:moveTo>
                <a:lnTo>
                  <a:pt x="3743757" y="0"/>
                </a:lnTo>
                <a:lnTo>
                  <a:pt x="3743757" y="2666177"/>
                </a:lnTo>
                <a:lnTo>
                  <a:pt x="0" y="2666177"/>
                </a:lnTo>
                <a:close/>
              </a:path>
            </a:pathLst>
          </a:custGeom>
          <a:solidFill>
            <a:srgbClr val="E8E8E8">
              <a:alpha val="80000"/>
            </a:srgbClr>
          </a:solidFill>
          <a:ln/>
        </p:spPr>
      </p:sp>
      <p:sp>
        <p:nvSpPr>
          <p:cNvPr id="14" name="Text 6"/>
          <p:cNvSpPr txBox="1"/>
          <p:nvPr/>
        </p:nvSpPr>
        <p:spPr>
          <a:xfrm>
            <a:off x="4737572" y="2548404"/>
            <a:ext cx="3066900" cy="439051"/>
          </a:xfrm>
          <a:prstGeom prst="rect">
            <a:avLst/>
          </a:prstGeom>
          <a:noFill/>
          <a:ln/>
        </p:spPr>
        <p:txBody>
          <a:bodyPr wrap="square" lIns="0" tIns="0" rIns="0" bIns="0" rtlCol="0" anchor="ctr">
            <a:spAutoFit/>
          </a:bodyPr>
          <a:lstStyle/>
          <a:p>
            <a:pPr marL="0" indent="0" algn="l">
              <a:buNone/>
            </a:pPr>
            <a:r>
              <a:rPr lang="zh-CN" altLang="en-US" sz="1350" dirty="0">
                <a:solidFill>
                  <a:srgbClr val="000000"/>
                </a:solidFill>
                <a:latin typeface="SourceHanSansSC-Regular"/>
                <a:ea typeface="SourceHanSansSC-Regular"/>
                <a:cs typeface="SourceHanSansSC-Regular"/>
              </a:rPr>
              <a:t>订单性质</a:t>
            </a:r>
            <a:endParaRPr lang="en-US" sz="1350" dirty="0"/>
          </a:p>
        </p:txBody>
      </p:sp>
      <p:sp>
        <p:nvSpPr>
          <p:cNvPr id="15" name="Text 7"/>
          <p:cNvSpPr txBox="1"/>
          <p:nvPr/>
        </p:nvSpPr>
        <p:spPr>
          <a:xfrm>
            <a:off x="4731563" y="3053229"/>
            <a:ext cx="3127077" cy="703895"/>
          </a:xfrm>
          <a:prstGeom prst="rect">
            <a:avLst/>
          </a:prstGeom>
          <a:noFill/>
          <a:ln/>
        </p:spPr>
        <p:txBody>
          <a:bodyPr wrap="square" lIns="0" tIns="0" rIns="0" bIns="0" rtlCol="0" anchor="t">
            <a:spAutoFit/>
          </a:bodyPr>
          <a:lstStyle/>
          <a:p>
            <a:pPr marL="0" indent="0" algn="l">
              <a:buNone/>
            </a:pPr>
            <a:r>
              <a:rPr lang="zh-CN" altLang="en-US" sz="900" dirty="0">
                <a:solidFill>
                  <a:srgbClr val="000000"/>
                </a:solidFill>
                <a:latin typeface="SourceHanSansSC-Regular"/>
                <a:ea typeface="SourceHanSansSC-Regular"/>
                <a:cs typeface="SourceHanSansSC-Regular"/>
              </a:rPr>
              <a:t>特殊订单是指一次性的订单，不被视为公司正常持续业务的一部分。在分析特殊订单时，只有增量成本和收益是相关的。</a:t>
            </a:r>
            <a:endParaRPr lang="en-US" sz="900" dirty="0"/>
          </a:p>
        </p:txBody>
      </p:sp>
      <p:pic>
        <p:nvPicPr>
          <p:cNvPr id="16" name="Image 6"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632274" y="1751812"/>
            <a:ext cx="654050" cy="654050"/>
          </a:xfrm>
          <a:prstGeom prst="rect">
            <a:avLst/>
          </a:prstGeom>
        </p:spPr>
      </p:pic>
      <p:sp>
        <p:nvSpPr>
          <p:cNvPr id="17" name="Shape 8"/>
          <p:cNvSpPr/>
          <p:nvPr/>
        </p:nvSpPr>
        <p:spPr>
          <a:xfrm>
            <a:off x="767601" y="1421483"/>
            <a:ext cx="3721539" cy="2655068"/>
          </a:xfrm>
          <a:custGeom>
            <a:avLst/>
            <a:gdLst/>
            <a:ahLst/>
            <a:cxnLst/>
            <a:rect l="l" t="t" r="r" b="b"/>
            <a:pathLst>
              <a:path w="3721539" h="2655068">
                <a:moveTo>
                  <a:pt x="0" y="0"/>
                </a:moveTo>
                <a:lnTo>
                  <a:pt x="3721539" y="0"/>
                </a:lnTo>
                <a:lnTo>
                  <a:pt x="3721539" y="2655068"/>
                </a:lnTo>
                <a:lnTo>
                  <a:pt x="0" y="2655068"/>
                </a:lnTo>
                <a:close/>
              </a:path>
            </a:pathLst>
          </a:custGeom>
          <a:blipFill rotWithShape="0">
            <a:blip r:embed="rId9">
              <a:alphaModFix/>
            </a:blip>
            <a:stretch>
              <a:fillRect l="-3953" r="-3953"/>
            </a:stretch>
          </a:blipFill>
          <a:ln/>
        </p:spPr>
      </p:sp>
      <p:sp>
        <p:nvSpPr>
          <p:cNvPr id="18" name="Shape 9"/>
          <p:cNvSpPr/>
          <p:nvPr/>
        </p:nvSpPr>
        <p:spPr>
          <a:xfrm>
            <a:off x="7967017" y="3865479"/>
            <a:ext cx="444363" cy="444363"/>
          </a:xfrm>
          <a:custGeom>
            <a:avLst/>
            <a:gdLst/>
            <a:ahLst/>
            <a:cxnLst/>
            <a:rect l="l" t="t" r="r" b="b"/>
            <a:pathLst>
              <a:path w="444363" h="444363">
                <a:moveTo>
                  <a:pt x="0" y="0"/>
                </a:moveTo>
                <a:lnTo>
                  <a:pt x="444363" y="0"/>
                </a:lnTo>
                <a:lnTo>
                  <a:pt x="444363" y="444363"/>
                </a:lnTo>
                <a:lnTo>
                  <a:pt x="0" y="444363"/>
                </a:lnTo>
                <a:close/>
              </a:path>
            </a:pathLst>
          </a:custGeom>
          <a:solidFill>
            <a:srgbClr val="0067B4"/>
          </a:solidFill>
          <a:ln/>
        </p:spPr>
      </p:sp>
      <p:sp>
        <p:nvSpPr>
          <p:cNvPr id="19" name="Shape 10"/>
          <p:cNvSpPr/>
          <p:nvPr/>
        </p:nvSpPr>
        <p:spPr>
          <a:xfrm>
            <a:off x="7895631" y="4160692"/>
            <a:ext cx="211072" cy="211072"/>
          </a:xfrm>
          <a:custGeom>
            <a:avLst/>
            <a:gdLst/>
            <a:ahLst/>
            <a:cxnLst/>
            <a:rect l="l" t="t" r="r" b="b"/>
            <a:pathLst>
              <a:path w="211072" h="211072">
                <a:moveTo>
                  <a:pt x="0" y="0"/>
                </a:moveTo>
                <a:lnTo>
                  <a:pt x="211072" y="0"/>
                </a:lnTo>
                <a:lnTo>
                  <a:pt x="211072" y="211072"/>
                </a:lnTo>
                <a:lnTo>
                  <a:pt x="0" y="211072"/>
                </a:lnTo>
                <a:close/>
              </a:path>
            </a:pathLst>
          </a:custGeom>
          <a:noFill/>
          <a:ln w="9525">
            <a:solidFill>
              <a:srgbClr val="0067B4"/>
            </a:solidFill>
            <a:prstDash val="solid"/>
          </a:ln>
        </p:spPr>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pic>
        <p:nvPicPr>
          <p:cNvPr id="2" name="Image 0" descr="//img.tukuppt.com/aippt_uploads/34576449/25/07/03/6866a18678cda.png!/fwfh2/960x960"/>
          <p:cNvPicPr>
            <a:picLocks noChangeAspect="1"/>
          </p:cNvPicPr>
          <p:nvPr/>
        </p:nvPicPr>
        <p:blipFill>
          <a:blip r:embed="rId3"/>
          <a:stretch>
            <a:fillRect/>
          </a:stretch>
        </p:blipFill>
        <p:spPr>
          <a:xfrm>
            <a:off x="0" y="0"/>
            <a:ext cx="9140180" cy="5131830"/>
          </a:xfrm>
          <a:prstGeom prst="rect">
            <a:avLst/>
          </a:prstGeom>
        </p:spPr>
      </p:pic>
      <p:sp>
        <p:nvSpPr>
          <p:cNvPr id="3" name="Shape 0"/>
          <p:cNvSpPr/>
          <p:nvPr/>
        </p:nvSpPr>
        <p:spPr>
          <a:xfrm>
            <a:off x="979384" y="287863"/>
            <a:ext cx="2872893" cy="412023"/>
          </a:xfrm>
          <a:custGeom>
            <a:avLst/>
            <a:gdLst/>
            <a:ahLst/>
            <a:cxnLst/>
            <a:rect l="l" t="t" r="r" b="b"/>
            <a:pathLst>
              <a:path w="2872893" h="412023">
                <a:moveTo>
                  <a:pt x="68568" y="0"/>
                </a:moveTo>
                <a:lnTo>
                  <a:pt x="2803673" y="0"/>
                </a:lnTo>
                <a:cubicBezTo>
                  <a:pt x="2841542" y="0"/>
                  <a:pt x="2872241" y="30699"/>
                  <a:pt x="2872241" y="68568"/>
                </a:cubicBezTo>
                <a:lnTo>
                  <a:pt x="2872241" y="342840"/>
                </a:lnTo>
                <a:cubicBezTo>
                  <a:pt x="2872241" y="380710"/>
                  <a:pt x="2841542" y="411409"/>
                  <a:pt x="2803673" y="411409"/>
                </a:cubicBezTo>
                <a:lnTo>
                  <a:pt x="68568" y="411409"/>
                </a:lnTo>
                <a:cubicBezTo>
                  <a:pt x="30699" y="411409"/>
                  <a:pt x="0" y="380710"/>
                  <a:pt x="0" y="342840"/>
                </a:cubicBezTo>
                <a:lnTo>
                  <a:pt x="0" y="68568"/>
                </a:lnTo>
                <a:cubicBezTo>
                  <a:pt x="0" y="30724"/>
                  <a:pt x="30724" y="0"/>
                  <a:pt x="68568" y="0"/>
                </a:cubicBezTo>
                <a:close/>
              </a:path>
            </a:pathLst>
          </a:custGeom>
          <a:solidFill>
            <a:srgbClr val="0067B4"/>
          </a:solidFill>
          <a:ln/>
          <a:effectLst>
            <a:outerShdw dist="38093" dir="2700000" algn="bl" rotWithShape="0">
              <a:srgbClr val="000000">
                <a:alpha val="38824"/>
              </a:srgbClr>
            </a:outerShdw>
          </a:effectLst>
        </p:spPr>
      </p:sp>
      <p:sp>
        <p:nvSpPr>
          <p:cNvPr id="4" name="Shape 1"/>
          <p:cNvSpPr/>
          <p:nvPr/>
        </p:nvSpPr>
        <p:spPr>
          <a:xfrm>
            <a:off x="1188456" y="329442"/>
            <a:ext cx="2735844" cy="339064"/>
          </a:xfrm>
          <a:custGeom>
            <a:avLst/>
            <a:gdLst/>
            <a:ahLst/>
            <a:cxnLst/>
            <a:rect l="l" t="t" r="r" b="b"/>
            <a:pathLst>
              <a:path w="2735844" h="339064">
                <a:moveTo>
                  <a:pt x="0" y="0"/>
                </a:moveTo>
                <a:lnTo>
                  <a:pt x="2735844" y="0"/>
                </a:lnTo>
                <a:lnTo>
                  <a:pt x="2735844" y="339064"/>
                </a:lnTo>
                <a:lnTo>
                  <a:pt x="0" y="339064"/>
                </a:lnTo>
                <a:close/>
              </a:path>
            </a:pathLst>
          </a:custGeom>
          <a:noFill/>
          <a:ln/>
        </p:spPr>
      </p:sp>
      <p:sp>
        <p:nvSpPr>
          <p:cNvPr id="5" name="Text 2"/>
          <p:cNvSpPr txBox="1"/>
          <p:nvPr/>
        </p:nvSpPr>
        <p:spPr>
          <a:xfrm>
            <a:off x="1188456" y="329442"/>
            <a:ext cx="2735844" cy="339064"/>
          </a:xfrm>
          <a:prstGeom prst="rect">
            <a:avLst/>
          </a:prstGeom>
          <a:noFill/>
          <a:ln/>
        </p:spPr>
        <p:txBody>
          <a:bodyPr wrap="square" lIns="1252" tIns="653" rIns="1252" bIns="653" rtlCol="0" anchor="t">
            <a:spAutoFit/>
          </a:bodyPr>
          <a:lstStyle/>
          <a:p>
            <a:pPr marL="0" indent="0" algn="l">
              <a:buNone/>
            </a:pPr>
            <a:r>
              <a:rPr lang="zh-CN" altLang="en-US" sz="1601" dirty="0">
                <a:solidFill>
                  <a:srgbClr val="64CBFF"/>
                </a:solidFill>
                <a:latin typeface="SourceHanSansSC-Medium"/>
                <a:ea typeface="SourceHanSansSC-Medium"/>
                <a:cs typeface="SourceHanSansSC-Medium"/>
              </a:rPr>
              <a:t>案例分析：Jet公司</a:t>
            </a:r>
            <a:endParaRPr lang="en-US" sz="1601" dirty="0"/>
          </a:p>
        </p:txBody>
      </p:sp>
      <p:sp>
        <p:nvSpPr>
          <p:cNvPr id="6" name="Shape 3"/>
          <p:cNvSpPr/>
          <p:nvPr/>
        </p:nvSpPr>
        <p:spPr>
          <a:xfrm>
            <a:off x="471488" y="198466"/>
            <a:ext cx="461756" cy="542999"/>
          </a:xfrm>
          <a:custGeom>
            <a:avLst/>
            <a:gdLst/>
            <a:ahLst/>
            <a:cxnLst/>
            <a:rect l="l" t="t" r="r" b="b"/>
            <a:pathLst>
              <a:path w="461756" h="542999">
                <a:moveTo>
                  <a:pt x="77457" y="0"/>
                </a:moveTo>
                <a:lnTo>
                  <a:pt x="384743" y="0"/>
                </a:lnTo>
                <a:cubicBezTo>
                  <a:pt x="427521" y="0"/>
                  <a:pt x="462200" y="34678"/>
                  <a:pt x="462200" y="77457"/>
                </a:cubicBezTo>
                <a:lnTo>
                  <a:pt x="462200" y="466009"/>
                </a:lnTo>
                <a:cubicBezTo>
                  <a:pt x="462200" y="508787"/>
                  <a:pt x="427521" y="543466"/>
                  <a:pt x="384743" y="543466"/>
                </a:cubicBezTo>
                <a:lnTo>
                  <a:pt x="77457" y="543466"/>
                </a:lnTo>
                <a:cubicBezTo>
                  <a:pt x="34678" y="543466"/>
                  <a:pt x="0" y="508787"/>
                  <a:pt x="0" y="466009"/>
                </a:cubicBezTo>
                <a:lnTo>
                  <a:pt x="0" y="77457"/>
                </a:lnTo>
                <a:cubicBezTo>
                  <a:pt x="0" y="34678"/>
                  <a:pt x="34678" y="0"/>
                  <a:pt x="77457" y="0"/>
                </a:cubicBezTo>
                <a:close/>
              </a:path>
            </a:pathLst>
          </a:custGeom>
          <a:solidFill>
            <a:srgbClr val="0067B4"/>
          </a:solidFill>
          <a:ln/>
          <a:effectLst>
            <a:outerShdw dist="38093" dir="2700000" algn="bl" rotWithShape="0">
              <a:srgbClr val="000000">
                <a:alpha val="38824"/>
              </a:srgbClr>
            </a:outerShdw>
          </a:effectLst>
        </p:spPr>
      </p:sp>
      <p:sp>
        <p:nvSpPr>
          <p:cNvPr id="7" name="Shape 4"/>
          <p:cNvSpPr/>
          <p:nvPr/>
        </p:nvSpPr>
        <p:spPr>
          <a:xfrm>
            <a:off x="482166" y="206110"/>
            <a:ext cx="433263" cy="535355"/>
          </a:xfrm>
          <a:custGeom>
            <a:avLst/>
            <a:gdLst/>
            <a:ahLst/>
            <a:cxnLst/>
            <a:rect l="l" t="t" r="r" b="b"/>
            <a:pathLst>
              <a:path w="433263" h="535355">
                <a:moveTo>
                  <a:pt x="73647" y="0"/>
                </a:moveTo>
                <a:lnTo>
                  <a:pt x="366966" y="0"/>
                </a:lnTo>
                <a:cubicBezTo>
                  <a:pt x="396171" y="0"/>
                  <a:pt x="421567" y="15237"/>
                  <a:pt x="432995" y="35554"/>
                </a:cubicBezTo>
                <a:cubicBezTo>
                  <a:pt x="186658" y="119359"/>
                  <a:pt x="11428" y="311096"/>
                  <a:pt x="1270" y="535847"/>
                </a:cubicBezTo>
                <a:cubicBezTo>
                  <a:pt x="0" y="533307"/>
                  <a:pt x="0" y="532038"/>
                  <a:pt x="0" y="529498"/>
                </a:cubicBezTo>
                <a:lnTo>
                  <a:pt x="0" y="60949"/>
                </a:lnTo>
                <a:cubicBezTo>
                  <a:pt x="0" y="26665"/>
                  <a:pt x="33014" y="0"/>
                  <a:pt x="73647" y="0"/>
                </a:cubicBezTo>
                <a:close/>
              </a:path>
            </a:pathLst>
          </a:custGeom>
          <a:gradFill>
            <a:gsLst>
              <a:gs pos="0">
                <a:srgbClr val="64CBFF">
                  <a:alpha val="34902"/>
                </a:srgbClr>
              </a:gs>
              <a:gs pos="100000">
                <a:srgbClr val="2F5897">
                  <a:alpha val="100000"/>
                </a:srgbClr>
              </a:gs>
            </a:gsLst>
            <a:lin ang="1200000" scaled="1"/>
          </a:gradFill>
          <a:ln/>
        </p:spPr>
      </p:sp>
      <p:pic>
        <p:nvPicPr>
          <p:cNvPr id="8" name="Image 1" descr="//img.tukuppt.com/aippt_tpl_uploads/25/07/01/686397e7ae4cf.png"/>
          <p:cNvPicPr>
            <a:picLocks noChangeAspect="1"/>
          </p:cNvPicPr>
          <p:nvPr/>
        </p:nvPicPr>
        <p:blipFill>
          <a:blip r:embed="rId4"/>
          <a:srcRect/>
          <a:stretch/>
        </p:blipFill>
        <p:spPr>
          <a:xfrm flipH="1">
            <a:off x="787710" y="346921"/>
            <a:ext cx="255659" cy="98905"/>
          </a:xfrm>
          <a:prstGeom prst="rect">
            <a:avLst/>
          </a:prstGeom>
        </p:spPr>
      </p:pic>
      <p:pic>
        <p:nvPicPr>
          <p:cNvPr id="9" name="Image 2" descr="//img.tukuppt.com/aippt_tpl_uploads/25/07/01/686397e7ae4cf.png"/>
          <p:cNvPicPr>
            <a:picLocks noChangeAspect="1"/>
          </p:cNvPicPr>
          <p:nvPr/>
        </p:nvPicPr>
        <p:blipFill>
          <a:blip r:embed="rId4"/>
          <a:srcRect/>
          <a:stretch/>
        </p:blipFill>
        <p:spPr>
          <a:xfrm flipH="1">
            <a:off x="787710" y="549201"/>
            <a:ext cx="255659" cy="98905"/>
          </a:xfrm>
          <a:prstGeom prst="rect">
            <a:avLst/>
          </a:prstGeom>
        </p:spPr>
      </p:pic>
      <p:pic>
        <p:nvPicPr>
          <p:cNvPr id="10" name="Image 3" descr="//img.tukuppt.com/aippt_tpl_uploads/25/07/01/686397e7b8f81.png"/>
          <p:cNvPicPr>
            <a:picLocks noChangeAspect="1"/>
          </p:cNvPicPr>
          <p:nvPr/>
        </p:nvPicPr>
        <p:blipFill>
          <a:blip r:embed="rId5"/>
          <a:srcRect/>
          <a:stretch/>
        </p:blipFill>
        <p:spPr>
          <a:xfrm>
            <a:off x="539206" y="312920"/>
            <a:ext cx="321318" cy="321734"/>
          </a:xfrm>
          <a:prstGeom prst="rect">
            <a:avLst/>
          </a:prstGeom>
        </p:spPr>
      </p:pic>
      <p:pic>
        <p:nvPicPr>
          <p:cNvPr id="11" name="Image 4" descr="//img.tukuppt.com/aippt_tpl_uploads/25/07/01/686397e7af1a3.png!/fwfh2/960x960"/>
          <p:cNvPicPr>
            <a:picLocks noChangeAspect="1"/>
          </p:cNvPicPr>
          <p:nvPr/>
        </p:nvPicPr>
        <p:blipFill>
          <a:blip r:embed="rId6"/>
          <a:srcRect l="36452" t="56544" b="34700"/>
          <a:stretch/>
        </p:blipFill>
        <p:spPr>
          <a:xfrm>
            <a:off x="-4836" y="-812736"/>
            <a:ext cx="9148837" cy="1019042"/>
          </a:xfrm>
          <a:prstGeom prst="rect">
            <a:avLst/>
          </a:prstGeom>
        </p:spPr>
      </p:pic>
      <p:pic>
        <p:nvPicPr>
          <p:cNvPr id="12" name="Image 5" descr="//img.tukuppt.com/aippt_tpl_uploads/25/07/01/686397e7af1a3.png!/fwfh2/960x960"/>
          <p:cNvPicPr>
            <a:picLocks noChangeAspect="1"/>
          </p:cNvPicPr>
          <p:nvPr/>
        </p:nvPicPr>
        <p:blipFill>
          <a:blip r:embed="rId6"/>
          <a:srcRect l="36452" t="56544" b="34700"/>
          <a:stretch/>
        </p:blipFill>
        <p:spPr>
          <a:xfrm>
            <a:off x="-61352" y="4937888"/>
            <a:ext cx="9313872" cy="1019042"/>
          </a:xfrm>
          <a:prstGeom prst="rect">
            <a:avLst/>
          </a:prstGeom>
        </p:spPr>
      </p:pic>
      <p:sp>
        <p:nvSpPr>
          <p:cNvPr id="13" name="Shape 5"/>
          <p:cNvSpPr/>
          <p:nvPr/>
        </p:nvSpPr>
        <p:spPr>
          <a:xfrm>
            <a:off x="1207666" y="1486485"/>
            <a:ext cx="2598059" cy="2598059"/>
          </a:xfrm>
          <a:custGeom>
            <a:avLst/>
            <a:gdLst/>
            <a:ahLst/>
            <a:cxnLst/>
            <a:rect l="l" t="t" r="r" b="b"/>
            <a:pathLst>
              <a:path w="2598059" h="2598059">
                <a:moveTo>
                  <a:pt x="1299030" y="0"/>
                </a:moveTo>
                <a:cubicBezTo>
                  <a:pt x="2015984" y="0"/>
                  <a:pt x="2598059" y="582076"/>
                  <a:pt x="2598059" y="1299030"/>
                </a:cubicBezTo>
                <a:cubicBezTo>
                  <a:pt x="2598059" y="2015984"/>
                  <a:pt x="2015984" y="2598059"/>
                  <a:pt x="1299030" y="2598059"/>
                </a:cubicBezTo>
                <a:cubicBezTo>
                  <a:pt x="582076" y="2598059"/>
                  <a:pt x="0" y="2015984"/>
                  <a:pt x="0" y="1299030"/>
                </a:cubicBezTo>
                <a:cubicBezTo>
                  <a:pt x="0" y="582076"/>
                  <a:pt x="582076" y="0"/>
                  <a:pt x="1299030" y="0"/>
                </a:cubicBezTo>
                <a:close/>
              </a:path>
            </a:pathLst>
          </a:custGeom>
          <a:blipFill rotWithShape="0">
            <a:blip r:embed="rId7">
              <a:alphaModFix/>
            </a:blip>
            <a:stretch>
              <a:fillRect l="-25000" r="-25000"/>
            </a:stretch>
          </a:blipFill>
          <a:ln/>
        </p:spPr>
      </p:sp>
      <p:sp>
        <p:nvSpPr>
          <p:cNvPr id="14" name="Shape 6"/>
          <p:cNvSpPr/>
          <p:nvPr/>
        </p:nvSpPr>
        <p:spPr>
          <a:xfrm>
            <a:off x="1207666" y="1420711"/>
            <a:ext cx="730088" cy="730088"/>
          </a:xfrm>
          <a:custGeom>
            <a:avLst/>
            <a:gdLst/>
            <a:ahLst/>
            <a:cxnLst/>
            <a:rect l="l" t="t" r="r" b="b"/>
            <a:pathLst>
              <a:path w="730088" h="730088">
                <a:moveTo>
                  <a:pt x="365044" y="0"/>
                </a:moveTo>
                <a:cubicBezTo>
                  <a:pt x="566517" y="0"/>
                  <a:pt x="730088" y="163571"/>
                  <a:pt x="730088" y="365044"/>
                </a:cubicBezTo>
                <a:cubicBezTo>
                  <a:pt x="730088" y="566517"/>
                  <a:pt x="566517" y="730088"/>
                  <a:pt x="365044" y="730088"/>
                </a:cubicBezTo>
                <a:cubicBezTo>
                  <a:pt x="163571" y="730088"/>
                  <a:pt x="0" y="566517"/>
                  <a:pt x="0" y="365044"/>
                </a:cubicBezTo>
                <a:cubicBezTo>
                  <a:pt x="0" y="163571"/>
                  <a:pt x="163571" y="0"/>
                  <a:pt x="365044" y="0"/>
                </a:cubicBezTo>
                <a:close/>
              </a:path>
            </a:pathLst>
          </a:custGeom>
          <a:solidFill>
            <a:srgbClr val="0067B4"/>
          </a:solidFill>
          <a:ln/>
        </p:spPr>
      </p:sp>
      <p:sp>
        <p:nvSpPr>
          <p:cNvPr id="15" name="Shape 7"/>
          <p:cNvSpPr/>
          <p:nvPr/>
        </p:nvSpPr>
        <p:spPr>
          <a:xfrm>
            <a:off x="2973567" y="3781985"/>
            <a:ext cx="302559" cy="302559"/>
          </a:xfrm>
          <a:custGeom>
            <a:avLst/>
            <a:gdLst/>
            <a:ahLst/>
            <a:cxnLst/>
            <a:rect l="l" t="t" r="r" b="b"/>
            <a:pathLst>
              <a:path w="302559" h="302559">
                <a:moveTo>
                  <a:pt x="151279" y="0"/>
                </a:moveTo>
                <a:cubicBezTo>
                  <a:pt x="234773" y="0"/>
                  <a:pt x="302559" y="67786"/>
                  <a:pt x="302559" y="151279"/>
                </a:cubicBezTo>
                <a:cubicBezTo>
                  <a:pt x="302559" y="234773"/>
                  <a:pt x="234773" y="302559"/>
                  <a:pt x="151279" y="302559"/>
                </a:cubicBezTo>
                <a:cubicBezTo>
                  <a:pt x="67786" y="302559"/>
                  <a:pt x="0" y="234773"/>
                  <a:pt x="0" y="151279"/>
                </a:cubicBezTo>
                <a:cubicBezTo>
                  <a:pt x="0" y="67786"/>
                  <a:pt x="67786" y="0"/>
                  <a:pt x="151279" y="0"/>
                </a:cubicBezTo>
                <a:close/>
              </a:path>
            </a:pathLst>
          </a:custGeom>
          <a:solidFill>
            <a:srgbClr val="0067B4"/>
          </a:solidFill>
          <a:ln/>
        </p:spPr>
      </p:sp>
      <p:pic>
        <p:nvPicPr>
          <p:cNvPr id="16" name="Image 6"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400846" y="1613891"/>
            <a:ext cx="343728" cy="343728"/>
          </a:xfrm>
          <a:prstGeom prst="rect">
            <a:avLst/>
          </a:prstGeom>
        </p:spPr>
      </p:pic>
      <p:sp>
        <p:nvSpPr>
          <p:cNvPr id="17" name="Text 8"/>
          <p:cNvSpPr txBox="1"/>
          <p:nvPr/>
        </p:nvSpPr>
        <p:spPr>
          <a:xfrm>
            <a:off x="4595584" y="1106545"/>
            <a:ext cx="3252788" cy="507346"/>
          </a:xfrm>
          <a:prstGeom prst="rect">
            <a:avLst/>
          </a:prstGeom>
          <a:noFill/>
          <a:ln/>
        </p:spPr>
        <p:txBody>
          <a:bodyPr wrap="square" lIns="0" tIns="0" rIns="0" bIns="0" rtlCol="0" anchor="ctr">
            <a:spAutoFit/>
          </a:bodyPr>
          <a:lstStyle/>
          <a:p>
            <a:pPr marL="0" indent="0" algn="l">
              <a:buNone/>
            </a:pPr>
            <a:r>
              <a:rPr lang="zh-CN" altLang="en-US" sz="1350" b="1" dirty="0">
                <a:solidFill>
                  <a:srgbClr val="000000"/>
                </a:solidFill>
                <a:latin typeface="SourceHanSansSC-Regular"/>
                <a:ea typeface="SourceHanSansSC-Regular"/>
                <a:cs typeface="SourceHanSansSC-Regular"/>
              </a:rPr>
              <a:t>订单评估</a:t>
            </a:r>
            <a:endParaRPr lang="en-US" sz="1350" dirty="0"/>
          </a:p>
        </p:txBody>
      </p:sp>
      <p:sp>
        <p:nvSpPr>
          <p:cNvPr id="18" name="Text 9"/>
          <p:cNvSpPr txBox="1"/>
          <p:nvPr/>
        </p:nvSpPr>
        <p:spPr>
          <a:xfrm>
            <a:off x="4569582" y="1957113"/>
            <a:ext cx="4220411" cy="1723549"/>
          </a:xfrm>
          <a:prstGeom prst="rect">
            <a:avLst/>
          </a:prstGeom>
          <a:noFill/>
          <a:ln/>
        </p:spPr>
        <p:txBody>
          <a:bodyPr wrap="square" lIns="0" tIns="0" rIns="0" bIns="0" rtlCol="0" anchor="t">
            <a:spAutoFit/>
          </a:bodyPr>
          <a:lstStyle/>
          <a:p>
            <a:pPr>
              <a:spcBef>
                <a:spcPts val="600"/>
              </a:spcBef>
              <a:spcAft>
                <a:spcPts val="600"/>
              </a:spcAft>
              <a:buFont typeface="Arial" panose="020B0604020202020204" pitchFamily="34" charset="0"/>
              <a:buChar char="•"/>
            </a:pPr>
            <a:r>
              <a:rPr lang="en-US" altLang="zh-CN" sz="1200" dirty="0"/>
              <a:t>Jet </a:t>
            </a:r>
            <a:r>
              <a:rPr lang="zh-CN" altLang="en-US" sz="1200" dirty="0"/>
              <a:t>公司生产一种产品，其正常销售价格为每单位 </a:t>
            </a:r>
            <a:r>
              <a:rPr lang="en-US" altLang="zh-CN" sz="1200" dirty="0"/>
              <a:t>20 </a:t>
            </a:r>
            <a:r>
              <a:rPr lang="zh-CN" altLang="en-US" sz="1200" dirty="0"/>
              <a:t>美元。</a:t>
            </a:r>
          </a:p>
          <a:p>
            <a:pPr>
              <a:spcBef>
                <a:spcPts val="600"/>
              </a:spcBef>
              <a:spcAft>
                <a:spcPts val="600"/>
              </a:spcAft>
              <a:buFont typeface="Arial" panose="020B0604020202020204" pitchFamily="34" charset="0"/>
              <a:buChar char="•"/>
            </a:pPr>
            <a:r>
              <a:rPr lang="zh-CN" altLang="en-US" sz="1200" dirty="0"/>
              <a:t>一家外国经销商提出以每单位 </a:t>
            </a:r>
            <a:r>
              <a:rPr lang="en-US" altLang="zh-CN" sz="1200" dirty="0"/>
              <a:t>10 </a:t>
            </a:r>
            <a:r>
              <a:rPr lang="zh-CN" altLang="en-US" sz="1200" dirty="0"/>
              <a:t>美元的价格购买 </a:t>
            </a:r>
            <a:r>
              <a:rPr lang="en-US" altLang="zh-CN" sz="1200" dirty="0"/>
              <a:t>3,000 </a:t>
            </a:r>
            <a:r>
              <a:rPr lang="zh-CN" altLang="en-US" sz="1200" dirty="0"/>
              <a:t>单位。</a:t>
            </a:r>
          </a:p>
          <a:p>
            <a:pPr>
              <a:spcBef>
                <a:spcPts val="600"/>
              </a:spcBef>
              <a:spcAft>
                <a:spcPts val="600"/>
              </a:spcAft>
              <a:buFont typeface="Arial" panose="020B0604020202020204" pitchFamily="34" charset="0"/>
              <a:buChar char="•"/>
            </a:pPr>
            <a:r>
              <a:rPr lang="zh-CN" altLang="en-US" sz="1200" dirty="0"/>
              <a:t>这是一次性订单，不会影响公司的正常业务。</a:t>
            </a:r>
          </a:p>
          <a:p>
            <a:pPr>
              <a:spcBef>
                <a:spcPts val="600"/>
              </a:spcBef>
              <a:spcAft>
                <a:spcPts val="600"/>
              </a:spcAft>
              <a:buFont typeface="Arial" panose="020B0604020202020204" pitchFamily="34" charset="0"/>
              <a:buChar char="•"/>
            </a:pPr>
            <a:r>
              <a:rPr lang="zh-CN" altLang="en-US" sz="1200" dirty="0"/>
              <a:t>年产能为 </a:t>
            </a:r>
            <a:r>
              <a:rPr lang="en-US" altLang="zh-CN" sz="1200" dirty="0"/>
              <a:t>10,000 </a:t>
            </a:r>
            <a:r>
              <a:rPr lang="zh-CN" altLang="en-US" sz="1200" dirty="0"/>
              <a:t>单位，但 </a:t>
            </a:r>
            <a:r>
              <a:rPr lang="en-US" altLang="zh-CN" sz="1200" dirty="0"/>
              <a:t>Jet </a:t>
            </a:r>
            <a:r>
              <a:rPr lang="zh-CN" altLang="en-US" sz="1200" dirty="0"/>
              <a:t>公司目前仅生产和销售 </a:t>
            </a:r>
            <a:r>
              <a:rPr lang="en-US" altLang="zh-CN" sz="1200" dirty="0"/>
              <a:t>5,000 </a:t>
            </a:r>
            <a:r>
              <a:rPr lang="zh-CN" altLang="en-US" sz="1200" dirty="0"/>
              <a:t>单位。</a:t>
            </a:r>
          </a:p>
          <a:p>
            <a:pPr>
              <a:spcBef>
                <a:spcPts val="600"/>
              </a:spcBef>
              <a:spcAft>
                <a:spcPts val="600"/>
              </a:spcAft>
            </a:pPr>
            <a:r>
              <a:rPr lang="en-US" altLang="zh-CN" sz="1200" b="1" dirty="0"/>
              <a:t>Jet </a:t>
            </a:r>
            <a:r>
              <a:rPr lang="zh-CN" altLang="en-US" sz="1200" b="1" dirty="0"/>
              <a:t>是否应该接受该订单？</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0"/>
          <p:cNvSpPr/>
          <p:nvPr/>
        </p:nvSpPr>
        <p:spPr>
          <a:xfrm>
            <a:off x="979384" y="287863"/>
            <a:ext cx="2872893" cy="412023"/>
          </a:xfrm>
          <a:custGeom>
            <a:avLst/>
            <a:gdLst/>
            <a:ahLst/>
            <a:cxnLst/>
            <a:rect l="l" t="t" r="r" b="b"/>
            <a:pathLst>
              <a:path w="2872893" h="412023">
                <a:moveTo>
                  <a:pt x="68568" y="0"/>
                </a:moveTo>
                <a:lnTo>
                  <a:pt x="2803673" y="0"/>
                </a:lnTo>
                <a:cubicBezTo>
                  <a:pt x="2841542" y="0"/>
                  <a:pt x="2872241" y="30699"/>
                  <a:pt x="2872241" y="68568"/>
                </a:cubicBezTo>
                <a:lnTo>
                  <a:pt x="2872241" y="342840"/>
                </a:lnTo>
                <a:cubicBezTo>
                  <a:pt x="2872241" y="380710"/>
                  <a:pt x="2841542" y="411409"/>
                  <a:pt x="2803673" y="411409"/>
                </a:cubicBezTo>
                <a:lnTo>
                  <a:pt x="68568" y="411409"/>
                </a:lnTo>
                <a:cubicBezTo>
                  <a:pt x="30699" y="411409"/>
                  <a:pt x="0" y="380710"/>
                  <a:pt x="0" y="342840"/>
                </a:cubicBezTo>
                <a:lnTo>
                  <a:pt x="0" y="68568"/>
                </a:lnTo>
                <a:cubicBezTo>
                  <a:pt x="0" y="30724"/>
                  <a:pt x="30724" y="0"/>
                  <a:pt x="68568" y="0"/>
                </a:cubicBezTo>
                <a:close/>
              </a:path>
            </a:pathLst>
          </a:custGeom>
          <a:solidFill>
            <a:srgbClr val="0067B4"/>
          </a:solidFill>
          <a:ln/>
          <a:effectLst>
            <a:outerShdw dist="38093" dir="2700000" algn="bl" rotWithShape="0">
              <a:srgbClr val="000000">
                <a:alpha val="38824"/>
              </a:srgbClr>
            </a:outerShdw>
          </a:effectLst>
        </p:spPr>
      </p:sp>
      <p:sp>
        <p:nvSpPr>
          <p:cNvPr id="4" name="Shape 1"/>
          <p:cNvSpPr/>
          <p:nvPr/>
        </p:nvSpPr>
        <p:spPr>
          <a:xfrm>
            <a:off x="1188456" y="329442"/>
            <a:ext cx="2735844" cy="339064"/>
          </a:xfrm>
          <a:custGeom>
            <a:avLst/>
            <a:gdLst/>
            <a:ahLst/>
            <a:cxnLst/>
            <a:rect l="l" t="t" r="r" b="b"/>
            <a:pathLst>
              <a:path w="2735844" h="339064">
                <a:moveTo>
                  <a:pt x="0" y="0"/>
                </a:moveTo>
                <a:lnTo>
                  <a:pt x="2735844" y="0"/>
                </a:lnTo>
                <a:lnTo>
                  <a:pt x="2735844" y="339064"/>
                </a:lnTo>
                <a:lnTo>
                  <a:pt x="0" y="339064"/>
                </a:lnTo>
                <a:close/>
              </a:path>
            </a:pathLst>
          </a:custGeom>
          <a:noFill/>
          <a:ln/>
        </p:spPr>
      </p:sp>
      <p:sp>
        <p:nvSpPr>
          <p:cNvPr id="5" name="Text 2"/>
          <p:cNvSpPr txBox="1"/>
          <p:nvPr/>
        </p:nvSpPr>
        <p:spPr>
          <a:xfrm>
            <a:off x="1188456" y="329442"/>
            <a:ext cx="2735844" cy="339064"/>
          </a:xfrm>
          <a:prstGeom prst="rect">
            <a:avLst/>
          </a:prstGeom>
          <a:noFill/>
          <a:ln/>
        </p:spPr>
        <p:txBody>
          <a:bodyPr wrap="square" lIns="1252" tIns="653" rIns="1252" bIns="653" rtlCol="0" anchor="t">
            <a:spAutoFit/>
          </a:bodyPr>
          <a:lstStyle/>
          <a:p>
            <a:pPr marL="0" indent="0" algn="l">
              <a:buNone/>
            </a:pPr>
            <a:r>
              <a:rPr lang="zh-CN" altLang="en-US" sz="1601" dirty="0">
                <a:solidFill>
                  <a:srgbClr val="64CBFF"/>
                </a:solidFill>
                <a:latin typeface="SourceHanSansSC-Medium"/>
                <a:ea typeface="SourceHanSansSC-Medium"/>
                <a:cs typeface="SourceHanSansSC-Medium"/>
              </a:rPr>
              <a:t>案例分析：Jet公司</a:t>
            </a:r>
            <a:endParaRPr lang="en-US" sz="1601" dirty="0"/>
          </a:p>
        </p:txBody>
      </p:sp>
      <p:sp>
        <p:nvSpPr>
          <p:cNvPr id="6" name="Shape 3"/>
          <p:cNvSpPr/>
          <p:nvPr/>
        </p:nvSpPr>
        <p:spPr>
          <a:xfrm>
            <a:off x="471488" y="198466"/>
            <a:ext cx="461756" cy="542999"/>
          </a:xfrm>
          <a:custGeom>
            <a:avLst/>
            <a:gdLst/>
            <a:ahLst/>
            <a:cxnLst/>
            <a:rect l="l" t="t" r="r" b="b"/>
            <a:pathLst>
              <a:path w="461756" h="542999">
                <a:moveTo>
                  <a:pt x="77457" y="0"/>
                </a:moveTo>
                <a:lnTo>
                  <a:pt x="384743" y="0"/>
                </a:lnTo>
                <a:cubicBezTo>
                  <a:pt x="427521" y="0"/>
                  <a:pt x="462200" y="34678"/>
                  <a:pt x="462200" y="77457"/>
                </a:cubicBezTo>
                <a:lnTo>
                  <a:pt x="462200" y="466009"/>
                </a:lnTo>
                <a:cubicBezTo>
                  <a:pt x="462200" y="508787"/>
                  <a:pt x="427521" y="543466"/>
                  <a:pt x="384743" y="543466"/>
                </a:cubicBezTo>
                <a:lnTo>
                  <a:pt x="77457" y="543466"/>
                </a:lnTo>
                <a:cubicBezTo>
                  <a:pt x="34678" y="543466"/>
                  <a:pt x="0" y="508787"/>
                  <a:pt x="0" y="466009"/>
                </a:cubicBezTo>
                <a:lnTo>
                  <a:pt x="0" y="77457"/>
                </a:lnTo>
                <a:cubicBezTo>
                  <a:pt x="0" y="34678"/>
                  <a:pt x="34678" y="0"/>
                  <a:pt x="77457" y="0"/>
                </a:cubicBezTo>
                <a:close/>
              </a:path>
            </a:pathLst>
          </a:custGeom>
          <a:solidFill>
            <a:srgbClr val="0067B4"/>
          </a:solidFill>
          <a:ln/>
          <a:effectLst>
            <a:outerShdw dist="38093" dir="2700000" algn="bl" rotWithShape="0">
              <a:srgbClr val="000000">
                <a:alpha val="38824"/>
              </a:srgbClr>
            </a:outerShdw>
          </a:effectLst>
        </p:spPr>
      </p:sp>
      <p:sp>
        <p:nvSpPr>
          <p:cNvPr id="7" name="Shape 4"/>
          <p:cNvSpPr/>
          <p:nvPr/>
        </p:nvSpPr>
        <p:spPr>
          <a:xfrm>
            <a:off x="482166" y="206110"/>
            <a:ext cx="433263" cy="535355"/>
          </a:xfrm>
          <a:custGeom>
            <a:avLst/>
            <a:gdLst/>
            <a:ahLst/>
            <a:cxnLst/>
            <a:rect l="l" t="t" r="r" b="b"/>
            <a:pathLst>
              <a:path w="433263" h="535355">
                <a:moveTo>
                  <a:pt x="73647" y="0"/>
                </a:moveTo>
                <a:lnTo>
                  <a:pt x="366966" y="0"/>
                </a:lnTo>
                <a:cubicBezTo>
                  <a:pt x="396171" y="0"/>
                  <a:pt x="421567" y="15237"/>
                  <a:pt x="432995" y="35554"/>
                </a:cubicBezTo>
                <a:cubicBezTo>
                  <a:pt x="186658" y="119359"/>
                  <a:pt x="11428" y="311096"/>
                  <a:pt x="1270" y="535847"/>
                </a:cubicBezTo>
                <a:cubicBezTo>
                  <a:pt x="0" y="533307"/>
                  <a:pt x="0" y="532038"/>
                  <a:pt x="0" y="529498"/>
                </a:cubicBezTo>
                <a:lnTo>
                  <a:pt x="0" y="60949"/>
                </a:lnTo>
                <a:cubicBezTo>
                  <a:pt x="0" y="26665"/>
                  <a:pt x="33014" y="0"/>
                  <a:pt x="73647" y="0"/>
                </a:cubicBezTo>
                <a:close/>
              </a:path>
            </a:pathLst>
          </a:custGeom>
          <a:gradFill>
            <a:gsLst>
              <a:gs pos="0">
                <a:srgbClr val="64CBFF">
                  <a:alpha val="34902"/>
                </a:srgbClr>
              </a:gs>
              <a:gs pos="100000">
                <a:srgbClr val="2F5897">
                  <a:alpha val="100000"/>
                </a:srgbClr>
              </a:gs>
            </a:gsLst>
            <a:lin ang="1200000" scaled="1"/>
          </a:gradFill>
          <a:ln/>
        </p:spPr>
      </p:sp>
      <p:pic>
        <p:nvPicPr>
          <p:cNvPr id="8" name="Image 1" descr="//img.tukuppt.com/aippt_tpl_uploads/25/07/01/686397e7ae4cf.png"/>
          <p:cNvPicPr>
            <a:picLocks noChangeAspect="1"/>
          </p:cNvPicPr>
          <p:nvPr/>
        </p:nvPicPr>
        <p:blipFill>
          <a:blip r:embed="rId3"/>
          <a:srcRect/>
          <a:stretch/>
        </p:blipFill>
        <p:spPr>
          <a:xfrm flipH="1">
            <a:off x="787710" y="346921"/>
            <a:ext cx="255659" cy="98905"/>
          </a:xfrm>
          <a:prstGeom prst="rect">
            <a:avLst/>
          </a:prstGeom>
        </p:spPr>
      </p:pic>
      <p:pic>
        <p:nvPicPr>
          <p:cNvPr id="9" name="Image 2" descr="//img.tukuppt.com/aippt_tpl_uploads/25/07/01/686397e7ae4cf.png"/>
          <p:cNvPicPr>
            <a:picLocks noChangeAspect="1"/>
          </p:cNvPicPr>
          <p:nvPr/>
        </p:nvPicPr>
        <p:blipFill>
          <a:blip r:embed="rId3"/>
          <a:srcRect/>
          <a:stretch/>
        </p:blipFill>
        <p:spPr>
          <a:xfrm flipH="1">
            <a:off x="787710" y="549201"/>
            <a:ext cx="255659" cy="98905"/>
          </a:xfrm>
          <a:prstGeom prst="rect">
            <a:avLst/>
          </a:prstGeom>
        </p:spPr>
      </p:pic>
      <p:pic>
        <p:nvPicPr>
          <p:cNvPr id="10" name="Image 3" descr="//img.tukuppt.com/aippt_tpl_uploads/25/07/01/686397e7b8f81.png"/>
          <p:cNvPicPr>
            <a:picLocks noChangeAspect="1"/>
          </p:cNvPicPr>
          <p:nvPr/>
        </p:nvPicPr>
        <p:blipFill>
          <a:blip r:embed="rId4"/>
          <a:srcRect/>
          <a:stretch/>
        </p:blipFill>
        <p:spPr>
          <a:xfrm>
            <a:off x="539206" y="312920"/>
            <a:ext cx="321318" cy="321734"/>
          </a:xfrm>
          <a:prstGeom prst="rect">
            <a:avLst/>
          </a:prstGeom>
        </p:spPr>
      </p:pic>
      <p:pic>
        <p:nvPicPr>
          <p:cNvPr id="11" name="Image 4" descr="//img.tukuppt.com/aippt_tpl_uploads/25/07/01/686397e7af1a3.png!/fwfh2/960x960"/>
          <p:cNvPicPr>
            <a:picLocks noChangeAspect="1"/>
          </p:cNvPicPr>
          <p:nvPr/>
        </p:nvPicPr>
        <p:blipFill>
          <a:blip r:embed="rId5"/>
          <a:srcRect l="36452" t="56544" b="34700"/>
          <a:stretch/>
        </p:blipFill>
        <p:spPr>
          <a:xfrm>
            <a:off x="-4836" y="-812736"/>
            <a:ext cx="9148837" cy="1019042"/>
          </a:xfrm>
          <a:prstGeom prst="rect">
            <a:avLst/>
          </a:prstGeom>
        </p:spPr>
      </p:pic>
      <p:pic>
        <p:nvPicPr>
          <p:cNvPr id="12" name="Image 5" descr="//img.tukuppt.com/aippt_tpl_uploads/25/07/01/686397e7af1a3.png!/fwfh2/960x960"/>
          <p:cNvPicPr>
            <a:picLocks noChangeAspect="1"/>
          </p:cNvPicPr>
          <p:nvPr/>
        </p:nvPicPr>
        <p:blipFill>
          <a:blip r:embed="rId5"/>
          <a:srcRect l="36452" t="56544" b="34700"/>
          <a:stretch/>
        </p:blipFill>
        <p:spPr>
          <a:xfrm>
            <a:off x="-61352" y="4937888"/>
            <a:ext cx="9313872" cy="1019042"/>
          </a:xfrm>
          <a:prstGeom prst="rect">
            <a:avLst/>
          </a:prstGeom>
        </p:spPr>
      </p:pic>
      <p:sp>
        <p:nvSpPr>
          <p:cNvPr id="13" name="Shape 5"/>
          <p:cNvSpPr/>
          <p:nvPr/>
        </p:nvSpPr>
        <p:spPr>
          <a:xfrm>
            <a:off x="1207666" y="1486485"/>
            <a:ext cx="2598059" cy="2598059"/>
          </a:xfrm>
          <a:custGeom>
            <a:avLst/>
            <a:gdLst/>
            <a:ahLst/>
            <a:cxnLst/>
            <a:rect l="l" t="t" r="r" b="b"/>
            <a:pathLst>
              <a:path w="2598059" h="2598059">
                <a:moveTo>
                  <a:pt x="1299030" y="0"/>
                </a:moveTo>
                <a:cubicBezTo>
                  <a:pt x="2015984" y="0"/>
                  <a:pt x="2598059" y="582076"/>
                  <a:pt x="2598059" y="1299030"/>
                </a:cubicBezTo>
                <a:cubicBezTo>
                  <a:pt x="2598059" y="2015984"/>
                  <a:pt x="2015984" y="2598059"/>
                  <a:pt x="1299030" y="2598059"/>
                </a:cubicBezTo>
                <a:cubicBezTo>
                  <a:pt x="582076" y="2598059"/>
                  <a:pt x="0" y="2015984"/>
                  <a:pt x="0" y="1299030"/>
                </a:cubicBezTo>
                <a:cubicBezTo>
                  <a:pt x="0" y="582076"/>
                  <a:pt x="582076" y="0"/>
                  <a:pt x="1299030" y="0"/>
                </a:cubicBezTo>
                <a:close/>
              </a:path>
            </a:pathLst>
          </a:custGeom>
          <a:blipFill rotWithShape="0">
            <a:blip r:embed="rId6">
              <a:alphaModFix/>
            </a:blip>
            <a:stretch>
              <a:fillRect l="-25000" r="-25000"/>
            </a:stretch>
          </a:blipFill>
          <a:ln/>
        </p:spPr>
      </p:sp>
      <p:sp>
        <p:nvSpPr>
          <p:cNvPr id="14" name="Shape 6"/>
          <p:cNvSpPr/>
          <p:nvPr/>
        </p:nvSpPr>
        <p:spPr>
          <a:xfrm>
            <a:off x="1207666" y="1420711"/>
            <a:ext cx="730088" cy="730088"/>
          </a:xfrm>
          <a:custGeom>
            <a:avLst/>
            <a:gdLst/>
            <a:ahLst/>
            <a:cxnLst/>
            <a:rect l="l" t="t" r="r" b="b"/>
            <a:pathLst>
              <a:path w="730088" h="730088">
                <a:moveTo>
                  <a:pt x="365044" y="0"/>
                </a:moveTo>
                <a:cubicBezTo>
                  <a:pt x="566517" y="0"/>
                  <a:pt x="730088" y="163571"/>
                  <a:pt x="730088" y="365044"/>
                </a:cubicBezTo>
                <a:cubicBezTo>
                  <a:pt x="730088" y="566517"/>
                  <a:pt x="566517" y="730088"/>
                  <a:pt x="365044" y="730088"/>
                </a:cubicBezTo>
                <a:cubicBezTo>
                  <a:pt x="163571" y="730088"/>
                  <a:pt x="0" y="566517"/>
                  <a:pt x="0" y="365044"/>
                </a:cubicBezTo>
                <a:cubicBezTo>
                  <a:pt x="0" y="163571"/>
                  <a:pt x="163571" y="0"/>
                  <a:pt x="365044" y="0"/>
                </a:cubicBezTo>
                <a:close/>
              </a:path>
            </a:pathLst>
          </a:custGeom>
          <a:solidFill>
            <a:srgbClr val="0067B4"/>
          </a:solidFill>
          <a:ln/>
        </p:spPr>
      </p:sp>
      <p:sp>
        <p:nvSpPr>
          <p:cNvPr id="15" name="Shape 7"/>
          <p:cNvSpPr/>
          <p:nvPr/>
        </p:nvSpPr>
        <p:spPr>
          <a:xfrm>
            <a:off x="2973567" y="3781985"/>
            <a:ext cx="302559" cy="302559"/>
          </a:xfrm>
          <a:custGeom>
            <a:avLst/>
            <a:gdLst/>
            <a:ahLst/>
            <a:cxnLst/>
            <a:rect l="l" t="t" r="r" b="b"/>
            <a:pathLst>
              <a:path w="302559" h="302559">
                <a:moveTo>
                  <a:pt x="151279" y="0"/>
                </a:moveTo>
                <a:cubicBezTo>
                  <a:pt x="234773" y="0"/>
                  <a:pt x="302559" y="67786"/>
                  <a:pt x="302559" y="151279"/>
                </a:cubicBezTo>
                <a:cubicBezTo>
                  <a:pt x="302559" y="234773"/>
                  <a:pt x="234773" y="302559"/>
                  <a:pt x="151279" y="302559"/>
                </a:cubicBezTo>
                <a:cubicBezTo>
                  <a:pt x="67786" y="302559"/>
                  <a:pt x="0" y="234773"/>
                  <a:pt x="0" y="151279"/>
                </a:cubicBezTo>
                <a:cubicBezTo>
                  <a:pt x="0" y="67786"/>
                  <a:pt x="67786" y="0"/>
                  <a:pt x="151279" y="0"/>
                </a:cubicBezTo>
                <a:close/>
              </a:path>
            </a:pathLst>
          </a:custGeom>
          <a:solidFill>
            <a:srgbClr val="0067B4"/>
          </a:solidFill>
          <a:ln/>
        </p:spPr>
      </p:sp>
      <p:pic>
        <p:nvPicPr>
          <p:cNvPr id="16" name="Image 6"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400846" y="1613891"/>
            <a:ext cx="343728" cy="343728"/>
          </a:xfrm>
          <a:prstGeom prst="rect">
            <a:avLst/>
          </a:prstGeom>
        </p:spPr>
      </p:pic>
      <p:graphicFrame>
        <p:nvGraphicFramePr>
          <p:cNvPr id="2" name="表格 1">
            <a:extLst>
              <a:ext uri="{FF2B5EF4-FFF2-40B4-BE49-F238E27FC236}">
                <a16:creationId xmlns:a16="http://schemas.microsoft.com/office/drawing/2014/main" id="{827CB867-9552-4D71-A14B-E84FAC945FF4}"/>
              </a:ext>
            </a:extLst>
          </p:cNvPr>
          <p:cNvGraphicFramePr>
            <a:graphicFrameLocks noGrp="1"/>
          </p:cNvGraphicFramePr>
          <p:nvPr>
            <p:extLst>
              <p:ext uri="{D42A27DB-BD31-4B8C-83A1-F6EECF244321}">
                <p14:modId xmlns:p14="http://schemas.microsoft.com/office/powerpoint/2010/main" val="2520934862"/>
              </p:ext>
            </p:extLst>
          </p:nvPr>
        </p:nvGraphicFramePr>
        <p:xfrm>
          <a:off x="5137465" y="1362241"/>
          <a:ext cx="3716603" cy="3262308"/>
        </p:xfrm>
        <a:graphic>
          <a:graphicData uri="http://schemas.openxmlformats.org/drawingml/2006/table">
            <a:tbl>
              <a:tblPr/>
              <a:tblGrid>
                <a:gridCol w="1932408">
                  <a:extLst>
                    <a:ext uri="{9D8B030D-6E8A-4147-A177-3AD203B41FA5}">
                      <a16:colId xmlns:a16="http://schemas.microsoft.com/office/drawing/2014/main" val="1883089010"/>
                    </a:ext>
                  </a:extLst>
                </a:gridCol>
                <a:gridCol w="1784195">
                  <a:extLst>
                    <a:ext uri="{9D8B030D-6E8A-4147-A177-3AD203B41FA5}">
                      <a16:colId xmlns:a16="http://schemas.microsoft.com/office/drawing/2014/main" val="1388795842"/>
                    </a:ext>
                  </a:extLst>
                </a:gridCol>
              </a:tblGrid>
              <a:tr h="233022">
                <a:tc>
                  <a:txBody>
                    <a:bodyPr/>
                    <a:lstStyle/>
                    <a:p>
                      <a:r>
                        <a:rPr lang="zh-CN" altLang="en-US" sz="1100"/>
                        <a:t>项目</a:t>
                      </a:r>
                    </a:p>
                  </a:txBody>
                  <a:tcPr marL="58256" marR="58256" marT="29128" marB="29128" anchor="ctr">
                    <a:lnL>
                      <a:noFill/>
                    </a:lnL>
                    <a:lnR>
                      <a:noFill/>
                    </a:lnR>
                    <a:lnT>
                      <a:noFill/>
                    </a:lnT>
                    <a:lnB>
                      <a:noFill/>
                    </a:lnB>
                  </a:tcPr>
                </a:tc>
                <a:tc>
                  <a:txBody>
                    <a:bodyPr/>
                    <a:lstStyle/>
                    <a:p>
                      <a:r>
                        <a:rPr lang="zh-CN" altLang="en-US" sz="1100"/>
                        <a:t>金额（美元）</a:t>
                      </a:r>
                    </a:p>
                  </a:txBody>
                  <a:tcPr marL="58256" marR="58256" marT="29128" marB="29128" anchor="ctr">
                    <a:lnL>
                      <a:noFill/>
                    </a:lnL>
                    <a:lnR>
                      <a:noFill/>
                    </a:lnR>
                    <a:lnT>
                      <a:noFill/>
                    </a:lnT>
                    <a:lnB>
                      <a:noFill/>
                    </a:lnB>
                  </a:tcPr>
                </a:tc>
                <a:extLst>
                  <a:ext uri="{0D108BD9-81ED-4DB2-BD59-A6C34878D82A}">
                    <a16:rowId xmlns:a16="http://schemas.microsoft.com/office/drawing/2014/main" val="1411398652"/>
                  </a:ext>
                </a:extLst>
              </a:tr>
              <a:tr h="233022">
                <a:tc>
                  <a:txBody>
                    <a:bodyPr/>
                    <a:lstStyle/>
                    <a:p>
                      <a:r>
                        <a:rPr lang="zh-CN" altLang="en-US" sz="1100" b="1"/>
                        <a:t>销售收入</a:t>
                      </a:r>
                      <a:r>
                        <a:rPr lang="zh-CN" altLang="en-US" sz="1100"/>
                        <a:t> </a:t>
                      </a:r>
                      <a:r>
                        <a:rPr lang="en-US" altLang="zh-CN" sz="1100"/>
                        <a:t>(5,000 × $20)</a:t>
                      </a:r>
                    </a:p>
                  </a:txBody>
                  <a:tcPr marL="58256" marR="58256" marT="29128" marB="29128" anchor="ctr">
                    <a:lnL>
                      <a:noFill/>
                    </a:lnL>
                    <a:lnR>
                      <a:noFill/>
                    </a:lnR>
                    <a:lnT>
                      <a:noFill/>
                    </a:lnT>
                    <a:lnB>
                      <a:noFill/>
                    </a:lnB>
                  </a:tcPr>
                </a:tc>
                <a:tc>
                  <a:txBody>
                    <a:bodyPr/>
                    <a:lstStyle/>
                    <a:p>
                      <a:r>
                        <a:rPr lang="en-US" altLang="zh-CN" sz="1100" b="1"/>
                        <a:t>$ 100,000</a:t>
                      </a:r>
                      <a:endParaRPr lang="zh-CN" altLang="en-US" sz="1100"/>
                    </a:p>
                  </a:txBody>
                  <a:tcPr marL="58256" marR="58256" marT="29128" marB="29128" anchor="ctr">
                    <a:lnL>
                      <a:noFill/>
                    </a:lnL>
                    <a:lnR>
                      <a:noFill/>
                    </a:lnR>
                    <a:lnT>
                      <a:noFill/>
                    </a:lnT>
                    <a:lnB>
                      <a:noFill/>
                    </a:lnB>
                  </a:tcPr>
                </a:tc>
                <a:extLst>
                  <a:ext uri="{0D108BD9-81ED-4DB2-BD59-A6C34878D82A}">
                    <a16:rowId xmlns:a16="http://schemas.microsoft.com/office/drawing/2014/main" val="1618102469"/>
                  </a:ext>
                </a:extLst>
              </a:tr>
              <a:tr h="233022">
                <a:tc>
                  <a:txBody>
                    <a:bodyPr/>
                    <a:lstStyle/>
                    <a:p>
                      <a:r>
                        <a:rPr lang="zh-CN" altLang="en-US" sz="1100" b="1"/>
                        <a:t>减：变动成本</a:t>
                      </a:r>
                      <a:endParaRPr lang="zh-CN" altLang="en-US" sz="1100"/>
                    </a:p>
                  </a:txBody>
                  <a:tcPr marL="58256" marR="58256" marT="29128" marB="29128" anchor="ctr">
                    <a:lnL>
                      <a:noFill/>
                    </a:lnL>
                    <a:lnR>
                      <a:noFill/>
                    </a:lnR>
                    <a:lnT>
                      <a:noFill/>
                    </a:lnT>
                    <a:lnB>
                      <a:noFill/>
                    </a:lnB>
                  </a:tcPr>
                </a:tc>
                <a:tc>
                  <a:txBody>
                    <a:bodyPr/>
                    <a:lstStyle/>
                    <a:p>
                      <a:endParaRPr lang="zh-CN" altLang="en-US" sz="1100"/>
                    </a:p>
                  </a:txBody>
                  <a:tcPr marL="58256" marR="58256" marT="29128" marB="29128" anchor="ctr">
                    <a:lnL>
                      <a:noFill/>
                    </a:lnL>
                    <a:lnR>
                      <a:noFill/>
                    </a:lnR>
                    <a:lnT>
                      <a:noFill/>
                    </a:lnT>
                    <a:lnB>
                      <a:noFill/>
                    </a:lnB>
                  </a:tcPr>
                </a:tc>
                <a:extLst>
                  <a:ext uri="{0D108BD9-81ED-4DB2-BD59-A6C34878D82A}">
                    <a16:rowId xmlns:a16="http://schemas.microsoft.com/office/drawing/2014/main" val="3169308533"/>
                  </a:ext>
                </a:extLst>
              </a:tr>
              <a:tr h="233022">
                <a:tc>
                  <a:txBody>
                    <a:bodyPr/>
                    <a:lstStyle/>
                    <a:p>
                      <a:r>
                        <a:rPr lang="zh-CN" altLang="en-US" sz="1100"/>
                        <a:t>直接材料</a:t>
                      </a:r>
                    </a:p>
                  </a:txBody>
                  <a:tcPr marL="58256" marR="58256" marT="29128" marB="29128" anchor="ctr">
                    <a:lnL>
                      <a:noFill/>
                    </a:lnL>
                    <a:lnR>
                      <a:noFill/>
                    </a:lnR>
                    <a:lnT>
                      <a:noFill/>
                    </a:lnT>
                    <a:lnB>
                      <a:noFill/>
                    </a:lnB>
                  </a:tcPr>
                </a:tc>
                <a:tc>
                  <a:txBody>
                    <a:bodyPr/>
                    <a:lstStyle/>
                    <a:p>
                      <a:r>
                        <a:rPr lang="en-US" altLang="zh-CN" sz="1100"/>
                        <a:t>$ 20,000</a:t>
                      </a:r>
                    </a:p>
                  </a:txBody>
                  <a:tcPr marL="58256" marR="58256" marT="29128" marB="29128" anchor="ctr">
                    <a:lnL>
                      <a:noFill/>
                    </a:lnL>
                    <a:lnR>
                      <a:noFill/>
                    </a:lnR>
                    <a:lnT>
                      <a:noFill/>
                    </a:lnT>
                    <a:lnB>
                      <a:noFill/>
                    </a:lnB>
                  </a:tcPr>
                </a:tc>
                <a:extLst>
                  <a:ext uri="{0D108BD9-81ED-4DB2-BD59-A6C34878D82A}">
                    <a16:rowId xmlns:a16="http://schemas.microsoft.com/office/drawing/2014/main" val="417723664"/>
                  </a:ext>
                </a:extLst>
              </a:tr>
              <a:tr h="233022">
                <a:tc>
                  <a:txBody>
                    <a:bodyPr/>
                    <a:lstStyle/>
                    <a:p>
                      <a:r>
                        <a:rPr lang="zh-CN" altLang="en-US" sz="1100"/>
                        <a:t>直接人工</a:t>
                      </a:r>
                    </a:p>
                  </a:txBody>
                  <a:tcPr marL="58256" marR="58256" marT="29128" marB="29128" anchor="ctr">
                    <a:lnL>
                      <a:noFill/>
                    </a:lnL>
                    <a:lnR>
                      <a:noFill/>
                    </a:lnR>
                    <a:lnT>
                      <a:noFill/>
                    </a:lnT>
                    <a:lnB>
                      <a:noFill/>
                    </a:lnB>
                  </a:tcPr>
                </a:tc>
                <a:tc>
                  <a:txBody>
                    <a:bodyPr/>
                    <a:lstStyle/>
                    <a:p>
                      <a:r>
                        <a:rPr lang="en-US" altLang="zh-CN" sz="1100"/>
                        <a:t>5,000</a:t>
                      </a:r>
                    </a:p>
                  </a:txBody>
                  <a:tcPr marL="58256" marR="58256" marT="29128" marB="29128" anchor="ctr">
                    <a:lnL>
                      <a:noFill/>
                    </a:lnL>
                    <a:lnR>
                      <a:noFill/>
                    </a:lnR>
                    <a:lnT>
                      <a:noFill/>
                    </a:lnT>
                    <a:lnB>
                      <a:noFill/>
                    </a:lnB>
                  </a:tcPr>
                </a:tc>
                <a:extLst>
                  <a:ext uri="{0D108BD9-81ED-4DB2-BD59-A6C34878D82A}">
                    <a16:rowId xmlns:a16="http://schemas.microsoft.com/office/drawing/2014/main" val="2721997016"/>
                  </a:ext>
                </a:extLst>
              </a:tr>
              <a:tr h="233022">
                <a:tc>
                  <a:txBody>
                    <a:bodyPr/>
                    <a:lstStyle/>
                    <a:p>
                      <a:r>
                        <a:rPr lang="zh-CN" altLang="en-US" sz="1100"/>
                        <a:t>制造费用</a:t>
                      </a:r>
                    </a:p>
                  </a:txBody>
                  <a:tcPr marL="58256" marR="58256" marT="29128" marB="29128" anchor="ctr">
                    <a:lnL>
                      <a:noFill/>
                    </a:lnL>
                    <a:lnR>
                      <a:noFill/>
                    </a:lnR>
                    <a:lnT>
                      <a:noFill/>
                    </a:lnT>
                    <a:lnB>
                      <a:noFill/>
                    </a:lnB>
                  </a:tcPr>
                </a:tc>
                <a:tc>
                  <a:txBody>
                    <a:bodyPr/>
                    <a:lstStyle/>
                    <a:p>
                      <a:r>
                        <a:rPr lang="en-US" altLang="zh-CN" sz="1100"/>
                        <a:t>10,000</a:t>
                      </a:r>
                    </a:p>
                  </a:txBody>
                  <a:tcPr marL="58256" marR="58256" marT="29128" marB="29128" anchor="ctr">
                    <a:lnL>
                      <a:noFill/>
                    </a:lnL>
                    <a:lnR>
                      <a:noFill/>
                    </a:lnR>
                    <a:lnT>
                      <a:noFill/>
                    </a:lnT>
                    <a:lnB>
                      <a:noFill/>
                    </a:lnB>
                  </a:tcPr>
                </a:tc>
                <a:extLst>
                  <a:ext uri="{0D108BD9-81ED-4DB2-BD59-A6C34878D82A}">
                    <a16:rowId xmlns:a16="http://schemas.microsoft.com/office/drawing/2014/main" val="2481503365"/>
                  </a:ext>
                </a:extLst>
              </a:tr>
              <a:tr h="233022">
                <a:tc>
                  <a:txBody>
                    <a:bodyPr/>
                    <a:lstStyle/>
                    <a:p>
                      <a:r>
                        <a:rPr lang="zh-CN" altLang="en-US" sz="1100"/>
                        <a:t>销售费用</a:t>
                      </a:r>
                    </a:p>
                  </a:txBody>
                  <a:tcPr marL="58256" marR="58256" marT="29128" marB="29128" anchor="ctr">
                    <a:lnL>
                      <a:noFill/>
                    </a:lnL>
                    <a:lnR>
                      <a:noFill/>
                    </a:lnR>
                    <a:lnT>
                      <a:noFill/>
                    </a:lnT>
                    <a:lnB>
                      <a:noFill/>
                    </a:lnB>
                  </a:tcPr>
                </a:tc>
                <a:tc>
                  <a:txBody>
                    <a:bodyPr/>
                    <a:lstStyle/>
                    <a:p>
                      <a:r>
                        <a:rPr lang="en-US" altLang="zh-CN" sz="1100"/>
                        <a:t>5,000</a:t>
                      </a:r>
                    </a:p>
                  </a:txBody>
                  <a:tcPr marL="58256" marR="58256" marT="29128" marB="29128" anchor="ctr">
                    <a:lnL>
                      <a:noFill/>
                    </a:lnL>
                    <a:lnR>
                      <a:noFill/>
                    </a:lnR>
                    <a:lnT>
                      <a:noFill/>
                    </a:lnT>
                    <a:lnB>
                      <a:noFill/>
                    </a:lnB>
                  </a:tcPr>
                </a:tc>
                <a:extLst>
                  <a:ext uri="{0D108BD9-81ED-4DB2-BD59-A6C34878D82A}">
                    <a16:rowId xmlns:a16="http://schemas.microsoft.com/office/drawing/2014/main" val="3131025701"/>
                  </a:ext>
                </a:extLst>
              </a:tr>
              <a:tr h="233022">
                <a:tc>
                  <a:txBody>
                    <a:bodyPr/>
                    <a:lstStyle/>
                    <a:p>
                      <a:r>
                        <a:rPr lang="zh-CN" altLang="en-US" sz="1100" b="1"/>
                        <a:t>变动成本合计</a:t>
                      </a:r>
                      <a:endParaRPr lang="zh-CN" altLang="en-US" sz="1100"/>
                    </a:p>
                  </a:txBody>
                  <a:tcPr marL="58256" marR="58256" marT="29128" marB="29128" anchor="ctr">
                    <a:lnL>
                      <a:noFill/>
                    </a:lnL>
                    <a:lnR>
                      <a:noFill/>
                    </a:lnR>
                    <a:lnT>
                      <a:noFill/>
                    </a:lnT>
                    <a:lnB>
                      <a:noFill/>
                    </a:lnB>
                  </a:tcPr>
                </a:tc>
                <a:tc>
                  <a:txBody>
                    <a:bodyPr/>
                    <a:lstStyle/>
                    <a:p>
                      <a:r>
                        <a:rPr lang="en-US" altLang="zh-CN" sz="1100" b="1"/>
                        <a:t>$ 40,000</a:t>
                      </a:r>
                      <a:endParaRPr lang="zh-CN" altLang="en-US" sz="1100"/>
                    </a:p>
                  </a:txBody>
                  <a:tcPr marL="58256" marR="58256" marT="29128" marB="29128" anchor="ctr">
                    <a:lnL>
                      <a:noFill/>
                    </a:lnL>
                    <a:lnR>
                      <a:noFill/>
                    </a:lnR>
                    <a:lnT>
                      <a:noFill/>
                    </a:lnT>
                    <a:lnB>
                      <a:noFill/>
                    </a:lnB>
                  </a:tcPr>
                </a:tc>
                <a:extLst>
                  <a:ext uri="{0D108BD9-81ED-4DB2-BD59-A6C34878D82A}">
                    <a16:rowId xmlns:a16="http://schemas.microsoft.com/office/drawing/2014/main" val="71554340"/>
                  </a:ext>
                </a:extLst>
              </a:tr>
              <a:tr h="233022">
                <a:tc>
                  <a:txBody>
                    <a:bodyPr/>
                    <a:lstStyle/>
                    <a:p>
                      <a:r>
                        <a:rPr lang="zh-CN" altLang="en-US" sz="1100" b="1"/>
                        <a:t>贡献毛益</a:t>
                      </a:r>
                      <a:endParaRPr lang="zh-CN" altLang="en-US" sz="1100"/>
                    </a:p>
                  </a:txBody>
                  <a:tcPr marL="58256" marR="58256" marT="29128" marB="29128" anchor="ctr">
                    <a:lnL>
                      <a:noFill/>
                    </a:lnL>
                    <a:lnR>
                      <a:noFill/>
                    </a:lnR>
                    <a:lnT>
                      <a:noFill/>
                    </a:lnT>
                    <a:lnB>
                      <a:noFill/>
                    </a:lnB>
                  </a:tcPr>
                </a:tc>
                <a:tc>
                  <a:txBody>
                    <a:bodyPr/>
                    <a:lstStyle/>
                    <a:p>
                      <a:r>
                        <a:rPr lang="en-US" altLang="zh-CN" sz="1100" b="1"/>
                        <a:t>$ 60,000</a:t>
                      </a:r>
                      <a:endParaRPr lang="zh-CN" altLang="en-US" sz="1100"/>
                    </a:p>
                  </a:txBody>
                  <a:tcPr marL="58256" marR="58256" marT="29128" marB="29128" anchor="ctr">
                    <a:lnL>
                      <a:noFill/>
                    </a:lnL>
                    <a:lnR>
                      <a:noFill/>
                    </a:lnR>
                    <a:lnT>
                      <a:noFill/>
                    </a:lnT>
                    <a:lnB>
                      <a:noFill/>
                    </a:lnB>
                  </a:tcPr>
                </a:tc>
                <a:extLst>
                  <a:ext uri="{0D108BD9-81ED-4DB2-BD59-A6C34878D82A}">
                    <a16:rowId xmlns:a16="http://schemas.microsoft.com/office/drawing/2014/main" val="15818077"/>
                  </a:ext>
                </a:extLst>
              </a:tr>
              <a:tr h="233022">
                <a:tc>
                  <a:txBody>
                    <a:bodyPr/>
                    <a:lstStyle/>
                    <a:p>
                      <a:r>
                        <a:rPr lang="zh-CN" altLang="en-US" sz="1100" b="1"/>
                        <a:t>减：固定成本</a:t>
                      </a:r>
                      <a:endParaRPr lang="zh-CN" altLang="en-US" sz="1100"/>
                    </a:p>
                  </a:txBody>
                  <a:tcPr marL="58256" marR="58256" marT="29128" marB="29128" anchor="ctr">
                    <a:lnL>
                      <a:noFill/>
                    </a:lnL>
                    <a:lnR>
                      <a:noFill/>
                    </a:lnR>
                    <a:lnT>
                      <a:noFill/>
                    </a:lnT>
                    <a:lnB>
                      <a:noFill/>
                    </a:lnB>
                  </a:tcPr>
                </a:tc>
                <a:tc>
                  <a:txBody>
                    <a:bodyPr/>
                    <a:lstStyle/>
                    <a:p>
                      <a:endParaRPr lang="zh-CN" altLang="en-US" sz="1100"/>
                    </a:p>
                  </a:txBody>
                  <a:tcPr marL="58256" marR="58256" marT="29128" marB="29128" anchor="ctr">
                    <a:lnL>
                      <a:noFill/>
                    </a:lnL>
                    <a:lnR>
                      <a:noFill/>
                    </a:lnR>
                    <a:lnT>
                      <a:noFill/>
                    </a:lnT>
                    <a:lnB>
                      <a:noFill/>
                    </a:lnB>
                  </a:tcPr>
                </a:tc>
                <a:extLst>
                  <a:ext uri="{0D108BD9-81ED-4DB2-BD59-A6C34878D82A}">
                    <a16:rowId xmlns:a16="http://schemas.microsoft.com/office/drawing/2014/main" val="4059844195"/>
                  </a:ext>
                </a:extLst>
              </a:tr>
              <a:tr h="233022">
                <a:tc>
                  <a:txBody>
                    <a:bodyPr/>
                    <a:lstStyle/>
                    <a:p>
                      <a:r>
                        <a:rPr lang="zh-CN" altLang="en-US" sz="1100"/>
                        <a:t>制造费用</a:t>
                      </a:r>
                    </a:p>
                  </a:txBody>
                  <a:tcPr marL="58256" marR="58256" marT="29128" marB="29128" anchor="ctr">
                    <a:lnL>
                      <a:noFill/>
                    </a:lnL>
                    <a:lnR>
                      <a:noFill/>
                    </a:lnR>
                    <a:lnT>
                      <a:noFill/>
                    </a:lnT>
                    <a:lnB>
                      <a:noFill/>
                    </a:lnB>
                  </a:tcPr>
                </a:tc>
                <a:tc>
                  <a:txBody>
                    <a:bodyPr/>
                    <a:lstStyle/>
                    <a:p>
                      <a:r>
                        <a:rPr lang="en-US" altLang="zh-CN" sz="1100"/>
                        <a:t>$ 28,000</a:t>
                      </a:r>
                    </a:p>
                  </a:txBody>
                  <a:tcPr marL="58256" marR="58256" marT="29128" marB="29128" anchor="ctr">
                    <a:lnL>
                      <a:noFill/>
                    </a:lnL>
                    <a:lnR>
                      <a:noFill/>
                    </a:lnR>
                    <a:lnT>
                      <a:noFill/>
                    </a:lnT>
                    <a:lnB>
                      <a:noFill/>
                    </a:lnB>
                  </a:tcPr>
                </a:tc>
                <a:extLst>
                  <a:ext uri="{0D108BD9-81ED-4DB2-BD59-A6C34878D82A}">
                    <a16:rowId xmlns:a16="http://schemas.microsoft.com/office/drawing/2014/main" val="34709755"/>
                  </a:ext>
                </a:extLst>
              </a:tr>
              <a:tr h="233022">
                <a:tc>
                  <a:txBody>
                    <a:bodyPr/>
                    <a:lstStyle/>
                    <a:p>
                      <a:r>
                        <a:rPr lang="zh-CN" altLang="en-US" sz="1100"/>
                        <a:t>销售费用</a:t>
                      </a:r>
                    </a:p>
                  </a:txBody>
                  <a:tcPr marL="58256" marR="58256" marT="29128" marB="29128" anchor="ctr">
                    <a:lnL>
                      <a:noFill/>
                    </a:lnL>
                    <a:lnR>
                      <a:noFill/>
                    </a:lnR>
                    <a:lnT>
                      <a:noFill/>
                    </a:lnT>
                    <a:lnB>
                      <a:noFill/>
                    </a:lnB>
                  </a:tcPr>
                </a:tc>
                <a:tc>
                  <a:txBody>
                    <a:bodyPr/>
                    <a:lstStyle/>
                    <a:p>
                      <a:r>
                        <a:rPr lang="en-US" altLang="zh-CN" sz="1100"/>
                        <a:t>20,000</a:t>
                      </a:r>
                    </a:p>
                  </a:txBody>
                  <a:tcPr marL="58256" marR="58256" marT="29128" marB="29128" anchor="ctr">
                    <a:lnL>
                      <a:noFill/>
                    </a:lnL>
                    <a:lnR>
                      <a:noFill/>
                    </a:lnR>
                    <a:lnT>
                      <a:noFill/>
                    </a:lnT>
                    <a:lnB>
                      <a:noFill/>
                    </a:lnB>
                  </a:tcPr>
                </a:tc>
                <a:extLst>
                  <a:ext uri="{0D108BD9-81ED-4DB2-BD59-A6C34878D82A}">
                    <a16:rowId xmlns:a16="http://schemas.microsoft.com/office/drawing/2014/main" val="798164616"/>
                  </a:ext>
                </a:extLst>
              </a:tr>
              <a:tr h="233022">
                <a:tc>
                  <a:txBody>
                    <a:bodyPr/>
                    <a:lstStyle/>
                    <a:p>
                      <a:r>
                        <a:rPr lang="zh-CN" altLang="en-US" sz="1100" b="1"/>
                        <a:t>固定成本合计</a:t>
                      </a:r>
                      <a:endParaRPr lang="zh-CN" altLang="en-US" sz="1100"/>
                    </a:p>
                  </a:txBody>
                  <a:tcPr marL="58256" marR="58256" marT="29128" marB="29128" anchor="ctr">
                    <a:lnL>
                      <a:noFill/>
                    </a:lnL>
                    <a:lnR>
                      <a:noFill/>
                    </a:lnR>
                    <a:lnT>
                      <a:noFill/>
                    </a:lnT>
                    <a:lnB>
                      <a:noFill/>
                    </a:lnB>
                  </a:tcPr>
                </a:tc>
                <a:tc>
                  <a:txBody>
                    <a:bodyPr/>
                    <a:lstStyle/>
                    <a:p>
                      <a:r>
                        <a:rPr lang="en-US" altLang="zh-CN" sz="1100" b="1"/>
                        <a:t>$ 48,000</a:t>
                      </a:r>
                      <a:endParaRPr lang="zh-CN" altLang="en-US" sz="1100"/>
                    </a:p>
                  </a:txBody>
                  <a:tcPr marL="58256" marR="58256" marT="29128" marB="29128" anchor="ctr">
                    <a:lnL>
                      <a:noFill/>
                    </a:lnL>
                    <a:lnR>
                      <a:noFill/>
                    </a:lnR>
                    <a:lnT>
                      <a:noFill/>
                    </a:lnT>
                    <a:lnB>
                      <a:noFill/>
                    </a:lnB>
                  </a:tcPr>
                </a:tc>
                <a:extLst>
                  <a:ext uri="{0D108BD9-81ED-4DB2-BD59-A6C34878D82A}">
                    <a16:rowId xmlns:a16="http://schemas.microsoft.com/office/drawing/2014/main" val="1844009318"/>
                  </a:ext>
                </a:extLst>
              </a:tr>
              <a:tr h="233022">
                <a:tc>
                  <a:txBody>
                    <a:bodyPr/>
                    <a:lstStyle/>
                    <a:p>
                      <a:r>
                        <a:rPr lang="zh-CN" altLang="en-US" sz="1100" b="1"/>
                        <a:t>营业净利润</a:t>
                      </a:r>
                      <a:endParaRPr lang="zh-CN" altLang="en-US" sz="1100"/>
                    </a:p>
                  </a:txBody>
                  <a:tcPr marL="58256" marR="58256" marT="29128" marB="29128" anchor="ctr">
                    <a:lnL>
                      <a:noFill/>
                    </a:lnL>
                    <a:lnR>
                      <a:noFill/>
                    </a:lnR>
                    <a:lnT>
                      <a:noFill/>
                    </a:lnT>
                    <a:lnB>
                      <a:noFill/>
                    </a:lnB>
                  </a:tcPr>
                </a:tc>
                <a:tc>
                  <a:txBody>
                    <a:bodyPr/>
                    <a:lstStyle/>
                    <a:p>
                      <a:r>
                        <a:rPr lang="en-US" altLang="zh-CN" sz="1100" b="1" dirty="0"/>
                        <a:t>$ 12,000</a:t>
                      </a:r>
                      <a:endParaRPr lang="zh-CN" altLang="en-US" sz="1100" dirty="0"/>
                    </a:p>
                  </a:txBody>
                  <a:tcPr marL="58256" marR="58256" marT="29128" marB="29128" anchor="ctr">
                    <a:lnL>
                      <a:noFill/>
                    </a:lnL>
                    <a:lnR>
                      <a:noFill/>
                    </a:lnR>
                    <a:lnT>
                      <a:noFill/>
                    </a:lnT>
                    <a:lnB>
                      <a:noFill/>
                    </a:lnB>
                  </a:tcPr>
                </a:tc>
                <a:extLst>
                  <a:ext uri="{0D108BD9-81ED-4DB2-BD59-A6C34878D82A}">
                    <a16:rowId xmlns:a16="http://schemas.microsoft.com/office/drawing/2014/main" val="2401080582"/>
                  </a:ext>
                </a:extLst>
              </a:tr>
            </a:tbl>
          </a:graphicData>
        </a:graphic>
      </p:graphicFrame>
      <p:sp>
        <p:nvSpPr>
          <p:cNvPr id="17" name="Rectangle 1">
            <a:extLst>
              <a:ext uri="{FF2B5EF4-FFF2-40B4-BE49-F238E27FC236}">
                <a16:creationId xmlns:a16="http://schemas.microsoft.com/office/drawing/2014/main" id="{DD221CCD-79BA-4DC0-868E-466399A8957E}"/>
              </a:ext>
            </a:extLst>
          </p:cNvPr>
          <p:cNvSpPr>
            <a:spLocks noChangeArrowheads="1"/>
          </p:cNvSpPr>
          <p:nvPr/>
        </p:nvSpPr>
        <p:spPr bwMode="auto">
          <a:xfrm>
            <a:off x="5049804" y="725736"/>
            <a:ext cx="1939917"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800" b="1" i="0" u="none" strike="noStrike" cap="none" normalizeH="0" baseline="0" dirty="0">
                <a:ln>
                  <a:noFill/>
                </a:ln>
                <a:solidFill>
                  <a:schemeClr val="tx1"/>
                </a:solidFill>
                <a:effectLst/>
                <a:latin typeface="Arial" panose="020B0604020202020204" pitchFamily="34" charset="0"/>
              </a:rPr>
              <a:t>贡献式利润表</a:t>
            </a:r>
            <a:endParaRPr kumimoji="0" lang="zh-CN" altLang="zh-CN"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53562612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0"/>
          <p:cNvSpPr/>
          <p:nvPr/>
        </p:nvSpPr>
        <p:spPr>
          <a:xfrm>
            <a:off x="979384" y="287863"/>
            <a:ext cx="2872893" cy="412023"/>
          </a:xfrm>
          <a:custGeom>
            <a:avLst/>
            <a:gdLst/>
            <a:ahLst/>
            <a:cxnLst/>
            <a:rect l="l" t="t" r="r" b="b"/>
            <a:pathLst>
              <a:path w="2872893" h="412023">
                <a:moveTo>
                  <a:pt x="68568" y="0"/>
                </a:moveTo>
                <a:lnTo>
                  <a:pt x="2803673" y="0"/>
                </a:lnTo>
                <a:cubicBezTo>
                  <a:pt x="2841542" y="0"/>
                  <a:pt x="2872241" y="30699"/>
                  <a:pt x="2872241" y="68568"/>
                </a:cubicBezTo>
                <a:lnTo>
                  <a:pt x="2872241" y="342840"/>
                </a:lnTo>
                <a:cubicBezTo>
                  <a:pt x="2872241" y="380710"/>
                  <a:pt x="2841542" y="411409"/>
                  <a:pt x="2803673" y="411409"/>
                </a:cubicBezTo>
                <a:lnTo>
                  <a:pt x="68568" y="411409"/>
                </a:lnTo>
                <a:cubicBezTo>
                  <a:pt x="30699" y="411409"/>
                  <a:pt x="0" y="380710"/>
                  <a:pt x="0" y="342840"/>
                </a:cubicBezTo>
                <a:lnTo>
                  <a:pt x="0" y="68568"/>
                </a:lnTo>
                <a:cubicBezTo>
                  <a:pt x="0" y="30724"/>
                  <a:pt x="30724" y="0"/>
                  <a:pt x="68568" y="0"/>
                </a:cubicBezTo>
                <a:close/>
              </a:path>
            </a:pathLst>
          </a:custGeom>
          <a:solidFill>
            <a:srgbClr val="0067B4"/>
          </a:solidFill>
          <a:ln/>
          <a:effectLst>
            <a:outerShdw dist="38093" dir="2700000" algn="bl" rotWithShape="0">
              <a:srgbClr val="000000">
                <a:alpha val="38824"/>
              </a:srgbClr>
            </a:outerShdw>
          </a:effectLst>
        </p:spPr>
      </p:sp>
      <p:sp>
        <p:nvSpPr>
          <p:cNvPr id="4" name="Shape 1"/>
          <p:cNvSpPr/>
          <p:nvPr/>
        </p:nvSpPr>
        <p:spPr>
          <a:xfrm>
            <a:off x="1188456" y="329442"/>
            <a:ext cx="2735844" cy="339064"/>
          </a:xfrm>
          <a:custGeom>
            <a:avLst/>
            <a:gdLst/>
            <a:ahLst/>
            <a:cxnLst/>
            <a:rect l="l" t="t" r="r" b="b"/>
            <a:pathLst>
              <a:path w="2735844" h="339064">
                <a:moveTo>
                  <a:pt x="0" y="0"/>
                </a:moveTo>
                <a:lnTo>
                  <a:pt x="2735844" y="0"/>
                </a:lnTo>
                <a:lnTo>
                  <a:pt x="2735844" y="339064"/>
                </a:lnTo>
                <a:lnTo>
                  <a:pt x="0" y="339064"/>
                </a:lnTo>
                <a:close/>
              </a:path>
            </a:pathLst>
          </a:custGeom>
          <a:noFill/>
          <a:ln/>
        </p:spPr>
      </p:sp>
      <p:sp>
        <p:nvSpPr>
          <p:cNvPr id="5" name="Text 2"/>
          <p:cNvSpPr txBox="1"/>
          <p:nvPr/>
        </p:nvSpPr>
        <p:spPr>
          <a:xfrm>
            <a:off x="1188456" y="329442"/>
            <a:ext cx="2735844" cy="339064"/>
          </a:xfrm>
          <a:prstGeom prst="rect">
            <a:avLst/>
          </a:prstGeom>
          <a:noFill/>
          <a:ln/>
        </p:spPr>
        <p:txBody>
          <a:bodyPr wrap="square" lIns="1252" tIns="653" rIns="1252" bIns="653" rtlCol="0" anchor="t">
            <a:spAutoFit/>
          </a:bodyPr>
          <a:lstStyle/>
          <a:p>
            <a:pPr marL="0" indent="0" algn="l">
              <a:buNone/>
            </a:pPr>
            <a:r>
              <a:rPr lang="zh-CN" altLang="en-US" sz="1601" dirty="0">
                <a:solidFill>
                  <a:srgbClr val="64CBFF"/>
                </a:solidFill>
                <a:latin typeface="SourceHanSansSC-Medium"/>
                <a:ea typeface="SourceHanSansSC-Medium"/>
                <a:cs typeface="SourceHanSansSC-Medium"/>
              </a:rPr>
              <a:t>案例分析：Jet公司</a:t>
            </a:r>
            <a:endParaRPr lang="en-US" sz="1601" dirty="0"/>
          </a:p>
        </p:txBody>
      </p:sp>
      <p:sp>
        <p:nvSpPr>
          <p:cNvPr id="6" name="Shape 3"/>
          <p:cNvSpPr/>
          <p:nvPr/>
        </p:nvSpPr>
        <p:spPr>
          <a:xfrm>
            <a:off x="471488" y="198466"/>
            <a:ext cx="461756" cy="542999"/>
          </a:xfrm>
          <a:custGeom>
            <a:avLst/>
            <a:gdLst/>
            <a:ahLst/>
            <a:cxnLst/>
            <a:rect l="l" t="t" r="r" b="b"/>
            <a:pathLst>
              <a:path w="461756" h="542999">
                <a:moveTo>
                  <a:pt x="77457" y="0"/>
                </a:moveTo>
                <a:lnTo>
                  <a:pt x="384743" y="0"/>
                </a:lnTo>
                <a:cubicBezTo>
                  <a:pt x="427521" y="0"/>
                  <a:pt x="462200" y="34678"/>
                  <a:pt x="462200" y="77457"/>
                </a:cubicBezTo>
                <a:lnTo>
                  <a:pt x="462200" y="466009"/>
                </a:lnTo>
                <a:cubicBezTo>
                  <a:pt x="462200" y="508787"/>
                  <a:pt x="427521" y="543466"/>
                  <a:pt x="384743" y="543466"/>
                </a:cubicBezTo>
                <a:lnTo>
                  <a:pt x="77457" y="543466"/>
                </a:lnTo>
                <a:cubicBezTo>
                  <a:pt x="34678" y="543466"/>
                  <a:pt x="0" y="508787"/>
                  <a:pt x="0" y="466009"/>
                </a:cubicBezTo>
                <a:lnTo>
                  <a:pt x="0" y="77457"/>
                </a:lnTo>
                <a:cubicBezTo>
                  <a:pt x="0" y="34678"/>
                  <a:pt x="34678" y="0"/>
                  <a:pt x="77457" y="0"/>
                </a:cubicBezTo>
                <a:close/>
              </a:path>
            </a:pathLst>
          </a:custGeom>
          <a:solidFill>
            <a:srgbClr val="0067B4"/>
          </a:solidFill>
          <a:ln/>
          <a:effectLst>
            <a:outerShdw dist="38093" dir="2700000" algn="bl" rotWithShape="0">
              <a:srgbClr val="000000">
                <a:alpha val="38824"/>
              </a:srgbClr>
            </a:outerShdw>
          </a:effectLst>
        </p:spPr>
      </p:sp>
      <p:sp>
        <p:nvSpPr>
          <p:cNvPr id="7" name="Shape 4"/>
          <p:cNvSpPr/>
          <p:nvPr/>
        </p:nvSpPr>
        <p:spPr>
          <a:xfrm>
            <a:off x="482166" y="206110"/>
            <a:ext cx="433263" cy="535355"/>
          </a:xfrm>
          <a:custGeom>
            <a:avLst/>
            <a:gdLst/>
            <a:ahLst/>
            <a:cxnLst/>
            <a:rect l="l" t="t" r="r" b="b"/>
            <a:pathLst>
              <a:path w="433263" h="535355">
                <a:moveTo>
                  <a:pt x="73647" y="0"/>
                </a:moveTo>
                <a:lnTo>
                  <a:pt x="366966" y="0"/>
                </a:lnTo>
                <a:cubicBezTo>
                  <a:pt x="396171" y="0"/>
                  <a:pt x="421567" y="15237"/>
                  <a:pt x="432995" y="35554"/>
                </a:cubicBezTo>
                <a:cubicBezTo>
                  <a:pt x="186658" y="119359"/>
                  <a:pt x="11428" y="311096"/>
                  <a:pt x="1270" y="535847"/>
                </a:cubicBezTo>
                <a:cubicBezTo>
                  <a:pt x="0" y="533307"/>
                  <a:pt x="0" y="532038"/>
                  <a:pt x="0" y="529498"/>
                </a:cubicBezTo>
                <a:lnTo>
                  <a:pt x="0" y="60949"/>
                </a:lnTo>
                <a:cubicBezTo>
                  <a:pt x="0" y="26665"/>
                  <a:pt x="33014" y="0"/>
                  <a:pt x="73647" y="0"/>
                </a:cubicBezTo>
                <a:close/>
              </a:path>
            </a:pathLst>
          </a:custGeom>
          <a:gradFill>
            <a:gsLst>
              <a:gs pos="0">
                <a:srgbClr val="64CBFF">
                  <a:alpha val="34902"/>
                </a:srgbClr>
              </a:gs>
              <a:gs pos="100000">
                <a:srgbClr val="2F5897">
                  <a:alpha val="100000"/>
                </a:srgbClr>
              </a:gs>
            </a:gsLst>
            <a:lin ang="1200000" scaled="1"/>
          </a:gradFill>
          <a:ln/>
        </p:spPr>
      </p:sp>
      <p:pic>
        <p:nvPicPr>
          <p:cNvPr id="8" name="Image 1" descr="//img.tukuppt.com/aippt_tpl_uploads/25/07/01/686397e7ae4cf.png"/>
          <p:cNvPicPr>
            <a:picLocks noChangeAspect="1"/>
          </p:cNvPicPr>
          <p:nvPr/>
        </p:nvPicPr>
        <p:blipFill>
          <a:blip r:embed="rId3"/>
          <a:srcRect/>
          <a:stretch/>
        </p:blipFill>
        <p:spPr>
          <a:xfrm flipH="1">
            <a:off x="787710" y="346921"/>
            <a:ext cx="255659" cy="98905"/>
          </a:xfrm>
          <a:prstGeom prst="rect">
            <a:avLst/>
          </a:prstGeom>
        </p:spPr>
      </p:pic>
      <p:pic>
        <p:nvPicPr>
          <p:cNvPr id="9" name="Image 2" descr="//img.tukuppt.com/aippt_tpl_uploads/25/07/01/686397e7ae4cf.png"/>
          <p:cNvPicPr>
            <a:picLocks noChangeAspect="1"/>
          </p:cNvPicPr>
          <p:nvPr/>
        </p:nvPicPr>
        <p:blipFill>
          <a:blip r:embed="rId3"/>
          <a:srcRect/>
          <a:stretch/>
        </p:blipFill>
        <p:spPr>
          <a:xfrm flipH="1">
            <a:off x="787710" y="549201"/>
            <a:ext cx="255659" cy="98905"/>
          </a:xfrm>
          <a:prstGeom prst="rect">
            <a:avLst/>
          </a:prstGeom>
        </p:spPr>
      </p:pic>
      <p:pic>
        <p:nvPicPr>
          <p:cNvPr id="10" name="Image 3" descr="//img.tukuppt.com/aippt_tpl_uploads/25/07/01/686397e7b8f81.png"/>
          <p:cNvPicPr>
            <a:picLocks noChangeAspect="1"/>
          </p:cNvPicPr>
          <p:nvPr/>
        </p:nvPicPr>
        <p:blipFill>
          <a:blip r:embed="rId4"/>
          <a:srcRect/>
          <a:stretch/>
        </p:blipFill>
        <p:spPr>
          <a:xfrm>
            <a:off x="539206" y="312920"/>
            <a:ext cx="321318" cy="321734"/>
          </a:xfrm>
          <a:prstGeom prst="rect">
            <a:avLst/>
          </a:prstGeom>
        </p:spPr>
      </p:pic>
      <p:pic>
        <p:nvPicPr>
          <p:cNvPr id="11" name="Image 4" descr="//img.tukuppt.com/aippt_tpl_uploads/25/07/01/686397e7af1a3.png!/fwfh2/960x960"/>
          <p:cNvPicPr>
            <a:picLocks noChangeAspect="1"/>
          </p:cNvPicPr>
          <p:nvPr/>
        </p:nvPicPr>
        <p:blipFill>
          <a:blip r:embed="rId5"/>
          <a:srcRect l="36452" t="56544" b="34700"/>
          <a:stretch/>
        </p:blipFill>
        <p:spPr>
          <a:xfrm>
            <a:off x="-4836" y="-812736"/>
            <a:ext cx="9148837" cy="1019042"/>
          </a:xfrm>
          <a:prstGeom prst="rect">
            <a:avLst/>
          </a:prstGeom>
        </p:spPr>
      </p:pic>
      <p:pic>
        <p:nvPicPr>
          <p:cNvPr id="12" name="Image 5" descr="//img.tukuppt.com/aippt_tpl_uploads/25/07/01/686397e7af1a3.png!/fwfh2/960x960"/>
          <p:cNvPicPr>
            <a:picLocks noChangeAspect="1"/>
          </p:cNvPicPr>
          <p:nvPr/>
        </p:nvPicPr>
        <p:blipFill>
          <a:blip r:embed="rId5"/>
          <a:srcRect l="36452" t="56544" b="34700"/>
          <a:stretch/>
        </p:blipFill>
        <p:spPr>
          <a:xfrm>
            <a:off x="-61352" y="4937888"/>
            <a:ext cx="9313872" cy="1019042"/>
          </a:xfrm>
          <a:prstGeom prst="rect">
            <a:avLst/>
          </a:prstGeom>
        </p:spPr>
      </p:pic>
      <p:sp>
        <p:nvSpPr>
          <p:cNvPr id="13" name="Shape 5"/>
          <p:cNvSpPr/>
          <p:nvPr/>
        </p:nvSpPr>
        <p:spPr>
          <a:xfrm>
            <a:off x="1207666" y="1486485"/>
            <a:ext cx="2598059" cy="2598059"/>
          </a:xfrm>
          <a:custGeom>
            <a:avLst/>
            <a:gdLst/>
            <a:ahLst/>
            <a:cxnLst/>
            <a:rect l="l" t="t" r="r" b="b"/>
            <a:pathLst>
              <a:path w="2598059" h="2598059">
                <a:moveTo>
                  <a:pt x="1299030" y="0"/>
                </a:moveTo>
                <a:cubicBezTo>
                  <a:pt x="2015984" y="0"/>
                  <a:pt x="2598059" y="582076"/>
                  <a:pt x="2598059" y="1299030"/>
                </a:cubicBezTo>
                <a:cubicBezTo>
                  <a:pt x="2598059" y="2015984"/>
                  <a:pt x="2015984" y="2598059"/>
                  <a:pt x="1299030" y="2598059"/>
                </a:cubicBezTo>
                <a:cubicBezTo>
                  <a:pt x="582076" y="2598059"/>
                  <a:pt x="0" y="2015984"/>
                  <a:pt x="0" y="1299030"/>
                </a:cubicBezTo>
                <a:cubicBezTo>
                  <a:pt x="0" y="582076"/>
                  <a:pt x="582076" y="0"/>
                  <a:pt x="1299030" y="0"/>
                </a:cubicBezTo>
                <a:close/>
              </a:path>
            </a:pathLst>
          </a:custGeom>
          <a:blipFill rotWithShape="0">
            <a:blip r:embed="rId6">
              <a:alphaModFix/>
            </a:blip>
            <a:stretch>
              <a:fillRect l="-25000" r="-25000"/>
            </a:stretch>
          </a:blipFill>
          <a:ln/>
        </p:spPr>
      </p:sp>
      <p:sp>
        <p:nvSpPr>
          <p:cNvPr id="14" name="Shape 6"/>
          <p:cNvSpPr/>
          <p:nvPr/>
        </p:nvSpPr>
        <p:spPr>
          <a:xfrm>
            <a:off x="1207666" y="1420711"/>
            <a:ext cx="730088" cy="730088"/>
          </a:xfrm>
          <a:custGeom>
            <a:avLst/>
            <a:gdLst/>
            <a:ahLst/>
            <a:cxnLst/>
            <a:rect l="l" t="t" r="r" b="b"/>
            <a:pathLst>
              <a:path w="730088" h="730088">
                <a:moveTo>
                  <a:pt x="365044" y="0"/>
                </a:moveTo>
                <a:cubicBezTo>
                  <a:pt x="566517" y="0"/>
                  <a:pt x="730088" y="163571"/>
                  <a:pt x="730088" y="365044"/>
                </a:cubicBezTo>
                <a:cubicBezTo>
                  <a:pt x="730088" y="566517"/>
                  <a:pt x="566517" y="730088"/>
                  <a:pt x="365044" y="730088"/>
                </a:cubicBezTo>
                <a:cubicBezTo>
                  <a:pt x="163571" y="730088"/>
                  <a:pt x="0" y="566517"/>
                  <a:pt x="0" y="365044"/>
                </a:cubicBezTo>
                <a:cubicBezTo>
                  <a:pt x="0" y="163571"/>
                  <a:pt x="163571" y="0"/>
                  <a:pt x="365044" y="0"/>
                </a:cubicBezTo>
                <a:close/>
              </a:path>
            </a:pathLst>
          </a:custGeom>
          <a:solidFill>
            <a:srgbClr val="0067B4"/>
          </a:solidFill>
          <a:ln/>
        </p:spPr>
      </p:sp>
      <p:sp>
        <p:nvSpPr>
          <p:cNvPr id="15" name="Shape 7"/>
          <p:cNvSpPr/>
          <p:nvPr/>
        </p:nvSpPr>
        <p:spPr>
          <a:xfrm>
            <a:off x="2973567" y="3781985"/>
            <a:ext cx="302559" cy="302559"/>
          </a:xfrm>
          <a:custGeom>
            <a:avLst/>
            <a:gdLst/>
            <a:ahLst/>
            <a:cxnLst/>
            <a:rect l="l" t="t" r="r" b="b"/>
            <a:pathLst>
              <a:path w="302559" h="302559">
                <a:moveTo>
                  <a:pt x="151279" y="0"/>
                </a:moveTo>
                <a:cubicBezTo>
                  <a:pt x="234773" y="0"/>
                  <a:pt x="302559" y="67786"/>
                  <a:pt x="302559" y="151279"/>
                </a:cubicBezTo>
                <a:cubicBezTo>
                  <a:pt x="302559" y="234773"/>
                  <a:pt x="234773" y="302559"/>
                  <a:pt x="151279" y="302559"/>
                </a:cubicBezTo>
                <a:cubicBezTo>
                  <a:pt x="67786" y="302559"/>
                  <a:pt x="0" y="234773"/>
                  <a:pt x="0" y="151279"/>
                </a:cubicBezTo>
                <a:cubicBezTo>
                  <a:pt x="0" y="67786"/>
                  <a:pt x="67786" y="0"/>
                  <a:pt x="151279" y="0"/>
                </a:cubicBezTo>
                <a:close/>
              </a:path>
            </a:pathLst>
          </a:custGeom>
          <a:solidFill>
            <a:srgbClr val="0067B4"/>
          </a:solidFill>
          <a:ln/>
        </p:spPr>
      </p:sp>
      <p:pic>
        <p:nvPicPr>
          <p:cNvPr id="16" name="Image 6"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400846" y="1613891"/>
            <a:ext cx="343728" cy="343728"/>
          </a:xfrm>
          <a:prstGeom prst="rect">
            <a:avLst/>
          </a:prstGeom>
        </p:spPr>
      </p:pic>
      <p:graphicFrame>
        <p:nvGraphicFramePr>
          <p:cNvPr id="19" name="表格 18">
            <a:extLst>
              <a:ext uri="{FF2B5EF4-FFF2-40B4-BE49-F238E27FC236}">
                <a16:creationId xmlns:a16="http://schemas.microsoft.com/office/drawing/2014/main" id="{1B2169D1-C1CF-4AE0-B0D2-3F6DCAAD07A3}"/>
              </a:ext>
            </a:extLst>
          </p:cNvPr>
          <p:cNvGraphicFramePr>
            <a:graphicFrameLocks noGrp="1"/>
          </p:cNvGraphicFramePr>
          <p:nvPr>
            <p:extLst>
              <p:ext uri="{D42A27DB-BD31-4B8C-83A1-F6EECF244321}">
                <p14:modId xmlns:p14="http://schemas.microsoft.com/office/powerpoint/2010/main" val="1598394328"/>
              </p:ext>
            </p:extLst>
          </p:nvPr>
        </p:nvGraphicFramePr>
        <p:xfrm>
          <a:off x="4429766" y="1888799"/>
          <a:ext cx="3844440" cy="1097280"/>
        </p:xfrm>
        <a:graphic>
          <a:graphicData uri="http://schemas.openxmlformats.org/drawingml/2006/table">
            <a:tbl>
              <a:tblPr>
                <a:tableStyleId>{08FB837D-C827-4EFA-A057-4D05807E0F7C}</a:tableStyleId>
              </a:tblPr>
              <a:tblGrid>
                <a:gridCol w="2662410">
                  <a:extLst>
                    <a:ext uri="{9D8B030D-6E8A-4147-A177-3AD203B41FA5}">
                      <a16:colId xmlns:a16="http://schemas.microsoft.com/office/drawing/2014/main" val="818674298"/>
                    </a:ext>
                  </a:extLst>
                </a:gridCol>
                <a:gridCol w="1182030">
                  <a:extLst>
                    <a:ext uri="{9D8B030D-6E8A-4147-A177-3AD203B41FA5}">
                      <a16:colId xmlns:a16="http://schemas.microsoft.com/office/drawing/2014/main" val="57282520"/>
                    </a:ext>
                  </a:extLst>
                </a:gridCol>
              </a:tblGrid>
              <a:tr h="0">
                <a:tc>
                  <a:txBody>
                    <a:bodyPr/>
                    <a:lstStyle/>
                    <a:p>
                      <a:r>
                        <a:rPr lang="zh-CN" altLang="en-US" sz="1200"/>
                        <a:t>项目</a:t>
                      </a:r>
                    </a:p>
                  </a:txBody>
                  <a:tcPr anchor="ctr"/>
                </a:tc>
                <a:tc>
                  <a:txBody>
                    <a:bodyPr/>
                    <a:lstStyle/>
                    <a:p>
                      <a:r>
                        <a:rPr lang="zh-CN" altLang="en-US" sz="1200"/>
                        <a:t>金额（美元）</a:t>
                      </a:r>
                    </a:p>
                  </a:txBody>
                  <a:tcPr anchor="ctr"/>
                </a:tc>
                <a:extLst>
                  <a:ext uri="{0D108BD9-81ED-4DB2-BD59-A6C34878D82A}">
                    <a16:rowId xmlns:a16="http://schemas.microsoft.com/office/drawing/2014/main" val="1821496634"/>
                  </a:ext>
                </a:extLst>
              </a:tr>
              <a:tr h="0">
                <a:tc>
                  <a:txBody>
                    <a:bodyPr/>
                    <a:lstStyle/>
                    <a:p>
                      <a:r>
                        <a:rPr lang="zh-CN" altLang="en-US" sz="1200" b="1"/>
                        <a:t>收入增加</a:t>
                      </a:r>
                      <a:r>
                        <a:rPr lang="zh-CN" altLang="en-US" sz="1200"/>
                        <a:t> </a:t>
                      </a:r>
                      <a:r>
                        <a:rPr lang="en-US" altLang="zh-CN" sz="1200"/>
                        <a:t>(3,000</a:t>
                      </a:r>
                      <a:r>
                        <a:rPr lang="zh-CN" altLang="en-US" sz="1200"/>
                        <a:t>单位 </a:t>
                      </a:r>
                      <a:r>
                        <a:rPr lang="en-US" altLang="zh-CN" sz="1200"/>
                        <a:t>× $10)</a:t>
                      </a:r>
                    </a:p>
                  </a:txBody>
                  <a:tcPr anchor="ctr"/>
                </a:tc>
                <a:tc>
                  <a:txBody>
                    <a:bodyPr/>
                    <a:lstStyle/>
                    <a:p>
                      <a:r>
                        <a:rPr lang="en-US" altLang="zh-CN" sz="1200" dirty="0"/>
                        <a:t>$30,000</a:t>
                      </a:r>
                    </a:p>
                  </a:txBody>
                  <a:tcPr anchor="ctr"/>
                </a:tc>
                <a:extLst>
                  <a:ext uri="{0D108BD9-81ED-4DB2-BD59-A6C34878D82A}">
                    <a16:rowId xmlns:a16="http://schemas.microsoft.com/office/drawing/2014/main" val="1479470165"/>
                  </a:ext>
                </a:extLst>
              </a:tr>
              <a:tr h="0">
                <a:tc>
                  <a:txBody>
                    <a:bodyPr/>
                    <a:lstStyle/>
                    <a:p>
                      <a:r>
                        <a:rPr lang="zh-CN" altLang="en-US" sz="1200" b="1"/>
                        <a:t>成本增加</a:t>
                      </a:r>
                      <a:r>
                        <a:rPr lang="zh-CN" altLang="en-US" sz="1200"/>
                        <a:t> </a:t>
                      </a:r>
                      <a:r>
                        <a:rPr lang="en-US" altLang="zh-CN" sz="1200"/>
                        <a:t>(3,000</a:t>
                      </a:r>
                      <a:r>
                        <a:rPr lang="zh-CN" altLang="en-US" sz="1200"/>
                        <a:t>单位 </a:t>
                      </a:r>
                      <a:r>
                        <a:rPr lang="en-US" altLang="zh-CN" sz="1200"/>
                        <a:t>× $8</a:t>
                      </a:r>
                      <a:r>
                        <a:rPr lang="zh-CN" altLang="en-US" sz="1200"/>
                        <a:t>变动成本</a:t>
                      </a:r>
                      <a:r>
                        <a:rPr lang="en-US" altLang="zh-CN" sz="1200"/>
                        <a:t>)</a:t>
                      </a:r>
                    </a:p>
                  </a:txBody>
                  <a:tcPr anchor="ctr"/>
                </a:tc>
                <a:tc>
                  <a:txBody>
                    <a:bodyPr/>
                    <a:lstStyle/>
                    <a:p>
                      <a:r>
                        <a:rPr lang="en-US" altLang="zh-CN" sz="1200"/>
                        <a:t>24,000</a:t>
                      </a:r>
                    </a:p>
                  </a:txBody>
                  <a:tcPr anchor="ctr"/>
                </a:tc>
                <a:extLst>
                  <a:ext uri="{0D108BD9-81ED-4DB2-BD59-A6C34878D82A}">
                    <a16:rowId xmlns:a16="http://schemas.microsoft.com/office/drawing/2014/main" val="242708478"/>
                  </a:ext>
                </a:extLst>
              </a:tr>
              <a:tr h="0">
                <a:tc>
                  <a:txBody>
                    <a:bodyPr/>
                    <a:lstStyle/>
                    <a:p>
                      <a:r>
                        <a:rPr lang="zh-CN" altLang="en-US" sz="1200" b="1"/>
                        <a:t>净利润增加额</a:t>
                      </a:r>
                      <a:endParaRPr lang="zh-CN" altLang="en-US" sz="1200"/>
                    </a:p>
                  </a:txBody>
                  <a:tcPr anchor="ctr"/>
                </a:tc>
                <a:tc>
                  <a:txBody>
                    <a:bodyPr/>
                    <a:lstStyle/>
                    <a:p>
                      <a:r>
                        <a:rPr lang="en-US" altLang="zh-CN" sz="1200" b="1" dirty="0"/>
                        <a:t>$6,000</a:t>
                      </a:r>
                      <a:endParaRPr lang="zh-CN" altLang="en-US" sz="1200" dirty="0"/>
                    </a:p>
                  </a:txBody>
                  <a:tcPr anchor="ctr"/>
                </a:tc>
                <a:extLst>
                  <a:ext uri="{0D108BD9-81ED-4DB2-BD59-A6C34878D82A}">
                    <a16:rowId xmlns:a16="http://schemas.microsoft.com/office/drawing/2014/main" val="2752672551"/>
                  </a:ext>
                </a:extLst>
              </a:tr>
            </a:tbl>
          </a:graphicData>
        </a:graphic>
      </p:graphicFrame>
      <p:sp>
        <p:nvSpPr>
          <p:cNvPr id="20" name="Rectangle 1">
            <a:extLst>
              <a:ext uri="{FF2B5EF4-FFF2-40B4-BE49-F238E27FC236}">
                <a16:creationId xmlns:a16="http://schemas.microsoft.com/office/drawing/2014/main" id="{9E47BAF1-1772-45DB-A7CD-EE71342A8827}"/>
              </a:ext>
            </a:extLst>
          </p:cNvPr>
          <p:cNvSpPr>
            <a:spLocks noChangeArrowheads="1"/>
          </p:cNvSpPr>
          <p:nvPr/>
        </p:nvSpPr>
        <p:spPr bwMode="auto">
          <a:xfrm>
            <a:off x="3576056" y="1106996"/>
            <a:ext cx="589481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800" b="0" i="0" u="none" strike="noStrike" cap="none" normalizeH="0" baseline="0" dirty="0">
                <a:ln>
                  <a:noFill/>
                </a:ln>
                <a:solidFill>
                  <a:schemeClr val="tx1"/>
                </a:solidFill>
                <a:effectLst/>
                <a:latin typeface="Arial" panose="020B0604020202020204" pitchFamily="34" charset="0"/>
              </a:rPr>
              <a:t>若接受该订单，营业净利润将增加 </a:t>
            </a:r>
            <a:r>
              <a:rPr kumimoji="0" lang="zh-CN" altLang="zh-CN" sz="1800" b="1" i="0" u="none" strike="noStrike" cap="none" normalizeH="0" baseline="0" dirty="0">
                <a:ln>
                  <a:noFill/>
                </a:ln>
                <a:solidFill>
                  <a:schemeClr val="tx1"/>
                </a:solidFill>
                <a:effectLst/>
                <a:latin typeface="Arial" panose="020B0604020202020204" pitchFamily="34" charset="0"/>
              </a:rPr>
              <a:t>$6,000</a:t>
            </a:r>
            <a:r>
              <a:rPr kumimoji="0" lang="zh-CN" altLang="zh-CN"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22" name="Rectangle 3">
            <a:extLst>
              <a:ext uri="{FF2B5EF4-FFF2-40B4-BE49-F238E27FC236}">
                <a16:creationId xmlns:a16="http://schemas.microsoft.com/office/drawing/2014/main" id="{DA0D5C60-30D7-4491-BB00-A6151E4CCB04}"/>
              </a:ext>
            </a:extLst>
          </p:cNvPr>
          <p:cNvSpPr>
            <a:spLocks noChangeArrowheads="1"/>
          </p:cNvSpPr>
          <p:nvPr/>
        </p:nvSpPr>
        <p:spPr bwMode="auto">
          <a:xfrm>
            <a:off x="4641852" y="3513325"/>
            <a:ext cx="3420267"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200" b="1" i="0" u="none" strike="noStrike" cap="none" normalizeH="0" baseline="0" dirty="0">
                <a:ln>
                  <a:noFill/>
                </a:ln>
                <a:solidFill>
                  <a:schemeClr val="tx1"/>
                </a:solidFill>
                <a:effectLst/>
                <a:latin typeface="Arial" panose="020B0604020202020204" pitchFamily="34" charset="0"/>
              </a:rPr>
              <a:t>说明：</a:t>
            </a:r>
            <a:r>
              <a:rPr kumimoji="0" lang="zh-CN" altLang="zh-CN" sz="1200" b="0" i="0" u="none" strike="noStrike" cap="none" normalizeH="0" baseline="0" dirty="0">
                <a:ln>
                  <a:noFill/>
                </a:ln>
                <a:solidFill>
                  <a:schemeClr val="tx1"/>
                </a:solidFill>
                <a:effectLst/>
                <a:latin typeface="Arial" panose="020B0604020202020204" pitchFamily="34" charset="0"/>
              </a:rPr>
              <a:t> 此结论基于以下假设：</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zh-CN" altLang="zh-CN" sz="1200" b="0" i="0" u="none" strike="noStrike" cap="none" normalizeH="0" baseline="0" dirty="0">
                <a:ln>
                  <a:noFill/>
                </a:ln>
                <a:solidFill>
                  <a:schemeClr val="tx1"/>
                </a:solidFill>
                <a:effectLst/>
                <a:latin typeface="Arial" panose="020B0604020202020204" pitchFamily="34" charset="0"/>
              </a:rPr>
              <a:t>固定成本不受该订单影响；</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zh-CN" altLang="zh-CN" sz="1200" b="0" i="0" u="none" strike="noStrike" cap="none" normalizeH="0" baseline="0" dirty="0">
                <a:ln>
                  <a:noFill/>
                </a:ln>
                <a:solidFill>
                  <a:schemeClr val="tx1"/>
                </a:solidFill>
                <a:effectLst/>
                <a:latin typeface="Arial" panose="020B0604020202020204" pitchFamily="34" charset="0"/>
              </a:rPr>
              <a:t>特殊订单仍需承担变动销售费用。</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6266562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0"/>
          <p:cNvSpPr/>
          <p:nvPr/>
        </p:nvSpPr>
        <p:spPr>
          <a:xfrm>
            <a:off x="979384" y="287863"/>
            <a:ext cx="2872893" cy="412023"/>
          </a:xfrm>
          <a:custGeom>
            <a:avLst/>
            <a:gdLst/>
            <a:ahLst/>
            <a:cxnLst/>
            <a:rect l="l" t="t" r="r" b="b"/>
            <a:pathLst>
              <a:path w="2872893" h="412023">
                <a:moveTo>
                  <a:pt x="68568" y="0"/>
                </a:moveTo>
                <a:lnTo>
                  <a:pt x="2803673" y="0"/>
                </a:lnTo>
                <a:cubicBezTo>
                  <a:pt x="2841542" y="0"/>
                  <a:pt x="2872241" y="30699"/>
                  <a:pt x="2872241" y="68568"/>
                </a:cubicBezTo>
                <a:lnTo>
                  <a:pt x="2872241" y="342840"/>
                </a:lnTo>
                <a:cubicBezTo>
                  <a:pt x="2872241" y="380710"/>
                  <a:pt x="2841542" y="411409"/>
                  <a:pt x="2803673" y="411409"/>
                </a:cubicBezTo>
                <a:lnTo>
                  <a:pt x="68568" y="411409"/>
                </a:lnTo>
                <a:cubicBezTo>
                  <a:pt x="30699" y="411409"/>
                  <a:pt x="0" y="380710"/>
                  <a:pt x="0" y="342840"/>
                </a:cubicBezTo>
                <a:lnTo>
                  <a:pt x="0" y="68568"/>
                </a:lnTo>
                <a:cubicBezTo>
                  <a:pt x="0" y="30724"/>
                  <a:pt x="30724" y="0"/>
                  <a:pt x="68568" y="0"/>
                </a:cubicBezTo>
                <a:close/>
              </a:path>
            </a:pathLst>
          </a:custGeom>
          <a:solidFill>
            <a:srgbClr val="0067B4"/>
          </a:solidFill>
          <a:ln/>
          <a:effectLst>
            <a:outerShdw dist="38093" dir="2700000" algn="bl" rotWithShape="0">
              <a:srgbClr val="000000">
                <a:alpha val="38824"/>
              </a:srgbClr>
            </a:outerShdw>
          </a:effectLst>
        </p:spPr>
      </p:sp>
      <p:sp>
        <p:nvSpPr>
          <p:cNvPr id="4" name="Shape 1"/>
          <p:cNvSpPr/>
          <p:nvPr/>
        </p:nvSpPr>
        <p:spPr>
          <a:xfrm>
            <a:off x="1188456" y="329442"/>
            <a:ext cx="2735844" cy="339064"/>
          </a:xfrm>
          <a:custGeom>
            <a:avLst/>
            <a:gdLst/>
            <a:ahLst/>
            <a:cxnLst/>
            <a:rect l="l" t="t" r="r" b="b"/>
            <a:pathLst>
              <a:path w="2735844" h="339064">
                <a:moveTo>
                  <a:pt x="0" y="0"/>
                </a:moveTo>
                <a:lnTo>
                  <a:pt x="2735844" y="0"/>
                </a:lnTo>
                <a:lnTo>
                  <a:pt x="2735844" y="339064"/>
                </a:lnTo>
                <a:lnTo>
                  <a:pt x="0" y="339064"/>
                </a:lnTo>
                <a:close/>
              </a:path>
            </a:pathLst>
          </a:custGeom>
          <a:noFill/>
          <a:ln/>
        </p:spPr>
      </p:sp>
      <p:sp>
        <p:nvSpPr>
          <p:cNvPr id="5" name="Text 2"/>
          <p:cNvSpPr txBox="1"/>
          <p:nvPr/>
        </p:nvSpPr>
        <p:spPr>
          <a:xfrm>
            <a:off x="1188456" y="329442"/>
            <a:ext cx="2735844" cy="339064"/>
          </a:xfrm>
          <a:prstGeom prst="rect">
            <a:avLst/>
          </a:prstGeom>
          <a:noFill/>
          <a:ln/>
        </p:spPr>
        <p:txBody>
          <a:bodyPr wrap="square" lIns="1252" tIns="653" rIns="1252" bIns="653" rtlCol="0" anchor="t">
            <a:spAutoFit/>
          </a:bodyPr>
          <a:lstStyle/>
          <a:p>
            <a:pPr marL="0" indent="0" algn="l">
              <a:buNone/>
            </a:pPr>
            <a:r>
              <a:rPr lang="zh-CN" altLang="en-US" sz="1601" dirty="0">
                <a:solidFill>
                  <a:srgbClr val="64CBFF"/>
                </a:solidFill>
                <a:latin typeface="SourceHanSansSC-Medium"/>
                <a:ea typeface="SourceHanSansSC-Medium"/>
                <a:cs typeface="SourceHanSansSC-Medium"/>
              </a:rPr>
              <a:t>案例分析：Jet公司</a:t>
            </a:r>
            <a:endParaRPr lang="en-US" sz="1601" dirty="0"/>
          </a:p>
        </p:txBody>
      </p:sp>
      <p:sp>
        <p:nvSpPr>
          <p:cNvPr id="6" name="Shape 3"/>
          <p:cNvSpPr/>
          <p:nvPr/>
        </p:nvSpPr>
        <p:spPr>
          <a:xfrm>
            <a:off x="471488" y="198466"/>
            <a:ext cx="461756" cy="542999"/>
          </a:xfrm>
          <a:custGeom>
            <a:avLst/>
            <a:gdLst/>
            <a:ahLst/>
            <a:cxnLst/>
            <a:rect l="l" t="t" r="r" b="b"/>
            <a:pathLst>
              <a:path w="461756" h="542999">
                <a:moveTo>
                  <a:pt x="77457" y="0"/>
                </a:moveTo>
                <a:lnTo>
                  <a:pt x="384743" y="0"/>
                </a:lnTo>
                <a:cubicBezTo>
                  <a:pt x="427521" y="0"/>
                  <a:pt x="462200" y="34678"/>
                  <a:pt x="462200" y="77457"/>
                </a:cubicBezTo>
                <a:lnTo>
                  <a:pt x="462200" y="466009"/>
                </a:lnTo>
                <a:cubicBezTo>
                  <a:pt x="462200" y="508787"/>
                  <a:pt x="427521" y="543466"/>
                  <a:pt x="384743" y="543466"/>
                </a:cubicBezTo>
                <a:lnTo>
                  <a:pt x="77457" y="543466"/>
                </a:lnTo>
                <a:cubicBezTo>
                  <a:pt x="34678" y="543466"/>
                  <a:pt x="0" y="508787"/>
                  <a:pt x="0" y="466009"/>
                </a:cubicBezTo>
                <a:lnTo>
                  <a:pt x="0" y="77457"/>
                </a:lnTo>
                <a:cubicBezTo>
                  <a:pt x="0" y="34678"/>
                  <a:pt x="34678" y="0"/>
                  <a:pt x="77457" y="0"/>
                </a:cubicBezTo>
                <a:close/>
              </a:path>
            </a:pathLst>
          </a:custGeom>
          <a:solidFill>
            <a:srgbClr val="0067B4"/>
          </a:solidFill>
          <a:ln/>
          <a:effectLst>
            <a:outerShdw dist="38093" dir="2700000" algn="bl" rotWithShape="0">
              <a:srgbClr val="000000">
                <a:alpha val="38824"/>
              </a:srgbClr>
            </a:outerShdw>
          </a:effectLst>
        </p:spPr>
      </p:sp>
      <p:sp>
        <p:nvSpPr>
          <p:cNvPr id="7" name="Shape 4"/>
          <p:cNvSpPr/>
          <p:nvPr/>
        </p:nvSpPr>
        <p:spPr>
          <a:xfrm>
            <a:off x="482166" y="206110"/>
            <a:ext cx="433263" cy="535355"/>
          </a:xfrm>
          <a:custGeom>
            <a:avLst/>
            <a:gdLst/>
            <a:ahLst/>
            <a:cxnLst/>
            <a:rect l="l" t="t" r="r" b="b"/>
            <a:pathLst>
              <a:path w="433263" h="535355">
                <a:moveTo>
                  <a:pt x="73647" y="0"/>
                </a:moveTo>
                <a:lnTo>
                  <a:pt x="366966" y="0"/>
                </a:lnTo>
                <a:cubicBezTo>
                  <a:pt x="396171" y="0"/>
                  <a:pt x="421567" y="15237"/>
                  <a:pt x="432995" y="35554"/>
                </a:cubicBezTo>
                <a:cubicBezTo>
                  <a:pt x="186658" y="119359"/>
                  <a:pt x="11428" y="311096"/>
                  <a:pt x="1270" y="535847"/>
                </a:cubicBezTo>
                <a:cubicBezTo>
                  <a:pt x="0" y="533307"/>
                  <a:pt x="0" y="532038"/>
                  <a:pt x="0" y="529498"/>
                </a:cubicBezTo>
                <a:lnTo>
                  <a:pt x="0" y="60949"/>
                </a:lnTo>
                <a:cubicBezTo>
                  <a:pt x="0" y="26665"/>
                  <a:pt x="33014" y="0"/>
                  <a:pt x="73647" y="0"/>
                </a:cubicBezTo>
                <a:close/>
              </a:path>
            </a:pathLst>
          </a:custGeom>
          <a:gradFill>
            <a:gsLst>
              <a:gs pos="0">
                <a:srgbClr val="64CBFF">
                  <a:alpha val="34902"/>
                </a:srgbClr>
              </a:gs>
              <a:gs pos="100000">
                <a:srgbClr val="2F5897">
                  <a:alpha val="100000"/>
                </a:srgbClr>
              </a:gs>
            </a:gsLst>
            <a:lin ang="1200000" scaled="1"/>
          </a:gradFill>
          <a:ln/>
        </p:spPr>
      </p:sp>
      <p:pic>
        <p:nvPicPr>
          <p:cNvPr id="8" name="Image 1" descr="//img.tukuppt.com/aippt_tpl_uploads/25/07/01/686397e7ae4cf.png"/>
          <p:cNvPicPr>
            <a:picLocks noChangeAspect="1"/>
          </p:cNvPicPr>
          <p:nvPr/>
        </p:nvPicPr>
        <p:blipFill>
          <a:blip r:embed="rId3"/>
          <a:srcRect/>
          <a:stretch/>
        </p:blipFill>
        <p:spPr>
          <a:xfrm flipH="1">
            <a:off x="787710" y="346921"/>
            <a:ext cx="255659" cy="98905"/>
          </a:xfrm>
          <a:prstGeom prst="rect">
            <a:avLst/>
          </a:prstGeom>
        </p:spPr>
      </p:pic>
      <p:pic>
        <p:nvPicPr>
          <p:cNvPr id="9" name="Image 2" descr="//img.tukuppt.com/aippt_tpl_uploads/25/07/01/686397e7ae4cf.png"/>
          <p:cNvPicPr>
            <a:picLocks noChangeAspect="1"/>
          </p:cNvPicPr>
          <p:nvPr/>
        </p:nvPicPr>
        <p:blipFill>
          <a:blip r:embed="rId3"/>
          <a:srcRect/>
          <a:stretch/>
        </p:blipFill>
        <p:spPr>
          <a:xfrm flipH="1">
            <a:off x="787710" y="549201"/>
            <a:ext cx="255659" cy="98905"/>
          </a:xfrm>
          <a:prstGeom prst="rect">
            <a:avLst/>
          </a:prstGeom>
        </p:spPr>
      </p:pic>
      <p:pic>
        <p:nvPicPr>
          <p:cNvPr id="10" name="Image 3" descr="//img.tukuppt.com/aippt_tpl_uploads/25/07/01/686397e7b8f81.png"/>
          <p:cNvPicPr>
            <a:picLocks noChangeAspect="1"/>
          </p:cNvPicPr>
          <p:nvPr/>
        </p:nvPicPr>
        <p:blipFill>
          <a:blip r:embed="rId4"/>
          <a:srcRect/>
          <a:stretch/>
        </p:blipFill>
        <p:spPr>
          <a:xfrm>
            <a:off x="539206" y="312920"/>
            <a:ext cx="321318" cy="321734"/>
          </a:xfrm>
          <a:prstGeom prst="rect">
            <a:avLst/>
          </a:prstGeom>
        </p:spPr>
      </p:pic>
      <p:pic>
        <p:nvPicPr>
          <p:cNvPr id="11" name="Image 4" descr="//img.tukuppt.com/aippt_tpl_uploads/25/07/01/686397e7af1a3.png!/fwfh2/960x960"/>
          <p:cNvPicPr>
            <a:picLocks noChangeAspect="1"/>
          </p:cNvPicPr>
          <p:nvPr/>
        </p:nvPicPr>
        <p:blipFill>
          <a:blip r:embed="rId5"/>
          <a:srcRect l="36452" t="56544" b="34700"/>
          <a:stretch/>
        </p:blipFill>
        <p:spPr>
          <a:xfrm>
            <a:off x="-4836" y="-812736"/>
            <a:ext cx="9148837" cy="1019042"/>
          </a:xfrm>
          <a:prstGeom prst="rect">
            <a:avLst/>
          </a:prstGeom>
        </p:spPr>
      </p:pic>
      <p:pic>
        <p:nvPicPr>
          <p:cNvPr id="12" name="Image 5" descr="//img.tukuppt.com/aippt_tpl_uploads/25/07/01/686397e7af1a3.png!/fwfh2/960x960"/>
          <p:cNvPicPr>
            <a:picLocks noChangeAspect="1"/>
          </p:cNvPicPr>
          <p:nvPr/>
        </p:nvPicPr>
        <p:blipFill>
          <a:blip r:embed="rId5"/>
          <a:srcRect l="36452" t="56544" b="34700"/>
          <a:stretch/>
        </p:blipFill>
        <p:spPr>
          <a:xfrm>
            <a:off x="-61352" y="4937888"/>
            <a:ext cx="9313872" cy="1019042"/>
          </a:xfrm>
          <a:prstGeom prst="rect">
            <a:avLst/>
          </a:prstGeom>
        </p:spPr>
      </p:pic>
      <p:sp>
        <p:nvSpPr>
          <p:cNvPr id="13" name="Shape 5"/>
          <p:cNvSpPr/>
          <p:nvPr/>
        </p:nvSpPr>
        <p:spPr>
          <a:xfrm>
            <a:off x="1207666" y="1486485"/>
            <a:ext cx="2598059" cy="2598059"/>
          </a:xfrm>
          <a:custGeom>
            <a:avLst/>
            <a:gdLst/>
            <a:ahLst/>
            <a:cxnLst/>
            <a:rect l="l" t="t" r="r" b="b"/>
            <a:pathLst>
              <a:path w="2598059" h="2598059">
                <a:moveTo>
                  <a:pt x="1299030" y="0"/>
                </a:moveTo>
                <a:cubicBezTo>
                  <a:pt x="2015984" y="0"/>
                  <a:pt x="2598059" y="582076"/>
                  <a:pt x="2598059" y="1299030"/>
                </a:cubicBezTo>
                <a:cubicBezTo>
                  <a:pt x="2598059" y="2015984"/>
                  <a:pt x="2015984" y="2598059"/>
                  <a:pt x="1299030" y="2598059"/>
                </a:cubicBezTo>
                <a:cubicBezTo>
                  <a:pt x="582076" y="2598059"/>
                  <a:pt x="0" y="2015984"/>
                  <a:pt x="0" y="1299030"/>
                </a:cubicBezTo>
                <a:cubicBezTo>
                  <a:pt x="0" y="582076"/>
                  <a:pt x="582076" y="0"/>
                  <a:pt x="1299030" y="0"/>
                </a:cubicBezTo>
                <a:close/>
              </a:path>
            </a:pathLst>
          </a:custGeom>
          <a:blipFill rotWithShape="0">
            <a:blip r:embed="rId6">
              <a:alphaModFix/>
            </a:blip>
            <a:stretch>
              <a:fillRect l="-25000" r="-25000"/>
            </a:stretch>
          </a:blipFill>
          <a:ln/>
        </p:spPr>
      </p:sp>
      <p:sp>
        <p:nvSpPr>
          <p:cNvPr id="14" name="Shape 6"/>
          <p:cNvSpPr/>
          <p:nvPr/>
        </p:nvSpPr>
        <p:spPr>
          <a:xfrm>
            <a:off x="1207666" y="1420711"/>
            <a:ext cx="730088" cy="730088"/>
          </a:xfrm>
          <a:custGeom>
            <a:avLst/>
            <a:gdLst/>
            <a:ahLst/>
            <a:cxnLst/>
            <a:rect l="l" t="t" r="r" b="b"/>
            <a:pathLst>
              <a:path w="730088" h="730088">
                <a:moveTo>
                  <a:pt x="365044" y="0"/>
                </a:moveTo>
                <a:cubicBezTo>
                  <a:pt x="566517" y="0"/>
                  <a:pt x="730088" y="163571"/>
                  <a:pt x="730088" y="365044"/>
                </a:cubicBezTo>
                <a:cubicBezTo>
                  <a:pt x="730088" y="566517"/>
                  <a:pt x="566517" y="730088"/>
                  <a:pt x="365044" y="730088"/>
                </a:cubicBezTo>
                <a:cubicBezTo>
                  <a:pt x="163571" y="730088"/>
                  <a:pt x="0" y="566517"/>
                  <a:pt x="0" y="365044"/>
                </a:cubicBezTo>
                <a:cubicBezTo>
                  <a:pt x="0" y="163571"/>
                  <a:pt x="163571" y="0"/>
                  <a:pt x="365044" y="0"/>
                </a:cubicBezTo>
                <a:close/>
              </a:path>
            </a:pathLst>
          </a:custGeom>
          <a:solidFill>
            <a:srgbClr val="0067B4"/>
          </a:solidFill>
          <a:ln/>
        </p:spPr>
      </p:sp>
      <p:sp>
        <p:nvSpPr>
          <p:cNvPr id="15" name="Shape 7"/>
          <p:cNvSpPr/>
          <p:nvPr/>
        </p:nvSpPr>
        <p:spPr>
          <a:xfrm>
            <a:off x="2973567" y="3781985"/>
            <a:ext cx="302559" cy="302559"/>
          </a:xfrm>
          <a:custGeom>
            <a:avLst/>
            <a:gdLst/>
            <a:ahLst/>
            <a:cxnLst/>
            <a:rect l="l" t="t" r="r" b="b"/>
            <a:pathLst>
              <a:path w="302559" h="302559">
                <a:moveTo>
                  <a:pt x="151279" y="0"/>
                </a:moveTo>
                <a:cubicBezTo>
                  <a:pt x="234773" y="0"/>
                  <a:pt x="302559" y="67786"/>
                  <a:pt x="302559" y="151279"/>
                </a:cubicBezTo>
                <a:cubicBezTo>
                  <a:pt x="302559" y="234773"/>
                  <a:pt x="234773" y="302559"/>
                  <a:pt x="151279" y="302559"/>
                </a:cubicBezTo>
                <a:cubicBezTo>
                  <a:pt x="67786" y="302559"/>
                  <a:pt x="0" y="234773"/>
                  <a:pt x="0" y="151279"/>
                </a:cubicBezTo>
                <a:cubicBezTo>
                  <a:pt x="0" y="67786"/>
                  <a:pt x="67786" y="0"/>
                  <a:pt x="151279" y="0"/>
                </a:cubicBezTo>
                <a:close/>
              </a:path>
            </a:pathLst>
          </a:custGeom>
          <a:solidFill>
            <a:srgbClr val="0067B4"/>
          </a:solidFill>
          <a:ln/>
        </p:spPr>
      </p:sp>
      <p:pic>
        <p:nvPicPr>
          <p:cNvPr id="16" name="Image 6"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400846" y="1613891"/>
            <a:ext cx="343728" cy="343728"/>
          </a:xfrm>
          <a:prstGeom prst="rect">
            <a:avLst/>
          </a:prstGeom>
        </p:spPr>
      </p:pic>
      <p:sp>
        <p:nvSpPr>
          <p:cNvPr id="19" name="文本框 18">
            <a:extLst>
              <a:ext uri="{FF2B5EF4-FFF2-40B4-BE49-F238E27FC236}">
                <a16:creationId xmlns:a16="http://schemas.microsoft.com/office/drawing/2014/main" id="{EC3B803A-F199-4DCE-9E71-60E2A0319D92}"/>
              </a:ext>
            </a:extLst>
          </p:cNvPr>
          <p:cNvSpPr txBox="1"/>
          <p:nvPr/>
        </p:nvSpPr>
        <p:spPr>
          <a:xfrm>
            <a:off x="4595584" y="1579645"/>
            <a:ext cx="3832684" cy="1954381"/>
          </a:xfrm>
          <a:prstGeom prst="rect">
            <a:avLst/>
          </a:prstGeom>
          <a:noFill/>
        </p:spPr>
        <p:txBody>
          <a:bodyPr wrap="square">
            <a:spAutoFit/>
          </a:bodyPr>
          <a:lstStyle/>
          <a:p>
            <a:pPr>
              <a:spcAft>
                <a:spcPts val="600"/>
              </a:spcAft>
            </a:pPr>
            <a:r>
              <a:rPr lang="zh-CN" altLang="en-US" b="1" dirty="0"/>
              <a:t>检测 ✓</a:t>
            </a:r>
          </a:p>
          <a:p>
            <a:pPr>
              <a:spcAft>
                <a:spcPts val="600"/>
              </a:spcAft>
            </a:pPr>
            <a:r>
              <a:rPr lang="zh-CN" altLang="en-US" sz="1400" dirty="0"/>
              <a:t>北方光学公司通常以</a:t>
            </a:r>
            <a:r>
              <a:rPr lang="en-US" altLang="zh-CN" sz="1400" dirty="0"/>
              <a:t>50</a:t>
            </a:r>
            <a:r>
              <a:rPr lang="zh-CN" altLang="en-US" sz="1400" dirty="0"/>
              <a:t>美元的价格销售</a:t>
            </a:r>
            <a:r>
              <a:rPr lang="en-US" altLang="zh-CN" sz="1400" dirty="0"/>
              <a:t>X</a:t>
            </a:r>
            <a:r>
              <a:rPr lang="zh-CN" altLang="en-US" sz="1400" dirty="0"/>
              <a:t>镜片。</a:t>
            </a:r>
            <a:br>
              <a:rPr lang="zh-CN" altLang="en-US" sz="1400" dirty="0"/>
            </a:br>
            <a:r>
              <a:rPr lang="zh-CN" altLang="en-US" sz="1400" dirty="0"/>
              <a:t>单位变动生产成本为</a:t>
            </a:r>
            <a:r>
              <a:rPr lang="en-US" altLang="zh-CN" sz="1400" dirty="0"/>
              <a:t>10</a:t>
            </a:r>
            <a:r>
              <a:rPr lang="zh-CN" altLang="en-US" sz="1400" dirty="0"/>
              <a:t>美元，单位固定生产成本为</a:t>
            </a:r>
            <a:r>
              <a:rPr lang="en-US" altLang="zh-CN" sz="1400" dirty="0"/>
              <a:t>18</a:t>
            </a:r>
            <a:r>
              <a:rPr lang="zh-CN" altLang="en-US" sz="1400" dirty="0"/>
              <a:t>美元，单位变动销售成本为</a:t>
            </a:r>
            <a:r>
              <a:rPr lang="en-US" altLang="zh-CN" sz="1400" dirty="0"/>
              <a:t>1</a:t>
            </a:r>
            <a:r>
              <a:rPr lang="zh-CN" altLang="en-US" sz="1400" dirty="0"/>
              <a:t>美元。一名客户提出一份特殊订单，要求订购</a:t>
            </a:r>
            <a:r>
              <a:rPr lang="en-US" altLang="zh-CN" sz="1400" dirty="0"/>
              <a:t>10,000</a:t>
            </a:r>
            <a:r>
              <a:rPr lang="zh-CN" altLang="en-US" sz="1400" dirty="0"/>
              <a:t>片印有客户标志的</a:t>
            </a:r>
            <a:r>
              <a:rPr lang="en-US" altLang="zh-CN" sz="1400" dirty="0"/>
              <a:t>X</a:t>
            </a:r>
            <a:r>
              <a:rPr lang="zh-CN" altLang="en-US" sz="1400" dirty="0"/>
              <a:t>镜片。该特殊订单不涉及任何销售成本，但北方光学公司需要为此购买一台价值</a:t>
            </a:r>
            <a:r>
              <a:rPr lang="en-US" altLang="zh-CN" sz="1400" dirty="0"/>
              <a:t>50,000</a:t>
            </a:r>
            <a:r>
              <a:rPr lang="zh-CN" altLang="en-US" sz="1400" dirty="0"/>
              <a:t>美元的印花机。</a:t>
            </a:r>
          </a:p>
        </p:txBody>
      </p:sp>
    </p:spTree>
    <p:extLst>
      <p:ext uri="{BB962C8B-B14F-4D97-AF65-F5344CB8AC3E}">
        <p14:creationId xmlns:p14="http://schemas.microsoft.com/office/powerpoint/2010/main" val="409623036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0"/>
          <p:cNvSpPr/>
          <p:nvPr/>
        </p:nvSpPr>
        <p:spPr>
          <a:xfrm>
            <a:off x="979384" y="287863"/>
            <a:ext cx="2872893" cy="412023"/>
          </a:xfrm>
          <a:custGeom>
            <a:avLst/>
            <a:gdLst/>
            <a:ahLst/>
            <a:cxnLst/>
            <a:rect l="l" t="t" r="r" b="b"/>
            <a:pathLst>
              <a:path w="2872893" h="412023">
                <a:moveTo>
                  <a:pt x="68568" y="0"/>
                </a:moveTo>
                <a:lnTo>
                  <a:pt x="2803673" y="0"/>
                </a:lnTo>
                <a:cubicBezTo>
                  <a:pt x="2841542" y="0"/>
                  <a:pt x="2872241" y="30699"/>
                  <a:pt x="2872241" y="68568"/>
                </a:cubicBezTo>
                <a:lnTo>
                  <a:pt x="2872241" y="342840"/>
                </a:lnTo>
                <a:cubicBezTo>
                  <a:pt x="2872241" y="380710"/>
                  <a:pt x="2841542" y="411409"/>
                  <a:pt x="2803673" y="411409"/>
                </a:cubicBezTo>
                <a:lnTo>
                  <a:pt x="68568" y="411409"/>
                </a:lnTo>
                <a:cubicBezTo>
                  <a:pt x="30699" y="411409"/>
                  <a:pt x="0" y="380710"/>
                  <a:pt x="0" y="342840"/>
                </a:cubicBezTo>
                <a:lnTo>
                  <a:pt x="0" y="68568"/>
                </a:lnTo>
                <a:cubicBezTo>
                  <a:pt x="0" y="30724"/>
                  <a:pt x="30724" y="0"/>
                  <a:pt x="68568" y="0"/>
                </a:cubicBezTo>
                <a:close/>
              </a:path>
            </a:pathLst>
          </a:custGeom>
          <a:solidFill>
            <a:srgbClr val="0067B4"/>
          </a:solidFill>
          <a:ln/>
          <a:effectLst>
            <a:outerShdw dist="38093" dir="2700000" algn="bl" rotWithShape="0">
              <a:srgbClr val="000000">
                <a:alpha val="38824"/>
              </a:srgbClr>
            </a:outerShdw>
          </a:effectLst>
        </p:spPr>
      </p:sp>
      <p:sp>
        <p:nvSpPr>
          <p:cNvPr id="4" name="Shape 1"/>
          <p:cNvSpPr/>
          <p:nvPr/>
        </p:nvSpPr>
        <p:spPr>
          <a:xfrm>
            <a:off x="1188456" y="329442"/>
            <a:ext cx="2735844" cy="339064"/>
          </a:xfrm>
          <a:custGeom>
            <a:avLst/>
            <a:gdLst/>
            <a:ahLst/>
            <a:cxnLst/>
            <a:rect l="l" t="t" r="r" b="b"/>
            <a:pathLst>
              <a:path w="2735844" h="339064">
                <a:moveTo>
                  <a:pt x="0" y="0"/>
                </a:moveTo>
                <a:lnTo>
                  <a:pt x="2735844" y="0"/>
                </a:lnTo>
                <a:lnTo>
                  <a:pt x="2735844" y="339064"/>
                </a:lnTo>
                <a:lnTo>
                  <a:pt x="0" y="339064"/>
                </a:lnTo>
                <a:close/>
              </a:path>
            </a:pathLst>
          </a:custGeom>
          <a:noFill/>
          <a:ln/>
        </p:spPr>
      </p:sp>
      <p:sp>
        <p:nvSpPr>
          <p:cNvPr id="5" name="Text 2"/>
          <p:cNvSpPr txBox="1"/>
          <p:nvPr/>
        </p:nvSpPr>
        <p:spPr>
          <a:xfrm>
            <a:off x="1188456" y="329442"/>
            <a:ext cx="2735844" cy="339064"/>
          </a:xfrm>
          <a:prstGeom prst="rect">
            <a:avLst/>
          </a:prstGeom>
          <a:noFill/>
          <a:ln/>
        </p:spPr>
        <p:txBody>
          <a:bodyPr wrap="square" lIns="1252" tIns="653" rIns="1252" bIns="653" rtlCol="0" anchor="t">
            <a:spAutoFit/>
          </a:bodyPr>
          <a:lstStyle/>
          <a:p>
            <a:pPr marL="0" indent="0" algn="l">
              <a:buNone/>
            </a:pPr>
            <a:r>
              <a:rPr lang="zh-CN" altLang="en-US" sz="1601" dirty="0">
                <a:solidFill>
                  <a:srgbClr val="64CBFF"/>
                </a:solidFill>
                <a:latin typeface="SourceHanSansSC-Medium"/>
                <a:ea typeface="SourceHanSansSC-Medium"/>
                <a:cs typeface="SourceHanSansSC-Medium"/>
              </a:rPr>
              <a:t>案例分析：Jet公司</a:t>
            </a:r>
            <a:endParaRPr lang="en-US" sz="1601" dirty="0"/>
          </a:p>
        </p:txBody>
      </p:sp>
      <p:sp>
        <p:nvSpPr>
          <p:cNvPr id="6" name="Shape 3"/>
          <p:cNvSpPr/>
          <p:nvPr/>
        </p:nvSpPr>
        <p:spPr>
          <a:xfrm>
            <a:off x="471488" y="198466"/>
            <a:ext cx="461756" cy="542999"/>
          </a:xfrm>
          <a:custGeom>
            <a:avLst/>
            <a:gdLst/>
            <a:ahLst/>
            <a:cxnLst/>
            <a:rect l="l" t="t" r="r" b="b"/>
            <a:pathLst>
              <a:path w="461756" h="542999">
                <a:moveTo>
                  <a:pt x="77457" y="0"/>
                </a:moveTo>
                <a:lnTo>
                  <a:pt x="384743" y="0"/>
                </a:lnTo>
                <a:cubicBezTo>
                  <a:pt x="427521" y="0"/>
                  <a:pt x="462200" y="34678"/>
                  <a:pt x="462200" y="77457"/>
                </a:cubicBezTo>
                <a:lnTo>
                  <a:pt x="462200" y="466009"/>
                </a:lnTo>
                <a:cubicBezTo>
                  <a:pt x="462200" y="508787"/>
                  <a:pt x="427521" y="543466"/>
                  <a:pt x="384743" y="543466"/>
                </a:cubicBezTo>
                <a:lnTo>
                  <a:pt x="77457" y="543466"/>
                </a:lnTo>
                <a:cubicBezTo>
                  <a:pt x="34678" y="543466"/>
                  <a:pt x="0" y="508787"/>
                  <a:pt x="0" y="466009"/>
                </a:cubicBezTo>
                <a:lnTo>
                  <a:pt x="0" y="77457"/>
                </a:lnTo>
                <a:cubicBezTo>
                  <a:pt x="0" y="34678"/>
                  <a:pt x="34678" y="0"/>
                  <a:pt x="77457" y="0"/>
                </a:cubicBezTo>
                <a:close/>
              </a:path>
            </a:pathLst>
          </a:custGeom>
          <a:solidFill>
            <a:srgbClr val="0067B4"/>
          </a:solidFill>
          <a:ln/>
          <a:effectLst>
            <a:outerShdw dist="38093" dir="2700000" algn="bl" rotWithShape="0">
              <a:srgbClr val="000000">
                <a:alpha val="38824"/>
              </a:srgbClr>
            </a:outerShdw>
          </a:effectLst>
        </p:spPr>
      </p:sp>
      <p:sp>
        <p:nvSpPr>
          <p:cNvPr id="7" name="Shape 4"/>
          <p:cNvSpPr/>
          <p:nvPr/>
        </p:nvSpPr>
        <p:spPr>
          <a:xfrm>
            <a:off x="482166" y="206110"/>
            <a:ext cx="433263" cy="535355"/>
          </a:xfrm>
          <a:custGeom>
            <a:avLst/>
            <a:gdLst/>
            <a:ahLst/>
            <a:cxnLst/>
            <a:rect l="l" t="t" r="r" b="b"/>
            <a:pathLst>
              <a:path w="433263" h="535355">
                <a:moveTo>
                  <a:pt x="73647" y="0"/>
                </a:moveTo>
                <a:lnTo>
                  <a:pt x="366966" y="0"/>
                </a:lnTo>
                <a:cubicBezTo>
                  <a:pt x="396171" y="0"/>
                  <a:pt x="421567" y="15237"/>
                  <a:pt x="432995" y="35554"/>
                </a:cubicBezTo>
                <a:cubicBezTo>
                  <a:pt x="186658" y="119359"/>
                  <a:pt x="11428" y="311096"/>
                  <a:pt x="1270" y="535847"/>
                </a:cubicBezTo>
                <a:cubicBezTo>
                  <a:pt x="0" y="533307"/>
                  <a:pt x="0" y="532038"/>
                  <a:pt x="0" y="529498"/>
                </a:cubicBezTo>
                <a:lnTo>
                  <a:pt x="0" y="60949"/>
                </a:lnTo>
                <a:cubicBezTo>
                  <a:pt x="0" y="26665"/>
                  <a:pt x="33014" y="0"/>
                  <a:pt x="73647" y="0"/>
                </a:cubicBezTo>
                <a:close/>
              </a:path>
            </a:pathLst>
          </a:custGeom>
          <a:gradFill>
            <a:gsLst>
              <a:gs pos="0">
                <a:srgbClr val="64CBFF">
                  <a:alpha val="34902"/>
                </a:srgbClr>
              </a:gs>
              <a:gs pos="100000">
                <a:srgbClr val="2F5897">
                  <a:alpha val="100000"/>
                </a:srgbClr>
              </a:gs>
            </a:gsLst>
            <a:lin ang="1200000" scaled="1"/>
          </a:gradFill>
          <a:ln/>
        </p:spPr>
      </p:sp>
      <p:pic>
        <p:nvPicPr>
          <p:cNvPr id="8" name="Image 1" descr="//img.tukuppt.com/aippt_tpl_uploads/25/07/01/686397e7ae4cf.png"/>
          <p:cNvPicPr>
            <a:picLocks noChangeAspect="1"/>
          </p:cNvPicPr>
          <p:nvPr/>
        </p:nvPicPr>
        <p:blipFill>
          <a:blip r:embed="rId3"/>
          <a:srcRect/>
          <a:stretch/>
        </p:blipFill>
        <p:spPr>
          <a:xfrm flipH="1">
            <a:off x="787710" y="346921"/>
            <a:ext cx="255659" cy="98905"/>
          </a:xfrm>
          <a:prstGeom prst="rect">
            <a:avLst/>
          </a:prstGeom>
        </p:spPr>
      </p:pic>
      <p:pic>
        <p:nvPicPr>
          <p:cNvPr id="9" name="Image 2" descr="//img.tukuppt.com/aippt_tpl_uploads/25/07/01/686397e7ae4cf.png"/>
          <p:cNvPicPr>
            <a:picLocks noChangeAspect="1"/>
          </p:cNvPicPr>
          <p:nvPr/>
        </p:nvPicPr>
        <p:blipFill>
          <a:blip r:embed="rId3"/>
          <a:srcRect/>
          <a:stretch/>
        </p:blipFill>
        <p:spPr>
          <a:xfrm flipH="1">
            <a:off x="787710" y="549201"/>
            <a:ext cx="255659" cy="98905"/>
          </a:xfrm>
          <a:prstGeom prst="rect">
            <a:avLst/>
          </a:prstGeom>
        </p:spPr>
      </p:pic>
      <p:pic>
        <p:nvPicPr>
          <p:cNvPr id="10" name="Image 3" descr="//img.tukuppt.com/aippt_tpl_uploads/25/07/01/686397e7b8f81.png"/>
          <p:cNvPicPr>
            <a:picLocks noChangeAspect="1"/>
          </p:cNvPicPr>
          <p:nvPr/>
        </p:nvPicPr>
        <p:blipFill>
          <a:blip r:embed="rId4"/>
          <a:srcRect/>
          <a:stretch/>
        </p:blipFill>
        <p:spPr>
          <a:xfrm>
            <a:off x="539206" y="312920"/>
            <a:ext cx="321318" cy="321734"/>
          </a:xfrm>
          <a:prstGeom prst="rect">
            <a:avLst/>
          </a:prstGeom>
        </p:spPr>
      </p:pic>
      <p:pic>
        <p:nvPicPr>
          <p:cNvPr id="11" name="Image 4" descr="//img.tukuppt.com/aippt_tpl_uploads/25/07/01/686397e7af1a3.png!/fwfh2/960x960"/>
          <p:cNvPicPr>
            <a:picLocks noChangeAspect="1"/>
          </p:cNvPicPr>
          <p:nvPr/>
        </p:nvPicPr>
        <p:blipFill>
          <a:blip r:embed="rId5"/>
          <a:srcRect l="36452" t="56544" b="34700"/>
          <a:stretch/>
        </p:blipFill>
        <p:spPr>
          <a:xfrm>
            <a:off x="-4836" y="-812736"/>
            <a:ext cx="9148837" cy="1019042"/>
          </a:xfrm>
          <a:prstGeom prst="rect">
            <a:avLst/>
          </a:prstGeom>
        </p:spPr>
      </p:pic>
      <p:pic>
        <p:nvPicPr>
          <p:cNvPr id="12" name="Image 5" descr="//img.tukuppt.com/aippt_tpl_uploads/25/07/01/686397e7af1a3.png!/fwfh2/960x960"/>
          <p:cNvPicPr>
            <a:picLocks noChangeAspect="1"/>
          </p:cNvPicPr>
          <p:nvPr/>
        </p:nvPicPr>
        <p:blipFill>
          <a:blip r:embed="rId5"/>
          <a:srcRect l="36452" t="56544" b="34700"/>
          <a:stretch/>
        </p:blipFill>
        <p:spPr>
          <a:xfrm>
            <a:off x="-61352" y="4937888"/>
            <a:ext cx="9313872" cy="1019042"/>
          </a:xfrm>
          <a:prstGeom prst="rect">
            <a:avLst/>
          </a:prstGeom>
        </p:spPr>
      </p:pic>
      <p:sp>
        <p:nvSpPr>
          <p:cNvPr id="13" name="Shape 5"/>
          <p:cNvSpPr/>
          <p:nvPr/>
        </p:nvSpPr>
        <p:spPr>
          <a:xfrm>
            <a:off x="1207666" y="1486485"/>
            <a:ext cx="2598059" cy="2598059"/>
          </a:xfrm>
          <a:custGeom>
            <a:avLst/>
            <a:gdLst/>
            <a:ahLst/>
            <a:cxnLst/>
            <a:rect l="l" t="t" r="r" b="b"/>
            <a:pathLst>
              <a:path w="2598059" h="2598059">
                <a:moveTo>
                  <a:pt x="1299030" y="0"/>
                </a:moveTo>
                <a:cubicBezTo>
                  <a:pt x="2015984" y="0"/>
                  <a:pt x="2598059" y="582076"/>
                  <a:pt x="2598059" y="1299030"/>
                </a:cubicBezTo>
                <a:cubicBezTo>
                  <a:pt x="2598059" y="2015984"/>
                  <a:pt x="2015984" y="2598059"/>
                  <a:pt x="1299030" y="2598059"/>
                </a:cubicBezTo>
                <a:cubicBezTo>
                  <a:pt x="582076" y="2598059"/>
                  <a:pt x="0" y="2015984"/>
                  <a:pt x="0" y="1299030"/>
                </a:cubicBezTo>
                <a:cubicBezTo>
                  <a:pt x="0" y="582076"/>
                  <a:pt x="582076" y="0"/>
                  <a:pt x="1299030" y="0"/>
                </a:cubicBezTo>
                <a:close/>
              </a:path>
            </a:pathLst>
          </a:custGeom>
          <a:blipFill rotWithShape="0">
            <a:blip r:embed="rId6">
              <a:alphaModFix/>
            </a:blip>
            <a:stretch>
              <a:fillRect l="-25000" r="-25000"/>
            </a:stretch>
          </a:blipFill>
          <a:ln/>
        </p:spPr>
      </p:sp>
      <p:sp>
        <p:nvSpPr>
          <p:cNvPr id="14" name="Shape 6"/>
          <p:cNvSpPr/>
          <p:nvPr/>
        </p:nvSpPr>
        <p:spPr>
          <a:xfrm>
            <a:off x="1207666" y="1420711"/>
            <a:ext cx="730088" cy="730088"/>
          </a:xfrm>
          <a:custGeom>
            <a:avLst/>
            <a:gdLst/>
            <a:ahLst/>
            <a:cxnLst/>
            <a:rect l="l" t="t" r="r" b="b"/>
            <a:pathLst>
              <a:path w="730088" h="730088">
                <a:moveTo>
                  <a:pt x="365044" y="0"/>
                </a:moveTo>
                <a:cubicBezTo>
                  <a:pt x="566517" y="0"/>
                  <a:pt x="730088" y="163571"/>
                  <a:pt x="730088" y="365044"/>
                </a:cubicBezTo>
                <a:cubicBezTo>
                  <a:pt x="730088" y="566517"/>
                  <a:pt x="566517" y="730088"/>
                  <a:pt x="365044" y="730088"/>
                </a:cubicBezTo>
                <a:cubicBezTo>
                  <a:pt x="163571" y="730088"/>
                  <a:pt x="0" y="566517"/>
                  <a:pt x="0" y="365044"/>
                </a:cubicBezTo>
                <a:cubicBezTo>
                  <a:pt x="0" y="163571"/>
                  <a:pt x="163571" y="0"/>
                  <a:pt x="365044" y="0"/>
                </a:cubicBezTo>
                <a:close/>
              </a:path>
            </a:pathLst>
          </a:custGeom>
          <a:solidFill>
            <a:srgbClr val="0067B4"/>
          </a:solidFill>
          <a:ln/>
        </p:spPr>
      </p:sp>
      <p:sp>
        <p:nvSpPr>
          <p:cNvPr id="15" name="Shape 7"/>
          <p:cNvSpPr/>
          <p:nvPr/>
        </p:nvSpPr>
        <p:spPr>
          <a:xfrm>
            <a:off x="2973567" y="3781985"/>
            <a:ext cx="302559" cy="302559"/>
          </a:xfrm>
          <a:custGeom>
            <a:avLst/>
            <a:gdLst/>
            <a:ahLst/>
            <a:cxnLst/>
            <a:rect l="l" t="t" r="r" b="b"/>
            <a:pathLst>
              <a:path w="302559" h="302559">
                <a:moveTo>
                  <a:pt x="151279" y="0"/>
                </a:moveTo>
                <a:cubicBezTo>
                  <a:pt x="234773" y="0"/>
                  <a:pt x="302559" y="67786"/>
                  <a:pt x="302559" y="151279"/>
                </a:cubicBezTo>
                <a:cubicBezTo>
                  <a:pt x="302559" y="234773"/>
                  <a:pt x="234773" y="302559"/>
                  <a:pt x="151279" y="302559"/>
                </a:cubicBezTo>
                <a:cubicBezTo>
                  <a:pt x="67786" y="302559"/>
                  <a:pt x="0" y="234773"/>
                  <a:pt x="0" y="151279"/>
                </a:cubicBezTo>
                <a:cubicBezTo>
                  <a:pt x="0" y="67786"/>
                  <a:pt x="67786" y="0"/>
                  <a:pt x="151279" y="0"/>
                </a:cubicBezTo>
                <a:close/>
              </a:path>
            </a:pathLst>
          </a:custGeom>
          <a:solidFill>
            <a:srgbClr val="0067B4"/>
          </a:solidFill>
          <a:ln/>
        </p:spPr>
      </p:sp>
      <p:pic>
        <p:nvPicPr>
          <p:cNvPr id="16" name="Image 6"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400846" y="1613891"/>
            <a:ext cx="343728" cy="343728"/>
          </a:xfrm>
          <a:prstGeom prst="rect">
            <a:avLst/>
          </a:prstGeom>
        </p:spPr>
      </p:pic>
      <p:sp>
        <p:nvSpPr>
          <p:cNvPr id="19" name="文本框 18">
            <a:extLst>
              <a:ext uri="{FF2B5EF4-FFF2-40B4-BE49-F238E27FC236}">
                <a16:creationId xmlns:a16="http://schemas.microsoft.com/office/drawing/2014/main" id="{C79BC13D-963E-4F94-8192-7E06580656F6}"/>
              </a:ext>
            </a:extLst>
          </p:cNvPr>
          <p:cNvSpPr txBox="1"/>
          <p:nvPr/>
        </p:nvSpPr>
        <p:spPr>
          <a:xfrm>
            <a:off x="4569582" y="1420711"/>
            <a:ext cx="4125951" cy="2339102"/>
          </a:xfrm>
          <a:prstGeom prst="rect">
            <a:avLst/>
          </a:prstGeom>
          <a:noFill/>
        </p:spPr>
        <p:txBody>
          <a:bodyPr wrap="square">
            <a:spAutoFit/>
          </a:bodyPr>
          <a:lstStyle/>
          <a:p>
            <a:pPr>
              <a:spcAft>
                <a:spcPts val="1200"/>
              </a:spcAft>
            </a:pPr>
            <a:r>
              <a:rPr lang="zh-CN" altLang="en-US" sz="1400" b="1" dirty="0"/>
              <a:t>检测 ✓</a:t>
            </a:r>
          </a:p>
          <a:p>
            <a:pPr>
              <a:spcAft>
                <a:spcPts val="1200"/>
              </a:spcAft>
            </a:pPr>
            <a:r>
              <a:rPr lang="zh-CN" altLang="en-US" sz="1400" dirty="0"/>
              <a:t>在与客户谈判时，北方光学公司不应接受的最低价格（底价）是多少？换句话说，低于什么价格，北方光学实际上会在销售中亏损？有充足的闲置产能来完成此订单，并且印花机在此订单后无其他用途。</a:t>
            </a:r>
          </a:p>
          <a:p>
            <a:pPr>
              <a:spcAft>
                <a:spcPts val="1200"/>
              </a:spcAft>
            </a:pPr>
            <a:r>
              <a:rPr lang="en-US" altLang="zh-CN" sz="1400" dirty="0"/>
              <a:t>a. $50</a:t>
            </a:r>
            <a:br>
              <a:rPr lang="en-US" altLang="zh-CN" sz="1400" dirty="0"/>
            </a:br>
            <a:r>
              <a:rPr lang="en-US" altLang="zh-CN" sz="1400" dirty="0"/>
              <a:t>b. $10</a:t>
            </a:r>
            <a:br>
              <a:rPr lang="en-US" altLang="zh-CN" sz="1400" dirty="0"/>
            </a:br>
            <a:r>
              <a:rPr lang="en-US" altLang="zh-CN" sz="1400" dirty="0"/>
              <a:t>c. $15</a:t>
            </a:r>
            <a:br>
              <a:rPr lang="en-US" altLang="zh-CN" sz="1400" dirty="0"/>
            </a:br>
            <a:r>
              <a:rPr lang="en-US" altLang="zh-CN" sz="1400" dirty="0"/>
              <a:t>d. $29</a:t>
            </a:r>
          </a:p>
        </p:txBody>
      </p:sp>
    </p:spTree>
    <p:extLst>
      <p:ext uri="{BB962C8B-B14F-4D97-AF65-F5344CB8AC3E}">
        <p14:creationId xmlns:p14="http://schemas.microsoft.com/office/powerpoint/2010/main" val="319110016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0"/>
          <p:cNvSpPr/>
          <p:nvPr/>
        </p:nvSpPr>
        <p:spPr>
          <a:xfrm>
            <a:off x="979384" y="287863"/>
            <a:ext cx="2872893" cy="412023"/>
          </a:xfrm>
          <a:custGeom>
            <a:avLst/>
            <a:gdLst/>
            <a:ahLst/>
            <a:cxnLst/>
            <a:rect l="l" t="t" r="r" b="b"/>
            <a:pathLst>
              <a:path w="2872893" h="412023">
                <a:moveTo>
                  <a:pt x="68568" y="0"/>
                </a:moveTo>
                <a:lnTo>
                  <a:pt x="2803673" y="0"/>
                </a:lnTo>
                <a:cubicBezTo>
                  <a:pt x="2841542" y="0"/>
                  <a:pt x="2872241" y="30699"/>
                  <a:pt x="2872241" y="68568"/>
                </a:cubicBezTo>
                <a:lnTo>
                  <a:pt x="2872241" y="342840"/>
                </a:lnTo>
                <a:cubicBezTo>
                  <a:pt x="2872241" y="380710"/>
                  <a:pt x="2841542" y="411409"/>
                  <a:pt x="2803673" y="411409"/>
                </a:cubicBezTo>
                <a:lnTo>
                  <a:pt x="68568" y="411409"/>
                </a:lnTo>
                <a:cubicBezTo>
                  <a:pt x="30699" y="411409"/>
                  <a:pt x="0" y="380710"/>
                  <a:pt x="0" y="342840"/>
                </a:cubicBezTo>
                <a:lnTo>
                  <a:pt x="0" y="68568"/>
                </a:lnTo>
                <a:cubicBezTo>
                  <a:pt x="0" y="30724"/>
                  <a:pt x="30724" y="0"/>
                  <a:pt x="68568" y="0"/>
                </a:cubicBezTo>
                <a:close/>
              </a:path>
            </a:pathLst>
          </a:custGeom>
          <a:solidFill>
            <a:srgbClr val="0067B4"/>
          </a:solidFill>
          <a:ln/>
          <a:effectLst>
            <a:outerShdw dist="38093" dir="2700000" algn="bl" rotWithShape="0">
              <a:srgbClr val="000000">
                <a:alpha val="38824"/>
              </a:srgbClr>
            </a:outerShdw>
          </a:effectLst>
        </p:spPr>
      </p:sp>
      <p:sp>
        <p:nvSpPr>
          <p:cNvPr id="4" name="Shape 1"/>
          <p:cNvSpPr/>
          <p:nvPr/>
        </p:nvSpPr>
        <p:spPr>
          <a:xfrm>
            <a:off x="1188456" y="329442"/>
            <a:ext cx="2735844" cy="339064"/>
          </a:xfrm>
          <a:custGeom>
            <a:avLst/>
            <a:gdLst/>
            <a:ahLst/>
            <a:cxnLst/>
            <a:rect l="l" t="t" r="r" b="b"/>
            <a:pathLst>
              <a:path w="2735844" h="339064">
                <a:moveTo>
                  <a:pt x="0" y="0"/>
                </a:moveTo>
                <a:lnTo>
                  <a:pt x="2735844" y="0"/>
                </a:lnTo>
                <a:lnTo>
                  <a:pt x="2735844" y="339064"/>
                </a:lnTo>
                <a:lnTo>
                  <a:pt x="0" y="339064"/>
                </a:lnTo>
                <a:close/>
              </a:path>
            </a:pathLst>
          </a:custGeom>
          <a:noFill/>
          <a:ln/>
        </p:spPr>
      </p:sp>
      <p:sp>
        <p:nvSpPr>
          <p:cNvPr id="5" name="Text 2"/>
          <p:cNvSpPr txBox="1"/>
          <p:nvPr/>
        </p:nvSpPr>
        <p:spPr>
          <a:xfrm>
            <a:off x="1188456" y="329442"/>
            <a:ext cx="2735844" cy="339064"/>
          </a:xfrm>
          <a:prstGeom prst="rect">
            <a:avLst/>
          </a:prstGeom>
          <a:noFill/>
          <a:ln/>
        </p:spPr>
        <p:txBody>
          <a:bodyPr wrap="square" lIns="1252" tIns="653" rIns="1252" bIns="653" rtlCol="0" anchor="t">
            <a:spAutoFit/>
          </a:bodyPr>
          <a:lstStyle/>
          <a:p>
            <a:pPr marL="0" indent="0" algn="l">
              <a:buNone/>
            </a:pPr>
            <a:r>
              <a:rPr lang="zh-CN" altLang="en-US" sz="1601" dirty="0">
                <a:solidFill>
                  <a:srgbClr val="64CBFF"/>
                </a:solidFill>
                <a:latin typeface="SourceHanSansSC-Medium"/>
                <a:ea typeface="SourceHanSansSC-Medium"/>
                <a:cs typeface="SourceHanSansSC-Medium"/>
              </a:rPr>
              <a:t>案例分析：Jet公司</a:t>
            </a:r>
            <a:endParaRPr lang="en-US" sz="1601" dirty="0"/>
          </a:p>
        </p:txBody>
      </p:sp>
      <p:sp>
        <p:nvSpPr>
          <p:cNvPr id="6" name="Shape 3"/>
          <p:cNvSpPr/>
          <p:nvPr/>
        </p:nvSpPr>
        <p:spPr>
          <a:xfrm>
            <a:off x="471488" y="198466"/>
            <a:ext cx="461756" cy="542999"/>
          </a:xfrm>
          <a:custGeom>
            <a:avLst/>
            <a:gdLst/>
            <a:ahLst/>
            <a:cxnLst/>
            <a:rect l="l" t="t" r="r" b="b"/>
            <a:pathLst>
              <a:path w="461756" h="542999">
                <a:moveTo>
                  <a:pt x="77457" y="0"/>
                </a:moveTo>
                <a:lnTo>
                  <a:pt x="384743" y="0"/>
                </a:lnTo>
                <a:cubicBezTo>
                  <a:pt x="427521" y="0"/>
                  <a:pt x="462200" y="34678"/>
                  <a:pt x="462200" y="77457"/>
                </a:cubicBezTo>
                <a:lnTo>
                  <a:pt x="462200" y="466009"/>
                </a:lnTo>
                <a:cubicBezTo>
                  <a:pt x="462200" y="508787"/>
                  <a:pt x="427521" y="543466"/>
                  <a:pt x="384743" y="543466"/>
                </a:cubicBezTo>
                <a:lnTo>
                  <a:pt x="77457" y="543466"/>
                </a:lnTo>
                <a:cubicBezTo>
                  <a:pt x="34678" y="543466"/>
                  <a:pt x="0" y="508787"/>
                  <a:pt x="0" y="466009"/>
                </a:cubicBezTo>
                <a:lnTo>
                  <a:pt x="0" y="77457"/>
                </a:lnTo>
                <a:cubicBezTo>
                  <a:pt x="0" y="34678"/>
                  <a:pt x="34678" y="0"/>
                  <a:pt x="77457" y="0"/>
                </a:cubicBezTo>
                <a:close/>
              </a:path>
            </a:pathLst>
          </a:custGeom>
          <a:solidFill>
            <a:srgbClr val="0067B4"/>
          </a:solidFill>
          <a:ln/>
          <a:effectLst>
            <a:outerShdw dist="38093" dir="2700000" algn="bl" rotWithShape="0">
              <a:srgbClr val="000000">
                <a:alpha val="38824"/>
              </a:srgbClr>
            </a:outerShdw>
          </a:effectLst>
        </p:spPr>
      </p:sp>
      <p:sp>
        <p:nvSpPr>
          <p:cNvPr id="7" name="Shape 4"/>
          <p:cNvSpPr/>
          <p:nvPr/>
        </p:nvSpPr>
        <p:spPr>
          <a:xfrm>
            <a:off x="482166" y="206110"/>
            <a:ext cx="433263" cy="535355"/>
          </a:xfrm>
          <a:custGeom>
            <a:avLst/>
            <a:gdLst/>
            <a:ahLst/>
            <a:cxnLst/>
            <a:rect l="l" t="t" r="r" b="b"/>
            <a:pathLst>
              <a:path w="433263" h="535355">
                <a:moveTo>
                  <a:pt x="73647" y="0"/>
                </a:moveTo>
                <a:lnTo>
                  <a:pt x="366966" y="0"/>
                </a:lnTo>
                <a:cubicBezTo>
                  <a:pt x="396171" y="0"/>
                  <a:pt x="421567" y="15237"/>
                  <a:pt x="432995" y="35554"/>
                </a:cubicBezTo>
                <a:cubicBezTo>
                  <a:pt x="186658" y="119359"/>
                  <a:pt x="11428" y="311096"/>
                  <a:pt x="1270" y="535847"/>
                </a:cubicBezTo>
                <a:cubicBezTo>
                  <a:pt x="0" y="533307"/>
                  <a:pt x="0" y="532038"/>
                  <a:pt x="0" y="529498"/>
                </a:cubicBezTo>
                <a:lnTo>
                  <a:pt x="0" y="60949"/>
                </a:lnTo>
                <a:cubicBezTo>
                  <a:pt x="0" y="26665"/>
                  <a:pt x="33014" y="0"/>
                  <a:pt x="73647" y="0"/>
                </a:cubicBezTo>
                <a:close/>
              </a:path>
            </a:pathLst>
          </a:custGeom>
          <a:gradFill>
            <a:gsLst>
              <a:gs pos="0">
                <a:srgbClr val="64CBFF">
                  <a:alpha val="34902"/>
                </a:srgbClr>
              </a:gs>
              <a:gs pos="100000">
                <a:srgbClr val="2F5897">
                  <a:alpha val="100000"/>
                </a:srgbClr>
              </a:gs>
            </a:gsLst>
            <a:lin ang="1200000" scaled="1"/>
          </a:gradFill>
          <a:ln/>
        </p:spPr>
      </p:sp>
      <p:pic>
        <p:nvPicPr>
          <p:cNvPr id="8" name="Image 1" descr="//img.tukuppt.com/aippt_tpl_uploads/25/07/01/686397e7ae4cf.png"/>
          <p:cNvPicPr>
            <a:picLocks noChangeAspect="1"/>
          </p:cNvPicPr>
          <p:nvPr/>
        </p:nvPicPr>
        <p:blipFill>
          <a:blip r:embed="rId3"/>
          <a:srcRect/>
          <a:stretch/>
        </p:blipFill>
        <p:spPr>
          <a:xfrm flipH="1">
            <a:off x="787710" y="346921"/>
            <a:ext cx="255659" cy="98905"/>
          </a:xfrm>
          <a:prstGeom prst="rect">
            <a:avLst/>
          </a:prstGeom>
        </p:spPr>
      </p:pic>
      <p:pic>
        <p:nvPicPr>
          <p:cNvPr id="9" name="Image 2" descr="//img.tukuppt.com/aippt_tpl_uploads/25/07/01/686397e7ae4cf.png"/>
          <p:cNvPicPr>
            <a:picLocks noChangeAspect="1"/>
          </p:cNvPicPr>
          <p:nvPr/>
        </p:nvPicPr>
        <p:blipFill>
          <a:blip r:embed="rId3"/>
          <a:srcRect/>
          <a:stretch/>
        </p:blipFill>
        <p:spPr>
          <a:xfrm flipH="1">
            <a:off x="787710" y="549201"/>
            <a:ext cx="255659" cy="98905"/>
          </a:xfrm>
          <a:prstGeom prst="rect">
            <a:avLst/>
          </a:prstGeom>
        </p:spPr>
      </p:pic>
      <p:pic>
        <p:nvPicPr>
          <p:cNvPr id="10" name="Image 3" descr="//img.tukuppt.com/aippt_tpl_uploads/25/07/01/686397e7b8f81.png"/>
          <p:cNvPicPr>
            <a:picLocks noChangeAspect="1"/>
          </p:cNvPicPr>
          <p:nvPr/>
        </p:nvPicPr>
        <p:blipFill>
          <a:blip r:embed="rId4"/>
          <a:srcRect/>
          <a:stretch/>
        </p:blipFill>
        <p:spPr>
          <a:xfrm>
            <a:off x="539206" y="312920"/>
            <a:ext cx="321318" cy="321734"/>
          </a:xfrm>
          <a:prstGeom prst="rect">
            <a:avLst/>
          </a:prstGeom>
        </p:spPr>
      </p:pic>
      <p:pic>
        <p:nvPicPr>
          <p:cNvPr id="11" name="Image 4" descr="//img.tukuppt.com/aippt_tpl_uploads/25/07/01/686397e7af1a3.png!/fwfh2/960x960"/>
          <p:cNvPicPr>
            <a:picLocks noChangeAspect="1"/>
          </p:cNvPicPr>
          <p:nvPr/>
        </p:nvPicPr>
        <p:blipFill>
          <a:blip r:embed="rId5"/>
          <a:srcRect l="36452" t="56544" b="34700"/>
          <a:stretch/>
        </p:blipFill>
        <p:spPr>
          <a:xfrm>
            <a:off x="-4836" y="-812736"/>
            <a:ext cx="9148837" cy="1019042"/>
          </a:xfrm>
          <a:prstGeom prst="rect">
            <a:avLst/>
          </a:prstGeom>
        </p:spPr>
      </p:pic>
      <p:pic>
        <p:nvPicPr>
          <p:cNvPr id="12" name="Image 5" descr="//img.tukuppt.com/aippt_tpl_uploads/25/07/01/686397e7af1a3.png!/fwfh2/960x960"/>
          <p:cNvPicPr>
            <a:picLocks noChangeAspect="1"/>
          </p:cNvPicPr>
          <p:nvPr/>
        </p:nvPicPr>
        <p:blipFill>
          <a:blip r:embed="rId5"/>
          <a:srcRect l="36452" t="56544" b="34700"/>
          <a:stretch/>
        </p:blipFill>
        <p:spPr>
          <a:xfrm>
            <a:off x="-61352" y="4937888"/>
            <a:ext cx="9313872" cy="1019042"/>
          </a:xfrm>
          <a:prstGeom prst="rect">
            <a:avLst/>
          </a:prstGeom>
        </p:spPr>
      </p:pic>
      <p:sp>
        <p:nvSpPr>
          <p:cNvPr id="13" name="Shape 5"/>
          <p:cNvSpPr/>
          <p:nvPr/>
        </p:nvSpPr>
        <p:spPr>
          <a:xfrm>
            <a:off x="1207666" y="1486485"/>
            <a:ext cx="2598059" cy="2598059"/>
          </a:xfrm>
          <a:custGeom>
            <a:avLst/>
            <a:gdLst/>
            <a:ahLst/>
            <a:cxnLst/>
            <a:rect l="l" t="t" r="r" b="b"/>
            <a:pathLst>
              <a:path w="2598059" h="2598059">
                <a:moveTo>
                  <a:pt x="1299030" y="0"/>
                </a:moveTo>
                <a:cubicBezTo>
                  <a:pt x="2015984" y="0"/>
                  <a:pt x="2598059" y="582076"/>
                  <a:pt x="2598059" y="1299030"/>
                </a:cubicBezTo>
                <a:cubicBezTo>
                  <a:pt x="2598059" y="2015984"/>
                  <a:pt x="2015984" y="2598059"/>
                  <a:pt x="1299030" y="2598059"/>
                </a:cubicBezTo>
                <a:cubicBezTo>
                  <a:pt x="582076" y="2598059"/>
                  <a:pt x="0" y="2015984"/>
                  <a:pt x="0" y="1299030"/>
                </a:cubicBezTo>
                <a:cubicBezTo>
                  <a:pt x="0" y="582076"/>
                  <a:pt x="582076" y="0"/>
                  <a:pt x="1299030" y="0"/>
                </a:cubicBezTo>
                <a:close/>
              </a:path>
            </a:pathLst>
          </a:custGeom>
          <a:blipFill rotWithShape="0">
            <a:blip r:embed="rId6">
              <a:alphaModFix/>
            </a:blip>
            <a:stretch>
              <a:fillRect l="-25000" r="-25000"/>
            </a:stretch>
          </a:blipFill>
          <a:ln/>
        </p:spPr>
      </p:sp>
      <p:sp>
        <p:nvSpPr>
          <p:cNvPr id="14" name="Shape 6"/>
          <p:cNvSpPr/>
          <p:nvPr/>
        </p:nvSpPr>
        <p:spPr>
          <a:xfrm>
            <a:off x="1207666" y="1420711"/>
            <a:ext cx="730088" cy="730088"/>
          </a:xfrm>
          <a:custGeom>
            <a:avLst/>
            <a:gdLst/>
            <a:ahLst/>
            <a:cxnLst/>
            <a:rect l="l" t="t" r="r" b="b"/>
            <a:pathLst>
              <a:path w="730088" h="730088">
                <a:moveTo>
                  <a:pt x="365044" y="0"/>
                </a:moveTo>
                <a:cubicBezTo>
                  <a:pt x="566517" y="0"/>
                  <a:pt x="730088" y="163571"/>
                  <a:pt x="730088" y="365044"/>
                </a:cubicBezTo>
                <a:cubicBezTo>
                  <a:pt x="730088" y="566517"/>
                  <a:pt x="566517" y="730088"/>
                  <a:pt x="365044" y="730088"/>
                </a:cubicBezTo>
                <a:cubicBezTo>
                  <a:pt x="163571" y="730088"/>
                  <a:pt x="0" y="566517"/>
                  <a:pt x="0" y="365044"/>
                </a:cubicBezTo>
                <a:cubicBezTo>
                  <a:pt x="0" y="163571"/>
                  <a:pt x="163571" y="0"/>
                  <a:pt x="365044" y="0"/>
                </a:cubicBezTo>
                <a:close/>
              </a:path>
            </a:pathLst>
          </a:custGeom>
          <a:solidFill>
            <a:srgbClr val="0067B4"/>
          </a:solidFill>
          <a:ln/>
        </p:spPr>
      </p:sp>
      <p:sp>
        <p:nvSpPr>
          <p:cNvPr id="15" name="Shape 7"/>
          <p:cNvSpPr/>
          <p:nvPr/>
        </p:nvSpPr>
        <p:spPr>
          <a:xfrm>
            <a:off x="2973567" y="3781985"/>
            <a:ext cx="302559" cy="302559"/>
          </a:xfrm>
          <a:custGeom>
            <a:avLst/>
            <a:gdLst/>
            <a:ahLst/>
            <a:cxnLst/>
            <a:rect l="l" t="t" r="r" b="b"/>
            <a:pathLst>
              <a:path w="302559" h="302559">
                <a:moveTo>
                  <a:pt x="151279" y="0"/>
                </a:moveTo>
                <a:cubicBezTo>
                  <a:pt x="234773" y="0"/>
                  <a:pt x="302559" y="67786"/>
                  <a:pt x="302559" y="151279"/>
                </a:cubicBezTo>
                <a:cubicBezTo>
                  <a:pt x="302559" y="234773"/>
                  <a:pt x="234773" y="302559"/>
                  <a:pt x="151279" y="302559"/>
                </a:cubicBezTo>
                <a:cubicBezTo>
                  <a:pt x="67786" y="302559"/>
                  <a:pt x="0" y="234773"/>
                  <a:pt x="0" y="151279"/>
                </a:cubicBezTo>
                <a:cubicBezTo>
                  <a:pt x="0" y="67786"/>
                  <a:pt x="67786" y="0"/>
                  <a:pt x="151279" y="0"/>
                </a:cubicBezTo>
                <a:close/>
              </a:path>
            </a:pathLst>
          </a:custGeom>
          <a:solidFill>
            <a:srgbClr val="0067B4"/>
          </a:solidFill>
          <a:ln/>
        </p:spPr>
      </p:sp>
      <p:pic>
        <p:nvPicPr>
          <p:cNvPr id="16" name="Image 6"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400846" y="1613891"/>
            <a:ext cx="343728" cy="343728"/>
          </a:xfrm>
          <a:prstGeom prst="rect">
            <a:avLst/>
          </a:prstGeom>
        </p:spPr>
      </p:pic>
      <p:sp>
        <p:nvSpPr>
          <p:cNvPr id="19" name="文本框 18">
            <a:extLst>
              <a:ext uri="{FF2B5EF4-FFF2-40B4-BE49-F238E27FC236}">
                <a16:creationId xmlns:a16="http://schemas.microsoft.com/office/drawing/2014/main" id="{C79BC13D-963E-4F94-8192-7E06580656F6}"/>
              </a:ext>
            </a:extLst>
          </p:cNvPr>
          <p:cNvSpPr txBox="1"/>
          <p:nvPr/>
        </p:nvSpPr>
        <p:spPr>
          <a:xfrm>
            <a:off x="4569582" y="1420711"/>
            <a:ext cx="4125951" cy="2339102"/>
          </a:xfrm>
          <a:prstGeom prst="rect">
            <a:avLst/>
          </a:prstGeom>
          <a:noFill/>
        </p:spPr>
        <p:txBody>
          <a:bodyPr wrap="square">
            <a:spAutoFit/>
          </a:bodyPr>
          <a:lstStyle/>
          <a:p>
            <a:pPr>
              <a:spcAft>
                <a:spcPts val="1200"/>
              </a:spcAft>
            </a:pPr>
            <a:r>
              <a:rPr lang="zh-CN" altLang="en-US" sz="1400" b="1" dirty="0"/>
              <a:t>检测 ✓</a:t>
            </a:r>
          </a:p>
          <a:p>
            <a:pPr>
              <a:spcAft>
                <a:spcPts val="1200"/>
              </a:spcAft>
            </a:pPr>
            <a:r>
              <a:rPr lang="zh-CN" altLang="en-US" sz="1400" dirty="0"/>
              <a:t>在与客户谈判时，北方光学公司不应接受的最低价格（底价）是多少？换句话说，低于什么价格，北方光学实际上会在销售中亏损？有充足的闲置产能来完成此订单，并且印花机在此订单后无其他用途。</a:t>
            </a:r>
          </a:p>
          <a:p>
            <a:pPr>
              <a:spcAft>
                <a:spcPts val="1200"/>
              </a:spcAft>
            </a:pPr>
            <a:r>
              <a:rPr lang="en-US" altLang="zh-CN" sz="1400" dirty="0"/>
              <a:t>a. $50</a:t>
            </a:r>
            <a:br>
              <a:rPr lang="en-US" altLang="zh-CN" sz="1400" dirty="0"/>
            </a:br>
            <a:r>
              <a:rPr lang="en-US" altLang="zh-CN" sz="1400" dirty="0"/>
              <a:t>b. $10</a:t>
            </a:r>
            <a:br>
              <a:rPr lang="en-US" altLang="zh-CN" sz="1400" dirty="0"/>
            </a:br>
            <a:r>
              <a:rPr lang="en-US" altLang="zh-CN" sz="1400" dirty="0"/>
              <a:t>c. $15</a:t>
            </a:r>
            <a:br>
              <a:rPr lang="en-US" altLang="zh-CN" sz="1400" dirty="0"/>
            </a:br>
            <a:r>
              <a:rPr lang="en-US" altLang="zh-CN" sz="1400" dirty="0"/>
              <a:t>d. $29</a:t>
            </a:r>
          </a:p>
        </p:txBody>
      </p:sp>
      <p:sp>
        <p:nvSpPr>
          <p:cNvPr id="17" name="椭圆 399364">
            <a:extLst>
              <a:ext uri="{FF2B5EF4-FFF2-40B4-BE49-F238E27FC236}">
                <a16:creationId xmlns:a16="http://schemas.microsoft.com/office/drawing/2014/main" id="{F8F28E32-AC22-4C23-BC18-66D812105A40}"/>
              </a:ext>
            </a:extLst>
          </p:cNvPr>
          <p:cNvSpPr>
            <a:spLocks noChangeArrowheads="1"/>
          </p:cNvSpPr>
          <p:nvPr/>
        </p:nvSpPr>
        <p:spPr bwMode="auto">
          <a:xfrm>
            <a:off x="4607592" y="3312783"/>
            <a:ext cx="330260" cy="154373"/>
          </a:xfrm>
          <a:prstGeom prst="ellipse">
            <a:avLst/>
          </a:prstGeom>
          <a:noFill/>
          <a:ln w="50799">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a:ea typeface="宋体" panose="02010600030101010101" pitchFamily="2" charset="-122"/>
            </a:endParaRPr>
          </a:p>
        </p:txBody>
      </p:sp>
      <p:graphicFrame>
        <p:nvGraphicFramePr>
          <p:cNvPr id="2" name="表格 1">
            <a:extLst>
              <a:ext uri="{FF2B5EF4-FFF2-40B4-BE49-F238E27FC236}">
                <a16:creationId xmlns:a16="http://schemas.microsoft.com/office/drawing/2014/main" id="{B409DE57-9ED9-449F-AE39-2E3C9D0EB9C0}"/>
              </a:ext>
            </a:extLst>
          </p:cNvPr>
          <p:cNvGraphicFramePr>
            <a:graphicFrameLocks noGrp="1"/>
          </p:cNvGraphicFramePr>
          <p:nvPr>
            <p:extLst>
              <p:ext uri="{D42A27DB-BD31-4B8C-83A1-F6EECF244321}">
                <p14:modId xmlns:p14="http://schemas.microsoft.com/office/powerpoint/2010/main" val="2319074739"/>
              </p:ext>
            </p:extLst>
          </p:nvPr>
        </p:nvGraphicFramePr>
        <p:xfrm>
          <a:off x="6012271" y="3201744"/>
          <a:ext cx="2683262" cy="1371600"/>
        </p:xfrm>
        <a:graphic>
          <a:graphicData uri="http://schemas.openxmlformats.org/drawingml/2006/table">
            <a:tbl>
              <a:tblPr>
                <a:tableStyleId>{284E427A-3D55-4303-BF80-6455036E1DE7}</a:tableStyleId>
              </a:tblPr>
              <a:tblGrid>
                <a:gridCol w="1556989">
                  <a:extLst>
                    <a:ext uri="{9D8B030D-6E8A-4147-A177-3AD203B41FA5}">
                      <a16:colId xmlns:a16="http://schemas.microsoft.com/office/drawing/2014/main" val="596305028"/>
                    </a:ext>
                  </a:extLst>
                </a:gridCol>
                <a:gridCol w="1126273">
                  <a:extLst>
                    <a:ext uri="{9D8B030D-6E8A-4147-A177-3AD203B41FA5}">
                      <a16:colId xmlns:a16="http://schemas.microsoft.com/office/drawing/2014/main" val="3911049174"/>
                    </a:ext>
                  </a:extLst>
                </a:gridCol>
              </a:tblGrid>
              <a:tr h="180000">
                <a:tc>
                  <a:txBody>
                    <a:bodyPr/>
                    <a:lstStyle/>
                    <a:p>
                      <a:r>
                        <a:rPr lang="zh-CN" altLang="en-US" sz="900"/>
                        <a:t>项目</a:t>
                      </a:r>
                    </a:p>
                  </a:txBody>
                  <a:tcPr anchor="ctr"/>
                </a:tc>
                <a:tc>
                  <a:txBody>
                    <a:bodyPr/>
                    <a:lstStyle/>
                    <a:p>
                      <a:r>
                        <a:rPr lang="zh-CN" altLang="en-US" sz="900"/>
                        <a:t>金额（美元）</a:t>
                      </a:r>
                    </a:p>
                  </a:txBody>
                  <a:tcPr anchor="ctr"/>
                </a:tc>
                <a:extLst>
                  <a:ext uri="{0D108BD9-81ED-4DB2-BD59-A6C34878D82A}">
                    <a16:rowId xmlns:a16="http://schemas.microsoft.com/office/drawing/2014/main" val="1390963790"/>
                  </a:ext>
                </a:extLst>
              </a:tr>
              <a:tr h="180000">
                <a:tc>
                  <a:txBody>
                    <a:bodyPr/>
                    <a:lstStyle/>
                    <a:p>
                      <a:r>
                        <a:rPr lang="zh-CN" altLang="en-US" sz="900"/>
                        <a:t>变动生产成本</a:t>
                      </a:r>
                    </a:p>
                  </a:txBody>
                  <a:tcPr anchor="ctr"/>
                </a:tc>
                <a:tc>
                  <a:txBody>
                    <a:bodyPr/>
                    <a:lstStyle/>
                    <a:p>
                      <a:r>
                        <a:rPr lang="en-US" altLang="zh-CN" sz="900"/>
                        <a:t>$100,000</a:t>
                      </a:r>
                    </a:p>
                  </a:txBody>
                  <a:tcPr anchor="ctr"/>
                </a:tc>
                <a:extLst>
                  <a:ext uri="{0D108BD9-81ED-4DB2-BD59-A6C34878D82A}">
                    <a16:rowId xmlns:a16="http://schemas.microsoft.com/office/drawing/2014/main" val="3945757217"/>
                  </a:ext>
                </a:extLst>
              </a:tr>
              <a:tr h="180000">
                <a:tc>
                  <a:txBody>
                    <a:bodyPr/>
                    <a:lstStyle/>
                    <a:p>
                      <a:r>
                        <a:rPr lang="zh-CN" altLang="en-US" sz="900"/>
                        <a:t>额外固定成本</a:t>
                      </a:r>
                    </a:p>
                  </a:txBody>
                  <a:tcPr anchor="ctr"/>
                </a:tc>
                <a:tc>
                  <a:txBody>
                    <a:bodyPr/>
                    <a:lstStyle/>
                    <a:p>
                      <a:r>
                        <a:rPr lang="en-US" altLang="zh-CN" sz="900"/>
                        <a:t>+ $50,000</a:t>
                      </a:r>
                    </a:p>
                  </a:txBody>
                  <a:tcPr anchor="ctr"/>
                </a:tc>
                <a:extLst>
                  <a:ext uri="{0D108BD9-81ED-4DB2-BD59-A6C34878D82A}">
                    <a16:rowId xmlns:a16="http://schemas.microsoft.com/office/drawing/2014/main" val="2915000881"/>
                  </a:ext>
                </a:extLst>
              </a:tr>
              <a:tr h="180000">
                <a:tc>
                  <a:txBody>
                    <a:bodyPr/>
                    <a:lstStyle/>
                    <a:p>
                      <a:r>
                        <a:rPr lang="zh-CN" altLang="en-US" sz="900" b="1"/>
                        <a:t>相关成本总计</a:t>
                      </a:r>
                      <a:endParaRPr lang="zh-CN" altLang="en-US" sz="900"/>
                    </a:p>
                  </a:txBody>
                  <a:tcPr anchor="ctr"/>
                </a:tc>
                <a:tc>
                  <a:txBody>
                    <a:bodyPr/>
                    <a:lstStyle/>
                    <a:p>
                      <a:r>
                        <a:rPr lang="en-US" altLang="zh-CN" sz="900" b="1"/>
                        <a:t>$150,000</a:t>
                      </a:r>
                      <a:endParaRPr lang="zh-CN" altLang="en-US" sz="900"/>
                    </a:p>
                  </a:txBody>
                  <a:tcPr anchor="ctr"/>
                </a:tc>
                <a:extLst>
                  <a:ext uri="{0D108BD9-81ED-4DB2-BD59-A6C34878D82A}">
                    <a16:rowId xmlns:a16="http://schemas.microsoft.com/office/drawing/2014/main" val="218440814"/>
                  </a:ext>
                </a:extLst>
              </a:tr>
              <a:tr h="180000">
                <a:tc>
                  <a:txBody>
                    <a:bodyPr/>
                    <a:lstStyle/>
                    <a:p>
                      <a:r>
                        <a:rPr lang="zh-CN" altLang="en-US" sz="900" b="1"/>
                        <a:t>订购数量</a:t>
                      </a:r>
                      <a:endParaRPr lang="zh-CN" altLang="en-US" sz="900"/>
                    </a:p>
                  </a:txBody>
                  <a:tcPr anchor="ctr"/>
                </a:tc>
                <a:tc>
                  <a:txBody>
                    <a:bodyPr/>
                    <a:lstStyle/>
                    <a:p>
                      <a:r>
                        <a:rPr lang="en-US" altLang="zh-CN" sz="900" b="1"/>
                        <a:t>10,000</a:t>
                      </a:r>
                      <a:r>
                        <a:rPr lang="zh-CN" altLang="en-US" sz="900" b="1"/>
                        <a:t>单位</a:t>
                      </a:r>
                      <a:endParaRPr lang="zh-CN" altLang="en-US" sz="900"/>
                    </a:p>
                  </a:txBody>
                  <a:tcPr anchor="ctr"/>
                </a:tc>
                <a:extLst>
                  <a:ext uri="{0D108BD9-81ED-4DB2-BD59-A6C34878D82A}">
                    <a16:rowId xmlns:a16="http://schemas.microsoft.com/office/drawing/2014/main" val="168800067"/>
                  </a:ext>
                </a:extLst>
              </a:tr>
              <a:tr h="180000">
                <a:tc>
                  <a:txBody>
                    <a:bodyPr/>
                    <a:lstStyle/>
                    <a:p>
                      <a:r>
                        <a:rPr lang="zh-CN" altLang="en-US" sz="900" b="1"/>
                        <a:t>平均单位成本</a:t>
                      </a:r>
                      <a:endParaRPr lang="zh-CN" altLang="en-US" sz="900"/>
                    </a:p>
                  </a:txBody>
                  <a:tcPr anchor="ctr"/>
                </a:tc>
                <a:tc>
                  <a:txBody>
                    <a:bodyPr/>
                    <a:lstStyle/>
                    <a:p>
                      <a:r>
                        <a:rPr lang="en-US" altLang="zh-CN" sz="900" b="1" dirty="0"/>
                        <a:t>$15/</a:t>
                      </a:r>
                      <a:r>
                        <a:rPr lang="zh-CN" altLang="en-US" sz="900" b="1" dirty="0"/>
                        <a:t>单位</a:t>
                      </a:r>
                      <a:endParaRPr lang="zh-CN" altLang="en-US" sz="900" dirty="0"/>
                    </a:p>
                  </a:txBody>
                  <a:tcPr anchor="ctr"/>
                </a:tc>
                <a:extLst>
                  <a:ext uri="{0D108BD9-81ED-4DB2-BD59-A6C34878D82A}">
                    <a16:rowId xmlns:a16="http://schemas.microsoft.com/office/drawing/2014/main" val="3966412327"/>
                  </a:ext>
                </a:extLst>
              </a:tr>
            </a:tbl>
          </a:graphicData>
        </a:graphic>
      </p:graphicFrame>
    </p:spTree>
    <p:extLst>
      <p:ext uri="{BB962C8B-B14F-4D97-AF65-F5344CB8AC3E}">
        <p14:creationId xmlns:p14="http://schemas.microsoft.com/office/powerpoint/2010/main" val="294238614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3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img.tukuppt.com/aippt_tpl_uploads/25/07/01/686397e7a6107.png"/>
          <p:cNvPicPr>
            <a:picLocks noChangeAspect="1"/>
          </p:cNvPicPr>
          <p:nvPr/>
        </p:nvPicPr>
        <p:blipFill>
          <a:blip r:embed="rId4"/>
          <a:srcRect/>
          <a:stretch/>
        </p:blipFill>
        <p:spPr>
          <a:xfrm flipH="1">
            <a:off x="-1744075" y="-312485"/>
            <a:ext cx="6071588" cy="5942568"/>
          </a:xfrm>
          <a:prstGeom prst="rect">
            <a:avLst/>
          </a:prstGeom>
        </p:spPr>
      </p:pic>
      <p:sp>
        <p:nvSpPr>
          <p:cNvPr id="3" name="Text 0"/>
          <p:cNvSpPr txBox="1"/>
          <p:nvPr/>
        </p:nvSpPr>
        <p:spPr>
          <a:xfrm>
            <a:off x="4118077" y="1908001"/>
            <a:ext cx="4105275" cy="1371600"/>
          </a:xfrm>
          <a:prstGeom prst="rect">
            <a:avLst/>
          </a:prstGeom>
          <a:noFill/>
          <a:ln/>
        </p:spPr>
        <p:txBody>
          <a:bodyPr wrap="square" lIns="0" tIns="0" rIns="0" bIns="0" rtlCol="0" anchor="t">
            <a:spAutoFit/>
          </a:bodyPr>
          <a:lstStyle/>
          <a:p>
            <a:pPr marL="0" indent="0" algn="l">
              <a:lnSpc>
                <a:spcPct val="96000"/>
              </a:lnSpc>
              <a:buNone/>
            </a:pPr>
            <a:r>
              <a:rPr lang="zh-CN" altLang="en-US" sz="4500" dirty="0">
                <a:solidFill>
                  <a:srgbClr val="0067B4"/>
                </a:solidFill>
                <a:latin typeface="SourceHanSansSC-Heavy"/>
                <a:ea typeface="SourceHanSansSC-Heavy"/>
                <a:cs typeface="SourceHanSansSC-Heavy"/>
              </a:rPr>
              <a:t>约束资源利用决策</a:t>
            </a:r>
            <a:endParaRPr lang="en-US" sz="4500" dirty="0"/>
          </a:p>
        </p:txBody>
      </p:sp>
      <p:sp>
        <p:nvSpPr>
          <p:cNvPr id="4" name="Text 1"/>
          <p:cNvSpPr txBox="1"/>
          <p:nvPr/>
        </p:nvSpPr>
        <p:spPr>
          <a:xfrm>
            <a:off x="4118077" y="1357413"/>
            <a:ext cx="1038225" cy="409575"/>
          </a:xfrm>
          <a:prstGeom prst="rect">
            <a:avLst/>
          </a:prstGeom>
          <a:noFill/>
          <a:ln/>
        </p:spPr>
        <p:txBody>
          <a:bodyPr wrap="square" lIns="0" tIns="0" rIns="0" bIns="0" rtlCol="0" anchor="t">
            <a:spAutoFit/>
          </a:bodyPr>
          <a:lstStyle/>
          <a:p>
            <a:pPr marL="0" indent="0" algn="ctr">
              <a:lnSpc>
                <a:spcPct val="96000"/>
              </a:lnSpc>
              <a:buNone/>
            </a:pPr>
            <a:r>
              <a:rPr lang="en" altLang="en-US" sz="2700" dirty="0">
                <a:solidFill>
                  <a:srgbClr val="000000"/>
                </a:solidFill>
                <a:latin typeface="SourceHanSansSC-Heavy"/>
                <a:ea typeface="SourceHanSansSC-Heavy"/>
                <a:cs typeface="SourceHanSansSC-Heavy"/>
              </a:rPr>
              <a:t>PART-</a:t>
            </a:r>
            <a:endParaRPr lang="en-US" sz="2700" dirty="0"/>
          </a:p>
        </p:txBody>
      </p:sp>
      <p:sp>
        <p:nvSpPr>
          <p:cNvPr id="5" name="Text 2"/>
          <p:cNvSpPr txBox="1"/>
          <p:nvPr/>
        </p:nvSpPr>
        <p:spPr>
          <a:xfrm>
            <a:off x="5156302" y="1357413"/>
            <a:ext cx="1038225" cy="409575"/>
          </a:xfrm>
          <a:prstGeom prst="rect">
            <a:avLst/>
          </a:prstGeom>
          <a:noFill/>
          <a:ln/>
        </p:spPr>
        <p:txBody>
          <a:bodyPr wrap="square" lIns="0" tIns="0" rIns="0" bIns="0" rtlCol="0" anchor="t">
            <a:spAutoFit/>
          </a:bodyPr>
          <a:lstStyle/>
          <a:p>
            <a:pPr marL="0" indent="0" algn="l">
              <a:lnSpc>
                <a:spcPct val="96000"/>
              </a:lnSpc>
              <a:buNone/>
            </a:pPr>
            <a:r>
              <a:rPr lang="en-US" sz="2700" dirty="0">
                <a:solidFill>
                  <a:srgbClr val="000000"/>
                </a:solidFill>
                <a:latin typeface="SourceHanSansSC-Heavy"/>
                <a:ea typeface="SourceHanSansSC-Heavy"/>
                <a:cs typeface="SourceHanSansSC-Heavy"/>
              </a:rPr>
              <a:t>08</a:t>
            </a:r>
            <a:endParaRPr lang="en-US" sz="27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pic>
        <p:nvPicPr>
          <p:cNvPr id="2" name="Image 0" descr="//img.tukuppt.com/aippt_uploads/34576449/25/07/03/6866a18678cda.png!/fwfh2/960x960"/>
          <p:cNvPicPr>
            <a:picLocks noChangeAspect="1"/>
          </p:cNvPicPr>
          <p:nvPr/>
        </p:nvPicPr>
        <p:blipFill>
          <a:blip r:embed="rId3"/>
          <a:stretch>
            <a:fillRect/>
          </a:stretch>
        </p:blipFill>
        <p:spPr>
          <a:xfrm>
            <a:off x="0" y="0"/>
            <a:ext cx="9140180" cy="5131830"/>
          </a:xfrm>
          <a:prstGeom prst="rect">
            <a:avLst/>
          </a:prstGeom>
        </p:spPr>
      </p:pic>
      <p:sp>
        <p:nvSpPr>
          <p:cNvPr id="3" name="Shape 0"/>
          <p:cNvSpPr/>
          <p:nvPr/>
        </p:nvSpPr>
        <p:spPr>
          <a:xfrm>
            <a:off x="979384" y="287863"/>
            <a:ext cx="2872893" cy="412023"/>
          </a:xfrm>
          <a:custGeom>
            <a:avLst/>
            <a:gdLst/>
            <a:ahLst/>
            <a:cxnLst/>
            <a:rect l="l" t="t" r="r" b="b"/>
            <a:pathLst>
              <a:path w="2872893" h="412023">
                <a:moveTo>
                  <a:pt x="68568" y="0"/>
                </a:moveTo>
                <a:lnTo>
                  <a:pt x="2803673" y="0"/>
                </a:lnTo>
                <a:cubicBezTo>
                  <a:pt x="2841542" y="0"/>
                  <a:pt x="2872241" y="30699"/>
                  <a:pt x="2872241" y="68568"/>
                </a:cubicBezTo>
                <a:lnTo>
                  <a:pt x="2872241" y="342840"/>
                </a:lnTo>
                <a:cubicBezTo>
                  <a:pt x="2872241" y="380710"/>
                  <a:pt x="2841542" y="411409"/>
                  <a:pt x="2803673" y="411409"/>
                </a:cubicBezTo>
                <a:lnTo>
                  <a:pt x="68568" y="411409"/>
                </a:lnTo>
                <a:cubicBezTo>
                  <a:pt x="30699" y="411409"/>
                  <a:pt x="0" y="380710"/>
                  <a:pt x="0" y="342840"/>
                </a:cubicBezTo>
                <a:lnTo>
                  <a:pt x="0" y="68568"/>
                </a:lnTo>
                <a:cubicBezTo>
                  <a:pt x="0" y="30724"/>
                  <a:pt x="30724" y="0"/>
                  <a:pt x="68568" y="0"/>
                </a:cubicBezTo>
                <a:close/>
              </a:path>
            </a:pathLst>
          </a:custGeom>
          <a:solidFill>
            <a:srgbClr val="0067B4"/>
          </a:solidFill>
          <a:ln/>
          <a:effectLst>
            <a:outerShdw dist="38093" dir="2700000" algn="bl" rotWithShape="0">
              <a:srgbClr val="000000">
                <a:alpha val="38824"/>
              </a:srgbClr>
            </a:outerShdw>
          </a:effectLst>
        </p:spPr>
      </p:sp>
      <p:sp>
        <p:nvSpPr>
          <p:cNvPr id="4" name="Shape 1"/>
          <p:cNvSpPr/>
          <p:nvPr/>
        </p:nvSpPr>
        <p:spPr>
          <a:xfrm>
            <a:off x="1188456" y="329442"/>
            <a:ext cx="2735844" cy="339064"/>
          </a:xfrm>
          <a:custGeom>
            <a:avLst/>
            <a:gdLst/>
            <a:ahLst/>
            <a:cxnLst/>
            <a:rect l="l" t="t" r="r" b="b"/>
            <a:pathLst>
              <a:path w="2735844" h="339064">
                <a:moveTo>
                  <a:pt x="0" y="0"/>
                </a:moveTo>
                <a:lnTo>
                  <a:pt x="2735844" y="0"/>
                </a:lnTo>
                <a:lnTo>
                  <a:pt x="2735844" y="339064"/>
                </a:lnTo>
                <a:lnTo>
                  <a:pt x="0" y="339064"/>
                </a:lnTo>
                <a:close/>
              </a:path>
            </a:pathLst>
          </a:custGeom>
          <a:noFill/>
          <a:ln/>
        </p:spPr>
      </p:sp>
      <p:sp>
        <p:nvSpPr>
          <p:cNvPr id="5" name="Text 2"/>
          <p:cNvSpPr txBox="1"/>
          <p:nvPr/>
        </p:nvSpPr>
        <p:spPr>
          <a:xfrm>
            <a:off x="1188456" y="329442"/>
            <a:ext cx="2735844" cy="339064"/>
          </a:xfrm>
          <a:prstGeom prst="rect">
            <a:avLst/>
          </a:prstGeom>
          <a:noFill/>
          <a:ln/>
        </p:spPr>
        <p:txBody>
          <a:bodyPr wrap="square" lIns="1252" tIns="653" rIns="1252" bIns="653" rtlCol="0" anchor="t">
            <a:spAutoFit/>
          </a:bodyPr>
          <a:lstStyle/>
          <a:p>
            <a:pPr marL="0" indent="0" algn="l">
              <a:buNone/>
            </a:pPr>
            <a:r>
              <a:rPr lang="zh-CN" altLang="en-US" sz="1601" dirty="0">
                <a:solidFill>
                  <a:srgbClr val="64CBFF"/>
                </a:solidFill>
                <a:latin typeface="SourceHanSansSC-Medium"/>
                <a:ea typeface="SourceHanSansSC-Medium"/>
                <a:cs typeface="SourceHanSansSC-Medium"/>
              </a:rPr>
              <a:t>约束资源概念</a:t>
            </a:r>
            <a:endParaRPr lang="en-US" sz="1601" dirty="0"/>
          </a:p>
        </p:txBody>
      </p:sp>
      <p:sp>
        <p:nvSpPr>
          <p:cNvPr id="6" name="Shape 3"/>
          <p:cNvSpPr/>
          <p:nvPr/>
        </p:nvSpPr>
        <p:spPr>
          <a:xfrm>
            <a:off x="471488" y="198466"/>
            <a:ext cx="461756" cy="542999"/>
          </a:xfrm>
          <a:custGeom>
            <a:avLst/>
            <a:gdLst/>
            <a:ahLst/>
            <a:cxnLst/>
            <a:rect l="l" t="t" r="r" b="b"/>
            <a:pathLst>
              <a:path w="461756" h="542999">
                <a:moveTo>
                  <a:pt x="77457" y="0"/>
                </a:moveTo>
                <a:lnTo>
                  <a:pt x="384743" y="0"/>
                </a:lnTo>
                <a:cubicBezTo>
                  <a:pt x="427521" y="0"/>
                  <a:pt x="462200" y="34678"/>
                  <a:pt x="462200" y="77457"/>
                </a:cubicBezTo>
                <a:lnTo>
                  <a:pt x="462200" y="466009"/>
                </a:lnTo>
                <a:cubicBezTo>
                  <a:pt x="462200" y="508787"/>
                  <a:pt x="427521" y="543466"/>
                  <a:pt x="384743" y="543466"/>
                </a:cubicBezTo>
                <a:lnTo>
                  <a:pt x="77457" y="543466"/>
                </a:lnTo>
                <a:cubicBezTo>
                  <a:pt x="34678" y="543466"/>
                  <a:pt x="0" y="508787"/>
                  <a:pt x="0" y="466009"/>
                </a:cubicBezTo>
                <a:lnTo>
                  <a:pt x="0" y="77457"/>
                </a:lnTo>
                <a:cubicBezTo>
                  <a:pt x="0" y="34678"/>
                  <a:pt x="34678" y="0"/>
                  <a:pt x="77457" y="0"/>
                </a:cubicBezTo>
                <a:close/>
              </a:path>
            </a:pathLst>
          </a:custGeom>
          <a:solidFill>
            <a:srgbClr val="0067B4"/>
          </a:solidFill>
          <a:ln/>
          <a:effectLst>
            <a:outerShdw dist="38093" dir="2700000" algn="bl" rotWithShape="0">
              <a:srgbClr val="000000">
                <a:alpha val="38824"/>
              </a:srgbClr>
            </a:outerShdw>
          </a:effectLst>
        </p:spPr>
      </p:sp>
      <p:sp>
        <p:nvSpPr>
          <p:cNvPr id="7" name="Shape 4"/>
          <p:cNvSpPr/>
          <p:nvPr/>
        </p:nvSpPr>
        <p:spPr>
          <a:xfrm>
            <a:off x="482166" y="206110"/>
            <a:ext cx="433263" cy="535355"/>
          </a:xfrm>
          <a:custGeom>
            <a:avLst/>
            <a:gdLst/>
            <a:ahLst/>
            <a:cxnLst/>
            <a:rect l="l" t="t" r="r" b="b"/>
            <a:pathLst>
              <a:path w="433263" h="535355">
                <a:moveTo>
                  <a:pt x="73647" y="0"/>
                </a:moveTo>
                <a:lnTo>
                  <a:pt x="366966" y="0"/>
                </a:lnTo>
                <a:cubicBezTo>
                  <a:pt x="396171" y="0"/>
                  <a:pt x="421567" y="15237"/>
                  <a:pt x="432995" y="35554"/>
                </a:cubicBezTo>
                <a:cubicBezTo>
                  <a:pt x="186658" y="119359"/>
                  <a:pt x="11428" y="311096"/>
                  <a:pt x="1270" y="535847"/>
                </a:cubicBezTo>
                <a:cubicBezTo>
                  <a:pt x="0" y="533307"/>
                  <a:pt x="0" y="532038"/>
                  <a:pt x="0" y="529498"/>
                </a:cubicBezTo>
                <a:lnTo>
                  <a:pt x="0" y="60949"/>
                </a:lnTo>
                <a:cubicBezTo>
                  <a:pt x="0" y="26665"/>
                  <a:pt x="33014" y="0"/>
                  <a:pt x="73647" y="0"/>
                </a:cubicBezTo>
                <a:close/>
              </a:path>
            </a:pathLst>
          </a:custGeom>
          <a:gradFill>
            <a:gsLst>
              <a:gs pos="0">
                <a:srgbClr val="64CBFF">
                  <a:alpha val="34902"/>
                </a:srgbClr>
              </a:gs>
              <a:gs pos="100000">
                <a:srgbClr val="2F5897">
                  <a:alpha val="100000"/>
                </a:srgbClr>
              </a:gs>
            </a:gsLst>
            <a:lin ang="1200000" scaled="1"/>
          </a:gradFill>
          <a:ln/>
        </p:spPr>
      </p:sp>
      <p:pic>
        <p:nvPicPr>
          <p:cNvPr id="8" name="Image 1" descr="//img.tukuppt.com/aippt_tpl_uploads/25/07/01/686397e7ae4cf.png"/>
          <p:cNvPicPr>
            <a:picLocks noChangeAspect="1"/>
          </p:cNvPicPr>
          <p:nvPr/>
        </p:nvPicPr>
        <p:blipFill>
          <a:blip r:embed="rId4"/>
          <a:srcRect/>
          <a:stretch/>
        </p:blipFill>
        <p:spPr>
          <a:xfrm flipH="1">
            <a:off x="787710" y="346921"/>
            <a:ext cx="255659" cy="98905"/>
          </a:xfrm>
          <a:prstGeom prst="rect">
            <a:avLst/>
          </a:prstGeom>
        </p:spPr>
      </p:pic>
      <p:pic>
        <p:nvPicPr>
          <p:cNvPr id="9" name="Image 2" descr="//img.tukuppt.com/aippt_tpl_uploads/25/07/01/686397e7ae4cf.png"/>
          <p:cNvPicPr>
            <a:picLocks noChangeAspect="1"/>
          </p:cNvPicPr>
          <p:nvPr/>
        </p:nvPicPr>
        <p:blipFill>
          <a:blip r:embed="rId4"/>
          <a:srcRect/>
          <a:stretch/>
        </p:blipFill>
        <p:spPr>
          <a:xfrm flipH="1">
            <a:off x="787710" y="549201"/>
            <a:ext cx="255659" cy="98905"/>
          </a:xfrm>
          <a:prstGeom prst="rect">
            <a:avLst/>
          </a:prstGeom>
        </p:spPr>
      </p:pic>
      <p:pic>
        <p:nvPicPr>
          <p:cNvPr id="10" name="Image 3" descr="//img.tukuppt.com/aippt_tpl_uploads/25/07/01/686397e7b8f81.png"/>
          <p:cNvPicPr>
            <a:picLocks noChangeAspect="1"/>
          </p:cNvPicPr>
          <p:nvPr/>
        </p:nvPicPr>
        <p:blipFill>
          <a:blip r:embed="rId5"/>
          <a:srcRect/>
          <a:stretch/>
        </p:blipFill>
        <p:spPr>
          <a:xfrm>
            <a:off x="539206" y="312920"/>
            <a:ext cx="321318" cy="321734"/>
          </a:xfrm>
          <a:prstGeom prst="rect">
            <a:avLst/>
          </a:prstGeom>
        </p:spPr>
      </p:pic>
      <p:pic>
        <p:nvPicPr>
          <p:cNvPr id="11" name="Image 4" descr="//img.tukuppt.com/aippt_tpl_uploads/25/07/01/686397e7af1a3.png!/fwfh2/960x960"/>
          <p:cNvPicPr>
            <a:picLocks noChangeAspect="1"/>
          </p:cNvPicPr>
          <p:nvPr/>
        </p:nvPicPr>
        <p:blipFill>
          <a:blip r:embed="rId6"/>
          <a:srcRect l="36452" t="56544" b="34700"/>
          <a:stretch/>
        </p:blipFill>
        <p:spPr>
          <a:xfrm>
            <a:off x="-4836" y="-812736"/>
            <a:ext cx="9148837" cy="1019042"/>
          </a:xfrm>
          <a:prstGeom prst="rect">
            <a:avLst/>
          </a:prstGeom>
        </p:spPr>
      </p:pic>
      <p:pic>
        <p:nvPicPr>
          <p:cNvPr id="12" name="Image 5" descr="//img.tukuppt.com/aippt_tpl_uploads/25/07/01/686397e7af1a3.png!/fwfh2/960x960"/>
          <p:cNvPicPr>
            <a:picLocks noChangeAspect="1"/>
          </p:cNvPicPr>
          <p:nvPr/>
        </p:nvPicPr>
        <p:blipFill>
          <a:blip r:embed="rId6"/>
          <a:srcRect l="36452" t="56544" b="34700"/>
          <a:stretch/>
        </p:blipFill>
        <p:spPr>
          <a:xfrm>
            <a:off x="-61352" y="4937888"/>
            <a:ext cx="9313872" cy="1019042"/>
          </a:xfrm>
          <a:prstGeom prst="rect">
            <a:avLst/>
          </a:prstGeom>
        </p:spPr>
      </p:pic>
      <p:sp>
        <p:nvSpPr>
          <p:cNvPr id="13" name="Shape 5"/>
          <p:cNvSpPr/>
          <p:nvPr/>
        </p:nvSpPr>
        <p:spPr>
          <a:xfrm>
            <a:off x="826616" y="1692055"/>
            <a:ext cx="3319219" cy="2127897"/>
          </a:xfrm>
          <a:custGeom>
            <a:avLst/>
            <a:gdLst/>
            <a:ahLst/>
            <a:cxnLst/>
            <a:rect l="l" t="t" r="r" b="b"/>
            <a:pathLst>
              <a:path w="3319219" h="2127897">
                <a:moveTo>
                  <a:pt x="0" y="0"/>
                </a:moveTo>
                <a:lnTo>
                  <a:pt x="2323453" y="0"/>
                </a:lnTo>
                <a:lnTo>
                  <a:pt x="3319219" y="1063948"/>
                </a:lnTo>
                <a:lnTo>
                  <a:pt x="2323453" y="2127897"/>
                </a:lnTo>
                <a:lnTo>
                  <a:pt x="0" y="2127897"/>
                </a:lnTo>
                <a:lnTo>
                  <a:pt x="0" y="1063948"/>
                </a:lnTo>
                <a:lnTo>
                  <a:pt x="0" y="0"/>
                </a:lnTo>
                <a:close/>
              </a:path>
            </a:pathLst>
          </a:custGeom>
          <a:blipFill rotWithShape="0">
            <a:blip r:embed="rId7">
              <a:alphaModFix/>
            </a:blip>
            <a:stretch>
              <a:fillRect l="-4920" r="-4920"/>
            </a:stretch>
          </a:blipFill>
          <a:ln/>
        </p:spPr>
      </p:sp>
      <p:sp>
        <p:nvSpPr>
          <p:cNvPr id="14" name="Shape 6"/>
          <p:cNvSpPr/>
          <p:nvPr/>
        </p:nvSpPr>
        <p:spPr>
          <a:xfrm>
            <a:off x="826616" y="1692055"/>
            <a:ext cx="676063" cy="2128346"/>
          </a:xfrm>
          <a:custGeom>
            <a:avLst/>
            <a:gdLst/>
            <a:ahLst/>
            <a:cxnLst/>
            <a:rect l="l" t="t" r="r" b="b"/>
            <a:pathLst>
              <a:path w="676063" h="2128346">
                <a:moveTo>
                  <a:pt x="0" y="0"/>
                </a:moveTo>
                <a:lnTo>
                  <a:pt x="676063" y="0"/>
                </a:lnTo>
                <a:lnTo>
                  <a:pt x="676063" y="2128346"/>
                </a:lnTo>
                <a:lnTo>
                  <a:pt x="0" y="2128346"/>
                </a:lnTo>
                <a:close/>
              </a:path>
            </a:pathLst>
          </a:custGeom>
          <a:solidFill>
            <a:srgbClr val="147BC8"/>
          </a:solidFill>
          <a:ln/>
        </p:spPr>
      </p:sp>
      <p:pic>
        <p:nvPicPr>
          <p:cNvPr id="15" name="Image 6"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26616" y="2456064"/>
            <a:ext cx="600326" cy="600326"/>
          </a:xfrm>
          <a:prstGeom prst="rect">
            <a:avLst/>
          </a:prstGeom>
        </p:spPr>
      </p:pic>
      <p:sp>
        <p:nvSpPr>
          <p:cNvPr id="16" name="Text 7"/>
          <p:cNvSpPr txBox="1"/>
          <p:nvPr/>
        </p:nvSpPr>
        <p:spPr>
          <a:xfrm>
            <a:off x="5534819" y="1816473"/>
            <a:ext cx="2525648" cy="467882"/>
          </a:xfrm>
          <a:prstGeom prst="rect">
            <a:avLst/>
          </a:prstGeom>
          <a:noFill/>
          <a:ln/>
        </p:spPr>
        <p:txBody>
          <a:bodyPr wrap="square" lIns="0" tIns="0" rIns="0" bIns="0" rtlCol="0" anchor="ctr">
            <a:spAutoFit/>
          </a:bodyPr>
          <a:lstStyle/>
          <a:p>
            <a:pPr marL="0" indent="0" algn="l">
              <a:buNone/>
            </a:pPr>
            <a:r>
              <a:rPr lang="zh-CN" altLang="en-US" sz="1350" b="1" dirty="0">
                <a:solidFill>
                  <a:srgbClr val="0067B4"/>
                </a:solidFill>
                <a:latin typeface="SourceHanSansSC-Regular"/>
                <a:ea typeface="SourceHanSansSC-Regular"/>
                <a:cs typeface="SourceHanSansSC-Regular"/>
              </a:rPr>
              <a:t>企业限制</a:t>
            </a:r>
            <a:endParaRPr lang="en-US" sz="1350" dirty="0"/>
          </a:p>
        </p:txBody>
      </p:sp>
      <p:sp>
        <p:nvSpPr>
          <p:cNvPr id="17" name="Text 8"/>
          <p:cNvSpPr txBox="1"/>
          <p:nvPr/>
        </p:nvSpPr>
        <p:spPr>
          <a:xfrm>
            <a:off x="4798154" y="2395995"/>
            <a:ext cx="3262313" cy="1452531"/>
          </a:xfrm>
          <a:prstGeom prst="rect">
            <a:avLst/>
          </a:prstGeom>
          <a:noFill/>
          <a:ln/>
        </p:spPr>
        <p:txBody>
          <a:bodyPr wrap="square" lIns="0" tIns="0" rIns="0" bIns="0" rtlCol="0" anchor="t">
            <a:spAutoFit/>
          </a:bodyPr>
          <a:lstStyle/>
          <a:p>
            <a:pPr marL="0" indent="0" algn="l">
              <a:buNone/>
            </a:pPr>
            <a:r>
              <a:rPr lang="zh-CN" altLang="en-US" sz="900" dirty="0">
                <a:solidFill>
                  <a:srgbClr val="2A2A2A"/>
                </a:solidFill>
                <a:latin typeface="SourceHanSansSC-Regular"/>
                <a:ea typeface="SourceHanSansSC-Regular"/>
                <a:cs typeface="SourceHanSansSC-Regular"/>
              </a:rPr>
              <a:t>当某种有限资源限制了公司满足需求的能力时，称公司存在约束。限制总产量的机器或过程称为瓶颈，它就是约束。在存在约束的情况下，公司需要合理利用资源。</a:t>
            </a:r>
            <a:endParaRPr lang="en-US" sz="314" dirty="0"/>
          </a:p>
        </p:txBody>
      </p:sp>
      <p:pic>
        <p:nvPicPr>
          <p:cNvPr id="18" name="Image 7" descr="preencoded.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4798154" y="1974358"/>
            <a:ext cx="580513" cy="167313"/>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pic>
        <p:nvPicPr>
          <p:cNvPr id="2" name="Image 0" descr="//img.tukuppt.com/aippt_uploads/34576449/25/07/03/6866a18678cda.png!/fwfh2/960x960"/>
          <p:cNvPicPr>
            <a:picLocks noChangeAspect="1"/>
          </p:cNvPicPr>
          <p:nvPr/>
        </p:nvPicPr>
        <p:blipFill>
          <a:blip r:embed="rId3"/>
          <a:stretch>
            <a:fillRect/>
          </a:stretch>
        </p:blipFill>
        <p:spPr>
          <a:xfrm>
            <a:off x="0" y="0"/>
            <a:ext cx="9140180" cy="5131830"/>
          </a:xfrm>
          <a:prstGeom prst="rect">
            <a:avLst/>
          </a:prstGeom>
        </p:spPr>
      </p:pic>
      <p:sp>
        <p:nvSpPr>
          <p:cNvPr id="3" name="Shape 0"/>
          <p:cNvSpPr/>
          <p:nvPr/>
        </p:nvSpPr>
        <p:spPr>
          <a:xfrm>
            <a:off x="979384" y="287863"/>
            <a:ext cx="2872893" cy="412023"/>
          </a:xfrm>
          <a:custGeom>
            <a:avLst/>
            <a:gdLst/>
            <a:ahLst/>
            <a:cxnLst/>
            <a:rect l="l" t="t" r="r" b="b"/>
            <a:pathLst>
              <a:path w="2872893" h="412023">
                <a:moveTo>
                  <a:pt x="68568" y="0"/>
                </a:moveTo>
                <a:lnTo>
                  <a:pt x="2803673" y="0"/>
                </a:lnTo>
                <a:cubicBezTo>
                  <a:pt x="2841542" y="0"/>
                  <a:pt x="2872241" y="30699"/>
                  <a:pt x="2872241" y="68568"/>
                </a:cubicBezTo>
                <a:lnTo>
                  <a:pt x="2872241" y="342840"/>
                </a:lnTo>
                <a:cubicBezTo>
                  <a:pt x="2872241" y="380710"/>
                  <a:pt x="2841542" y="411409"/>
                  <a:pt x="2803673" y="411409"/>
                </a:cubicBezTo>
                <a:lnTo>
                  <a:pt x="68568" y="411409"/>
                </a:lnTo>
                <a:cubicBezTo>
                  <a:pt x="30699" y="411409"/>
                  <a:pt x="0" y="380710"/>
                  <a:pt x="0" y="342840"/>
                </a:cubicBezTo>
                <a:lnTo>
                  <a:pt x="0" y="68568"/>
                </a:lnTo>
                <a:cubicBezTo>
                  <a:pt x="0" y="30724"/>
                  <a:pt x="30724" y="0"/>
                  <a:pt x="68568" y="0"/>
                </a:cubicBezTo>
                <a:close/>
              </a:path>
            </a:pathLst>
          </a:custGeom>
          <a:solidFill>
            <a:srgbClr val="0067B4"/>
          </a:solidFill>
          <a:ln/>
          <a:effectLst>
            <a:outerShdw dist="38093" dir="2700000" algn="bl" rotWithShape="0">
              <a:srgbClr val="000000">
                <a:alpha val="38824"/>
              </a:srgbClr>
            </a:outerShdw>
          </a:effectLst>
        </p:spPr>
      </p:sp>
      <p:sp>
        <p:nvSpPr>
          <p:cNvPr id="4" name="Shape 1"/>
          <p:cNvSpPr/>
          <p:nvPr/>
        </p:nvSpPr>
        <p:spPr>
          <a:xfrm>
            <a:off x="1188456" y="329442"/>
            <a:ext cx="2735844" cy="339064"/>
          </a:xfrm>
          <a:custGeom>
            <a:avLst/>
            <a:gdLst/>
            <a:ahLst/>
            <a:cxnLst/>
            <a:rect l="l" t="t" r="r" b="b"/>
            <a:pathLst>
              <a:path w="2735844" h="339064">
                <a:moveTo>
                  <a:pt x="0" y="0"/>
                </a:moveTo>
                <a:lnTo>
                  <a:pt x="2735844" y="0"/>
                </a:lnTo>
                <a:lnTo>
                  <a:pt x="2735844" y="339064"/>
                </a:lnTo>
                <a:lnTo>
                  <a:pt x="0" y="339064"/>
                </a:lnTo>
                <a:close/>
              </a:path>
            </a:pathLst>
          </a:custGeom>
          <a:noFill/>
          <a:ln/>
        </p:spPr>
      </p:sp>
      <p:sp>
        <p:nvSpPr>
          <p:cNvPr id="5" name="Text 2"/>
          <p:cNvSpPr txBox="1"/>
          <p:nvPr/>
        </p:nvSpPr>
        <p:spPr>
          <a:xfrm>
            <a:off x="1188456" y="329442"/>
            <a:ext cx="2735844" cy="339064"/>
          </a:xfrm>
          <a:prstGeom prst="rect">
            <a:avLst/>
          </a:prstGeom>
          <a:noFill/>
          <a:ln/>
        </p:spPr>
        <p:txBody>
          <a:bodyPr wrap="square" lIns="1252" tIns="653" rIns="1252" bIns="653" rtlCol="0" anchor="t">
            <a:spAutoFit/>
          </a:bodyPr>
          <a:lstStyle/>
          <a:p>
            <a:pPr marL="0" indent="0" algn="l">
              <a:buNone/>
            </a:pPr>
            <a:r>
              <a:rPr lang="zh-CN" altLang="en-US" sz="1601" dirty="0">
                <a:solidFill>
                  <a:srgbClr val="64CBFF"/>
                </a:solidFill>
                <a:latin typeface="SourceHanSansSC-Medium"/>
                <a:ea typeface="SourceHanSansSC-Medium"/>
                <a:cs typeface="SourceHanSansSC-Medium"/>
              </a:rPr>
              <a:t>约束资源利用原则</a:t>
            </a:r>
            <a:endParaRPr lang="en-US" sz="1601" dirty="0"/>
          </a:p>
        </p:txBody>
      </p:sp>
      <p:sp>
        <p:nvSpPr>
          <p:cNvPr id="6" name="Shape 3"/>
          <p:cNvSpPr/>
          <p:nvPr/>
        </p:nvSpPr>
        <p:spPr>
          <a:xfrm>
            <a:off x="471488" y="198466"/>
            <a:ext cx="461756" cy="542999"/>
          </a:xfrm>
          <a:custGeom>
            <a:avLst/>
            <a:gdLst/>
            <a:ahLst/>
            <a:cxnLst/>
            <a:rect l="l" t="t" r="r" b="b"/>
            <a:pathLst>
              <a:path w="461756" h="542999">
                <a:moveTo>
                  <a:pt x="77457" y="0"/>
                </a:moveTo>
                <a:lnTo>
                  <a:pt x="384743" y="0"/>
                </a:lnTo>
                <a:cubicBezTo>
                  <a:pt x="427521" y="0"/>
                  <a:pt x="462200" y="34678"/>
                  <a:pt x="462200" y="77457"/>
                </a:cubicBezTo>
                <a:lnTo>
                  <a:pt x="462200" y="466009"/>
                </a:lnTo>
                <a:cubicBezTo>
                  <a:pt x="462200" y="508787"/>
                  <a:pt x="427521" y="543466"/>
                  <a:pt x="384743" y="543466"/>
                </a:cubicBezTo>
                <a:lnTo>
                  <a:pt x="77457" y="543466"/>
                </a:lnTo>
                <a:cubicBezTo>
                  <a:pt x="34678" y="543466"/>
                  <a:pt x="0" y="508787"/>
                  <a:pt x="0" y="466009"/>
                </a:cubicBezTo>
                <a:lnTo>
                  <a:pt x="0" y="77457"/>
                </a:lnTo>
                <a:cubicBezTo>
                  <a:pt x="0" y="34678"/>
                  <a:pt x="34678" y="0"/>
                  <a:pt x="77457" y="0"/>
                </a:cubicBezTo>
                <a:close/>
              </a:path>
            </a:pathLst>
          </a:custGeom>
          <a:solidFill>
            <a:srgbClr val="0067B4"/>
          </a:solidFill>
          <a:ln/>
          <a:effectLst>
            <a:outerShdw dist="38093" dir="2700000" algn="bl" rotWithShape="0">
              <a:srgbClr val="000000">
                <a:alpha val="38824"/>
              </a:srgbClr>
            </a:outerShdw>
          </a:effectLst>
        </p:spPr>
      </p:sp>
      <p:sp>
        <p:nvSpPr>
          <p:cNvPr id="7" name="Shape 4"/>
          <p:cNvSpPr/>
          <p:nvPr/>
        </p:nvSpPr>
        <p:spPr>
          <a:xfrm>
            <a:off x="482166" y="206110"/>
            <a:ext cx="433263" cy="535355"/>
          </a:xfrm>
          <a:custGeom>
            <a:avLst/>
            <a:gdLst/>
            <a:ahLst/>
            <a:cxnLst/>
            <a:rect l="l" t="t" r="r" b="b"/>
            <a:pathLst>
              <a:path w="433263" h="535355">
                <a:moveTo>
                  <a:pt x="73647" y="0"/>
                </a:moveTo>
                <a:lnTo>
                  <a:pt x="366966" y="0"/>
                </a:lnTo>
                <a:cubicBezTo>
                  <a:pt x="396171" y="0"/>
                  <a:pt x="421567" y="15237"/>
                  <a:pt x="432995" y="35554"/>
                </a:cubicBezTo>
                <a:cubicBezTo>
                  <a:pt x="186658" y="119359"/>
                  <a:pt x="11428" y="311096"/>
                  <a:pt x="1270" y="535847"/>
                </a:cubicBezTo>
                <a:cubicBezTo>
                  <a:pt x="0" y="533307"/>
                  <a:pt x="0" y="532038"/>
                  <a:pt x="0" y="529498"/>
                </a:cubicBezTo>
                <a:lnTo>
                  <a:pt x="0" y="60949"/>
                </a:lnTo>
                <a:cubicBezTo>
                  <a:pt x="0" y="26665"/>
                  <a:pt x="33014" y="0"/>
                  <a:pt x="73647" y="0"/>
                </a:cubicBezTo>
                <a:close/>
              </a:path>
            </a:pathLst>
          </a:custGeom>
          <a:gradFill>
            <a:gsLst>
              <a:gs pos="0">
                <a:srgbClr val="64CBFF">
                  <a:alpha val="34902"/>
                </a:srgbClr>
              </a:gs>
              <a:gs pos="100000">
                <a:srgbClr val="2F5897">
                  <a:alpha val="100000"/>
                </a:srgbClr>
              </a:gs>
            </a:gsLst>
            <a:lin ang="1200000" scaled="1"/>
          </a:gradFill>
          <a:ln/>
        </p:spPr>
      </p:sp>
      <p:pic>
        <p:nvPicPr>
          <p:cNvPr id="8" name="Image 1" descr="//img.tukuppt.com/aippt_tpl_uploads/25/07/01/686397e7ae4cf.png"/>
          <p:cNvPicPr>
            <a:picLocks noChangeAspect="1"/>
          </p:cNvPicPr>
          <p:nvPr/>
        </p:nvPicPr>
        <p:blipFill>
          <a:blip r:embed="rId4"/>
          <a:srcRect/>
          <a:stretch/>
        </p:blipFill>
        <p:spPr>
          <a:xfrm flipH="1">
            <a:off x="787710" y="346921"/>
            <a:ext cx="255659" cy="98905"/>
          </a:xfrm>
          <a:prstGeom prst="rect">
            <a:avLst/>
          </a:prstGeom>
        </p:spPr>
      </p:pic>
      <p:pic>
        <p:nvPicPr>
          <p:cNvPr id="9" name="Image 2" descr="//img.tukuppt.com/aippt_tpl_uploads/25/07/01/686397e7ae4cf.png"/>
          <p:cNvPicPr>
            <a:picLocks noChangeAspect="1"/>
          </p:cNvPicPr>
          <p:nvPr/>
        </p:nvPicPr>
        <p:blipFill>
          <a:blip r:embed="rId4"/>
          <a:srcRect/>
          <a:stretch/>
        </p:blipFill>
        <p:spPr>
          <a:xfrm flipH="1">
            <a:off x="787710" y="549201"/>
            <a:ext cx="255659" cy="98905"/>
          </a:xfrm>
          <a:prstGeom prst="rect">
            <a:avLst/>
          </a:prstGeom>
        </p:spPr>
      </p:pic>
      <p:pic>
        <p:nvPicPr>
          <p:cNvPr id="10" name="Image 3" descr="//img.tukuppt.com/aippt_tpl_uploads/25/07/01/686397e7b8f81.png"/>
          <p:cNvPicPr>
            <a:picLocks noChangeAspect="1"/>
          </p:cNvPicPr>
          <p:nvPr/>
        </p:nvPicPr>
        <p:blipFill>
          <a:blip r:embed="rId5"/>
          <a:srcRect/>
          <a:stretch/>
        </p:blipFill>
        <p:spPr>
          <a:xfrm>
            <a:off x="539206" y="312920"/>
            <a:ext cx="321318" cy="321734"/>
          </a:xfrm>
          <a:prstGeom prst="rect">
            <a:avLst/>
          </a:prstGeom>
        </p:spPr>
      </p:pic>
      <p:pic>
        <p:nvPicPr>
          <p:cNvPr id="11" name="Image 4" descr="//img.tukuppt.com/aippt_tpl_uploads/25/07/01/686397e7af1a3.png!/fwfh2/960x960"/>
          <p:cNvPicPr>
            <a:picLocks noChangeAspect="1"/>
          </p:cNvPicPr>
          <p:nvPr/>
        </p:nvPicPr>
        <p:blipFill>
          <a:blip r:embed="rId6"/>
          <a:srcRect l="36452" t="56544" b="34700"/>
          <a:stretch/>
        </p:blipFill>
        <p:spPr>
          <a:xfrm>
            <a:off x="-4836" y="-812736"/>
            <a:ext cx="9148837" cy="1019042"/>
          </a:xfrm>
          <a:prstGeom prst="rect">
            <a:avLst/>
          </a:prstGeom>
        </p:spPr>
      </p:pic>
      <p:pic>
        <p:nvPicPr>
          <p:cNvPr id="12" name="Image 5" descr="//img.tukuppt.com/aippt_tpl_uploads/25/07/01/686397e7af1a3.png!/fwfh2/960x960"/>
          <p:cNvPicPr>
            <a:picLocks noChangeAspect="1"/>
          </p:cNvPicPr>
          <p:nvPr/>
        </p:nvPicPr>
        <p:blipFill>
          <a:blip r:embed="rId6"/>
          <a:srcRect l="36452" t="56544" b="34700"/>
          <a:stretch/>
        </p:blipFill>
        <p:spPr>
          <a:xfrm>
            <a:off x="-61352" y="4937888"/>
            <a:ext cx="9313872" cy="1019042"/>
          </a:xfrm>
          <a:prstGeom prst="rect">
            <a:avLst/>
          </a:prstGeom>
        </p:spPr>
      </p:pic>
      <p:sp>
        <p:nvSpPr>
          <p:cNvPr id="13" name="Shape 5"/>
          <p:cNvSpPr/>
          <p:nvPr/>
        </p:nvSpPr>
        <p:spPr>
          <a:xfrm>
            <a:off x="886653" y="1266434"/>
            <a:ext cx="7398641" cy="3144139"/>
          </a:xfrm>
          <a:custGeom>
            <a:avLst/>
            <a:gdLst/>
            <a:ahLst/>
            <a:cxnLst/>
            <a:rect l="l" t="t" r="r" b="b"/>
            <a:pathLst>
              <a:path w="7398641" h="3144139">
                <a:moveTo>
                  <a:pt x="392906" y="0"/>
                </a:moveTo>
                <a:lnTo>
                  <a:pt x="7005638" y="0"/>
                </a:lnTo>
                <a:quadBezTo>
                  <a:pt x="7398544" y="0"/>
                  <a:pt x="7398544" y="392906"/>
                </a:quadBezTo>
                <a:lnTo>
                  <a:pt x="7398544" y="2751296"/>
                </a:lnTo>
                <a:quadBezTo>
                  <a:pt x="7398544" y="3144203"/>
                  <a:pt x="7005638" y="3144203"/>
                </a:quadBezTo>
                <a:lnTo>
                  <a:pt x="392906" y="3144203"/>
                </a:lnTo>
                <a:quadBezTo>
                  <a:pt x="0" y="3144203"/>
                  <a:pt x="0" y="2751296"/>
                </a:quadBezTo>
                <a:lnTo>
                  <a:pt x="0" y="392906"/>
                </a:lnTo>
                <a:quadBezTo>
                  <a:pt x="0" y="0"/>
                  <a:pt x="392906" y="0"/>
                </a:quadBezTo>
                <a:close/>
              </a:path>
            </a:pathLst>
          </a:custGeom>
          <a:solidFill>
            <a:srgbClr val="FFFFFF"/>
          </a:solidFill>
          <a:ln w="19050">
            <a:solidFill>
              <a:srgbClr val="147BC8"/>
            </a:solidFill>
            <a:prstDash val="solid"/>
          </a:ln>
          <a:effectLst>
            <a:outerShdw blurRad="38100" algn="bl" rotWithShape="0">
              <a:srgbClr val="9B9B9B">
                <a:alpha val="100000"/>
              </a:srgbClr>
            </a:outerShdw>
          </a:effectLst>
        </p:spPr>
      </p:sp>
      <p:sp>
        <p:nvSpPr>
          <p:cNvPr id="14" name="Shape 6"/>
          <p:cNvSpPr/>
          <p:nvPr/>
        </p:nvSpPr>
        <p:spPr>
          <a:xfrm>
            <a:off x="5613518" y="1205334"/>
            <a:ext cx="2327350" cy="3271621"/>
          </a:xfrm>
          <a:custGeom>
            <a:avLst/>
            <a:gdLst/>
            <a:ahLst/>
            <a:cxnLst/>
            <a:rect l="l" t="t" r="r" b="b"/>
            <a:pathLst>
              <a:path w="2327350" h="3271621">
                <a:moveTo>
                  <a:pt x="0" y="0"/>
                </a:moveTo>
                <a:lnTo>
                  <a:pt x="2327350" y="0"/>
                </a:lnTo>
                <a:lnTo>
                  <a:pt x="2327350" y="3271621"/>
                </a:lnTo>
                <a:lnTo>
                  <a:pt x="0" y="3271621"/>
                </a:lnTo>
                <a:close/>
              </a:path>
            </a:pathLst>
          </a:custGeom>
          <a:solidFill>
            <a:srgbClr val="0067B4"/>
          </a:solidFill>
          <a:ln/>
        </p:spPr>
      </p:sp>
      <p:pic>
        <p:nvPicPr>
          <p:cNvPr id="15" name="Image 6" descr="//img.tukuppt.com/aippt_uploads/55004950/24/11/14/6735af92c6436.png!/fwfh2/960x960"/>
          <p:cNvPicPr>
            <a:picLocks noChangeAspect="1"/>
          </p:cNvPicPr>
          <p:nvPr/>
        </p:nvPicPr>
        <p:blipFill>
          <a:blip r:embed="rId7"/>
          <a:stretch>
            <a:fillRect/>
          </a:stretch>
        </p:blipFill>
        <p:spPr>
          <a:xfrm>
            <a:off x="1184628" y="1613593"/>
            <a:ext cx="4275203" cy="2450753"/>
          </a:xfrm>
          <a:prstGeom prst="rect">
            <a:avLst/>
          </a:prstGeom>
        </p:spPr>
      </p:pic>
      <p:sp>
        <p:nvSpPr>
          <p:cNvPr id="16" name="Shape 7"/>
          <p:cNvSpPr/>
          <p:nvPr/>
        </p:nvSpPr>
        <p:spPr>
          <a:xfrm>
            <a:off x="5802372" y="1688579"/>
            <a:ext cx="1949642" cy="2410668"/>
          </a:xfrm>
          <a:custGeom>
            <a:avLst/>
            <a:gdLst/>
            <a:ahLst/>
            <a:cxnLst/>
            <a:rect l="l" t="t" r="r" b="b"/>
            <a:pathLst>
              <a:path w="1949642" h="2410668">
                <a:moveTo>
                  <a:pt x="243840" y="0"/>
                </a:moveTo>
                <a:lnTo>
                  <a:pt x="1705927" y="0"/>
                </a:lnTo>
                <a:quadBezTo>
                  <a:pt x="1949767" y="0"/>
                  <a:pt x="1949767" y="243840"/>
                </a:quadBezTo>
                <a:lnTo>
                  <a:pt x="1949767" y="2166938"/>
                </a:lnTo>
                <a:quadBezTo>
                  <a:pt x="1949767" y="2410778"/>
                  <a:pt x="1705927" y="2410778"/>
                </a:quadBezTo>
                <a:lnTo>
                  <a:pt x="243840" y="2410778"/>
                </a:lnTo>
                <a:quadBezTo>
                  <a:pt x="0" y="2410778"/>
                  <a:pt x="0" y="2166938"/>
                </a:quadBezTo>
                <a:lnTo>
                  <a:pt x="0" y="243840"/>
                </a:lnTo>
                <a:quadBezTo>
                  <a:pt x="0" y="0"/>
                  <a:pt x="243840" y="0"/>
                </a:quadBezTo>
                <a:close/>
              </a:path>
            </a:pathLst>
          </a:custGeom>
          <a:solidFill>
            <a:srgbClr val="FFFFFF"/>
          </a:solidFill>
          <a:ln/>
        </p:spPr>
      </p:sp>
      <p:sp>
        <p:nvSpPr>
          <p:cNvPr id="17" name="Text 8"/>
          <p:cNvSpPr txBox="1"/>
          <p:nvPr/>
        </p:nvSpPr>
        <p:spPr>
          <a:xfrm>
            <a:off x="5943756" y="2105849"/>
            <a:ext cx="1666875" cy="409575"/>
          </a:xfrm>
          <a:prstGeom prst="rect">
            <a:avLst/>
          </a:prstGeom>
          <a:noFill/>
          <a:ln/>
        </p:spPr>
        <p:txBody>
          <a:bodyPr wrap="square" lIns="0" tIns="0" rIns="0" bIns="0" rtlCol="0" anchor="ctr">
            <a:spAutoFit/>
          </a:bodyPr>
          <a:lstStyle/>
          <a:p>
            <a:pPr marL="0" indent="0" algn="ctr">
              <a:buNone/>
            </a:pPr>
            <a:r>
              <a:rPr lang="zh-CN" altLang="en-US" sz="1350" b="1" dirty="0">
                <a:solidFill>
                  <a:srgbClr val="000000"/>
                </a:solidFill>
                <a:latin typeface="SourceHanSansSC-Regular"/>
                <a:ea typeface="SourceHanSansSC-Regular"/>
                <a:cs typeface="SourceHanSansSC-Regular"/>
              </a:rPr>
              <a:t>决策方法</a:t>
            </a:r>
            <a:endParaRPr lang="en-US" sz="1350" dirty="0"/>
          </a:p>
        </p:txBody>
      </p:sp>
      <p:sp>
        <p:nvSpPr>
          <p:cNvPr id="18" name="Text 9"/>
          <p:cNvSpPr txBox="1"/>
          <p:nvPr/>
        </p:nvSpPr>
        <p:spPr>
          <a:xfrm>
            <a:off x="5965187" y="2571750"/>
            <a:ext cx="1624013" cy="1170111"/>
          </a:xfrm>
          <a:prstGeom prst="rect">
            <a:avLst/>
          </a:prstGeom>
          <a:noFill/>
          <a:ln/>
        </p:spPr>
        <p:txBody>
          <a:bodyPr wrap="square" lIns="0" tIns="0" rIns="0" bIns="0" rtlCol="0" anchor="t">
            <a:spAutoFit/>
          </a:bodyPr>
          <a:lstStyle/>
          <a:p>
            <a:pPr marL="0" indent="0" algn="ctr">
              <a:buNone/>
            </a:pPr>
            <a:r>
              <a:rPr lang="zh-CN" altLang="en-US" sz="900" dirty="0">
                <a:solidFill>
                  <a:srgbClr val="000000"/>
                </a:solidFill>
                <a:latin typeface="SourceHanSansSC-Regular"/>
                <a:ea typeface="SourceHanSansSC-Regular"/>
                <a:cs typeface="SourceHanSansSC-Regular"/>
              </a:rPr>
              <a:t>公司应选择能使赚取的总贡献毛利最大化的产品组合，而不是推广单位贡献毛利最高的产品。应重点推广相对于约束资源能赚取最高贡献毛利的产品。</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pic>
        <p:nvPicPr>
          <p:cNvPr id="2" name="Image 0" descr="//img.tukuppt.com/aippt_uploads/34576449/25/07/03/6866a18678cda.png!/fwfh2/960x960"/>
          <p:cNvPicPr>
            <a:picLocks noChangeAspect="1"/>
          </p:cNvPicPr>
          <p:nvPr/>
        </p:nvPicPr>
        <p:blipFill>
          <a:blip r:embed="rId3"/>
          <a:stretch>
            <a:fillRect/>
          </a:stretch>
        </p:blipFill>
        <p:spPr>
          <a:xfrm>
            <a:off x="0" y="0"/>
            <a:ext cx="9140180" cy="5131830"/>
          </a:xfrm>
          <a:prstGeom prst="rect">
            <a:avLst/>
          </a:prstGeom>
        </p:spPr>
      </p:pic>
      <p:sp>
        <p:nvSpPr>
          <p:cNvPr id="3" name="Shape 0"/>
          <p:cNvSpPr/>
          <p:nvPr/>
        </p:nvSpPr>
        <p:spPr>
          <a:xfrm>
            <a:off x="979384" y="287863"/>
            <a:ext cx="2872893" cy="412023"/>
          </a:xfrm>
          <a:custGeom>
            <a:avLst/>
            <a:gdLst/>
            <a:ahLst/>
            <a:cxnLst/>
            <a:rect l="l" t="t" r="r" b="b"/>
            <a:pathLst>
              <a:path w="2872893" h="412023">
                <a:moveTo>
                  <a:pt x="68568" y="0"/>
                </a:moveTo>
                <a:lnTo>
                  <a:pt x="2803673" y="0"/>
                </a:lnTo>
                <a:cubicBezTo>
                  <a:pt x="2841542" y="0"/>
                  <a:pt x="2872241" y="30699"/>
                  <a:pt x="2872241" y="68568"/>
                </a:cubicBezTo>
                <a:lnTo>
                  <a:pt x="2872241" y="342840"/>
                </a:lnTo>
                <a:cubicBezTo>
                  <a:pt x="2872241" y="380710"/>
                  <a:pt x="2841542" y="411409"/>
                  <a:pt x="2803673" y="411409"/>
                </a:cubicBezTo>
                <a:lnTo>
                  <a:pt x="68568" y="411409"/>
                </a:lnTo>
                <a:cubicBezTo>
                  <a:pt x="30699" y="411409"/>
                  <a:pt x="0" y="380710"/>
                  <a:pt x="0" y="342840"/>
                </a:cubicBezTo>
                <a:lnTo>
                  <a:pt x="0" y="68568"/>
                </a:lnTo>
                <a:cubicBezTo>
                  <a:pt x="0" y="30724"/>
                  <a:pt x="30724" y="0"/>
                  <a:pt x="68568" y="0"/>
                </a:cubicBezTo>
                <a:close/>
              </a:path>
            </a:pathLst>
          </a:custGeom>
          <a:solidFill>
            <a:srgbClr val="0067B4"/>
          </a:solidFill>
          <a:ln/>
          <a:effectLst>
            <a:outerShdw dist="38093" dir="2700000" algn="bl" rotWithShape="0">
              <a:srgbClr val="000000">
                <a:alpha val="38824"/>
              </a:srgbClr>
            </a:outerShdw>
          </a:effectLst>
        </p:spPr>
      </p:sp>
      <p:sp>
        <p:nvSpPr>
          <p:cNvPr id="4" name="Shape 1"/>
          <p:cNvSpPr/>
          <p:nvPr/>
        </p:nvSpPr>
        <p:spPr>
          <a:xfrm>
            <a:off x="1188456" y="329442"/>
            <a:ext cx="2735844" cy="339064"/>
          </a:xfrm>
          <a:custGeom>
            <a:avLst/>
            <a:gdLst/>
            <a:ahLst/>
            <a:cxnLst/>
            <a:rect l="l" t="t" r="r" b="b"/>
            <a:pathLst>
              <a:path w="2735844" h="339064">
                <a:moveTo>
                  <a:pt x="0" y="0"/>
                </a:moveTo>
                <a:lnTo>
                  <a:pt x="2735844" y="0"/>
                </a:lnTo>
                <a:lnTo>
                  <a:pt x="2735844" y="339064"/>
                </a:lnTo>
                <a:lnTo>
                  <a:pt x="0" y="339064"/>
                </a:lnTo>
                <a:close/>
              </a:path>
            </a:pathLst>
          </a:custGeom>
          <a:noFill/>
          <a:ln/>
        </p:spPr>
      </p:sp>
      <p:sp>
        <p:nvSpPr>
          <p:cNvPr id="5" name="Text 2"/>
          <p:cNvSpPr txBox="1"/>
          <p:nvPr/>
        </p:nvSpPr>
        <p:spPr>
          <a:xfrm>
            <a:off x="1188456" y="329442"/>
            <a:ext cx="2735844" cy="339064"/>
          </a:xfrm>
          <a:prstGeom prst="rect">
            <a:avLst/>
          </a:prstGeom>
          <a:noFill/>
          <a:ln/>
        </p:spPr>
        <p:txBody>
          <a:bodyPr wrap="square" lIns="1252" tIns="653" rIns="1252" bIns="653" rtlCol="0" anchor="t">
            <a:spAutoFit/>
          </a:bodyPr>
          <a:lstStyle/>
          <a:p>
            <a:pPr marL="0" indent="0" algn="l">
              <a:buNone/>
            </a:pPr>
            <a:r>
              <a:rPr lang="zh-CN" altLang="en-US" sz="1601" dirty="0">
                <a:solidFill>
                  <a:srgbClr val="64CBFF"/>
                </a:solidFill>
                <a:latin typeface="SourceHanSansSC-Medium"/>
                <a:ea typeface="SourceHanSansSC-Medium"/>
                <a:cs typeface="SourceHanSansSC-Medium"/>
              </a:rPr>
              <a:t>案例分析：恩赛公司</a:t>
            </a:r>
            <a:endParaRPr lang="en-US" sz="1601" dirty="0"/>
          </a:p>
        </p:txBody>
      </p:sp>
      <p:sp>
        <p:nvSpPr>
          <p:cNvPr id="6" name="Shape 3"/>
          <p:cNvSpPr/>
          <p:nvPr/>
        </p:nvSpPr>
        <p:spPr>
          <a:xfrm>
            <a:off x="471488" y="198466"/>
            <a:ext cx="461756" cy="542999"/>
          </a:xfrm>
          <a:custGeom>
            <a:avLst/>
            <a:gdLst/>
            <a:ahLst/>
            <a:cxnLst/>
            <a:rect l="l" t="t" r="r" b="b"/>
            <a:pathLst>
              <a:path w="461756" h="542999">
                <a:moveTo>
                  <a:pt x="77457" y="0"/>
                </a:moveTo>
                <a:lnTo>
                  <a:pt x="384743" y="0"/>
                </a:lnTo>
                <a:cubicBezTo>
                  <a:pt x="427521" y="0"/>
                  <a:pt x="462200" y="34678"/>
                  <a:pt x="462200" y="77457"/>
                </a:cubicBezTo>
                <a:lnTo>
                  <a:pt x="462200" y="466009"/>
                </a:lnTo>
                <a:cubicBezTo>
                  <a:pt x="462200" y="508787"/>
                  <a:pt x="427521" y="543466"/>
                  <a:pt x="384743" y="543466"/>
                </a:cubicBezTo>
                <a:lnTo>
                  <a:pt x="77457" y="543466"/>
                </a:lnTo>
                <a:cubicBezTo>
                  <a:pt x="34678" y="543466"/>
                  <a:pt x="0" y="508787"/>
                  <a:pt x="0" y="466009"/>
                </a:cubicBezTo>
                <a:lnTo>
                  <a:pt x="0" y="77457"/>
                </a:lnTo>
                <a:cubicBezTo>
                  <a:pt x="0" y="34678"/>
                  <a:pt x="34678" y="0"/>
                  <a:pt x="77457" y="0"/>
                </a:cubicBezTo>
                <a:close/>
              </a:path>
            </a:pathLst>
          </a:custGeom>
          <a:solidFill>
            <a:srgbClr val="0067B4"/>
          </a:solidFill>
          <a:ln/>
          <a:effectLst>
            <a:outerShdw dist="38093" dir="2700000" algn="bl" rotWithShape="0">
              <a:srgbClr val="000000">
                <a:alpha val="38824"/>
              </a:srgbClr>
            </a:outerShdw>
          </a:effectLst>
        </p:spPr>
      </p:sp>
      <p:sp>
        <p:nvSpPr>
          <p:cNvPr id="7" name="Shape 4"/>
          <p:cNvSpPr/>
          <p:nvPr/>
        </p:nvSpPr>
        <p:spPr>
          <a:xfrm>
            <a:off x="482166" y="206110"/>
            <a:ext cx="433263" cy="535355"/>
          </a:xfrm>
          <a:custGeom>
            <a:avLst/>
            <a:gdLst/>
            <a:ahLst/>
            <a:cxnLst/>
            <a:rect l="l" t="t" r="r" b="b"/>
            <a:pathLst>
              <a:path w="433263" h="535355">
                <a:moveTo>
                  <a:pt x="73647" y="0"/>
                </a:moveTo>
                <a:lnTo>
                  <a:pt x="366966" y="0"/>
                </a:lnTo>
                <a:cubicBezTo>
                  <a:pt x="396171" y="0"/>
                  <a:pt x="421567" y="15237"/>
                  <a:pt x="432995" y="35554"/>
                </a:cubicBezTo>
                <a:cubicBezTo>
                  <a:pt x="186658" y="119359"/>
                  <a:pt x="11428" y="311096"/>
                  <a:pt x="1270" y="535847"/>
                </a:cubicBezTo>
                <a:cubicBezTo>
                  <a:pt x="0" y="533307"/>
                  <a:pt x="0" y="532038"/>
                  <a:pt x="0" y="529498"/>
                </a:cubicBezTo>
                <a:lnTo>
                  <a:pt x="0" y="60949"/>
                </a:lnTo>
                <a:cubicBezTo>
                  <a:pt x="0" y="26665"/>
                  <a:pt x="33014" y="0"/>
                  <a:pt x="73647" y="0"/>
                </a:cubicBezTo>
                <a:close/>
              </a:path>
            </a:pathLst>
          </a:custGeom>
          <a:gradFill>
            <a:gsLst>
              <a:gs pos="0">
                <a:srgbClr val="64CBFF">
                  <a:alpha val="34902"/>
                </a:srgbClr>
              </a:gs>
              <a:gs pos="100000">
                <a:srgbClr val="2F5897">
                  <a:alpha val="100000"/>
                </a:srgbClr>
              </a:gs>
            </a:gsLst>
            <a:lin ang="1200000" scaled="1"/>
          </a:gradFill>
          <a:ln/>
        </p:spPr>
      </p:sp>
      <p:pic>
        <p:nvPicPr>
          <p:cNvPr id="8" name="Image 1" descr="//img.tukuppt.com/aippt_tpl_uploads/25/07/01/686397e7ae4cf.png"/>
          <p:cNvPicPr>
            <a:picLocks noChangeAspect="1"/>
          </p:cNvPicPr>
          <p:nvPr/>
        </p:nvPicPr>
        <p:blipFill>
          <a:blip r:embed="rId4"/>
          <a:srcRect/>
          <a:stretch/>
        </p:blipFill>
        <p:spPr>
          <a:xfrm flipH="1">
            <a:off x="787710" y="346921"/>
            <a:ext cx="255659" cy="98905"/>
          </a:xfrm>
          <a:prstGeom prst="rect">
            <a:avLst/>
          </a:prstGeom>
        </p:spPr>
      </p:pic>
      <p:pic>
        <p:nvPicPr>
          <p:cNvPr id="9" name="Image 2" descr="//img.tukuppt.com/aippt_tpl_uploads/25/07/01/686397e7ae4cf.png"/>
          <p:cNvPicPr>
            <a:picLocks noChangeAspect="1"/>
          </p:cNvPicPr>
          <p:nvPr/>
        </p:nvPicPr>
        <p:blipFill>
          <a:blip r:embed="rId4"/>
          <a:srcRect/>
          <a:stretch/>
        </p:blipFill>
        <p:spPr>
          <a:xfrm flipH="1">
            <a:off x="787710" y="549201"/>
            <a:ext cx="255659" cy="98905"/>
          </a:xfrm>
          <a:prstGeom prst="rect">
            <a:avLst/>
          </a:prstGeom>
        </p:spPr>
      </p:pic>
      <p:pic>
        <p:nvPicPr>
          <p:cNvPr id="10" name="Image 3" descr="//img.tukuppt.com/aippt_tpl_uploads/25/07/01/686397e7b8f81.png"/>
          <p:cNvPicPr>
            <a:picLocks noChangeAspect="1"/>
          </p:cNvPicPr>
          <p:nvPr/>
        </p:nvPicPr>
        <p:blipFill>
          <a:blip r:embed="rId5"/>
          <a:srcRect/>
          <a:stretch/>
        </p:blipFill>
        <p:spPr>
          <a:xfrm>
            <a:off x="539206" y="312920"/>
            <a:ext cx="321318" cy="321734"/>
          </a:xfrm>
          <a:prstGeom prst="rect">
            <a:avLst/>
          </a:prstGeom>
        </p:spPr>
      </p:pic>
      <p:pic>
        <p:nvPicPr>
          <p:cNvPr id="11" name="Image 4" descr="//img.tukuppt.com/aippt_tpl_uploads/25/07/01/686397e7af1a3.png!/fwfh2/960x960"/>
          <p:cNvPicPr>
            <a:picLocks noChangeAspect="1"/>
          </p:cNvPicPr>
          <p:nvPr/>
        </p:nvPicPr>
        <p:blipFill>
          <a:blip r:embed="rId6"/>
          <a:srcRect l="36452" t="56544" b="34700"/>
          <a:stretch/>
        </p:blipFill>
        <p:spPr>
          <a:xfrm>
            <a:off x="-4836" y="-812736"/>
            <a:ext cx="9148837" cy="1019042"/>
          </a:xfrm>
          <a:prstGeom prst="rect">
            <a:avLst/>
          </a:prstGeom>
        </p:spPr>
      </p:pic>
      <p:pic>
        <p:nvPicPr>
          <p:cNvPr id="12" name="Image 5" descr="//img.tukuppt.com/aippt_tpl_uploads/25/07/01/686397e7af1a3.png!/fwfh2/960x960"/>
          <p:cNvPicPr>
            <a:picLocks noChangeAspect="1"/>
          </p:cNvPicPr>
          <p:nvPr/>
        </p:nvPicPr>
        <p:blipFill>
          <a:blip r:embed="rId6"/>
          <a:srcRect l="36452" t="56544" b="34700"/>
          <a:stretch/>
        </p:blipFill>
        <p:spPr>
          <a:xfrm>
            <a:off x="-61352" y="4937888"/>
            <a:ext cx="9313872" cy="1019042"/>
          </a:xfrm>
          <a:prstGeom prst="rect">
            <a:avLst/>
          </a:prstGeom>
        </p:spPr>
      </p:pic>
      <p:pic>
        <p:nvPicPr>
          <p:cNvPr id="13" name="Image 6" descr="//static3.tukuppt.com/design/material/002/005/66888986ab9d8.png?x-bce-process=image/resize,m_mfit,w_960,h_960"/>
          <p:cNvPicPr>
            <a:picLocks noChangeAspect="1"/>
          </p:cNvPicPr>
          <p:nvPr/>
        </p:nvPicPr>
        <p:blipFill>
          <a:blip r:embed="rId7"/>
          <a:stretch>
            <a:fillRect/>
          </a:stretch>
        </p:blipFill>
        <p:spPr>
          <a:xfrm>
            <a:off x="6855645" y="2174519"/>
            <a:ext cx="1813560" cy="1813560"/>
          </a:xfrm>
          <a:prstGeom prst="rect">
            <a:avLst/>
          </a:prstGeom>
        </p:spPr>
      </p:pic>
      <p:sp>
        <p:nvSpPr>
          <p:cNvPr id="14" name="Text 5"/>
          <p:cNvSpPr txBox="1"/>
          <p:nvPr/>
        </p:nvSpPr>
        <p:spPr>
          <a:xfrm>
            <a:off x="1097251" y="1160917"/>
            <a:ext cx="3095625" cy="486701"/>
          </a:xfrm>
          <a:prstGeom prst="rect">
            <a:avLst/>
          </a:prstGeom>
          <a:noFill/>
          <a:ln/>
        </p:spPr>
        <p:txBody>
          <a:bodyPr wrap="square" lIns="0" tIns="0" rIns="0" bIns="0" rtlCol="0" anchor="ctr">
            <a:spAutoFit/>
          </a:bodyPr>
          <a:lstStyle/>
          <a:p>
            <a:pPr marL="0" indent="0" algn="l">
              <a:buNone/>
            </a:pPr>
            <a:r>
              <a:rPr lang="zh-CN" altLang="en-US" sz="1650" dirty="0">
                <a:solidFill>
                  <a:srgbClr val="000000"/>
                </a:solidFill>
                <a:latin typeface="SourceHanSansSC-Regular"/>
                <a:ea typeface="SourceHanSansSC-Regular"/>
                <a:cs typeface="SourceHanSansSC-Regular"/>
              </a:rPr>
              <a:t>产品选择</a:t>
            </a:r>
            <a:endParaRPr lang="en-US" sz="1800" dirty="0"/>
          </a:p>
        </p:txBody>
      </p:sp>
      <p:sp>
        <p:nvSpPr>
          <p:cNvPr id="16" name="Text 7"/>
          <p:cNvSpPr txBox="1"/>
          <p:nvPr/>
        </p:nvSpPr>
        <p:spPr>
          <a:xfrm>
            <a:off x="1043369" y="1677934"/>
            <a:ext cx="2990850" cy="177293"/>
          </a:xfrm>
          <a:prstGeom prst="rect">
            <a:avLst/>
          </a:prstGeom>
          <a:noFill/>
          <a:ln/>
        </p:spPr>
        <p:txBody>
          <a:bodyPr wrap="square" lIns="0" tIns="0" rIns="0" bIns="0" rtlCol="0" anchor="t">
            <a:spAutoFit/>
          </a:bodyPr>
          <a:lstStyle/>
          <a:p>
            <a:pPr marL="0" indent="0" algn="l">
              <a:lnSpc>
                <a:spcPct val="96000"/>
              </a:lnSpc>
              <a:buNone/>
            </a:pPr>
            <a:r>
              <a:rPr lang="zh-CN" altLang="en-US" sz="1200" dirty="0">
                <a:solidFill>
                  <a:srgbClr val="2A2A2A"/>
                </a:solidFill>
                <a:latin typeface="SourceHanSansSC-Regular"/>
                <a:ea typeface="SourceHanSansSC-Regular"/>
                <a:cs typeface="SourceHanSansSC-Regular"/>
              </a:rPr>
              <a:t>恩赛公司生产两种产品，</a:t>
            </a:r>
            <a:endParaRPr lang="en-US" sz="1200" dirty="0"/>
          </a:p>
        </p:txBody>
      </p:sp>
      <p:graphicFrame>
        <p:nvGraphicFramePr>
          <p:cNvPr id="17" name="表格 16">
            <a:extLst>
              <a:ext uri="{FF2B5EF4-FFF2-40B4-BE49-F238E27FC236}">
                <a16:creationId xmlns:a16="http://schemas.microsoft.com/office/drawing/2014/main" id="{B11B78D1-2B8B-418A-999C-57E38B8A64AB}"/>
              </a:ext>
            </a:extLst>
          </p:cNvPr>
          <p:cNvGraphicFramePr>
            <a:graphicFrameLocks noGrp="1"/>
          </p:cNvGraphicFramePr>
          <p:nvPr>
            <p:extLst>
              <p:ext uri="{D42A27DB-BD31-4B8C-83A1-F6EECF244321}">
                <p14:modId xmlns:p14="http://schemas.microsoft.com/office/powerpoint/2010/main" val="2712185470"/>
              </p:ext>
            </p:extLst>
          </p:nvPr>
        </p:nvGraphicFramePr>
        <p:xfrm>
          <a:off x="979384" y="2137036"/>
          <a:ext cx="4456306" cy="1813560"/>
        </p:xfrm>
        <a:graphic>
          <a:graphicData uri="http://schemas.openxmlformats.org/drawingml/2006/table">
            <a:tbl>
              <a:tblPr>
                <a:tableStyleId>{775DCB02-9BB8-47FD-8907-85C794F793BA}</a:tableStyleId>
              </a:tblPr>
              <a:tblGrid>
                <a:gridCol w="2549448">
                  <a:extLst>
                    <a:ext uri="{9D8B030D-6E8A-4147-A177-3AD203B41FA5}">
                      <a16:colId xmlns:a16="http://schemas.microsoft.com/office/drawing/2014/main" val="2774992798"/>
                    </a:ext>
                  </a:extLst>
                </a:gridCol>
                <a:gridCol w="981307">
                  <a:extLst>
                    <a:ext uri="{9D8B030D-6E8A-4147-A177-3AD203B41FA5}">
                      <a16:colId xmlns:a16="http://schemas.microsoft.com/office/drawing/2014/main" val="4130236566"/>
                    </a:ext>
                  </a:extLst>
                </a:gridCol>
                <a:gridCol w="925551">
                  <a:extLst>
                    <a:ext uri="{9D8B030D-6E8A-4147-A177-3AD203B41FA5}">
                      <a16:colId xmlns:a16="http://schemas.microsoft.com/office/drawing/2014/main" val="2517043174"/>
                    </a:ext>
                  </a:extLst>
                </a:gridCol>
              </a:tblGrid>
              <a:tr h="0">
                <a:tc>
                  <a:txBody>
                    <a:bodyPr/>
                    <a:lstStyle/>
                    <a:p>
                      <a:r>
                        <a:rPr lang="zh-CN" altLang="en-US" sz="1100" b="1" dirty="0"/>
                        <a:t>项目</a:t>
                      </a:r>
                    </a:p>
                  </a:txBody>
                  <a:tcPr anchor="ctr"/>
                </a:tc>
                <a:tc>
                  <a:txBody>
                    <a:bodyPr/>
                    <a:lstStyle/>
                    <a:p>
                      <a:r>
                        <a:rPr lang="zh-CN" altLang="en-US" sz="1100" b="1" dirty="0"/>
                        <a:t>产品</a:t>
                      </a:r>
                      <a:r>
                        <a:rPr lang="en-US" altLang="zh-CN" sz="1100" b="1" dirty="0"/>
                        <a:t>1</a:t>
                      </a:r>
                    </a:p>
                  </a:txBody>
                  <a:tcPr anchor="ctr"/>
                </a:tc>
                <a:tc>
                  <a:txBody>
                    <a:bodyPr/>
                    <a:lstStyle/>
                    <a:p>
                      <a:r>
                        <a:rPr lang="zh-CN" altLang="en-US" sz="1100" b="1" dirty="0"/>
                        <a:t>产品</a:t>
                      </a:r>
                      <a:r>
                        <a:rPr lang="en-US" altLang="zh-CN" sz="1100" b="1" dirty="0"/>
                        <a:t>2</a:t>
                      </a:r>
                    </a:p>
                  </a:txBody>
                  <a:tcPr anchor="ctr"/>
                </a:tc>
                <a:extLst>
                  <a:ext uri="{0D108BD9-81ED-4DB2-BD59-A6C34878D82A}">
                    <a16:rowId xmlns:a16="http://schemas.microsoft.com/office/drawing/2014/main" val="4200251893"/>
                  </a:ext>
                </a:extLst>
              </a:tr>
              <a:tr h="0">
                <a:tc>
                  <a:txBody>
                    <a:bodyPr/>
                    <a:lstStyle/>
                    <a:p>
                      <a:r>
                        <a:rPr lang="zh-CN" altLang="en-US" sz="1100" dirty="0"/>
                        <a:t>单位售价</a:t>
                      </a:r>
                    </a:p>
                  </a:txBody>
                  <a:tcPr anchor="ctr"/>
                </a:tc>
                <a:tc>
                  <a:txBody>
                    <a:bodyPr/>
                    <a:lstStyle/>
                    <a:p>
                      <a:r>
                        <a:rPr lang="en-US" altLang="zh-CN" sz="1100"/>
                        <a:t>$60</a:t>
                      </a:r>
                    </a:p>
                  </a:txBody>
                  <a:tcPr anchor="ctr"/>
                </a:tc>
                <a:tc>
                  <a:txBody>
                    <a:bodyPr/>
                    <a:lstStyle/>
                    <a:p>
                      <a:r>
                        <a:rPr lang="en-US" altLang="zh-CN" sz="1100"/>
                        <a:t>$50</a:t>
                      </a:r>
                    </a:p>
                  </a:txBody>
                  <a:tcPr anchor="ctr"/>
                </a:tc>
                <a:extLst>
                  <a:ext uri="{0D108BD9-81ED-4DB2-BD59-A6C34878D82A}">
                    <a16:rowId xmlns:a16="http://schemas.microsoft.com/office/drawing/2014/main" val="3795333782"/>
                  </a:ext>
                </a:extLst>
              </a:tr>
              <a:tr h="0">
                <a:tc>
                  <a:txBody>
                    <a:bodyPr/>
                    <a:lstStyle/>
                    <a:p>
                      <a:r>
                        <a:rPr lang="zh-CN" altLang="en-US" sz="1100"/>
                        <a:t>减：单位变动费用</a:t>
                      </a:r>
                    </a:p>
                  </a:txBody>
                  <a:tcPr anchor="ctr"/>
                </a:tc>
                <a:tc>
                  <a:txBody>
                    <a:bodyPr/>
                    <a:lstStyle/>
                    <a:p>
                      <a:r>
                        <a:rPr lang="en-US" altLang="zh-CN" sz="1100"/>
                        <a:t>$36</a:t>
                      </a:r>
                    </a:p>
                  </a:txBody>
                  <a:tcPr anchor="ctr"/>
                </a:tc>
                <a:tc>
                  <a:txBody>
                    <a:bodyPr/>
                    <a:lstStyle/>
                    <a:p>
                      <a:r>
                        <a:rPr lang="en-US" altLang="zh-CN" sz="1100"/>
                        <a:t>$35</a:t>
                      </a:r>
                    </a:p>
                  </a:txBody>
                  <a:tcPr anchor="ctr"/>
                </a:tc>
                <a:extLst>
                  <a:ext uri="{0D108BD9-81ED-4DB2-BD59-A6C34878D82A}">
                    <a16:rowId xmlns:a16="http://schemas.microsoft.com/office/drawing/2014/main" val="3041971272"/>
                  </a:ext>
                </a:extLst>
              </a:tr>
              <a:tr h="0">
                <a:tc>
                  <a:txBody>
                    <a:bodyPr/>
                    <a:lstStyle/>
                    <a:p>
                      <a:r>
                        <a:rPr lang="zh-CN" altLang="en-US" sz="1100" b="1"/>
                        <a:t>单位贡献毛益</a:t>
                      </a:r>
                      <a:endParaRPr lang="zh-CN" altLang="en-US" sz="1100"/>
                    </a:p>
                  </a:txBody>
                  <a:tcPr anchor="ctr"/>
                </a:tc>
                <a:tc>
                  <a:txBody>
                    <a:bodyPr/>
                    <a:lstStyle/>
                    <a:p>
                      <a:r>
                        <a:rPr lang="en-US" altLang="zh-CN" sz="1100" b="1"/>
                        <a:t>$24</a:t>
                      </a:r>
                      <a:endParaRPr lang="zh-CN" altLang="en-US" sz="1100"/>
                    </a:p>
                  </a:txBody>
                  <a:tcPr anchor="ctr"/>
                </a:tc>
                <a:tc>
                  <a:txBody>
                    <a:bodyPr/>
                    <a:lstStyle/>
                    <a:p>
                      <a:r>
                        <a:rPr lang="en-US" altLang="zh-CN" sz="1100" b="1"/>
                        <a:t>$15</a:t>
                      </a:r>
                      <a:endParaRPr lang="zh-CN" altLang="en-US" sz="1100"/>
                    </a:p>
                  </a:txBody>
                  <a:tcPr anchor="ctr"/>
                </a:tc>
                <a:extLst>
                  <a:ext uri="{0D108BD9-81ED-4DB2-BD59-A6C34878D82A}">
                    <a16:rowId xmlns:a16="http://schemas.microsoft.com/office/drawing/2014/main" val="3036327379"/>
                  </a:ext>
                </a:extLst>
              </a:tr>
              <a:tr h="0">
                <a:tc>
                  <a:txBody>
                    <a:bodyPr/>
                    <a:lstStyle/>
                    <a:p>
                      <a:r>
                        <a:rPr lang="zh-CN" altLang="en-US" sz="1100"/>
                        <a:t>当前每周需求量（单位）</a:t>
                      </a:r>
                    </a:p>
                  </a:txBody>
                  <a:tcPr anchor="ctr"/>
                </a:tc>
                <a:tc>
                  <a:txBody>
                    <a:bodyPr/>
                    <a:lstStyle/>
                    <a:p>
                      <a:r>
                        <a:rPr lang="en-US" altLang="zh-CN" sz="1100"/>
                        <a:t>2,000</a:t>
                      </a:r>
                    </a:p>
                  </a:txBody>
                  <a:tcPr anchor="ctr"/>
                </a:tc>
                <a:tc>
                  <a:txBody>
                    <a:bodyPr/>
                    <a:lstStyle/>
                    <a:p>
                      <a:r>
                        <a:rPr lang="en-US" altLang="zh-CN" sz="1100"/>
                        <a:t>2,200</a:t>
                      </a:r>
                    </a:p>
                  </a:txBody>
                  <a:tcPr anchor="ctr"/>
                </a:tc>
                <a:extLst>
                  <a:ext uri="{0D108BD9-81ED-4DB2-BD59-A6C34878D82A}">
                    <a16:rowId xmlns:a16="http://schemas.microsoft.com/office/drawing/2014/main" val="100841203"/>
                  </a:ext>
                </a:extLst>
              </a:tr>
              <a:tr h="0">
                <a:tc>
                  <a:txBody>
                    <a:bodyPr/>
                    <a:lstStyle/>
                    <a:p>
                      <a:r>
                        <a:rPr lang="zh-CN" altLang="en-US" sz="1100" b="1"/>
                        <a:t>贡献毛益率</a:t>
                      </a:r>
                      <a:endParaRPr lang="zh-CN" altLang="en-US" sz="1100"/>
                    </a:p>
                  </a:txBody>
                  <a:tcPr anchor="ctr"/>
                </a:tc>
                <a:tc>
                  <a:txBody>
                    <a:bodyPr/>
                    <a:lstStyle/>
                    <a:p>
                      <a:r>
                        <a:rPr lang="en-US" altLang="zh-CN" sz="1100" b="1"/>
                        <a:t>40%</a:t>
                      </a:r>
                      <a:endParaRPr lang="zh-CN" altLang="en-US" sz="1100"/>
                    </a:p>
                  </a:txBody>
                  <a:tcPr anchor="ctr"/>
                </a:tc>
                <a:tc>
                  <a:txBody>
                    <a:bodyPr/>
                    <a:lstStyle/>
                    <a:p>
                      <a:r>
                        <a:rPr lang="en-US" altLang="zh-CN" sz="1100" b="1"/>
                        <a:t>30%</a:t>
                      </a:r>
                      <a:endParaRPr lang="zh-CN" altLang="en-US" sz="1100"/>
                    </a:p>
                  </a:txBody>
                  <a:tcPr anchor="ctr"/>
                </a:tc>
                <a:extLst>
                  <a:ext uri="{0D108BD9-81ED-4DB2-BD59-A6C34878D82A}">
                    <a16:rowId xmlns:a16="http://schemas.microsoft.com/office/drawing/2014/main" val="435014637"/>
                  </a:ext>
                </a:extLst>
              </a:tr>
              <a:tr h="0">
                <a:tc>
                  <a:txBody>
                    <a:bodyPr/>
                    <a:lstStyle/>
                    <a:p>
                      <a:r>
                        <a:rPr lang="zh-CN" altLang="en-US" sz="1100"/>
                        <a:t>在机器</a:t>
                      </a:r>
                      <a:r>
                        <a:rPr lang="en-US" altLang="zh-CN" sz="1100"/>
                        <a:t>A1</a:t>
                      </a:r>
                      <a:r>
                        <a:rPr lang="zh-CN" altLang="en-US" sz="1100"/>
                        <a:t>上所需加工时间（分钟</a:t>
                      </a:r>
                      <a:r>
                        <a:rPr lang="en-US" altLang="zh-CN" sz="1100"/>
                        <a:t>/</a:t>
                      </a:r>
                      <a:r>
                        <a:rPr lang="zh-CN" altLang="en-US" sz="1100"/>
                        <a:t>单位）</a:t>
                      </a:r>
                    </a:p>
                  </a:txBody>
                  <a:tcPr anchor="ctr"/>
                </a:tc>
                <a:tc>
                  <a:txBody>
                    <a:bodyPr/>
                    <a:lstStyle/>
                    <a:p>
                      <a:r>
                        <a:rPr lang="en-US" altLang="zh-CN" sz="1100"/>
                        <a:t>1.00</a:t>
                      </a:r>
                      <a:r>
                        <a:rPr lang="zh-CN" altLang="en-US" sz="1100"/>
                        <a:t>分钟</a:t>
                      </a:r>
                    </a:p>
                  </a:txBody>
                  <a:tcPr anchor="ctr"/>
                </a:tc>
                <a:tc>
                  <a:txBody>
                    <a:bodyPr/>
                    <a:lstStyle/>
                    <a:p>
                      <a:r>
                        <a:rPr lang="en-US" altLang="zh-CN" sz="1100" dirty="0"/>
                        <a:t>0.50</a:t>
                      </a:r>
                      <a:r>
                        <a:rPr lang="zh-CN" altLang="en-US" sz="1100" dirty="0"/>
                        <a:t>分钟</a:t>
                      </a:r>
                    </a:p>
                  </a:txBody>
                  <a:tcPr anchor="ctr"/>
                </a:tc>
                <a:extLst>
                  <a:ext uri="{0D108BD9-81ED-4DB2-BD59-A6C34878D82A}">
                    <a16:rowId xmlns:a16="http://schemas.microsoft.com/office/drawing/2014/main" val="320451902"/>
                  </a:ext>
                </a:extLst>
              </a:tr>
            </a:tbl>
          </a:graphicData>
        </a:graphic>
      </p:graphicFrame>
      <p:sp>
        <p:nvSpPr>
          <p:cNvPr id="19" name="文本框 18">
            <a:extLst>
              <a:ext uri="{FF2B5EF4-FFF2-40B4-BE49-F238E27FC236}">
                <a16:creationId xmlns:a16="http://schemas.microsoft.com/office/drawing/2014/main" id="{232A86FE-55F8-43D7-B42B-F6492BED0785}"/>
              </a:ext>
            </a:extLst>
          </p:cNvPr>
          <p:cNvSpPr txBox="1"/>
          <p:nvPr/>
        </p:nvSpPr>
        <p:spPr>
          <a:xfrm>
            <a:off x="3852277" y="4125519"/>
            <a:ext cx="4661208" cy="830997"/>
          </a:xfrm>
          <a:prstGeom prst="rect">
            <a:avLst/>
          </a:prstGeom>
          <a:solidFill>
            <a:schemeClr val="accent2">
              <a:lumMod val="40000"/>
              <a:lumOff val="60000"/>
            </a:schemeClr>
          </a:solidFill>
        </p:spPr>
        <p:txBody>
          <a:bodyPr wrap="square">
            <a:spAutoFit/>
          </a:bodyPr>
          <a:lstStyle/>
          <a:p>
            <a:pPr>
              <a:buFont typeface="Arial" panose="020B0604020202020204" pitchFamily="34" charset="0"/>
              <a:buChar char="•"/>
            </a:pPr>
            <a:r>
              <a:rPr lang="zh-CN" altLang="en-US" sz="1200" dirty="0">
                <a:effectLst/>
              </a:rPr>
              <a:t>机器</a:t>
            </a:r>
            <a:r>
              <a:rPr lang="en-US" altLang="zh-CN" sz="1200" dirty="0">
                <a:effectLst/>
              </a:rPr>
              <a:t>A1</a:t>
            </a:r>
            <a:r>
              <a:rPr lang="zh-CN" altLang="en-US" sz="1200" dirty="0">
                <a:effectLst/>
              </a:rPr>
              <a:t>是约束资源，当前正以</a:t>
            </a:r>
            <a:r>
              <a:rPr lang="en-US" altLang="zh-CN" sz="1200" dirty="0">
                <a:effectLst/>
              </a:rPr>
              <a:t>100%</a:t>
            </a:r>
            <a:r>
              <a:rPr lang="zh-CN" altLang="en-US" sz="1200" dirty="0">
                <a:effectLst/>
              </a:rPr>
              <a:t>的产能运行。</a:t>
            </a:r>
          </a:p>
          <a:p>
            <a:pPr>
              <a:buFont typeface="Arial" panose="020B0604020202020204" pitchFamily="34" charset="0"/>
              <a:buChar char="•"/>
            </a:pPr>
            <a:r>
              <a:rPr lang="zh-CN" altLang="en-US" sz="1200" dirty="0">
                <a:effectLst/>
              </a:rPr>
              <a:t>所有其他机器均有闲置产能。</a:t>
            </a:r>
          </a:p>
          <a:p>
            <a:pPr>
              <a:buFont typeface="Arial" panose="020B0604020202020204" pitchFamily="34" charset="0"/>
              <a:buChar char="•"/>
            </a:pPr>
            <a:r>
              <a:rPr lang="zh-CN" altLang="en-US" sz="1200" dirty="0">
                <a:effectLst/>
              </a:rPr>
              <a:t>机器</a:t>
            </a:r>
            <a:r>
              <a:rPr lang="en-US" altLang="zh-CN" sz="1200" dirty="0">
                <a:effectLst/>
              </a:rPr>
              <a:t>A1</a:t>
            </a:r>
            <a:r>
              <a:rPr lang="zh-CN" altLang="en-US" sz="1200" dirty="0">
                <a:effectLst/>
              </a:rPr>
              <a:t>每周的产能为</a:t>
            </a:r>
            <a:r>
              <a:rPr lang="en-US" altLang="zh-CN" sz="1200" dirty="0">
                <a:effectLst/>
              </a:rPr>
              <a:t>2,400</a:t>
            </a:r>
            <a:r>
              <a:rPr lang="zh-CN" altLang="en-US" sz="1200" dirty="0">
                <a:effectLst/>
              </a:rPr>
              <a:t>分钟。</a:t>
            </a:r>
          </a:p>
          <a:p>
            <a:r>
              <a:rPr lang="en-US" altLang="zh-CN" sz="1200" b="1" dirty="0">
                <a:effectLst/>
              </a:rPr>
              <a:t>Ensign</a:t>
            </a:r>
            <a:r>
              <a:rPr lang="zh-CN" altLang="en-US" sz="1200" b="1" dirty="0">
                <a:effectLst/>
              </a:rPr>
              <a:t>公司应将重点放在产品</a:t>
            </a:r>
            <a:r>
              <a:rPr lang="en-US" altLang="zh-CN" sz="1200" b="1" dirty="0">
                <a:effectLst/>
              </a:rPr>
              <a:t>1</a:t>
            </a:r>
            <a:r>
              <a:rPr lang="zh-CN" altLang="en-US" sz="1200" b="1" dirty="0">
                <a:effectLst/>
              </a:rPr>
              <a:t>还是产品</a:t>
            </a:r>
            <a:r>
              <a:rPr lang="en-US" altLang="zh-CN" sz="1200" b="1" dirty="0">
                <a:effectLst/>
              </a:rPr>
              <a:t>2</a:t>
            </a:r>
            <a:r>
              <a:rPr lang="zh-CN" altLang="en-US" sz="1200" b="1" dirty="0">
                <a:effectLst/>
              </a:rPr>
              <a:t>上？</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pic>
        <p:nvPicPr>
          <p:cNvPr id="2" name="Image 0" descr="//img.tukuppt.com/aippt_uploads/34576449/25/07/03/6866a18678cda.png!/fwfh2/960x960"/>
          <p:cNvPicPr>
            <a:picLocks noChangeAspect="1"/>
          </p:cNvPicPr>
          <p:nvPr/>
        </p:nvPicPr>
        <p:blipFill>
          <a:blip r:embed="rId3"/>
          <a:stretch>
            <a:fillRect/>
          </a:stretch>
        </p:blipFill>
        <p:spPr>
          <a:xfrm>
            <a:off x="0" y="144966"/>
            <a:ext cx="9140180" cy="5131830"/>
          </a:xfrm>
          <a:prstGeom prst="rect">
            <a:avLst/>
          </a:prstGeom>
        </p:spPr>
      </p:pic>
      <p:sp>
        <p:nvSpPr>
          <p:cNvPr id="4" name="Shape 1"/>
          <p:cNvSpPr/>
          <p:nvPr/>
        </p:nvSpPr>
        <p:spPr>
          <a:xfrm>
            <a:off x="1188456" y="329442"/>
            <a:ext cx="2735844" cy="339064"/>
          </a:xfrm>
          <a:custGeom>
            <a:avLst/>
            <a:gdLst/>
            <a:ahLst/>
            <a:cxnLst/>
            <a:rect l="l" t="t" r="r" b="b"/>
            <a:pathLst>
              <a:path w="2735844" h="339064">
                <a:moveTo>
                  <a:pt x="0" y="0"/>
                </a:moveTo>
                <a:lnTo>
                  <a:pt x="2735844" y="0"/>
                </a:lnTo>
                <a:lnTo>
                  <a:pt x="2735844" y="339064"/>
                </a:lnTo>
                <a:lnTo>
                  <a:pt x="0" y="339064"/>
                </a:lnTo>
                <a:close/>
              </a:path>
            </a:pathLst>
          </a:custGeom>
          <a:noFill/>
          <a:ln/>
        </p:spPr>
      </p:sp>
      <p:sp>
        <p:nvSpPr>
          <p:cNvPr id="7" name="Shape 4"/>
          <p:cNvSpPr/>
          <p:nvPr/>
        </p:nvSpPr>
        <p:spPr>
          <a:xfrm>
            <a:off x="482166" y="206110"/>
            <a:ext cx="433263" cy="535355"/>
          </a:xfrm>
          <a:custGeom>
            <a:avLst/>
            <a:gdLst/>
            <a:ahLst/>
            <a:cxnLst/>
            <a:rect l="l" t="t" r="r" b="b"/>
            <a:pathLst>
              <a:path w="433263" h="535355">
                <a:moveTo>
                  <a:pt x="73647" y="0"/>
                </a:moveTo>
                <a:lnTo>
                  <a:pt x="366966" y="0"/>
                </a:lnTo>
                <a:cubicBezTo>
                  <a:pt x="396171" y="0"/>
                  <a:pt x="421567" y="15237"/>
                  <a:pt x="432995" y="35554"/>
                </a:cubicBezTo>
                <a:cubicBezTo>
                  <a:pt x="186658" y="119359"/>
                  <a:pt x="11428" y="311096"/>
                  <a:pt x="1270" y="535847"/>
                </a:cubicBezTo>
                <a:cubicBezTo>
                  <a:pt x="0" y="533307"/>
                  <a:pt x="0" y="532038"/>
                  <a:pt x="0" y="529498"/>
                </a:cubicBezTo>
                <a:lnTo>
                  <a:pt x="0" y="60949"/>
                </a:lnTo>
                <a:cubicBezTo>
                  <a:pt x="0" y="26665"/>
                  <a:pt x="33014" y="0"/>
                  <a:pt x="73647" y="0"/>
                </a:cubicBezTo>
                <a:close/>
              </a:path>
            </a:pathLst>
          </a:custGeom>
          <a:gradFill>
            <a:gsLst>
              <a:gs pos="0">
                <a:srgbClr val="64CBFF">
                  <a:alpha val="34902"/>
                </a:srgbClr>
              </a:gs>
              <a:gs pos="100000">
                <a:srgbClr val="2F5897">
                  <a:alpha val="100000"/>
                </a:srgbClr>
              </a:gs>
            </a:gsLst>
            <a:lin ang="1200000" scaled="1"/>
          </a:gradFill>
          <a:ln/>
        </p:spPr>
      </p:sp>
      <p:pic>
        <p:nvPicPr>
          <p:cNvPr id="11" name="Image 4" descr="//img.tukuppt.com/aippt_tpl_uploads/25/07/01/686397e7af1a3.png!/fwfh2/960x960"/>
          <p:cNvPicPr>
            <a:picLocks noChangeAspect="1"/>
          </p:cNvPicPr>
          <p:nvPr/>
        </p:nvPicPr>
        <p:blipFill>
          <a:blip r:embed="rId4"/>
          <a:srcRect l="36452" t="56544" b="34700"/>
          <a:stretch/>
        </p:blipFill>
        <p:spPr>
          <a:xfrm>
            <a:off x="-4836" y="-812736"/>
            <a:ext cx="9148837" cy="1019042"/>
          </a:xfrm>
          <a:prstGeom prst="rect">
            <a:avLst/>
          </a:prstGeom>
        </p:spPr>
      </p:pic>
      <p:pic>
        <p:nvPicPr>
          <p:cNvPr id="12" name="Image 5" descr="//img.tukuppt.com/aippt_tpl_uploads/25/07/01/686397e7af1a3.png!/fwfh2/960x960"/>
          <p:cNvPicPr>
            <a:picLocks noChangeAspect="1"/>
          </p:cNvPicPr>
          <p:nvPr/>
        </p:nvPicPr>
        <p:blipFill>
          <a:blip r:embed="rId4"/>
          <a:srcRect l="36452" t="56544" b="34700"/>
          <a:stretch/>
        </p:blipFill>
        <p:spPr>
          <a:xfrm>
            <a:off x="-61352" y="4937888"/>
            <a:ext cx="9313872" cy="1019042"/>
          </a:xfrm>
          <a:prstGeom prst="rect">
            <a:avLst/>
          </a:prstGeom>
        </p:spPr>
      </p:pic>
      <p:pic>
        <p:nvPicPr>
          <p:cNvPr id="14" name="Image 7" descr="//static3.tukuppt.com/design/material/002/491/668c36e192861.jpg?x-bce-process=image/resize,m_mfit,w_960,h_960"/>
          <p:cNvPicPr>
            <a:picLocks noChangeAspect="1"/>
          </p:cNvPicPr>
          <p:nvPr/>
        </p:nvPicPr>
        <p:blipFill>
          <a:blip r:embed="rId5"/>
          <a:srcRect l="13852" r="24161"/>
          <a:stretch/>
        </p:blipFill>
        <p:spPr>
          <a:xfrm>
            <a:off x="5772713" y="1318404"/>
            <a:ext cx="2689346" cy="2891960"/>
          </a:xfrm>
          <a:prstGeom prst="rect">
            <a:avLst/>
          </a:prstGeom>
        </p:spPr>
      </p:pic>
      <p:sp>
        <p:nvSpPr>
          <p:cNvPr id="19" name="Shape 8"/>
          <p:cNvSpPr/>
          <p:nvPr/>
        </p:nvSpPr>
        <p:spPr>
          <a:xfrm>
            <a:off x="7697774" y="3737082"/>
            <a:ext cx="805079" cy="805079"/>
          </a:xfrm>
          <a:custGeom>
            <a:avLst/>
            <a:gdLst/>
            <a:ahLst/>
            <a:cxnLst/>
            <a:rect l="l" t="t" r="r" b="b"/>
            <a:pathLst>
              <a:path w="805079" h="805079">
                <a:moveTo>
                  <a:pt x="402539" y="0"/>
                </a:moveTo>
                <a:cubicBezTo>
                  <a:pt x="624707" y="0"/>
                  <a:pt x="805079" y="180372"/>
                  <a:pt x="805079" y="402539"/>
                </a:cubicBezTo>
                <a:cubicBezTo>
                  <a:pt x="805079" y="624707"/>
                  <a:pt x="624707" y="805079"/>
                  <a:pt x="402539" y="805079"/>
                </a:cubicBezTo>
                <a:cubicBezTo>
                  <a:pt x="180372" y="805079"/>
                  <a:pt x="0" y="624707"/>
                  <a:pt x="0" y="402539"/>
                </a:cubicBezTo>
                <a:cubicBezTo>
                  <a:pt x="0" y="180372"/>
                  <a:pt x="180372" y="0"/>
                  <a:pt x="402539" y="0"/>
                </a:cubicBezTo>
                <a:close/>
              </a:path>
            </a:pathLst>
          </a:custGeom>
          <a:solidFill>
            <a:srgbClr val="147BC8"/>
          </a:solidFill>
          <a:ln/>
        </p:spPr>
      </p:sp>
      <p:sp>
        <p:nvSpPr>
          <p:cNvPr id="20" name="Shape 9"/>
          <p:cNvSpPr/>
          <p:nvPr/>
        </p:nvSpPr>
        <p:spPr>
          <a:xfrm>
            <a:off x="8401159" y="3329606"/>
            <a:ext cx="305082" cy="305082"/>
          </a:xfrm>
          <a:custGeom>
            <a:avLst/>
            <a:gdLst/>
            <a:ahLst/>
            <a:cxnLst/>
            <a:rect l="l" t="t" r="r" b="b"/>
            <a:pathLst>
              <a:path w="305082" h="305082">
                <a:moveTo>
                  <a:pt x="152541" y="0"/>
                </a:moveTo>
                <a:cubicBezTo>
                  <a:pt x="236731" y="0"/>
                  <a:pt x="305082" y="68351"/>
                  <a:pt x="305082" y="152541"/>
                </a:cubicBezTo>
                <a:cubicBezTo>
                  <a:pt x="305082" y="236731"/>
                  <a:pt x="236731" y="305082"/>
                  <a:pt x="152541" y="305082"/>
                </a:cubicBezTo>
                <a:cubicBezTo>
                  <a:pt x="68351" y="305082"/>
                  <a:pt x="0" y="236731"/>
                  <a:pt x="0" y="152541"/>
                </a:cubicBezTo>
                <a:cubicBezTo>
                  <a:pt x="0" y="68351"/>
                  <a:pt x="68351" y="0"/>
                  <a:pt x="152541" y="0"/>
                </a:cubicBezTo>
                <a:close/>
              </a:path>
            </a:pathLst>
          </a:custGeom>
          <a:solidFill>
            <a:srgbClr val="0067B4"/>
          </a:solidFill>
          <a:ln/>
        </p:spPr>
      </p:sp>
      <p:graphicFrame>
        <p:nvGraphicFramePr>
          <p:cNvPr id="21" name="表格 20">
            <a:extLst>
              <a:ext uri="{FF2B5EF4-FFF2-40B4-BE49-F238E27FC236}">
                <a16:creationId xmlns:a16="http://schemas.microsoft.com/office/drawing/2014/main" id="{516316C1-70DF-44F0-AEDA-4D7D21A89391}"/>
              </a:ext>
            </a:extLst>
          </p:cNvPr>
          <p:cNvGraphicFramePr>
            <a:graphicFrameLocks noGrp="1"/>
          </p:cNvGraphicFramePr>
          <p:nvPr>
            <p:extLst>
              <p:ext uri="{D42A27DB-BD31-4B8C-83A1-F6EECF244321}">
                <p14:modId xmlns:p14="http://schemas.microsoft.com/office/powerpoint/2010/main" val="1287071451"/>
              </p:ext>
            </p:extLst>
          </p:nvPr>
        </p:nvGraphicFramePr>
        <p:xfrm>
          <a:off x="423012" y="1318404"/>
          <a:ext cx="5105519" cy="1219200"/>
        </p:xfrm>
        <a:graphic>
          <a:graphicData uri="http://schemas.openxmlformats.org/drawingml/2006/table">
            <a:tbl>
              <a:tblPr>
                <a:tableStyleId>{3C2FFA5D-87B4-456A-9821-1D502468CF0F}</a:tableStyleId>
              </a:tblPr>
              <a:tblGrid>
                <a:gridCol w="2628900">
                  <a:extLst>
                    <a:ext uri="{9D8B030D-6E8A-4147-A177-3AD203B41FA5}">
                      <a16:colId xmlns:a16="http://schemas.microsoft.com/office/drawing/2014/main" val="2705649086"/>
                    </a:ext>
                  </a:extLst>
                </a:gridCol>
                <a:gridCol w="1448265">
                  <a:extLst>
                    <a:ext uri="{9D8B030D-6E8A-4147-A177-3AD203B41FA5}">
                      <a16:colId xmlns:a16="http://schemas.microsoft.com/office/drawing/2014/main" val="1905745145"/>
                    </a:ext>
                  </a:extLst>
                </a:gridCol>
                <a:gridCol w="1028354">
                  <a:extLst>
                    <a:ext uri="{9D8B030D-6E8A-4147-A177-3AD203B41FA5}">
                      <a16:colId xmlns:a16="http://schemas.microsoft.com/office/drawing/2014/main" val="1715543011"/>
                    </a:ext>
                  </a:extLst>
                </a:gridCol>
              </a:tblGrid>
              <a:tr h="0">
                <a:tc>
                  <a:txBody>
                    <a:bodyPr/>
                    <a:lstStyle/>
                    <a:p>
                      <a:r>
                        <a:rPr lang="zh-CN" altLang="en-US" sz="1400" dirty="0"/>
                        <a:t>项目</a:t>
                      </a:r>
                    </a:p>
                  </a:txBody>
                  <a:tcPr anchor="ctr"/>
                </a:tc>
                <a:tc>
                  <a:txBody>
                    <a:bodyPr/>
                    <a:lstStyle/>
                    <a:p>
                      <a:r>
                        <a:rPr lang="zh-CN" altLang="en-US" sz="1400"/>
                        <a:t>产品</a:t>
                      </a:r>
                      <a:r>
                        <a:rPr lang="en-US" altLang="zh-CN" sz="1400"/>
                        <a:t>1</a:t>
                      </a:r>
                    </a:p>
                  </a:txBody>
                  <a:tcPr anchor="ctr"/>
                </a:tc>
                <a:tc>
                  <a:txBody>
                    <a:bodyPr/>
                    <a:lstStyle/>
                    <a:p>
                      <a:r>
                        <a:rPr lang="zh-CN" altLang="en-US" sz="1400"/>
                        <a:t>产品</a:t>
                      </a:r>
                      <a:r>
                        <a:rPr lang="en-US" altLang="zh-CN" sz="1400"/>
                        <a:t>2</a:t>
                      </a:r>
                    </a:p>
                  </a:txBody>
                  <a:tcPr anchor="ctr"/>
                </a:tc>
                <a:extLst>
                  <a:ext uri="{0D108BD9-81ED-4DB2-BD59-A6C34878D82A}">
                    <a16:rowId xmlns:a16="http://schemas.microsoft.com/office/drawing/2014/main" val="3474256558"/>
                  </a:ext>
                </a:extLst>
              </a:tr>
              <a:tr h="0">
                <a:tc>
                  <a:txBody>
                    <a:bodyPr/>
                    <a:lstStyle/>
                    <a:p>
                      <a:r>
                        <a:rPr lang="zh-CN" altLang="en-US" sz="1400" dirty="0"/>
                        <a:t>单位贡献毛益</a:t>
                      </a:r>
                    </a:p>
                  </a:txBody>
                  <a:tcPr anchor="ctr"/>
                </a:tc>
                <a:tc>
                  <a:txBody>
                    <a:bodyPr/>
                    <a:lstStyle/>
                    <a:p>
                      <a:r>
                        <a:rPr lang="en-US" altLang="zh-CN" sz="1400" dirty="0"/>
                        <a:t>$24</a:t>
                      </a:r>
                    </a:p>
                  </a:txBody>
                  <a:tcPr anchor="ctr"/>
                </a:tc>
                <a:tc>
                  <a:txBody>
                    <a:bodyPr/>
                    <a:lstStyle/>
                    <a:p>
                      <a:r>
                        <a:rPr lang="en-US" altLang="zh-CN" sz="1400"/>
                        <a:t>$15</a:t>
                      </a:r>
                    </a:p>
                  </a:txBody>
                  <a:tcPr anchor="ctr"/>
                </a:tc>
                <a:extLst>
                  <a:ext uri="{0D108BD9-81ED-4DB2-BD59-A6C34878D82A}">
                    <a16:rowId xmlns:a16="http://schemas.microsoft.com/office/drawing/2014/main" val="560808357"/>
                  </a:ext>
                </a:extLst>
              </a:tr>
              <a:tr h="0">
                <a:tc>
                  <a:txBody>
                    <a:bodyPr/>
                    <a:lstStyle/>
                    <a:p>
                      <a:r>
                        <a:rPr lang="zh-CN" altLang="en-US" sz="1400"/>
                        <a:t>生产单位产品所需时间（分钟）</a:t>
                      </a:r>
                    </a:p>
                  </a:txBody>
                  <a:tcPr anchor="ctr"/>
                </a:tc>
                <a:tc>
                  <a:txBody>
                    <a:bodyPr/>
                    <a:lstStyle/>
                    <a:p>
                      <a:r>
                        <a:rPr lang="en-US" altLang="zh-CN" sz="1400"/>
                        <a:t>1.0</a:t>
                      </a:r>
                      <a:r>
                        <a:rPr lang="zh-CN" altLang="en-US" sz="1400"/>
                        <a:t>分钟</a:t>
                      </a:r>
                    </a:p>
                  </a:txBody>
                  <a:tcPr anchor="ctr"/>
                </a:tc>
                <a:tc>
                  <a:txBody>
                    <a:bodyPr/>
                    <a:lstStyle/>
                    <a:p>
                      <a:r>
                        <a:rPr lang="en-US" altLang="zh-CN" sz="1400"/>
                        <a:t>0.5</a:t>
                      </a:r>
                      <a:r>
                        <a:rPr lang="zh-CN" altLang="en-US" sz="1400"/>
                        <a:t>分钟</a:t>
                      </a:r>
                    </a:p>
                  </a:txBody>
                  <a:tcPr anchor="ctr"/>
                </a:tc>
                <a:extLst>
                  <a:ext uri="{0D108BD9-81ED-4DB2-BD59-A6C34878D82A}">
                    <a16:rowId xmlns:a16="http://schemas.microsoft.com/office/drawing/2014/main" val="327309489"/>
                  </a:ext>
                </a:extLst>
              </a:tr>
              <a:tr h="0">
                <a:tc>
                  <a:txBody>
                    <a:bodyPr/>
                    <a:lstStyle/>
                    <a:p>
                      <a:r>
                        <a:rPr lang="zh-CN" altLang="en-US" sz="1400" b="1"/>
                        <a:t>每分钟贡献毛益</a:t>
                      </a:r>
                      <a:endParaRPr lang="zh-CN" altLang="en-US" sz="1400"/>
                    </a:p>
                  </a:txBody>
                  <a:tcPr anchor="ctr"/>
                </a:tc>
                <a:tc>
                  <a:txBody>
                    <a:bodyPr/>
                    <a:lstStyle/>
                    <a:p>
                      <a:r>
                        <a:rPr lang="en-US" altLang="zh-CN" sz="1400" b="1"/>
                        <a:t>$24/</a:t>
                      </a:r>
                      <a:r>
                        <a:rPr lang="zh-CN" altLang="en-US" sz="1400" b="1"/>
                        <a:t>分钟</a:t>
                      </a:r>
                      <a:endParaRPr lang="zh-CN" altLang="en-US" sz="1400"/>
                    </a:p>
                  </a:txBody>
                  <a:tcPr anchor="ctr"/>
                </a:tc>
                <a:tc>
                  <a:txBody>
                    <a:bodyPr/>
                    <a:lstStyle/>
                    <a:p>
                      <a:r>
                        <a:rPr lang="en-US" altLang="zh-CN" sz="1400" b="1" dirty="0"/>
                        <a:t>$30/</a:t>
                      </a:r>
                      <a:r>
                        <a:rPr lang="zh-CN" altLang="en-US" sz="1400" b="1" dirty="0"/>
                        <a:t>分钟</a:t>
                      </a:r>
                      <a:endParaRPr lang="zh-CN" altLang="en-US" sz="1400" dirty="0"/>
                    </a:p>
                  </a:txBody>
                  <a:tcPr anchor="ctr"/>
                </a:tc>
                <a:extLst>
                  <a:ext uri="{0D108BD9-81ED-4DB2-BD59-A6C34878D82A}">
                    <a16:rowId xmlns:a16="http://schemas.microsoft.com/office/drawing/2014/main" val="3167783705"/>
                  </a:ext>
                </a:extLst>
              </a:tr>
            </a:tbl>
          </a:graphicData>
        </a:graphic>
      </p:graphicFrame>
      <p:sp>
        <p:nvSpPr>
          <p:cNvPr id="22" name="Rectangle 1">
            <a:extLst>
              <a:ext uri="{FF2B5EF4-FFF2-40B4-BE49-F238E27FC236}">
                <a16:creationId xmlns:a16="http://schemas.microsoft.com/office/drawing/2014/main" id="{67F03C8A-C7AA-4DF5-B275-75B0E9E4B0CB}"/>
              </a:ext>
            </a:extLst>
          </p:cNvPr>
          <p:cNvSpPr>
            <a:spLocks noChangeArrowheads="1"/>
          </p:cNvSpPr>
          <p:nvPr/>
        </p:nvSpPr>
        <p:spPr bwMode="auto">
          <a:xfrm>
            <a:off x="994596" y="633104"/>
            <a:ext cx="425651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800" b="1" i="0" u="none" strike="noStrike" cap="none" normalizeH="0" baseline="0" dirty="0">
                <a:ln>
                  <a:noFill/>
                </a:ln>
                <a:solidFill>
                  <a:schemeClr val="tx1"/>
                </a:solidFill>
                <a:effectLst/>
                <a:latin typeface="Arial" panose="020B0604020202020204" pitchFamily="34" charset="0"/>
              </a:rPr>
              <a:t>关键在于单位约束资源的贡献毛益。</a:t>
            </a:r>
            <a:endParaRPr kumimoji="0" lang="zh-CN" altLang="zh-CN"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23" name="Rectangle 2">
            <a:extLst>
              <a:ext uri="{FF2B5EF4-FFF2-40B4-BE49-F238E27FC236}">
                <a16:creationId xmlns:a16="http://schemas.microsoft.com/office/drawing/2014/main" id="{FB8DB2BE-6B8F-4623-AB4B-1D42FBA3CE7C}"/>
              </a:ext>
            </a:extLst>
          </p:cNvPr>
          <p:cNvSpPr>
            <a:spLocks noChangeArrowheads="1"/>
          </p:cNvSpPr>
          <p:nvPr/>
        </p:nvSpPr>
        <p:spPr bwMode="auto">
          <a:xfrm>
            <a:off x="437759" y="3056471"/>
            <a:ext cx="4536939" cy="12464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ts val="600"/>
              </a:spcBef>
              <a:spcAft>
                <a:spcPts val="600"/>
              </a:spcAft>
              <a:buClrTx/>
              <a:buSzTx/>
              <a:buFontTx/>
              <a:buNone/>
              <a:tabLst/>
            </a:pPr>
            <a:r>
              <a:rPr kumimoji="0" lang="zh-CN" altLang="zh-CN" sz="1100" b="1" i="0" u="none" strike="noStrike" cap="none" normalizeH="0" baseline="0" dirty="0">
                <a:ln>
                  <a:noFill/>
                </a:ln>
                <a:solidFill>
                  <a:schemeClr val="tx1"/>
                </a:solidFill>
                <a:effectLst/>
                <a:latin typeface="Arial" panose="020B0604020202020204" pitchFamily="34" charset="0"/>
              </a:rPr>
              <a:t>应重点推广产品2</a:t>
            </a:r>
            <a:r>
              <a:rPr kumimoji="0" lang="zh-CN" altLang="zh-CN" sz="1100" b="0" i="0" u="none" strike="noStrike" cap="none" normalizeH="0" baseline="0" dirty="0">
                <a:ln>
                  <a:noFill/>
                </a:ln>
                <a:solidFill>
                  <a:schemeClr val="tx1"/>
                </a:solidFill>
                <a:effectLst/>
                <a:latin typeface="Arial" panose="020B0604020202020204" pitchFamily="34" charset="0"/>
              </a:rPr>
              <a:t>。</a:t>
            </a:r>
            <a:endParaRPr kumimoji="0" lang="en-US" altLang="zh-CN" sz="11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ts val="600"/>
              </a:spcBef>
              <a:spcAft>
                <a:spcPts val="600"/>
              </a:spcAft>
              <a:buClrTx/>
              <a:buSzTx/>
              <a:buFontTx/>
              <a:buNone/>
              <a:tabLst/>
            </a:pPr>
            <a:r>
              <a:rPr kumimoji="0" lang="zh-CN" altLang="zh-CN" sz="1100" b="0" i="0" u="none" strike="noStrike" cap="none" normalizeH="0" baseline="0" dirty="0">
                <a:ln>
                  <a:noFill/>
                </a:ln>
                <a:solidFill>
                  <a:schemeClr val="tx1"/>
                </a:solidFill>
                <a:effectLst/>
                <a:latin typeface="Arial" panose="020B0604020202020204" pitchFamily="34" charset="0"/>
              </a:rPr>
              <a:t>产品2对约束资源（机器A1）的利用更具价值，每分钟可贡献 $30 的贡献毛益，而产品1每分钟仅为 $24。</a:t>
            </a:r>
            <a:endParaRPr kumimoji="0" lang="en-US" altLang="zh-CN" sz="11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ts val="600"/>
              </a:spcBef>
              <a:spcAft>
                <a:spcPts val="600"/>
              </a:spcAft>
              <a:buClrTx/>
              <a:buSzTx/>
              <a:buFontTx/>
              <a:buNone/>
              <a:tabLst/>
            </a:pPr>
            <a:r>
              <a:rPr lang="zh-CN" altLang="en-US" sz="1100" dirty="0"/>
              <a:t>如果没有其他考虑因素，最佳方案应是：首先生产以满足产品</a:t>
            </a:r>
            <a:r>
              <a:rPr lang="en-US" altLang="zh-CN" sz="1100" dirty="0"/>
              <a:t>2</a:t>
            </a:r>
            <a:r>
              <a:rPr lang="zh-CN" altLang="en-US" sz="1100" dirty="0"/>
              <a:t>的当前需求，然后利用剩余产能生产产品</a:t>
            </a:r>
            <a:r>
              <a:rPr lang="en-US" altLang="zh-CN" sz="1100" dirty="0"/>
              <a:t>1</a:t>
            </a:r>
            <a:r>
              <a:rPr lang="zh-CN" altLang="en-US" sz="1100" dirty="0"/>
              <a:t>。</a:t>
            </a:r>
            <a:endParaRPr kumimoji="0" lang="zh-CN" altLang="zh-CN" sz="11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img.tukuppt.com/aippt_uploads/34576449/25/07/03/6866a18678cda.png!/fwfh2/960x960"/>
          <p:cNvPicPr>
            <a:picLocks noChangeAspect="1"/>
          </p:cNvPicPr>
          <p:nvPr/>
        </p:nvPicPr>
        <p:blipFill>
          <a:blip r:embed="rId3"/>
          <a:stretch>
            <a:fillRect/>
          </a:stretch>
        </p:blipFill>
        <p:spPr>
          <a:xfrm>
            <a:off x="0" y="0"/>
            <a:ext cx="9140180" cy="5131830"/>
          </a:xfrm>
          <a:prstGeom prst="rect">
            <a:avLst/>
          </a:prstGeom>
        </p:spPr>
      </p:pic>
      <p:sp>
        <p:nvSpPr>
          <p:cNvPr id="4" name="Shape 1"/>
          <p:cNvSpPr/>
          <p:nvPr/>
        </p:nvSpPr>
        <p:spPr>
          <a:xfrm>
            <a:off x="1188456" y="329442"/>
            <a:ext cx="2735844" cy="339064"/>
          </a:xfrm>
          <a:custGeom>
            <a:avLst/>
            <a:gdLst/>
            <a:ahLst/>
            <a:cxnLst/>
            <a:rect l="l" t="t" r="r" b="b"/>
            <a:pathLst>
              <a:path w="2735844" h="339064">
                <a:moveTo>
                  <a:pt x="0" y="0"/>
                </a:moveTo>
                <a:lnTo>
                  <a:pt x="2735844" y="0"/>
                </a:lnTo>
                <a:lnTo>
                  <a:pt x="2735844" y="339064"/>
                </a:lnTo>
                <a:lnTo>
                  <a:pt x="0" y="339064"/>
                </a:lnTo>
                <a:close/>
              </a:path>
            </a:pathLst>
          </a:custGeom>
          <a:noFill/>
          <a:ln/>
        </p:spPr>
      </p:sp>
      <p:sp>
        <p:nvSpPr>
          <p:cNvPr id="6" name="Shape 3"/>
          <p:cNvSpPr/>
          <p:nvPr/>
        </p:nvSpPr>
        <p:spPr>
          <a:xfrm>
            <a:off x="471488" y="198466"/>
            <a:ext cx="461756" cy="542999"/>
          </a:xfrm>
          <a:custGeom>
            <a:avLst/>
            <a:gdLst/>
            <a:ahLst/>
            <a:cxnLst/>
            <a:rect l="l" t="t" r="r" b="b"/>
            <a:pathLst>
              <a:path w="461756" h="542999">
                <a:moveTo>
                  <a:pt x="77457" y="0"/>
                </a:moveTo>
                <a:lnTo>
                  <a:pt x="384743" y="0"/>
                </a:lnTo>
                <a:cubicBezTo>
                  <a:pt x="427521" y="0"/>
                  <a:pt x="462200" y="34678"/>
                  <a:pt x="462200" y="77457"/>
                </a:cubicBezTo>
                <a:lnTo>
                  <a:pt x="462200" y="466009"/>
                </a:lnTo>
                <a:cubicBezTo>
                  <a:pt x="462200" y="508787"/>
                  <a:pt x="427521" y="543466"/>
                  <a:pt x="384743" y="543466"/>
                </a:cubicBezTo>
                <a:lnTo>
                  <a:pt x="77457" y="543466"/>
                </a:lnTo>
                <a:cubicBezTo>
                  <a:pt x="34678" y="543466"/>
                  <a:pt x="0" y="508787"/>
                  <a:pt x="0" y="466009"/>
                </a:cubicBezTo>
                <a:lnTo>
                  <a:pt x="0" y="77457"/>
                </a:lnTo>
                <a:cubicBezTo>
                  <a:pt x="0" y="34678"/>
                  <a:pt x="34678" y="0"/>
                  <a:pt x="77457" y="0"/>
                </a:cubicBezTo>
                <a:close/>
              </a:path>
            </a:pathLst>
          </a:custGeom>
          <a:solidFill>
            <a:srgbClr val="0067B4"/>
          </a:solidFill>
          <a:ln/>
          <a:effectLst>
            <a:outerShdw dist="38093" dir="2700000" algn="bl" rotWithShape="0">
              <a:srgbClr val="000000">
                <a:alpha val="38824"/>
              </a:srgbClr>
            </a:outerShdw>
          </a:effectLst>
        </p:spPr>
      </p:sp>
      <p:sp>
        <p:nvSpPr>
          <p:cNvPr id="7" name="Shape 4"/>
          <p:cNvSpPr/>
          <p:nvPr/>
        </p:nvSpPr>
        <p:spPr>
          <a:xfrm>
            <a:off x="482166" y="206110"/>
            <a:ext cx="433263" cy="535355"/>
          </a:xfrm>
          <a:custGeom>
            <a:avLst/>
            <a:gdLst/>
            <a:ahLst/>
            <a:cxnLst/>
            <a:rect l="l" t="t" r="r" b="b"/>
            <a:pathLst>
              <a:path w="433263" h="535355">
                <a:moveTo>
                  <a:pt x="73647" y="0"/>
                </a:moveTo>
                <a:lnTo>
                  <a:pt x="366966" y="0"/>
                </a:lnTo>
                <a:cubicBezTo>
                  <a:pt x="396171" y="0"/>
                  <a:pt x="421567" y="15237"/>
                  <a:pt x="432995" y="35554"/>
                </a:cubicBezTo>
                <a:cubicBezTo>
                  <a:pt x="186658" y="119359"/>
                  <a:pt x="11428" y="311096"/>
                  <a:pt x="1270" y="535847"/>
                </a:cubicBezTo>
                <a:cubicBezTo>
                  <a:pt x="0" y="533307"/>
                  <a:pt x="0" y="532038"/>
                  <a:pt x="0" y="529498"/>
                </a:cubicBezTo>
                <a:lnTo>
                  <a:pt x="0" y="60949"/>
                </a:lnTo>
                <a:cubicBezTo>
                  <a:pt x="0" y="26665"/>
                  <a:pt x="33014" y="0"/>
                  <a:pt x="73647" y="0"/>
                </a:cubicBezTo>
                <a:close/>
              </a:path>
            </a:pathLst>
          </a:custGeom>
          <a:gradFill>
            <a:gsLst>
              <a:gs pos="0">
                <a:srgbClr val="64CBFF">
                  <a:alpha val="34902"/>
                </a:srgbClr>
              </a:gs>
              <a:gs pos="100000">
                <a:srgbClr val="2F5897">
                  <a:alpha val="100000"/>
                </a:srgbClr>
              </a:gs>
            </a:gsLst>
            <a:lin ang="1200000" scaled="1"/>
          </a:gradFill>
          <a:ln/>
        </p:spPr>
      </p:sp>
      <p:pic>
        <p:nvPicPr>
          <p:cNvPr id="10" name="Image 3" descr="//img.tukuppt.com/aippt_tpl_uploads/25/07/01/686397e7b8f81.png"/>
          <p:cNvPicPr>
            <a:picLocks noChangeAspect="1"/>
          </p:cNvPicPr>
          <p:nvPr/>
        </p:nvPicPr>
        <p:blipFill>
          <a:blip r:embed="rId4"/>
          <a:srcRect/>
          <a:stretch/>
        </p:blipFill>
        <p:spPr>
          <a:xfrm>
            <a:off x="539206" y="312920"/>
            <a:ext cx="321318" cy="321734"/>
          </a:xfrm>
          <a:prstGeom prst="rect">
            <a:avLst/>
          </a:prstGeom>
        </p:spPr>
      </p:pic>
      <p:pic>
        <p:nvPicPr>
          <p:cNvPr id="11" name="Image 4" descr="//img.tukuppt.com/aippt_tpl_uploads/25/07/01/686397e7af1a3.png!/fwfh2/960x960"/>
          <p:cNvPicPr>
            <a:picLocks noChangeAspect="1"/>
          </p:cNvPicPr>
          <p:nvPr/>
        </p:nvPicPr>
        <p:blipFill>
          <a:blip r:embed="rId5"/>
          <a:srcRect l="36452" t="56544" b="34700"/>
          <a:stretch/>
        </p:blipFill>
        <p:spPr>
          <a:xfrm>
            <a:off x="-4836" y="-812736"/>
            <a:ext cx="9148837" cy="1019042"/>
          </a:xfrm>
          <a:prstGeom prst="rect">
            <a:avLst/>
          </a:prstGeom>
        </p:spPr>
      </p:pic>
      <p:pic>
        <p:nvPicPr>
          <p:cNvPr id="12" name="Image 5" descr="//img.tukuppt.com/aippt_tpl_uploads/25/07/01/686397e7af1a3.png!/fwfh2/960x960"/>
          <p:cNvPicPr>
            <a:picLocks noChangeAspect="1"/>
          </p:cNvPicPr>
          <p:nvPr/>
        </p:nvPicPr>
        <p:blipFill>
          <a:blip r:embed="rId5"/>
          <a:srcRect l="36452" t="56544" b="34700"/>
          <a:stretch/>
        </p:blipFill>
        <p:spPr>
          <a:xfrm>
            <a:off x="-61352" y="4937888"/>
            <a:ext cx="9313872" cy="1019042"/>
          </a:xfrm>
          <a:prstGeom prst="rect">
            <a:avLst/>
          </a:prstGeom>
        </p:spPr>
      </p:pic>
      <p:sp>
        <p:nvSpPr>
          <p:cNvPr id="19" name="Shape 8"/>
          <p:cNvSpPr/>
          <p:nvPr/>
        </p:nvSpPr>
        <p:spPr>
          <a:xfrm>
            <a:off x="7697774" y="3737082"/>
            <a:ext cx="805079" cy="805079"/>
          </a:xfrm>
          <a:custGeom>
            <a:avLst/>
            <a:gdLst/>
            <a:ahLst/>
            <a:cxnLst/>
            <a:rect l="l" t="t" r="r" b="b"/>
            <a:pathLst>
              <a:path w="805079" h="805079">
                <a:moveTo>
                  <a:pt x="402539" y="0"/>
                </a:moveTo>
                <a:cubicBezTo>
                  <a:pt x="624707" y="0"/>
                  <a:pt x="805079" y="180372"/>
                  <a:pt x="805079" y="402539"/>
                </a:cubicBezTo>
                <a:cubicBezTo>
                  <a:pt x="805079" y="624707"/>
                  <a:pt x="624707" y="805079"/>
                  <a:pt x="402539" y="805079"/>
                </a:cubicBezTo>
                <a:cubicBezTo>
                  <a:pt x="180372" y="805079"/>
                  <a:pt x="0" y="624707"/>
                  <a:pt x="0" y="402539"/>
                </a:cubicBezTo>
                <a:cubicBezTo>
                  <a:pt x="0" y="180372"/>
                  <a:pt x="180372" y="0"/>
                  <a:pt x="402539" y="0"/>
                </a:cubicBezTo>
                <a:close/>
              </a:path>
            </a:pathLst>
          </a:custGeom>
          <a:solidFill>
            <a:srgbClr val="147BC8"/>
          </a:solidFill>
          <a:ln/>
        </p:spPr>
      </p:sp>
      <p:sp>
        <p:nvSpPr>
          <p:cNvPr id="20" name="Shape 9"/>
          <p:cNvSpPr/>
          <p:nvPr/>
        </p:nvSpPr>
        <p:spPr>
          <a:xfrm>
            <a:off x="8401159" y="3329606"/>
            <a:ext cx="305082" cy="305082"/>
          </a:xfrm>
          <a:custGeom>
            <a:avLst/>
            <a:gdLst/>
            <a:ahLst/>
            <a:cxnLst/>
            <a:rect l="l" t="t" r="r" b="b"/>
            <a:pathLst>
              <a:path w="305082" h="305082">
                <a:moveTo>
                  <a:pt x="152541" y="0"/>
                </a:moveTo>
                <a:cubicBezTo>
                  <a:pt x="236731" y="0"/>
                  <a:pt x="305082" y="68351"/>
                  <a:pt x="305082" y="152541"/>
                </a:cubicBezTo>
                <a:cubicBezTo>
                  <a:pt x="305082" y="236731"/>
                  <a:pt x="236731" y="305082"/>
                  <a:pt x="152541" y="305082"/>
                </a:cubicBezTo>
                <a:cubicBezTo>
                  <a:pt x="68351" y="305082"/>
                  <a:pt x="0" y="236731"/>
                  <a:pt x="0" y="152541"/>
                </a:cubicBezTo>
                <a:cubicBezTo>
                  <a:pt x="0" y="68351"/>
                  <a:pt x="68351" y="0"/>
                  <a:pt x="152541" y="0"/>
                </a:cubicBezTo>
                <a:close/>
              </a:path>
            </a:pathLst>
          </a:custGeom>
          <a:solidFill>
            <a:srgbClr val="0067B4"/>
          </a:solidFill>
          <a:ln/>
        </p:spPr>
      </p:sp>
      <p:graphicFrame>
        <p:nvGraphicFramePr>
          <p:cNvPr id="13" name="表格 12">
            <a:extLst>
              <a:ext uri="{FF2B5EF4-FFF2-40B4-BE49-F238E27FC236}">
                <a16:creationId xmlns:a16="http://schemas.microsoft.com/office/drawing/2014/main" id="{2CE0F005-7654-4C35-9772-57F0121CEDF6}"/>
              </a:ext>
            </a:extLst>
          </p:cNvPr>
          <p:cNvGraphicFramePr>
            <a:graphicFrameLocks noGrp="1"/>
          </p:cNvGraphicFramePr>
          <p:nvPr>
            <p:extLst>
              <p:ext uri="{D42A27DB-BD31-4B8C-83A1-F6EECF244321}">
                <p14:modId xmlns:p14="http://schemas.microsoft.com/office/powerpoint/2010/main" val="2193995238"/>
              </p:ext>
            </p:extLst>
          </p:nvPr>
        </p:nvGraphicFramePr>
        <p:xfrm>
          <a:off x="2666300" y="1436514"/>
          <a:ext cx="5000798" cy="3262311"/>
        </p:xfrm>
        <a:graphic>
          <a:graphicData uri="http://schemas.openxmlformats.org/drawingml/2006/table">
            <a:tbl>
              <a:tblPr>
                <a:tableStyleId>{35758FB7-9AC5-4552-8A53-C91805E547FA}</a:tableStyleId>
              </a:tblPr>
              <a:tblGrid>
                <a:gridCol w="3105090">
                  <a:extLst>
                    <a:ext uri="{9D8B030D-6E8A-4147-A177-3AD203B41FA5}">
                      <a16:colId xmlns:a16="http://schemas.microsoft.com/office/drawing/2014/main" val="4222501052"/>
                    </a:ext>
                  </a:extLst>
                </a:gridCol>
                <a:gridCol w="1895708">
                  <a:extLst>
                    <a:ext uri="{9D8B030D-6E8A-4147-A177-3AD203B41FA5}">
                      <a16:colId xmlns:a16="http://schemas.microsoft.com/office/drawing/2014/main" val="2310625490"/>
                    </a:ext>
                  </a:extLst>
                </a:gridCol>
              </a:tblGrid>
              <a:tr h="362479">
                <a:tc>
                  <a:txBody>
                    <a:bodyPr/>
                    <a:lstStyle/>
                    <a:p>
                      <a:pPr algn="ctr"/>
                      <a:r>
                        <a:rPr lang="zh-CN" altLang="en-US" sz="1200" b="1"/>
                        <a:t>项目</a:t>
                      </a:r>
                    </a:p>
                  </a:txBody>
                  <a:tcPr marL="90620" marR="90620" marT="45310" marB="45310" anchor="ctr"/>
                </a:tc>
                <a:tc>
                  <a:txBody>
                    <a:bodyPr/>
                    <a:lstStyle/>
                    <a:p>
                      <a:pPr algn="ctr"/>
                      <a:r>
                        <a:rPr lang="zh-CN" altLang="en-US" sz="1200" b="1" dirty="0"/>
                        <a:t>数值</a:t>
                      </a:r>
                    </a:p>
                  </a:txBody>
                  <a:tcPr marL="90620" marR="90620" marT="45310" marB="45310" anchor="ctr"/>
                </a:tc>
                <a:extLst>
                  <a:ext uri="{0D108BD9-81ED-4DB2-BD59-A6C34878D82A}">
                    <a16:rowId xmlns:a16="http://schemas.microsoft.com/office/drawing/2014/main" val="2773526034"/>
                  </a:ext>
                </a:extLst>
              </a:tr>
              <a:tr h="362479">
                <a:tc>
                  <a:txBody>
                    <a:bodyPr/>
                    <a:lstStyle/>
                    <a:p>
                      <a:r>
                        <a:rPr lang="zh-CN" altLang="en-US" sz="1200"/>
                        <a:t>产品</a:t>
                      </a:r>
                      <a:r>
                        <a:rPr lang="en-US" altLang="zh-CN" sz="1200"/>
                        <a:t>2</a:t>
                      </a:r>
                      <a:r>
                        <a:rPr lang="zh-CN" altLang="en-US" sz="1200"/>
                        <a:t>的周需求量</a:t>
                      </a:r>
                    </a:p>
                  </a:txBody>
                  <a:tcPr marL="90620" marR="90620" marT="45310" marB="45310" anchor="ctr"/>
                </a:tc>
                <a:tc>
                  <a:txBody>
                    <a:bodyPr/>
                    <a:lstStyle/>
                    <a:p>
                      <a:r>
                        <a:rPr lang="en-US" altLang="zh-CN" sz="1200"/>
                        <a:t>2,200 </a:t>
                      </a:r>
                      <a:r>
                        <a:rPr lang="zh-CN" altLang="en-US" sz="1200"/>
                        <a:t>单位</a:t>
                      </a:r>
                    </a:p>
                  </a:txBody>
                  <a:tcPr marL="90620" marR="90620" marT="45310" marB="45310" anchor="ctr"/>
                </a:tc>
                <a:extLst>
                  <a:ext uri="{0D108BD9-81ED-4DB2-BD59-A6C34878D82A}">
                    <a16:rowId xmlns:a16="http://schemas.microsoft.com/office/drawing/2014/main" val="4263221509"/>
                  </a:ext>
                </a:extLst>
              </a:tr>
              <a:tr h="362479">
                <a:tc>
                  <a:txBody>
                    <a:bodyPr/>
                    <a:lstStyle/>
                    <a:p>
                      <a:r>
                        <a:rPr lang="zh-CN" altLang="en-US" sz="1200" dirty="0"/>
                        <a:t>单位所需时间</a:t>
                      </a:r>
                    </a:p>
                  </a:txBody>
                  <a:tcPr marL="90620" marR="90620" marT="45310" marB="45310" anchor="ctr"/>
                </a:tc>
                <a:tc>
                  <a:txBody>
                    <a:bodyPr/>
                    <a:lstStyle/>
                    <a:p>
                      <a:r>
                        <a:rPr lang="en-US" altLang="zh-CN" sz="1200"/>
                        <a:t>× 0.50 </a:t>
                      </a:r>
                      <a:r>
                        <a:rPr lang="zh-CN" altLang="en-US" sz="1200"/>
                        <a:t>分钟</a:t>
                      </a:r>
                    </a:p>
                  </a:txBody>
                  <a:tcPr marL="90620" marR="90620" marT="45310" marB="45310" anchor="ctr"/>
                </a:tc>
                <a:extLst>
                  <a:ext uri="{0D108BD9-81ED-4DB2-BD59-A6C34878D82A}">
                    <a16:rowId xmlns:a16="http://schemas.microsoft.com/office/drawing/2014/main" val="1449047959"/>
                  </a:ext>
                </a:extLst>
              </a:tr>
              <a:tr h="362479">
                <a:tc>
                  <a:txBody>
                    <a:bodyPr/>
                    <a:lstStyle/>
                    <a:p>
                      <a:r>
                        <a:rPr lang="zh-CN" altLang="en-US" sz="1200"/>
                        <a:t>生产产品</a:t>
                      </a:r>
                      <a:r>
                        <a:rPr lang="en-US" altLang="zh-CN" sz="1200"/>
                        <a:t>2</a:t>
                      </a:r>
                      <a:r>
                        <a:rPr lang="zh-CN" altLang="en-US" sz="1200"/>
                        <a:t>所需总时间</a:t>
                      </a:r>
                    </a:p>
                  </a:txBody>
                  <a:tcPr marL="90620" marR="90620" marT="45310" marB="45310" anchor="ctr"/>
                </a:tc>
                <a:tc>
                  <a:txBody>
                    <a:bodyPr/>
                    <a:lstStyle/>
                    <a:p>
                      <a:r>
                        <a:rPr lang="en-US" altLang="zh-CN" sz="1200" dirty="0"/>
                        <a:t>1,100 </a:t>
                      </a:r>
                      <a:r>
                        <a:rPr lang="zh-CN" altLang="en-US" sz="1200" dirty="0"/>
                        <a:t>分钟</a:t>
                      </a:r>
                    </a:p>
                  </a:txBody>
                  <a:tcPr marL="90620" marR="90620" marT="45310" marB="45310" anchor="ctr"/>
                </a:tc>
                <a:extLst>
                  <a:ext uri="{0D108BD9-81ED-4DB2-BD59-A6C34878D82A}">
                    <a16:rowId xmlns:a16="http://schemas.microsoft.com/office/drawing/2014/main" val="1660514575"/>
                  </a:ext>
                </a:extLst>
              </a:tr>
              <a:tr h="362479">
                <a:tc>
                  <a:txBody>
                    <a:bodyPr/>
                    <a:lstStyle/>
                    <a:p>
                      <a:r>
                        <a:rPr lang="zh-CN" altLang="en-US" sz="1200"/>
                        <a:t>可用总时间</a:t>
                      </a:r>
                    </a:p>
                  </a:txBody>
                  <a:tcPr marL="90620" marR="90620" marT="45310" marB="45310" anchor="ctr"/>
                </a:tc>
                <a:tc>
                  <a:txBody>
                    <a:bodyPr/>
                    <a:lstStyle/>
                    <a:p>
                      <a:r>
                        <a:rPr lang="en-US" altLang="zh-CN" sz="1200"/>
                        <a:t>2,400 </a:t>
                      </a:r>
                      <a:r>
                        <a:rPr lang="zh-CN" altLang="en-US" sz="1200"/>
                        <a:t>分钟</a:t>
                      </a:r>
                    </a:p>
                  </a:txBody>
                  <a:tcPr marL="90620" marR="90620" marT="45310" marB="45310" anchor="ctr"/>
                </a:tc>
                <a:extLst>
                  <a:ext uri="{0D108BD9-81ED-4DB2-BD59-A6C34878D82A}">
                    <a16:rowId xmlns:a16="http://schemas.microsoft.com/office/drawing/2014/main" val="2060941242"/>
                  </a:ext>
                </a:extLst>
              </a:tr>
              <a:tr h="362479">
                <a:tc>
                  <a:txBody>
                    <a:bodyPr/>
                    <a:lstStyle/>
                    <a:p>
                      <a:r>
                        <a:rPr lang="zh-CN" altLang="en-US" sz="1200"/>
                        <a:t>用于生产产品</a:t>
                      </a:r>
                      <a:r>
                        <a:rPr lang="en-US" altLang="zh-CN" sz="1200"/>
                        <a:t>2</a:t>
                      </a:r>
                      <a:r>
                        <a:rPr lang="zh-CN" altLang="en-US" sz="1200"/>
                        <a:t>的时间</a:t>
                      </a:r>
                    </a:p>
                  </a:txBody>
                  <a:tcPr marL="90620" marR="90620" marT="45310" marB="45310" anchor="ctr"/>
                </a:tc>
                <a:tc>
                  <a:txBody>
                    <a:bodyPr/>
                    <a:lstStyle/>
                    <a:p>
                      <a:r>
                        <a:rPr lang="en-US" altLang="zh-CN" sz="1200"/>
                        <a:t>1,100 </a:t>
                      </a:r>
                      <a:r>
                        <a:rPr lang="zh-CN" altLang="en-US" sz="1200"/>
                        <a:t>分钟</a:t>
                      </a:r>
                    </a:p>
                  </a:txBody>
                  <a:tcPr marL="90620" marR="90620" marT="45310" marB="45310" anchor="ctr"/>
                </a:tc>
                <a:extLst>
                  <a:ext uri="{0D108BD9-81ED-4DB2-BD59-A6C34878D82A}">
                    <a16:rowId xmlns:a16="http://schemas.microsoft.com/office/drawing/2014/main" val="1519719"/>
                  </a:ext>
                </a:extLst>
              </a:tr>
              <a:tr h="362479">
                <a:tc>
                  <a:txBody>
                    <a:bodyPr/>
                    <a:lstStyle/>
                    <a:p>
                      <a:r>
                        <a:rPr lang="zh-CN" altLang="en-US" sz="1200"/>
                        <a:t>剩余可用于产品</a:t>
                      </a:r>
                      <a:r>
                        <a:rPr lang="en-US" altLang="zh-CN" sz="1200"/>
                        <a:t>1</a:t>
                      </a:r>
                      <a:r>
                        <a:rPr lang="zh-CN" altLang="en-US" sz="1200"/>
                        <a:t>的时间</a:t>
                      </a:r>
                    </a:p>
                  </a:txBody>
                  <a:tcPr marL="90620" marR="90620" marT="45310" marB="45310" anchor="ctr"/>
                </a:tc>
                <a:tc>
                  <a:txBody>
                    <a:bodyPr/>
                    <a:lstStyle/>
                    <a:p>
                      <a:r>
                        <a:rPr lang="en-US" altLang="zh-CN" sz="1200"/>
                        <a:t>1,300 </a:t>
                      </a:r>
                      <a:r>
                        <a:rPr lang="zh-CN" altLang="en-US" sz="1200"/>
                        <a:t>分钟</a:t>
                      </a:r>
                    </a:p>
                  </a:txBody>
                  <a:tcPr marL="90620" marR="90620" marT="45310" marB="45310" anchor="ctr"/>
                </a:tc>
                <a:extLst>
                  <a:ext uri="{0D108BD9-81ED-4DB2-BD59-A6C34878D82A}">
                    <a16:rowId xmlns:a16="http://schemas.microsoft.com/office/drawing/2014/main" val="3591367059"/>
                  </a:ext>
                </a:extLst>
              </a:tr>
              <a:tr h="362479">
                <a:tc>
                  <a:txBody>
                    <a:bodyPr/>
                    <a:lstStyle/>
                    <a:p>
                      <a:r>
                        <a:rPr lang="zh-CN" altLang="en-US" sz="1200"/>
                        <a:t>产品</a:t>
                      </a:r>
                      <a:r>
                        <a:rPr lang="en-US" altLang="zh-CN" sz="1200"/>
                        <a:t>1</a:t>
                      </a:r>
                      <a:r>
                        <a:rPr lang="zh-CN" altLang="en-US" sz="1200"/>
                        <a:t>单位所需时间</a:t>
                      </a:r>
                    </a:p>
                  </a:txBody>
                  <a:tcPr marL="90620" marR="90620" marT="45310" marB="45310" anchor="ctr"/>
                </a:tc>
                <a:tc>
                  <a:txBody>
                    <a:bodyPr/>
                    <a:lstStyle/>
                    <a:p>
                      <a:r>
                        <a:rPr lang="en-US" altLang="zh-CN" sz="1200"/>
                        <a:t>÷ 1.00 </a:t>
                      </a:r>
                      <a:r>
                        <a:rPr lang="zh-CN" altLang="en-US" sz="1200"/>
                        <a:t>分钟</a:t>
                      </a:r>
                    </a:p>
                  </a:txBody>
                  <a:tcPr marL="90620" marR="90620" marT="45310" marB="45310" anchor="ctr"/>
                </a:tc>
                <a:extLst>
                  <a:ext uri="{0D108BD9-81ED-4DB2-BD59-A6C34878D82A}">
                    <a16:rowId xmlns:a16="http://schemas.microsoft.com/office/drawing/2014/main" val="3588057143"/>
                  </a:ext>
                </a:extLst>
              </a:tr>
              <a:tr h="362479">
                <a:tc>
                  <a:txBody>
                    <a:bodyPr/>
                    <a:lstStyle/>
                    <a:p>
                      <a:r>
                        <a:rPr lang="zh-CN" altLang="en-US" sz="1200" b="1"/>
                        <a:t>产品</a:t>
                      </a:r>
                      <a:r>
                        <a:rPr lang="en-US" altLang="zh-CN" sz="1200" b="1"/>
                        <a:t>1</a:t>
                      </a:r>
                      <a:r>
                        <a:rPr lang="zh-CN" altLang="en-US" sz="1200" b="1"/>
                        <a:t>的产量</a:t>
                      </a:r>
                      <a:endParaRPr lang="zh-CN" altLang="en-US" sz="1200"/>
                    </a:p>
                  </a:txBody>
                  <a:tcPr marL="90620" marR="90620" marT="45310" marB="45310" anchor="ctr"/>
                </a:tc>
                <a:tc>
                  <a:txBody>
                    <a:bodyPr/>
                    <a:lstStyle/>
                    <a:p>
                      <a:r>
                        <a:rPr lang="en-US" altLang="zh-CN" sz="1200" b="1" dirty="0"/>
                        <a:t>1,300 </a:t>
                      </a:r>
                      <a:r>
                        <a:rPr lang="zh-CN" altLang="en-US" sz="1200" b="1" dirty="0"/>
                        <a:t>单位</a:t>
                      </a:r>
                      <a:endParaRPr lang="zh-CN" altLang="en-US" sz="1200" dirty="0"/>
                    </a:p>
                  </a:txBody>
                  <a:tcPr marL="90620" marR="90620" marT="45310" marB="45310" anchor="ctr"/>
                </a:tc>
                <a:extLst>
                  <a:ext uri="{0D108BD9-81ED-4DB2-BD59-A6C34878D82A}">
                    <a16:rowId xmlns:a16="http://schemas.microsoft.com/office/drawing/2014/main" val="935757385"/>
                  </a:ext>
                </a:extLst>
              </a:tr>
            </a:tbl>
          </a:graphicData>
        </a:graphic>
      </p:graphicFrame>
      <p:sp>
        <p:nvSpPr>
          <p:cNvPr id="15" name="Rectangle 1">
            <a:extLst>
              <a:ext uri="{FF2B5EF4-FFF2-40B4-BE49-F238E27FC236}">
                <a16:creationId xmlns:a16="http://schemas.microsoft.com/office/drawing/2014/main" id="{4FC314BC-3B6A-4FC0-B2DA-06EFC3AC2944}"/>
              </a:ext>
            </a:extLst>
          </p:cNvPr>
          <p:cNvSpPr>
            <a:spLocks noChangeArrowheads="1"/>
          </p:cNvSpPr>
          <p:nvPr/>
        </p:nvSpPr>
        <p:spPr bwMode="auto">
          <a:xfrm>
            <a:off x="1499916" y="473283"/>
            <a:ext cx="5777274"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800" b="0" i="0" u="none" strike="noStrike" cap="none" normalizeH="0" baseline="0" dirty="0">
                <a:ln>
                  <a:noFill/>
                </a:ln>
                <a:solidFill>
                  <a:schemeClr val="tx1"/>
                </a:solidFill>
                <a:effectLst/>
                <a:latin typeface="Arial" panose="020B0604020202020204" pitchFamily="34" charset="0"/>
              </a:rPr>
              <a:t>让我们看看该计划将如何运作。</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24" name="文本框 23">
            <a:extLst>
              <a:ext uri="{FF2B5EF4-FFF2-40B4-BE49-F238E27FC236}">
                <a16:creationId xmlns:a16="http://schemas.microsoft.com/office/drawing/2014/main" id="{3880D8EE-9177-465D-93D6-2D0496BFD5AC}"/>
              </a:ext>
            </a:extLst>
          </p:cNvPr>
          <p:cNvSpPr txBox="1"/>
          <p:nvPr/>
        </p:nvSpPr>
        <p:spPr>
          <a:xfrm>
            <a:off x="3015399" y="898319"/>
            <a:ext cx="4683512" cy="36933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800" b="1" i="0" u="none" strike="noStrike" cap="none" normalizeH="0" baseline="0" dirty="0">
                <a:ln>
                  <a:noFill/>
                </a:ln>
                <a:solidFill>
                  <a:schemeClr val="tx1"/>
                </a:solidFill>
                <a:effectLst/>
                <a:latin typeface="Arial" panose="020B0604020202020204" pitchFamily="34" charset="0"/>
              </a:rPr>
              <a:t>分配我们的约束资源（机器A1）</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51447670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img.tukuppt.com/aippt_uploads/34576449/25/07/03/6866a18678cda.png!/fwfh2/960x960"/>
          <p:cNvPicPr>
            <a:picLocks noChangeAspect="1"/>
          </p:cNvPicPr>
          <p:nvPr/>
        </p:nvPicPr>
        <p:blipFill>
          <a:blip r:embed="rId3"/>
          <a:stretch>
            <a:fillRect/>
          </a:stretch>
        </p:blipFill>
        <p:spPr>
          <a:xfrm>
            <a:off x="3821" y="11670"/>
            <a:ext cx="9140180" cy="5131830"/>
          </a:xfrm>
          <a:prstGeom prst="rect">
            <a:avLst/>
          </a:prstGeom>
        </p:spPr>
      </p:pic>
      <p:sp>
        <p:nvSpPr>
          <p:cNvPr id="4" name="Shape 1"/>
          <p:cNvSpPr/>
          <p:nvPr/>
        </p:nvSpPr>
        <p:spPr>
          <a:xfrm>
            <a:off x="1188456" y="329442"/>
            <a:ext cx="2735844" cy="339064"/>
          </a:xfrm>
          <a:custGeom>
            <a:avLst/>
            <a:gdLst/>
            <a:ahLst/>
            <a:cxnLst/>
            <a:rect l="l" t="t" r="r" b="b"/>
            <a:pathLst>
              <a:path w="2735844" h="339064">
                <a:moveTo>
                  <a:pt x="0" y="0"/>
                </a:moveTo>
                <a:lnTo>
                  <a:pt x="2735844" y="0"/>
                </a:lnTo>
                <a:lnTo>
                  <a:pt x="2735844" y="339064"/>
                </a:lnTo>
                <a:lnTo>
                  <a:pt x="0" y="339064"/>
                </a:lnTo>
                <a:close/>
              </a:path>
            </a:pathLst>
          </a:custGeom>
          <a:noFill/>
          <a:ln/>
        </p:spPr>
      </p:sp>
      <p:sp>
        <p:nvSpPr>
          <p:cNvPr id="6" name="Shape 3"/>
          <p:cNvSpPr/>
          <p:nvPr/>
        </p:nvSpPr>
        <p:spPr>
          <a:xfrm>
            <a:off x="471488" y="198466"/>
            <a:ext cx="461756" cy="542999"/>
          </a:xfrm>
          <a:custGeom>
            <a:avLst/>
            <a:gdLst/>
            <a:ahLst/>
            <a:cxnLst/>
            <a:rect l="l" t="t" r="r" b="b"/>
            <a:pathLst>
              <a:path w="461756" h="542999">
                <a:moveTo>
                  <a:pt x="77457" y="0"/>
                </a:moveTo>
                <a:lnTo>
                  <a:pt x="384743" y="0"/>
                </a:lnTo>
                <a:cubicBezTo>
                  <a:pt x="427521" y="0"/>
                  <a:pt x="462200" y="34678"/>
                  <a:pt x="462200" y="77457"/>
                </a:cubicBezTo>
                <a:lnTo>
                  <a:pt x="462200" y="466009"/>
                </a:lnTo>
                <a:cubicBezTo>
                  <a:pt x="462200" y="508787"/>
                  <a:pt x="427521" y="543466"/>
                  <a:pt x="384743" y="543466"/>
                </a:cubicBezTo>
                <a:lnTo>
                  <a:pt x="77457" y="543466"/>
                </a:lnTo>
                <a:cubicBezTo>
                  <a:pt x="34678" y="543466"/>
                  <a:pt x="0" y="508787"/>
                  <a:pt x="0" y="466009"/>
                </a:cubicBezTo>
                <a:lnTo>
                  <a:pt x="0" y="77457"/>
                </a:lnTo>
                <a:cubicBezTo>
                  <a:pt x="0" y="34678"/>
                  <a:pt x="34678" y="0"/>
                  <a:pt x="77457" y="0"/>
                </a:cubicBezTo>
                <a:close/>
              </a:path>
            </a:pathLst>
          </a:custGeom>
          <a:solidFill>
            <a:srgbClr val="0067B4"/>
          </a:solidFill>
          <a:ln/>
          <a:effectLst>
            <a:outerShdw dist="38093" dir="2700000" algn="bl" rotWithShape="0">
              <a:srgbClr val="000000">
                <a:alpha val="38824"/>
              </a:srgbClr>
            </a:outerShdw>
          </a:effectLst>
        </p:spPr>
      </p:sp>
      <p:sp>
        <p:nvSpPr>
          <p:cNvPr id="7" name="Shape 4"/>
          <p:cNvSpPr/>
          <p:nvPr/>
        </p:nvSpPr>
        <p:spPr>
          <a:xfrm>
            <a:off x="482166" y="206110"/>
            <a:ext cx="433263" cy="535355"/>
          </a:xfrm>
          <a:custGeom>
            <a:avLst/>
            <a:gdLst/>
            <a:ahLst/>
            <a:cxnLst/>
            <a:rect l="l" t="t" r="r" b="b"/>
            <a:pathLst>
              <a:path w="433263" h="535355">
                <a:moveTo>
                  <a:pt x="73647" y="0"/>
                </a:moveTo>
                <a:lnTo>
                  <a:pt x="366966" y="0"/>
                </a:lnTo>
                <a:cubicBezTo>
                  <a:pt x="396171" y="0"/>
                  <a:pt x="421567" y="15237"/>
                  <a:pt x="432995" y="35554"/>
                </a:cubicBezTo>
                <a:cubicBezTo>
                  <a:pt x="186658" y="119359"/>
                  <a:pt x="11428" y="311096"/>
                  <a:pt x="1270" y="535847"/>
                </a:cubicBezTo>
                <a:cubicBezTo>
                  <a:pt x="0" y="533307"/>
                  <a:pt x="0" y="532038"/>
                  <a:pt x="0" y="529498"/>
                </a:cubicBezTo>
                <a:lnTo>
                  <a:pt x="0" y="60949"/>
                </a:lnTo>
                <a:cubicBezTo>
                  <a:pt x="0" y="26665"/>
                  <a:pt x="33014" y="0"/>
                  <a:pt x="73647" y="0"/>
                </a:cubicBezTo>
                <a:close/>
              </a:path>
            </a:pathLst>
          </a:custGeom>
          <a:gradFill>
            <a:gsLst>
              <a:gs pos="0">
                <a:srgbClr val="64CBFF">
                  <a:alpha val="34902"/>
                </a:srgbClr>
              </a:gs>
              <a:gs pos="100000">
                <a:srgbClr val="2F5897">
                  <a:alpha val="100000"/>
                </a:srgbClr>
              </a:gs>
            </a:gsLst>
            <a:lin ang="1200000" scaled="1"/>
          </a:gradFill>
          <a:ln/>
        </p:spPr>
      </p:sp>
      <p:pic>
        <p:nvPicPr>
          <p:cNvPr id="10" name="Image 3" descr="//img.tukuppt.com/aippt_tpl_uploads/25/07/01/686397e7b8f81.png"/>
          <p:cNvPicPr>
            <a:picLocks noChangeAspect="1"/>
          </p:cNvPicPr>
          <p:nvPr/>
        </p:nvPicPr>
        <p:blipFill>
          <a:blip r:embed="rId4"/>
          <a:srcRect/>
          <a:stretch/>
        </p:blipFill>
        <p:spPr>
          <a:xfrm>
            <a:off x="539206" y="312920"/>
            <a:ext cx="321318" cy="321734"/>
          </a:xfrm>
          <a:prstGeom prst="rect">
            <a:avLst/>
          </a:prstGeom>
        </p:spPr>
      </p:pic>
      <p:pic>
        <p:nvPicPr>
          <p:cNvPr id="11" name="Image 4" descr="//img.tukuppt.com/aippt_tpl_uploads/25/07/01/686397e7af1a3.png!/fwfh2/960x960"/>
          <p:cNvPicPr>
            <a:picLocks noChangeAspect="1"/>
          </p:cNvPicPr>
          <p:nvPr/>
        </p:nvPicPr>
        <p:blipFill>
          <a:blip r:embed="rId5"/>
          <a:srcRect l="36452" t="56544" b="34700"/>
          <a:stretch/>
        </p:blipFill>
        <p:spPr>
          <a:xfrm>
            <a:off x="-4836" y="-812736"/>
            <a:ext cx="9148837" cy="1019042"/>
          </a:xfrm>
          <a:prstGeom prst="rect">
            <a:avLst/>
          </a:prstGeom>
        </p:spPr>
      </p:pic>
      <p:pic>
        <p:nvPicPr>
          <p:cNvPr id="12" name="Image 5" descr="//img.tukuppt.com/aippt_tpl_uploads/25/07/01/686397e7af1a3.png!/fwfh2/960x960"/>
          <p:cNvPicPr>
            <a:picLocks noChangeAspect="1"/>
          </p:cNvPicPr>
          <p:nvPr/>
        </p:nvPicPr>
        <p:blipFill>
          <a:blip r:embed="rId5"/>
          <a:srcRect l="36452" t="56544" b="34700"/>
          <a:stretch/>
        </p:blipFill>
        <p:spPr>
          <a:xfrm>
            <a:off x="-61352" y="4937888"/>
            <a:ext cx="9313872" cy="1019042"/>
          </a:xfrm>
          <a:prstGeom prst="rect">
            <a:avLst/>
          </a:prstGeom>
        </p:spPr>
      </p:pic>
      <p:sp>
        <p:nvSpPr>
          <p:cNvPr id="19" name="Shape 8"/>
          <p:cNvSpPr/>
          <p:nvPr/>
        </p:nvSpPr>
        <p:spPr>
          <a:xfrm>
            <a:off x="7697774" y="3737082"/>
            <a:ext cx="805079" cy="805079"/>
          </a:xfrm>
          <a:custGeom>
            <a:avLst/>
            <a:gdLst/>
            <a:ahLst/>
            <a:cxnLst/>
            <a:rect l="l" t="t" r="r" b="b"/>
            <a:pathLst>
              <a:path w="805079" h="805079">
                <a:moveTo>
                  <a:pt x="402539" y="0"/>
                </a:moveTo>
                <a:cubicBezTo>
                  <a:pt x="624707" y="0"/>
                  <a:pt x="805079" y="180372"/>
                  <a:pt x="805079" y="402539"/>
                </a:cubicBezTo>
                <a:cubicBezTo>
                  <a:pt x="805079" y="624707"/>
                  <a:pt x="624707" y="805079"/>
                  <a:pt x="402539" y="805079"/>
                </a:cubicBezTo>
                <a:cubicBezTo>
                  <a:pt x="180372" y="805079"/>
                  <a:pt x="0" y="624707"/>
                  <a:pt x="0" y="402539"/>
                </a:cubicBezTo>
                <a:cubicBezTo>
                  <a:pt x="0" y="180372"/>
                  <a:pt x="180372" y="0"/>
                  <a:pt x="402539" y="0"/>
                </a:cubicBezTo>
                <a:close/>
              </a:path>
            </a:pathLst>
          </a:custGeom>
          <a:solidFill>
            <a:srgbClr val="147BC8"/>
          </a:solidFill>
          <a:ln/>
        </p:spPr>
      </p:sp>
      <p:sp>
        <p:nvSpPr>
          <p:cNvPr id="20" name="Shape 9"/>
          <p:cNvSpPr/>
          <p:nvPr/>
        </p:nvSpPr>
        <p:spPr>
          <a:xfrm>
            <a:off x="8401159" y="3329606"/>
            <a:ext cx="305082" cy="305082"/>
          </a:xfrm>
          <a:custGeom>
            <a:avLst/>
            <a:gdLst/>
            <a:ahLst/>
            <a:cxnLst/>
            <a:rect l="l" t="t" r="r" b="b"/>
            <a:pathLst>
              <a:path w="305082" h="305082">
                <a:moveTo>
                  <a:pt x="152541" y="0"/>
                </a:moveTo>
                <a:cubicBezTo>
                  <a:pt x="236731" y="0"/>
                  <a:pt x="305082" y="68351"/>
                  <a:pt x="305082" y="152541"/>
                </a:cubicBezTo>
                <a:cubicBezTo>
                  <a:pt x="305082" y="236731"/>
                  <a:pt x="236731" y="305082"/>
                  <a:pt x="152541" y="305082"/>
                </a:cubicBezTo>
                <a:cubicBezTo>
                  <a:pt x="68351" y="305082"/>
                  <a:pt x="0" y="236731"/>
                  <a:pt x="0" y="152541"/>
                </a:cubicBezTo>
                <a:cubicBezTo>
                  <a:pt x="0" y="68351"/>
                  <a:pt x="68351" y="0"/>
                  <a:pt x="152541" y="0"/>
                </a:cubicBezTo>
                <a:close/>
              </a:path>
            </a:pathLst>
          </a:custGeom>
          <a:solidFill>
            <a:srgbClr val="0067B4"/>
          </a:solidFill>
          <a:ln/>
        </p:spPr>
      </p:sp>
      <p:graphicFrame>
        <p:nvGraphicFramePr>
          <p:cNvPr id="3" name="表格 2">
            <a:extLst>
              <a:ext uri="{FF2B5EF4-FFF2-40B4-BE49-F238E27FC236}">
                <a16:creationId xmlns:a16="http://schemas.microsoft.com/office/drawing/2014/main" id="{29C5F77B-8007-479F-A508-641EC811E684}"/>
              </a:ext>
            </a:extLst>
          </p:cNvPr>
          <p:cNvGraphicFramePr>
            <a:graphicFrameLocks noGrp="1"/>
          </p:cNvGraphicFramePr>
          <p:nvPr>
            <p:extLst>
              <p:ext uri="{D42A27DB-BD31-4B8C-83A1-F6EECF244321}">
                <p14:modId xmlns:p14="http://schemas.microsoft.com/office/powerpoint/2010/main" val="3647159914"/>
              </p:ext>
            </p:extLst>
          </p:nvPr>
        </p:nvGraphicFramePr>
        <p:xfrm>
          <a:off x="1959078" y="1883669"/>
          <a:ext cx="5738696" cy="1219200"/>
        </p:xfrm>
        <a:graphic>
          <a:graphicData uri="http://schemas.openxmlformats.org/drawingml/2006/table">
            <a:tbl>
              <a:tblPr>
                <a:tableStyleId>{284E427A-3D55-4303-BF80-6455036E1DE7}</a:tableStyleId>
              </a:tblPr>
              <a:tblGrid>
                <a:gridCol w="2628900">
                  <a:extLst>
                    <a:ext uri="{9D8B030D-6E8A-4147-A177-3AD203B41FA5}">
                      <a16:colId xmlns:a16="http://schemas.microsoft.com/office/drawing/2014/main" val="2309827727"/>
                    </a:ext>
                  </a:extLst>
                </a:gridCol>
                <a:gridCol w="1727045">
                  <a:extLst>
                    <a:ext uri="{9D8B030D-6E8A-4147-A177-3AD203B41FA5}">
                      <a16:colId xmlns:a16="http://schemas.microsoft.com/office/drawing/2014/main" val="3597523096"/>
                    </a:ext>
                  </a:extLst>
                </a:gridCol>
                <a:gridCol w="1382751">
                  <a:extLst>
                    <a:ext uri="{9D8B030D-6E8A-4147-A177-3AD203B41FA5}">
                      <a16:colId xmlns:a16="http://schemas.microsoft.com/office/drawing/2014/main" val="518154331"/>
                    </a:ext>
                  </a:extLst>
                </a:gridCol>
              </a:tblGrid>
              <a:tr h="0">
                <a:tc>
                  <a:txBody>
                    <a:bodyPr/>
                    <a:lstStyle/>
                    <a:p>
                      <a:r>
                        <a:rPr lang="zh-CN" altLang="en-US" sz="1400"/>
                        <a:t>项目</a:t>
                      </a:r>
                    </a:p>
                  </a:txBody>
                  <a:tcPr anchor="ctr"/>
                </a:tc>
                <a:tc>
                  <a:txBody>
                    <a:bodyPr/>
                    <a:lstStyle/>
                    <a:p>
                      <a:r>
                        <a:rPr lang="zh-CN" altLang="en-US" sz="1400"/>
                        <a:t>产品</a:t>
                      </a:r>
                      <a:r>
                        <a:rPr lang="en-US" altLang="zh-CN" sz="1400"/>
                        <a:t>1</a:t>
                      </a:r>
                    </a:p>
                  </a:txBody>
                  <a:tcPr anchor="ctr"/>
                </a:tc>
                <a:tc>
                  <a:txBody>
                    <a:bodyPr/>
                    <a:lstStyle/>
                    <a:p>
                      <a:r>
                        <a:rPr lang="zh-CN" altLang="en-US" sz="1400"/>
                        <a:t>产品</a:t>
                      </a:r>
                      <a:r>
                        <a:rPr lang="en-US" altLang="zh-CN" sz="1400"/>
                        <a:t>2</a:t>
                      </a:r>
                    </a:p>
                  </a:txBody>
                  <a:tcPr anchor="ctr"/>
                </a:tc>
                <a:extLst>
                  <a:ext uri="{0D108BD9-81ED-4DB2-BD59-A6C34878D82A}">
                    <a16:rowId xmlns:a16="http://schemas.microsoft.com/office/drawing/2014/main" val="637773288"/>
                  </a:ext>
                </a:extLst>
              </a:tr>
              <a:tr h="0">
                <a:tc>
                  <a:txBody>
                    <a:bodyPr/>
                    <a:lstStyle/>
                    <a:p>
                      <a:r>
                        <a:rPr lang="zh-CN" altLang="en-US" sz="1400"/>
                        <a:t>生产与销售量（单位）</a:t>
                      </a:r>
                    </a:p>
                  </a:txBody>
                  <a:tcPr anchor="ctr"/>
                </a:tc>
                <a:tc>
                  <a:txBody>
                    <a:bodyPr/>
                    <a:lstStyle/>
                    <a:p>
                      <a:r>
                        <a:rPr lang="en-US" altLang="zh-CN" sz="1400"/>
                        <a:t>1,300</a:t>
                      </a:r>
                    </a:p>
                  </a:txBody>
                  <a:tcPr anchor="ctr"/>
                </a:tc>
                <a:tc>
                  <a:txBody>
                    <a:bodyPr/>
                    <a:lstStyle/>
                    <a:p>
                      <a:r>
                        <a:rPr lang="en-US" altLang="zh-CN" sz="1400"/>
                        <a:t>2,200</a:t>
                      </a:r>
                    </a:p>
                  </a:txBody>
                  <a:tcPr anchor="ctr"/>
                </a:tc>
                <a:extLst>
                  <a:ext uri="{0D108BD9-81ED-4DB2-BD59-A6C34878D82A}">
                    <a16:rowId xmlns:a16="http://schemas.microsoft.com/office/drawing/2014/main" val="993271352"/>
                  </a:ext>
                </a:extLst>
              </a:tr>
              <a:tr h="0">
                <a:tc>
                  <a:txBody>
                    <a:bodyPr/>
                    <a:lstStyle/>
                    <a:p>
                      <a:r>
                        <a:rPr lang="zh-CN" altLang="en-US" sz="1400"/>
                        <a:t>单位贡献毛益</a:t>
                      </a:r>
                    </a:p>
                  </a:txBody>
                  <a:tcPr anchor="ctr"/>
                </a:tc>
                <a:tc>
                  <a:txBody>
                    <a:bodyPr/>
                    <a:lstStyle/>
                    <a:p>
                      <a:r>
                        <a:rPr lang="en-US" altLang="zh-CN" sz="1400"/>
                        <a:t>$24</a:t>
                      </a:r>
                    </a:p>
                  </a:txBody>
                  <a:tcPr anchor="ctr"/>
                </a:tc>
                <a:tc>
                  <a:txBody>
                    <a:bodyPr/>
                    <a:lstStyle/>
                    <a:p>
                      <a:r>
                        <a:rPr lang="en-US" altLang="zh-CN" sz="1400"/>
                        <a:t>$15</a:t>
                      </a:r>
                    </a:p>
                  </a:txBody>
                  <a:tcPr anchor="ctr"/>
                </a:tc>
                <a:extLst>
                  <a:ext uri="{0D108BD9-81ED-4DB2-BD59-A6C34878D82A}">
                    <a16:rowId xmlns:a16="http://schemas.microsoft.com/office/drawing/2014/main" val="3105345045"/>
                  </a:ext>
                </a:extLst>
              </a:tr>
              <a:tr h="0">
                <a:tc>
                  <a:txBody>
                    <a:bodyPr/>
                    <a:lstStyle/>
                    <a:p>
                      <a:r>
                        <a:rPr lang="zh-CN" altLang="en-US" sz="1400" b="1"/>
                        <a:t>总贡献毛益</a:t>
                      </a:r>
                      <a:endParaRPr lang="zh-CN" altLang="en-US" sz="1400"/>
                    </a:p>
                  </a:txBody>
                  <a:tcPr anchor="ctr"/>
                </a:tc>
                <a:tc>
                  <a:txBody>
                    <a:bodyPr/>
                    <a:lstStyle/>
                    <a:p>
                      <a:r>
                        <a:rPr lang="en-US" altLang="zh-CN" sz="1400" b="1"/>
                        <a:t>$31,200</a:t>
                      </a:r>
                      <a:endParaRPr lang="zh-CN" altLang="en-US" sz="1400"/>
                    </a:p>
                  </a:txBody>
                  <a:tcPr anchor="ctr"/>
                </a:tc>
                <a:tc>
                  <a:txBody>
                    <a:bodyPr/>
                    <a:lstStyle/>
                    <a:p>
                      <a:r>
                        <a:rPr lang="en-US" altLang="zh-CN" sz="1400" b="1" dirty="0"/>
                        <a:t>$33,000</a:t>
                      </a:r>
                      <a:endParaRPr lang="zh-CN" altLang="en-US" sz="1400" dirty="0"/>
                    </a:p>
                  </a:txBody>
                  <a:tcPr anchor="ctr"/>
                </a:tc>
                <a:extLst>
                  <a:ext uri="{0D108BD9-81ED-4DB2-BD59-A6C34878D82A}">
                    <a16:rowId xmlns:a16="http://schemas.microsoft.com/office/drawing/2014/main" val="1055603936"/>
                  </a:ext>
                </a:extLst>
              </a:tr>
            </a:tbl>
          </a:graphicData>
        </a:graphic>
      </p:graphicFrame>
      <p:sp>
        <p:nvSpPr>
          <p:cNvPr id="5" name="Rectangle 1">
            <a:extLst>
              <a:ext uri="{FF2B5EF4-FFF2-40B4-BE49-F238E27FC236}">
                <a16:creationId xmlns:a16="http://schemas.microsoft.com/office/drawing/2014/main" id="{4A50AB75-E80D-473D-8114-34D3B2CA188D}"/>
              </a:ext>
            </a:extLst>
          </p:cNvPr>
          <p:cNvSpPr>
            <a:spLocks noChangeArrowheads="1"/>
          </p:cNvSpPr>
          <p:nvPr/>
        </p:nvSpPr>
        <p:spPr bwMode="auto">
          <a:xfrm>
            <a:off x="1085850" y="1043085"/>
            <a:ext cx="720261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400" b="0" i="0" u="none" strike="noStrike" cap="none" normalizeH="0" baseline="0" dirty="0">
                <a:ln>
                  <a:noFill/>
                </a:ln>
                <a:solidFill>
                  <a:schemeClr val="tx1"/>
                </a:solidFill>
                <a:effectLst/>
                <a:latin typeface="Arial" panose="020B0604020202020204" pitchFamily="34" charset="0"/>
              </a:rPr>
              <a:t>根据该计划，我们将生产2,200单位产品2和1,300单位产品1。我们的贡献毛益情况如下：</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400" b="0" i="0" u="none" strike="noStrike" cap="none" normalizeH="0" baseline="0" dirty="0">
              <a:ln>
                <a:noFill/>
              </a:ln>
              <a:solidFill>
                <a:schemeClr val="tx1"/>
              </a:solidFill>
              <a:effectLst/>
              <a:latin typeface="Arial" panose="020B0604020202020204" pitchFamily="34" charset="0"/>
            </a:endParaRPr>
          </a:p>
        </p:txBody>
      </p:sp>
      <p:sp>
        <p:nvSpPr>
          <p:cNvPr id="8" name="Rectangle 2">
            <a:extLst>
              <a:ext uri="{FF2B5EF4-FFF2-40B4-BE49-F238E27FC236}">
                <a16:creationId xmlns:a16="http://schemas.microsoft.com/office/drawing/2014/main" id="{DB7D8C7F-3E64-4AA0-892E-74BB21C77290}"/>
              </a:ext>
            </a:extLst>
          </p:cNvPr>
          <p:cNvSpPr>
            <a:spLocks noChangeArrowheads="1"/>
          </p:cNvSpPr>
          <p:nvPr/>
        </p:nvSpPr>
        <p:spPr bwMode="auto">
          <a:xfrm>
            <a:off x="2014076" y="3577196"/>
            <a:ext cx="516301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800" b="1" i="0" u="none" strike="noStrike" cap="none" normalizeH="0" baseline="0" dirty="0">
                <a:ln>
                  <a:noFill/>
                </a:ln>
                <a:solidFill>
                  <a:schemeClr val="tx1"/>
                </a:solidFill>
                <a:effectLst/>
                <a:latin typeface="Arial" panose="020B0604020202020204" pitchFamily="34" charset="0"/>
              </a:rPr>
              <a:t>Ensign公司的总贡献毛益为 $64,200。</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37080584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img.tukuppt.com/aippt_uploads/34576449/25/07/03/6866a18678cda.png!/fwfh2/960x960"/>
          <p:cNvPicPr>
            <a:picLocks noChangeAspect="1"/>
          </p:cNvPicPr>
          <p:nvPr/>
        </p:nvPicPr>
        <p:blipFill>
          <a:blip r:embed="rId3"/>
          <a:stretch>
            <a:fillRect/>
          </a:stretch>
        </p:blipFill>
        <p:spPr>
          <a:xfrm>
            <a:off x="3821" y="11670"/>
            <a:ext cx="9140180" cy="5131830"/>
          </a:xfrm>
          <a:prstGeom prst="rect">
            <a:avLst/>
          </a:prstGeom>
        </p:spPr>
      </p:pic>
      <p:sp>
        <p:nvSpPr>
          <p:cNvPr id="4" name="Shape 1"/>
          <p:cNvSpPr/>
          <p:nvPr/>
        </p:nvSpPr>
        <p:spPr>
          <a:xfrm>
            <a:off x="1188456" y="329442"/>
            <a:ext cx="2735844" cy="339064"/>
          </a:xfrm>
          <a:custGeom>
            <a:avLst/>
            <a:gdLst/>
            <a:ahLst/>
            <a:cxnLst/>
            <a:rect l="l" t="t" r="r" b="b"/>
            <a:pathLst>
              <a:path w="2735844" h="339064">
                <a:moveTo>
                  <a:pt x="0" y="0"/>
                </a:moveTo>
                <a:lnTo>
                  <a:pt x="2735844" y="0"/>
                </a:lnTo>
                <a:lnTo>
                  <a:pt x="2735844" y="339064"/>
                </a:lnTo>
                <a:lnTo>
                  <a:pt x="0" y="339064"/>
                </a:lnTo>
                <a:close/>
              </a:path>
            </a:pathLst>
          </a:custGeom>
          <a:noFill/>
          <a:ln/>
        </p:spPr>
      </p:sp>
      <p:sp>
        <p:nvSpPr>
          <p:cNvPr id="6" name="Shape 3"/>
          <p:cNvSpPr/>
          <p:nvPr/>
        </p:nvSpPr>
        <p:spPr>
          <a:xfrm>
            <a:off x="471488" y="198466"/>
            <a:ext cx="461756" cy="542999"/>
          </a:xfrm>
          <a:custGeom>
            <a:avLst/>
            <a:gdLst/>
            <a:ahLst/>
            <a:cxnLst/>
            <a:rect l="l" t="t" r="r" b="b"/>
            <a:pathLst>
              <a:path w="461756" h="542999">
                <a:moveTo>
                  <a:pt x="77457" y="0"/>
                </a:moveTo>
                <a:lnTo>
                  <a:pt x="384743" y="0"/>
                </a:lnTo>
                <a:cubicBezTo>
                  <a:pt x="427521" y="0"/>
                  <a:pt x="462200" y="34678"/>
                  <a:pt x="462200" y="77457"/>
                </a:cubicBezTo>
                <a:lnTo>
                  <a:pt x="462200" y="466009"/>
                </a:lnTo>
                <a:cubicBezTo>
                  <a:pt x="462200" y="508787"/>
                  <a:pt x="427521" y="543466"/>
                  <a:pt x="384743" y="543466"/>
                </a:cubicBezTo>
                <a:lnTo>
                  <a:pt x="77457" y="543466"/>
                </a:lnTo>
                <a:cubicBezTo>
                  <a:pt x="34678" y="543466"/>
                  <a:pt x="0" y="508787"/>
                  <a:pt x="0" y="466009"/>
                </a:cubicBezTo>
                <a:lnTo>
                  <a:pt x="0" y="77457"/>
                </a:lnTo>
                <a:cubicBezTo>
                  <a:pt x="0" y="34678"/>
                  <a:pt x="34678" y="0"/>
                  <a:pt x="77457" y="0"/>
                </a:cubicBezTo>
                <a:close/>
              </a:path>
            </a:pathLst>
          </a:custGeom>
          <a:solidFill>
            <a:srgbClr val="0067B4"/>
          </a:solidFill>
          <a:ln/>
          <a:effectLst>
            <a:outerShdw dist="38093" dir="2700000" algn="bl" rotWithShape="0">
              <a:srgbClr val="000000">
                <a:alpha val="38824"/>
              </a:srgbClr>
            </a:outerShdw>
          </a:effectLst>
        </p:spPr>
      </p:sp>
      <p:sp>
        <p:nvSpPr>
          <p:cNvPr id="7" name="Shape 4"/>
          <p:cNvSpPr/>
          <p:nvPr/>
        </p:nvSpPr>
        <p:spPr>
          <a:xfrm>
            <a:off x="482166" y="206110"/>
            <a:ext cx="433263" cy="535355"/>
          </a:xfrm>
          <a:custGeom>
            <a:avLst/>
            <a:gdLst/>
            <a:ahLst/>
            <a:cxnLst/>
            <a:rect l="l" t="t" r="r" b="b"/>
            <a:pathLst>
              <a:path w="433263" h="535355">
                <a:moveTo>
                  <a:pt x="73647" y="0"/>
                </a:moveTo>
                <a:lnTo>
                  <a:pt x="366966" y="0"/>
                </a:lnTo>
                <a:cubicBezTo>
                  <a:pt x="396171" y="0"/>
                  <a:pt x="421567" y="15237"/>
                  <a:pt x="432995" y="35554"/>
                </a:cubicBezTo>
                <a:cubicBezTo>
                  <a:pt x="186658" y="119359"/>
                  <a:pt x="11428" y="311096"/>
                  <a:pt x="1270" y="535847"/>
                </a:cubicBezTo>
                <a:cubicBezTo>
                  <a:pt x="0" y="533307"/>
                  <a:pt x="0" y="532038"/>
                  <a:pt x="0" y="529498"/>
                </a:cubicBezTo>
                <a:lnTo>
                  <a:pt x="0" y="60949"/>
                </a:lnTo>
                <a:cubicBezTo>
                  <a:pt x="0" y="26665"/>
                  <a:pt x="33014" y="0"/>
                  <a:pt x="73647" y="0"/>
                </a:cubicBezTo>
                <a:close/>
              </a:path>
            </a:pathLst>
          </a:custGeom>
          <a:gradFill>
            <a:gsLst>
              <a:gs pos="0">
                <a:srgbClr val="64CBFF">
                  <a:alpha val="34902"/>
                </a:srgbClr>
              </a:gs>
              <a:gs pos="100000">
                <a:srgbClr val="2F5897">
                  <a:alpha val="100000"/>
                </a:srgbClr>
              </a:gs>
            </a:gsLst>
            <a:lin ang="1200000" scaled="1"/>
          </a:gradFill>
          <a:ln/>
        </p:spPr>
      </p:sp>
      <p:pic>
        <p:nvPicPr>
          <p:cNvPr id="10" name="Image 3" descr="//img.tukuppt.com/aippt_tpl_uploads/25/07/01/686397e7b8f81.png"/>
          <p:cNvPicPr>
            <a:picLocks noChangeAspect="1"/>
          </p:cNvPicPr>
          <p:nvPr/>
        </p:nvPicPr>
        <p:blipFill>
          <a:blip r:embed="rId4"/>
          <a:srcRect/>
          <a:stretch/>
        </p:blipFill>
        <p:spPr>
          <a:xfrm>
            <a:off x="539206" y="312920"/>
            <a:ext cx="321318" cy="321734"/>
          </a:xfrm>
          <a:prstGeom prst="rect">
            <a:avLst/>
          </a:prstGeom>
        </p:spPr>
      </p:pic>
      <p:pic>
        <p:nvPicPr>
          <p:cNvPr id="11" name="Image 4" descr="//img.tukuppt.com/aippt_tpl_uploads/25/07/01/686397e7af1a3.png!/fwfh2/960x960"/>
          <p:cNvPicPr>
            <a:picLocks noChangeAspect="1"/>
          </p:cNvPicPr>
          <p:nvPr/>
        </p:nvPicPr>
        <p:blipFill>
          <a:blip r:embed="rId5"/>
          <a:srcRect l="36452" t="56544" b="34700"/>
          <a:stretch/>
        </p:blipFill>
        <p:spPr>
          <a:xfrm>
            <a:off x="-4836" y="-812736"/>
            <a:ext cx="9148837" cy="1019042"/>
          </a:xfrm>
          <a:prstGeom prst="rect">
            <a:avLst/>
          </a:prstGeom>
        </p:spPr>
      </p:pic>
      <p:pic>
        <p:nvPicPr>
          <p:cNvPr id="12" name="Image 5" descr="//img.tukuppt.com/aippt_tpl_uploads/25/07/01/686397e7af1a3.png!/fwfh2/960x960"/>
          <p:cNvPicPr>
            <a:picLocks noChangeAspect="1"/>
          </p:cNvPicPr>
          <p:nvPr/>
        </p:nvPicPr>
        <p:blipFill>
          <a:blip r:embed="rId5"/>
          <a:srcRect l="36452" t="56544" b="34700"/>
          <a:stretch/>
        </p:blipFill>
        <p:spPr>
          <a:xfrm>
            <a:off x="-61352" y="4937888"/>
            <a:ext cx="9313872" cy="1019042"/>
          </a:xfrm>
          <a:prstGeom prst="rect">
            <a:avLst/>
          </a:prstGeom>
        </p:spPr>
      </p:pic>
      <p:sp>
        <p:nvSpPr>
          <p:cNvPr id="19" name="Shape 8"/>
          <p:cNvSpPr/>
          <p:nvPr/>
        </p:nvSpPr>
        <p:spPr>
          <a:xfrm>
            <a:off x="7697774" y="3737082"/>
            <a:ext cx="805079" cy="805079"/>
          </a:xfrm>
          <a:custGeom>
            <a:avLst/>
            <a:gdLst/>
            <a:ahLst/>
            <a:cxnLst/>
            <a:rect l="l" t="t" r="r" b="b"/>
            <a:pathLst>
              <a:path w="805079" h="805079">
                <a:moveTo>
                  <a:pt x="402539" y="0"/>
                </a:moveTo>
                <a:cubicBezTo>
                  <a:pt x="624707" y="0"/>
                  <a:pt x="805079" y="180372"/>
                  <a:pt x="805079" y="402539"/>
                </a:cubicBezTo>
                <a:cubicBezTo>
                  <a:pt x="805079" y="624707"/>
                  <a:pt x="624707" y="805079"/>
                  <a:pt x="402539" y="805079"/>
                </a:cubicBezTo>
                <a:cubicBezTo>
                  <a:pt x="180372" y="805079"/>
                  <a:pt x="0" y="624707"/>
                  <a:pt x="0" y="402539"/>
                </a:cubicBezTo>
                <a:cubicBezTo>
                  <a:pt x="0" y="180372"/>
                  <a:pt x="180372" y="0"/>
                  <a:pt x="402539" y="0"/>
                </a:cubicBezTo>
                <a:close/>
              </a:path>
            </a:pathLst>
          </a:custGeom>
          <a:solidFill>
            <a:srgbClr val="147BC8"/>
          </a:solidFill>
          <a:ln/>
        </p:spPr>
      </p:sp>
      <p:sp>
        <p:nvSpPr>
          <p:cNvPr id="20" name="Shape 9"/>
          <p:cNvSpPr/>
          <p:nvPr/>
        </p:nvSpPr>
        <p:spPr>
          <a:xfrm>
            <a:off x="8401159" y="3329606"/>
            <a:ext cx="305082" cy="305082"/>
          </a:xfrm>
          <a:custGeom>
            <a:avLst/>
            <a:gdLst/>
            <a:ahLst/>
            <a:cxnLst/>
            <a:rect l="l" t="t" r="r" b="b"/>
            <a:pathLst>
              <a:path w="305082" h="305082">
                <a:moveTo>
                  <a:pt x="152541" y="0"/>
                </a:moveTo>
                <a:cubicBezTo>
                  <a:pt x="236731" y="0"/>
                  <a:pt x="305082" y="68351"/>
                  <a:pt x="305082" y="152541"/>
                </a:cubicBezTo>
                <a:cubicBezTo>
                  <a:pt x="305082" y="236731"/>
                  <a:pt x="236731" y="305082"/>
                  <a:pt x="152541" y="305082"/>
                </a:cubicBezTo>
                <a:cubicBezTo>
                  <a:pt x="68351" y="305082"/>
                  <a:pt x="0" y="236731"/>
                  <a:pt x="0" y="152541"/>
                </a:cubicBezTo>
                <a:cubicBezTo>
                  <a:pt x="0" y="68351"/>
                  <a:pt x="68351" y="0"/>
                  <a:pt x="152541" y="0"/>
                </a:cubicBezTo>
                <a:close/>
              </a:path>
            </a:pathLst>
          </a:custGeom>
          <a:solidFill>
            <a:srgbClr val="0067B4"/>
          </a:solidFill>
          <a:ln/>
        </p:spPr>
      </p:sp>
      <p:graphicFrame>
        <p:nvGraphicFramePr>
          <p:cNvPr id="9" name="表格 8">
            <a:extLst>
              <a:ext uri="{FF2B5EF4-FFF2-40B4-BE49-F238E27FC236}">
                <a16:creationId xmlns:a16="http://schemas.microsoft.com/office/drawing/2014/main" id="{B0897854-FA5A-4DDA-B220-87A21C9358B5}"/>
              </a:ext>
            </a:extLst>
          </p:cNvPr>
          <p:cNvGraphicFramePr>
            <a:graphicFrameLocks noGrp="1"/>
          </p:cNvGraphicFramePr>
          <p:nvPr>
            <p:extLst>
              <p:ext uri="{D42A27DB-BD31-4B8C-83A1-F6EECF244321}">
                <p14:modId xmlns:p14="http://schemas.microsoft.com/office/powerpoint/2010/main" val="851113982"/>
              </p:ext>
            </p:extLst>
          </p:nvPr>
        </p:nvGraphicFramePr>
        <p:xfrm>
          <a:off x="1632339" y="1741394"/>
          <a:ext cx="5926489" cy="1524000"/>
        </p:xfrm>
        <a:graphic>
          <a:graphicData uri="http://schemas.openxmlformats.org/drawingml/2006/table">
            <a:tbl>
              <a:tblPr>
                <a:tableStyleId>{775DCB02-9BB8-47FD-8907-85C794F793BA}</a:tableStyleId>
              </a:tblPr>
              <a:tblGrid>
                <a:gridCol w="2628900">
                  <a:extLst>
                    <a:ext uri="{9D8B030D-6E8A-4147-A177-3AD203B41FA5}">
                      <a16:colId xmlns:a16="http://schemas.microsoft.com/office/drawing/2014/main" val="1880631005"/>
                    </a:ext>
                  </a:extLst>
                </a:gridCol>
                <a:gridCol w="1748158">
                  <a:extLst>
                    <a:ext uri="{9D8B030D-6E8A-4147-A177-3AD203B41FA5}">
                      <a16:colId xmlns:a16="http://schemas.microsoft.com/office/drawing/2014/main" val="813298011"/>
                    </a:ext>
                  </a:extLst>
                </a:gridCol>
                <a:gridCol w="1549431">
                  <a:extLst>
                    <a:ext uri="{9D8B030D-6E8A-4147-A177-3AD203B41FA5}">
                      <a16:colId xmlns:a16="http://schemas.microsoft.com/office/drawing/2014/main" val="381290775"/>
                    </a:ext>
                  </a:extLst>
                </a:gridCol>
              </a:tblGrid>
              <a:tr h="0">
                <a:tc>
                  <a:txBody>
                    <a:bodyPr/>
                    <a:lstStyle/>
                    <a:p>
                      <a:r>
                        <a:rPr lang="zh-CN" altLang="en-US" sz="1400" dirty="0"/>
                        <a:t>项目</a:t>
                      </a:r>
                    </a:p>
                  </a:txBody>
                  <a:tcPr anchor="ctr"/>
                </a:tc>
                <a:tc>
                  <a:txBody>
                    <a:bodyPr/>
                    <a:lstStyle/>
                    <a:p>
                      <a:r>
                        <a:rPr lang="zh-CN" altLang="en-US" sz="1400"/>
                        <a:t>椅子</a:t>
                      </a:r>
                    </a:p>
                  </a:txBody>
                  <a:tcPr anchor="ctr"/>
                </a:tc>
                <a:tc>
                  <a:txBody>
                    <a:bodyPr/>
                    <a:lstStyle/>
                    <a:p>
                      <a:r>
                        <a:rPr lang="zh-CN" altLang="en-US" sz="1400"/>
                        <a:t>桌子</a:t>
                      </a:r>
                    </a:p>
                  </a:txBody>
                  <a:tcPr anchor="ctr"/>
                </a:tc>
                <a:extLst>
                  <a:ext uri="{0D108BD9-81ED-4DB2-BD59-A6C34878D82A}">
                    <a16:rowId xmlns:a16="http://schemas.microsoft.com/office/drawing/2014/main" val="924846798"/>
                  </a:ext>
                </a:extLst>
              </a:tr>
              <a:tr h="0">
                <a:tc>
                  <a:txBody>
                    <a:bodyPr/>
                    <a:lstStyle/>
                    <a:p>
                      <a:r>
                        <a:rPr lang="zh-CN" altLang="en-US" sz="1400"/>
                        <a:t>单位售价</a:t>
                      </a:r>
                    </a:p>
                  </a:txBody>
                  <a:tcPr anchor="ctr"/>
                </a:tc>
                <a:tc>
                  <a:txBody>
                    <a:bodyPr/>
                    <a:lstStyle/>
                    <a:p>
                      <a:r>
                        <a:rPr lang="en-US" altLang="zh-CN" sz="1400"/>
                        <a:t>$80</a:t>
                      </a:r>
                    </a:p>
                  </a:txBody>
                  <a:tcPr anchor="ctr"/>
                </a:tc>
                <a:tc>
                  <a:txBody>
                    <a:bodyPr/>
                    <a:lstStyle/>
                    <a:p>
                      <a:r>
                        <a:rPr lang="en-US" altLang="zh-CN" sz="1400"/>
                        <a:t>$400</a:t>
                      </a:r>
                    </a:p>
                  </a:txBody>
                  <a:tcPr anchor="ctr"/>
                </a:tc>
                <a:extLst>
                  <a:ext uri="{0D108BD9-81ED-4DB2-BD59-A6C34878D82A}">
                    <a16:rowId xmlns:a16="http://schemas.microsoft.com/office/drawing/2014/main" val="1973638331"/>
                  </a:ext>
                </a:extLst>
              </a:tr>
              <a:tr h="0">
                <a:tc>
                  <a:txBody>
                    <a:bodyPr/>
                    <a:lstStyle/>
                    <a:p>
                      <a:r>
                        <a:rPr lang="zh-CN" altLang="en-US" sz="1400"/>
                        <a:t>单位变动成本</a:t>
                      </a:r>
                    </a:p>
                  </a:txBody>
                  <a:tcPr anchor="ctr"/>
                </a:tc>
                <a:tc>
                  <a:txBody>
                    <a:bodyPr/>
                    <a:lstStyle/>
                    <a:p>
                      <a:r>
                        <a:rPr lang="en-US" altLang="zh-CN" sz="1400"/>
                        <a:t>$30</a:t>
                      </a:r>
                    </a:p>
                  </a:txBody>
                  <a:tcPr anchor="ctr"/>
                </a:tc>
                <a:tc>
                  <a:txBody>
                    <a:bodyPr/>
                    <a:lstStyle/>
                    <a:p>
                      <a:r>
                        <a:rPr lang="en-US" altLang="zh-CN" sz="1400"/>
                        <a:t>$200</a:t>
                      </a:r>
                    </a:p>
                  </a:txBody>
                  <a:tcPr anchor="ctr"/>
                </a:tc>
                <a:extLst>
                  <a:ext uri="{0D108BD9-81ED-4DB2-BD59-A6C34878D82A}">
                    <a16:rowId xmlns:a16="http://schemas.microsoft.com/office/drawing/2014/main" val="1093592800"/>
                  </a:ext>
                </a:extLst>
              </a:tr>
              <a:tr h="0">
                <a:tc>
                  <a:txBody>
                    <a:bodyPr/>
                    <a:lstStyle/>
                    <a:p>
                      <a:r>
                        <a:rPr lang="zh-CN" altLang="en-US" sz="1400"/>
                        <a:t>单位所需硬木板英尺数</a:t>
                      </a:r>
                    </a:p>
                  </a:txBody>
                  <a:tcPr anchor="ctr"/>
                </a:tc>
                <a:tc>
                  <a:txBody>
                    <a:bodyPr/>
                    <a:lstStyle/>
                    <a:p>
                      <a:r>
                        <a:rPr lang="en-US" altLang="zh-CN" sz="1400"/>
                        <a:t>2</a:t>
                      </a:r>
                    </a:p>
                  </a:txBody>
                  <a:tcPr anchor="ctr"/>
                </a:tc>
                <a:tc>
                  <a:txBody>
                    <a:bodyPr/>
                    <a:lstStyle/>
                    <a:p>
                      <a:r>
                        <a:rPr lang="en-US" altLang="zh-CN" sz="1400"/>
                        <a:t>10</a:t>
                      </a:r>
                    </a:p>
                  </a:txBody>
                  <a:tcPr anchor="ctr"/>
                </a:tc>
                <a:extLst>
                  <a:ext uri="{0D108BD9-81ED-4DB2-BD59-A6C34878D82A}">
                    <a16:rowId xmlns:a16="http://schemas.microsoft.com/office/drawing/2014/main" val="2999006326"/>
                  </a:ext>
                </a:extLst>
              </a:tr>
              <a:tr h="0">
                <a:tc>
                  <a:txBody>
                    <a:bodyPr/>
                    <a:lstStyle/>
                    <a:p>
                      <a:r>
                        <a:rPr lang="zh-CN" altLang="en-US" sz="1400"/>
                        <a:t>月需求量</a:t>
                      </a:r>
                    </a:p>
                  </a:txBody>
                  <a:tcPr anchor="ctr"/>
                </a:tc>
                <a:tc>
                  <a:txBody>
                    <a:bodyPr/>
                    <a:lstStyle/>
                    <a:p>
                      <a:r>
                        <a:rPr lang="en-US" altLang="zh-CN" sz="1400"/>
                        <a:t>600</a:t>
                      </a:r>
                    </a:p>
                  </a:txBody>
                  <a:tcPr anchor="ctr"/>
                </a:tc>
                <a:tc>
                  <a:txBody>
                    <a:bodyPr/>
                    <a:lstStyle/>
                    <a:p>
                      <a:r>
                        <a:rPr lang="en-US" altLang="zh-CN" sz="1400" dirty="0"/>
                        <a:t>100</a:t>
                      </a:r>
                    </a:p>
                  </a:txBody>
                  <a:tcPr anchor="ctr"/>
                </a:tc>
                <a:extLst>
                  <a:ext uri="{0D108BD9-81ED-4DB2-BD59-A6C34878D82A}">
                    <a16:rowId xmlns:a16="http://schemas.microsoft.com/office/drawing/2014/main" val="4024958048"/>
                  </a:ext>
                </a:extLst>
              </a:tr>
            </a:tbl>
          </a:graphicData>
        </a:graphic>
      </p:graphicFrame>
      <p:sp>
        <p:nvSpPr>
          <p:cNvPr id="13" name="Rectangle 1">
            <a:extLst>
              <a:ext uri="{FF2B5EF4-FFF2-40B4-BE49-F238E27FC236}">
                <a16:creationId xmlns:a16="http://schemas.microsoft.com/office/drawing/2014/main" id="{29A3809A-090C-4874-B6F6-5DD8BBFF3801}"/>
              </a:ext>
            </a:extLst>
          </p:cNvPr>
          <p:cNvSpPr>
            <a:spLocks noChangeArrowheads="1"/>
          </p:cNvSpPr>
          <p:nvPr/>
        </p:nvSpPr>
        <p:spPr bwMode="auto">
          <a:xfrm>
            <a:off x="628650" y="1197703"/>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800" b="1" i="0" u="none" strike="noStrike" cap="none" normalizeH="0" baseline="0" dirty="0">
                <a:ln>
                  <a:noFill/>
                </a:ln>
                <a:solidFill>
                  <a:schemeClr val="tx1"/>
                </a:solidFill>
                <a:effectLst/>
                <a:latin typeface="Arial" panose="020B0604020202020204" pitchFamily="34" charset="0"/>
              </a:rPr>
              <a:t>检测 ✓</a:t>
            </a:r>
            <a:endParaRPr kumimoji="0" lang="zh-CN" altLang="zh-CN"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800" b="0" i="0" u="none" strike="noStrike" cap="none" normalizeH="0" baseline="0" dirty="0">
                <a:ln>
                  <a:noFill/>
                </a:ln>
                <a:solidFill>
                  <a:schemeClr val="tx1"/>
                </a:solidFill>
                <a:effectLst/>
                <a:latin typeface="Arial" panose="020B0604020202020204" pitchFamily="34" charset="0"/>
              </a:rPr>
              <a:t>Colonial Heritage公司使用精选硬木制作仿古殖民风格家具。</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14" name="Rectangle 2">
            <a:extLst>
              <a:ext uri="{FF2B5EF4-FFF2-40B4-BE49-F238E27FC236}">
                <a16:creationId xmlns:a16="http://schemas.microsoft.com/office/drawing/2014/main" id="{E4438207-8F2C-4992-A607-CCE4671BE5A9}"/>
              </a:ext>
            </a:extLst>
          </p:cNvPr>
          <p:cNvSpPr>
            <a:spLocks noChangeArrowheads="1"/>
          </p:cNvSpPr>
          <p:nvPr/>
        </p:nvSpPr>
        <p:spPr bwMode="auto">
          <a:xfrm>
            <a:off x="1033930" y="3648181"/>
            <a:ext cx="725526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200" b="0" i="0" u="none" strike="noStrike" cap="none" normalizeH="0" baseline="0" dirty="0">
                <a:ln>
                  <a:noFill/>
                </a:ln>
                <a:solidFill>
                  <a:schemeClr val="tx1"/>
                </a:solidFill>
                <a:effectLst/>
                <a:latin typeface="Arial" panose="020B0604020202020204" pitchFamily="34" charset="0"/>
              </a:rPr>
              <a:t>该公司的硬木供应商本月只能供应</a:t>
            </a:r>
            <a:r>
              <a:rPr kumimoji="0" lang="zh-CN" altLang="zh-CN" sz="1200" b="1" i="0" u="none" strike="noStrike" cap="none" normalizeH="0" baseline="0" dirty="0">
                <a:ln>
                  <a:noFill/>
                </a:ln>
                <a:solidFill>
                  <a:schemeClr val="tx1"/>
                </a:solidFill>
                <a:effectLst/>
                <a:latin typeface="Arial" panose="020B0604020202020204" pitchFamily="34" charset="0"/>
              </a:rPr>
              <a:t>2,000板英尺</a:t>
            </a:r>
            <a:r>
              <a:rPr kumimoji="0" lang="zh-CN" altLang="zh-CN" sz="1200" b="0" i="0" u="none" strike="noStrike" cap="none" normalizeH="0" baseline="0" dirty="0">
                <a:ln>
                  <a:noFill/>
                </a:ln>
                <a:solidFill>
                  <a:schemeClr val="tx1"/>
                </a:solidFill>
                <a:effectLst/>
                <a:latin typeface="Arial" panose="020B0604020202020204" pitchFamily="34" charset="0"/>
              </a:rPr>
              <a:t>木材。这些硬木是否足以满足需求？</a:t>
            </a: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200" b="0" i="0" u="none" strike="noStrike" cap="none" normalizeH="0" baseline="0" dirty="0">
                <a:ln>
                  <a:noFill/>
                </a:ln>
                <a:solidFill>
                  <a:schemeClr val="tx1"/>
                </a:solidFill>
                <a:effectLst/>
                <a:latin typeface="Arial" panose="020B0604020202020204" pitchFamily="34" charset="0"/>
              </a:rPr>
              <a:t>a. 是</a:t>
            </a:r>
            <a:br>
              <a:rPr kumimoji="0" lang="zh-CN" altLang="zh-CN" sz="1200" b="0" i="0" u="none" strike="noStrike" cap="none" normalizeH="0" baseline="0" dirty="0">
                <a:ln>
                  <a:noFill/>
                </a:ln>
                <a:solidFill>
                  <a:schemeClr val="tx1"/>
                </a:solidFill>
                <a:effectLst/>
                <a:latin typeface="Arial" panose="020B0604020202020204" pitchFamily="34" charset="0"/>
              </a:rPr>
            </a:br>
            <a:r>
              <a:rPr kumimoji="0" lang="zh-CN" altLang="zh-CN" sz="1200" b="0" i="0" u="none" strike="noStrike" cap="none" normalizeH="0" baseline="0" dirty="0">
                <a:ln>
                  <a:noFill/>
                </a:ln>
                <a:solidFill>
                  <a:schemeClr val="tx1"/>
                </a:solidFill>
                <a:effectLst/>
                <a:latin typeface="Arial" panose="020B0604020202020204" pitchFamily="34" charset="0"/>
              </a:rPr>
              <a:t>b. 否</a:t>
            </a:r>
          </a:p>
        </p:txBody>
      </p:sp>
    </p:spTree>
    <p:extLst>
      <p:ext uri="{BB962C8B-B14F-4D97-AF65-F5344CB8AC3E}">
        <p14:creationId xmlns:p14="http://schemas.microsoft.com/office/powerpoint/2010/main" val="201377792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img.tukuppt.com/aippt_uploads/34576449/25/07/03/6866a18678cda.png!/fwfh2/960x960"/>
          <p:cNvPicPr>
            <a:picLocks noChangeAspect="1"/>
          </p:cNvPicPr>
          <p:nvPr/>
        </p:nvPicPr>
        <p:blipFill>
          <a:blip r:embed="rId3"/>
          <a:stretch>
            <a:fillRect/>
          </a:stretch>
        </p:blipFill>
        <p:spPr>
          <a:xfrm>
            <a:off x="3821" y="11670"/>
            <a:ext cx="9140180" cy="5131830"/>
          </a:xfrm>
          <a:prstGeom prst="rect">
            <a:avLst/>
          </a:prstGeom>
        </p:spPr>
      </p:pic>
      <p:sp>
        <p:nvSpPr>
          <p:cNvPr id="4" name="Shape 1"/>
          <p:cNvSpPr/>
          <p:nvPr/>
        </p:nvSpPr>
        <p:spPr>
          <a:xfrm>
            <a:off x="1188456" y="329442"/>
            <a:ext cx="2735844" cy="339064"/>
          </a:xfrm>
          <a:custGeom>
            <a:avLst/>
            <a:gdLst/>
            <a:ahLst/>
            <a:cxnLst/>
            <a:rect l="l" t="t" r="r" b="b"/>
            <a:pathLst>
              <a:path w="2735844" h="339064">
                <a:moveTo>
                  <a:pt x="0" y="0"/>
                </a:moveTo>
                <a:lnTo>
                  <a:pt x="2735844" y="0"/>
                </a:lnTo>
                <a:lnTo>
                  <a:pt x="2735844" y="339064"/>
                </a:lnTo>
                <a:lnTo>
                  <a:pt x="0" y="339064"/>
                </a:lnTo>
                <a:close/>
              </a:path>
            </a:pathLst>
          </a:custGeom>
          <a:noFill/>
          <a:ln/>
        </p:spPr>
      </p:sp>
      <p:sp>
        <p:nvSpPr>
          <p:cNvPr id="6" name="Shape 3"/>
          <p:cNvSpPr/>
          <p:nvPr/>
        </p:nvSpPr>
        <p:spPr>
          <a:xfrm>
            <a:off x="471488" y="198466"/>
            <a:ext cx="461756" cy="542999"/>
          </a:xfrm>
          <a:custGeom>
            <a:avLst/>
            <a:gdLst/>
            <a:ahLst/>
            <a:cxnLst/>
            <a:rect l="l" t="t" r="r" b="b"/>
            <a:pathLst>
              <a:path w="461756" h="542999">
                <a:moveTo>
                  <a:pt x="77457" y="0"/>
                </a:moveTo>
                <a:lnTo>
                  <a:pt x="384743" y="0"/>
                </a:lnTo>
                <a:cubicBezTo>
                  <a:pt x="427521" y="0"/>
                  <a:pt x="462200" y="34678"/>
                  <a:pt x="462200" y="77457"/>
                </a:cubicBezTo>
                <a:lnTo>
                  <a:pt x="462200" y="466009"/>
                </a:lnTo>
                <a:cubicBezTo>
                  <a:pt x="462200" y="508787"/>
                  <a:pt x="427521" y="543466"/>
                  <a:pt x="384743" y="543466"/>
                </a:cubicBezTo>
                <a:lnTo>
                  <a:pt x="77457" y="543466"/>
                </a:lnTo>
                <a:cubicBezTo>
                  <a:pt x="34678" y="543466"/>
                  <a:pt x="0" y="508787"/>
                  <a:pt x="0" y="466009"/>
                </a:cubicBezTo>
                <a:lnTo>
                  <a:pt x="0" y="77457"/>
                </a:lnTo>
                <a:cubicBezTo>
                  <a:pt x="0" y="34678"/>
                  <a:pt x="34678" y="0"/>
                  <a:pt x="77457" y="0"/>
                </a:cubicBezTo>
                <a:close/>
              </a:path>
            </a:pathLst>
          </a:custGeom>
          <a:solidFill>
            <a:srgbClr val="0067B4"/>
          </a:solidFill>
          <a:ln/>
          <a:effectLst>
            <a:outerShdw dist="38093" dir="2700000" algn="bl" rotWithShape="0">
              <a:srgbClr val="000000">
                <a:alpha val="38824"/>
              </a:srgbClr>
            </a:outerShdw>
          </a:effectLst>
        </p:spPr>
      </p:sp>
      <p:sp>
        <p:nvSpPr>
          <p:cNvPr id="7" name="Shape 4"/>
          <p:cNvSpPr/>
          <p:nvPr/>
        </p:nvSpPr>
        <p:spPr>
          <a:xfrm>
            <a:off x="482166" y="206110"/>
            <a:ext cx="433263" cy="535355"/>
          </a:xfrm>
          <a:custGeom>
            <a:avLst/>
            <a:gdLst/>
            <a:ahLst/>
            <a:cxnLst/>
            <a:rect l="l" t="t" r="r" b="b"/>
            <a:pathLst>
              <a:path w="433263" h="535355">
                <a:moveTo>
                  <a:pt x="73647" y="0"/>
                </a:moveTo>
                <a:lnTo>
                  <a:pt x="366966" y="0"/>
                </a:lnTo>
                <a:cubicBezTo>
                  <a:pt x="396171" y="0"/>
                  <a:pt x="421567" y="15237"/>
                  <a:pt x="432995" y="35554"/>
                </a:cubicBezTo>
                <a:cubicBezTo>
                  <a:pt x="186658" y="119359"/>
                  <a:pt x="11428" y="311096"/>
                  <a:pt x="1270" y="535847"/>
                </a:cubicBezTo>
                <a:cubicBezTo>
                  <a:pt x="0" y="533307"/>
                  <a:pt x="0" y="532038"/>
                  <a:pt x="0" y="529498"/>
                </a:cubicBezTo>
                <a:lnTo>
                  <a:pt x="0" y="60949"/>
                </a:lnTo>
                <a:cubicBezTo>
                  <a:pt x="0" y="26665"/>
                  <a:pt x="33014" y="0"/>
                  <a:pt x="73647" y="0"/>
                </a:cubicBezTo>
                <a:close/>
              </a:path>
            </a:pathLst>
          </a:custGeom>
          <a:gradFill>
            <a:gsLst>
              <a:gs pos="0">
                <a:srgbClr val="64CBFF">
                  <a:alpha val="34902"/>
                </a:srgbClr>
              </a:gs>
              <a:gs pos="100000">
                <a:srgbClr val="2F5897">
                  <a:alpha val="100000"/>
                </a:srgbClr>
              </a:gs>
            </a:gsLst>
            <a:lin ang="1200000" scaled="1"/>
          </a:gradFill>
          <a:ln/>
        </p:spPr>
      </p:sp>
      <p:pic>
        <p:nvPicPr>
          <p:cNvPr id="10" name="Image 3" descr="//img.tukuppt.com/aippt_tpl_uploads/25/07/01/686397e7b8f81.png"/>
          <p:cNvPicPr>
            <a:picLocks noChangeAspect="1"/>
          </p:cNvPicPr>
          <p:nvPr/>
        </p:nvPicPr>
        <p:blipFill>
          <a:blip r:embed="rId4"/>
          <a:srcRect/>
          <a:stretch/>
        </p:blipFill>
        <p:spPr>
          <a:xfrm>
            <a:off x="539206" y="312920"/>
            <a:ext cx="321318" cy="321734"/>
          </a:xfrm>
          <a:prstGeom prst="rect">
            <a:avLst/>
          </a:prstGeom>
        </p:spPr>
      </p:pic>
      <p:pic>
        <p:nvPicPr>
          <p:cNvPr id="11" name="Image 4" descr="//img.tukuppt.com/aippt_tpl_uploads/25/07/01/686397e7af1a3.png!/fwfh2/960x960"/>
          <p:cNvPicPr>
            <a:picLocks noChangeAspect="1"/>
          </p:cNvPicPr>
          <p:nvPr/>
        </p:nvPicPr>
        <p:blipFill>
          <a:blip r:embed="rId5"/>
          <a:srcRect l="36452" t="56544" b="34700"/>
          <a:stretch/>
        </p:blipFill>
        <p:spPr>
          <a:xfrm>
            <a:off x="-4836" y="-812736"/>
            <a:ext cx="9148837" cy="1019042"/>
          </a:xfrm>
          <a:prstGeom prst="rect">
            <a:avLst/>
          </a:prstGeom>
        </p:spPr>
      </p:pic>
      <p:pic>
        <p:nvPicPr>
          <p:cNvPr id="12" name="Image 5" descr="//img.tukuppt.com/aippt_tpl_uploads/25/07/01/686397e7af1a3.png!/fwfh2/960x960"/>
          <p:cNvPicPr>
            <a:picLocks noChangeAspect="1"/>
          </p:cNvPicPr>
          <p:nvPr/>
        </p:nvPicPr>
        <p:blipFill>
          <a:blip r:embed="rId5"/>
          <a:srcRect l="36452" t="56544" b="34700"/>
          <a:stretch/>
        </p:blipFill>
        <p:spPr>
          <a:xfrm>
            <a:off x="-61352" y="4937888"/>
            <a:ext cx="9313872" cy="1019042"/>
          </a:xfrm>
          <a:prstGeom prst="rect">
            <a:avLst/>
          </a:prstGeom>
        </p:spPr>
      </p:pic>
      <p:sp>
        <p:nvSpPr>
          <p:cNvPr id="19" name="Shape 8"/>
          <p:cNvSpPr/>
          <p:nvPr/>
        </p:nvSpPr>
        <p:spPr>
          <a:xfrm>
            <a:off x="7697774" y="3737082"/>
            <a:ext cx="805079" cy="805079"/>
          </a:xfrm>
          <a:custGeom>
            <a:avLst/>
            <a:gdLst/>
            <a:ahLst/>
            <a:cxnLst/>
            <a:rect l="l" t="t" r="r" b="b"/>
            <a:pathLst>
              <a:path w="805079" h="805079">
                <a:moveTo>
                  <a:pt x="402539" y="0"/>
                </a:moveTo>
                <a:cubicBezTo>
                  <a:pt x="624707" y="0"/>
                  <a:pt x="805079" y="180372"/>
                  <a:pt x="805079" y="402539"/>
                </a:cubicBezTo>
                <a:cubicBezTo>
                  <a:pt x="805079" y="624707"/>
                  <a:pt x="624707" y="805079"/>
                  <a:pt x="402539" y="805079"/>
                </a:cubicBezTo>
                <a:cubicBezTo>
                  <a:pt x="180372" y="805079"/>
                  <a:pt x="0" y="624707"/>
                  <a:pt x="0" y="402539"/>
                </a:cubicBezTo>
                <a:cubicBezTo>
                  <a:pt x="0" y="180372"/>
                  <a:pt x="180372" y="0"/>
                  <a:pt x="402539" y="0"/>
                </a:cubicBezTo>
                <a:close/>
              </a:path>
            </a:pathLst>
          </a:custGeom>
          <a:solidFill>
            <a:srgbClr val="147BC8"/>
          </a:solidFill>
          <a:ln/>
        </p:spPr>
      </p:sp>
      <p:sp>
        <p:nvSpPr>
          <p:cNvPr id="20" name="Shape 9"/>
          <p:cNvSpPr/>
          <p:nvPr/>
        </p:nvSpPr>
        <p:spPr>
          <a:xfrm>
            <a:off x="8401159" y="3329606"/>
            <a:ext cx="305082" cy="305082"/>
          </a:xfrm>
          <a:custGeom>
            <a:avLst/>
            <a:gdLst/>
            <a:ahLst/>
            <a:cxnLst/>
            <a:rect l="l" t="t" r="r" b="b"/>
            <a:pathLst>
              <a:path w="305082" h="305082">
                <a:moveTo>
                  <a:pt x="152541" y="0"/>
                </a:moveTo>
                <a:cubicBezTo>
                  <a:pt x="236731" y="0"/>
                  <a:pt x="305082" y="68351"/>
                  <a:pt x="305082" y="152541"/>
                </a:cubicBezTo>
                <a:cubicBezTo>
                  <a:pt x="305082" y="236731"/>
                  <a:pt x="236731" y="305082"/>
                  <a:pt x="152541" y="305082"/>
                </a:cubicBezTo>
                <a:cubicBezTo>
                  <a:pt x="68351" y="305082"/>
                  <a:pt x="0" y="236731"/>
                  <a:pt x="0" y="152541"/>
                </a:cubicBezTo>
                <a:cubicBezTo>
                  <a:pt x="0" y="68351"/>
                  <a:pt x="68351" y="0"/>
                  <a:pt x="152541" y="0"/>
                </a:cubicBezTo>
                <a:close/>
              </a:path>
            </a:pathLst>
          </a:custGeom>
          <a:solidFill>
            <a:srgbClr val="0067B4"/>
          </a:solidFill>
          <a:ln/>
        </p:spPr>
      </p:sp>
      <p:graphicFrame>
        <p:nvGraphicFramePr>
          <p:cNvPr id="3" name="表格 2">
            <a:extLst>
              <a:ext uri="{FF2B5EF4-FFF2-40B4-BE49-F238E27FC236}">
                <a16:creationId xmlns:a16="http://schemas.microsoft.com/office/drawing/2014/main" id="{61DA51F4-522E-4793-A4B7-B44BC911FA0F}"/>
              </a:ext>
            </a:extLst>
          </p:cNvPr>
          <p:cNvGraphicFramePr>
            <a:graphicFrameLocks noGrp="1"/>
          </p:cNvGraphicFramePr>
          <p:nvPr>
            <p:extLst>
              <p:ext uri="{D42A27DB-BD31-4B8C-83A1-F6EECF244321}">
                <p14:modId xmlns:p14="http://schemas.microsoft.com/office/powerpoint/2010/main" val="2851620067"/>
              </p:ext>
            </p:extLst>
          </p:nvPr>
        </p:nvGraphicFramePr>
        <p:xfrm>
          <a:off x="2358777" y="1200150"/>
          <a:ext cx="3952813" cy="1371600"/>
        </p:xfrm>
        <a:graphic>
          <a:graphicData uri="http://schemas.openxmlformats.org/drawingml/2006/table">
            <a:tbl>
              <a:tblPr>
                <a:tableStyleId>{284E427A-3D55-4303-BF80-6455036E1DE7}</a:tableStyleId>
              </a:tblPr>
              <a:tblGrid>
                <a:gridCol w="2069945">
                  <a:extLst>
                    <a:ext uri="{9D8B030D-6E8A-4147-A177-3AD203B41FA5}">
                      <a16:colId xmlns:a16="http://schemas.microsoft.com/office/drawing/2014/main" val="762318984"/>
                    </a:ext>
                  </a:extLst>
                </a:gridCol>
                <a:gridCol w="892097">
                  <a:extLst>
                    <a:ext uri="{9D8B030D-6E8A-4147-A177-3AD203B41FA5}">
                      <a16:colId xmlns:a16="http://schemas.microsoft.com/office/drawing/2014/main" val="3504932926"/>
                    </a:ext>
                  </a:extLst>
                </a:gridCol>
                <a:gridCol w="990771">
                  <a:extLst>
                    <a:ext uri="{9D8B030D-6E8A-4147-A177-3AD203B41FA5}">
                      <a16:colId xmlns:a16="http://schemas.microsoft.com/office/drawing/2014/main" val="1854117036"/>
                    </a:ext>
                  </a:extLst>
                </a:gridCol>
              </a:tblGrid>
              <a:tr h="0">
                <a:tc>
                  <a:txBody>
                    <a:bodyPr/>
                    <a:lstStyle/>
                    <a:p>
                      <a:r>
                        <a:rPr lang="zh-CN" altLang="en-US" sz="1200"/>
                        <a:t>项目</a:t>
                      </a:r>
                    </a:p>
                  </a:txBody>
                  <a:tcPr anchor="ctr"/>
                </a:tc>
                <a:tc>
                  <a:txBody>
                    <a:bodyPr/>
                    <a:lstStyle/>
                    <a:p>
                      <a:r>
                        <a:rPr lang="zh-CN" altLang="en-US" sz="1200"/>
                        <a:t>椅子</a:t>
                      </a:r>
                    </a:p>
                  </a:txBody>
                  <a:tcPr anchor="ctr"/>
                </a:tc>
                <a:tc>
                  <a:txBody>
                    <a:bodyPr/>
                    <a:lstStyle/>
                    <a:p>
                      <a:r>
                        <a:rPr lang="zh-CN" altLang="en-US" sz="1200"/>
                        <a:t>桌子</a:t>
                      </a:r>
                    </a:p>
                  </a:txBody>
                  <a:tcPr anchor="ctr"/>
                </a:tc>
                <a:extLst>
                  <a:ext uri="{0D108BD9-81ED-4DB2-BD59-A6C34878D82A}">
                    <a16:rowId xmlns:a16="http://schemas.microsoft.com/office/drawing/2014/main" val="142916672"/>
                  </a:ext>
                </a:extLst>
              </a:tr>
              <a:tr h="0">
                <a:tc>
                  <a:txBody>
                    <a:bodyPr/>
                    <a:lstStyle/>
                    <a:p>
                      <a:r>
                        <a:rPr lang="zh-CN" altLang="en-US" sz="1200"/>
                        <a:t>单位售价</a:t>
                      </a:r>
                    </a:p>
                  </a:txBody>
                  <a:tcPr anchor="ctr"/>
                </a:tc>
                <a:tc>
                  <a:txBody>
                    <a:bodyPr/>
                    <a:lstStyle/>
                    <a:p>
                      <a:r>
                        <a:rPr lang="en-US" altLang="zh-CN" sz="1200"/>
                        <a:t>$80</a:t>
                      </a:r>
                    </a:p>
                  </a:txBody>
                  <a:tcPr anchor="ctr"/>
                </a:tc>
                <a:tc>
                  <a:txBody>
                    <a:bodyPr/>
                    <a:lstStyle/>
                    <a:p>
                      <a:r>
                        <a:rPr lang="en-US" altLang="zh-CN" sz="1200"/>
                        <a:t>$400</a:t>
                      </a:r>
                    </a:p>
                  </a:txBody>
                  <a:tcPr anchor="ctr"/>
                </a:tc>
                <a:extLst>
                  <a:ext uri="{0D108BD9-81ED-4DB2-BD59-A6C34878D82A}">
                    <a16:rowId xmlns:a16="http://schemas.microsoft.com/office/drawing/2014/main" val="755927024"/>
                  </a:ext>
                </a:extLst>
              </a:tr>
              <a:tr h="0">
                <a:tc>
                  <a:txBody>
                    <a:bodyPr/>
                    <a:lstStyle/>
                    <a:p>
                      <a:r>
                        <a:rPr lang="zh-CN" altLang="en-US" sz="1200" dirty="0"/>
                        <a:t>单位变动成本</a:t>
                      </a:r>
                    </a:p>
                  </a:txBody>
                  <a:tcPr anchor="ctr"/>
                </a:tc>
                <a:tc>
                  <a:txBody>
                    <a:bodyPr/>
                    <a:lstStyle/>
                    <a:p>
                      <a:r>
                        <a:rPr lang="en-US" altLang="zh-CN" sz="1200" dirty="0"/>
                        <a:t>$30</a:t>
                      </a:r>
                    </a:p>
                  </a:txBody>
                  <a:tcPr anchor="ctr"/>
                </a:tc>
                <a:tc>
                  <a:txBody>
                    <a:bodyPr/>
                    <a:lstStyle/>
                    <a:p>
                      <a:r>
                        <a:rPr lang="en-US" altLang="zh-CN" sz="1200"/>
                        <a:t>$200</a:t>
                      </a:r>
                    </a:p>
                  </a:txBody>
                  <a:tcPr anchor="ctr"/>
                </a:tc>
                <a:extLst>
                  <a:ext uri="{0D108BD9-81ED-4DB2-BD59-A6C34878D82A}">
                    <a16:rowId xmlns:a16="http://schemas.microsoft.com/office/drawing/2014/main" val="2563048519"/>
                  </a:ext>
                </a:extLst>
              </a:tr>
              <a:tr h="0">
                <a:tc>
                  <a:txBody>
                    <a:bodyPr/>
                    <a:lstStyle/>
                    <a:p>
                      <a:r>
                        <a:rPr lang="zh-CN" altLang="en-US" sz="1200"/>
                        <a:t>单位所需硬木板英尺数</a:t>
                      </a:r>
                    </a:p>
                  </a:txBody>
                  <a:tcPr anchor="ctr"/>
                </a:tc>
                <a:tc>
                  <a:txBody>
                    <a:bodyPr/>
                    <a:lstStyle/>
                    <a:p>
                      <a:r>
                        <a:rPr lang="en-US" altLang="zh-CN" sz="1200"/>
                        <a:t>2</a:t>
                      </a:r>
                    </a:p>
                  </a:txBody>
                  <a:tcPr anchor="ctr"/>
                </a:tc>
                <a:tc>
                  <a:txBody>
                    <a:bodyPr/>
                    <a:lstStyle/>
                    <a:p>
                      <a:r>
                        <a:rPr lang="en-US" altLang="zh-CN" sz="1200"/>
                        <a:t>10</a:t>
                      </a:r>
                    </a:p>
                  </a:txBody>
                  <a:tcPr anchor="ctr"/>
                </a:tc>
                <a:extLst>
                  <a:ext uri="{0D108BD9-81ED-4DB2-BD59-A6C34878D82A}">
                    <a16:rowId xmlns:a16="http://schemas.microsoft.com/office/drawing/2014/main" val="1630161442"/>
                  </a:ext>
                </a:extLst>
              </a:tr>
              <a:tr h="0">
                <a:tc>
                  <a:txBody>
                    <a:bodyPr/>
                    <a:lstStyle/>
                    <a:p>
                      <a:r>
                        <a:rPr lang="zh-CN" altLang="en-US" sz="1200"/>
                        <a:t>月需求量</a:t>
                      </a:r>
                    </a:p>
                  </a:txBody>
                  <a:tcPr anchor="ctr"/>
                </a:tc>
                <a:tc>
                  <a:txBody>
                    <a:bodyPr/>
                    <a:lstStyle/>
                    <a:p>
                      <a:r>
                        <a:rPr lang="en-US" altLang="zh-CN" sz="1200"/>
                        <a:t>600</a:t>
                      </a:r>
                    </a:p>
                  </a:txBody>
                  <a:tcPr anchor="ctr"/>
                </a:tc>
                <a:tc>
                  <a:txBody>
                    <a:bodyPr/>
                    <a:lstStyle/>
                    <a:p>
                      <a:r>
                        <a:rPr lang="en-US" altLang="zh-CN" sz="1200" dirty="0"/>
                        <a:t>100</a:t>
                      </a:r>
                    </a:p>
                  </a:txBody>
                  <a:tcPr anchor="ctr"/>
                </a:tc>
                <a:extLst>
                  <a:ext uri="{0D108BD9-81ED-4DB2-BD59-A6C34878D82A}">
                    <a16:rowId xmlns:a16="http://schemas.microsoft.com/office/drawing/2014/main" val="3790429318"/>
                  </a:ext>
                </a:extLst>
              </a:tr>
            </a:tbl>
          </a:graphicData>
        </a:graphic>
      </p:graphicFrame>
      <p:sp>
        <p:nvSpPr>
          <p:cNvPr id="5" name="Rectangle 1">
            <a:extLst>
              <a:ext uri="{FF2B5EF4-FFF2-40B4-BE49-F238E27FC236}">
                <a16:creationId xmlns:a16="http://schemas.microsoft.com/office/drawing/2014/main" id="{B599B791-C9C8-4A10-B28A-8FB80958DBD0}"/>
              </a:ext>
            </a:extLst>
          </p:cNvPr>
          <p:cNvSpPr>
            <a:spLocks noChangeArrowheads="1"/>
          </p:cNvSpPr>
          <p:nvPr/>
        </p:nvSpPr>
        <p:spPr bwMode="auto">
          <a:xfrm>
            <a:off x="1390890" y="538241"/>
            <a:ext cx="3647732"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1" i="0" u="none" strike="noStrike" cap="none" normalizeH="0" baseline="0" dirty="0">
                <a:ln>
                  <a:noFill/>
                </a:ln>
                <a:solidFill>
                  <a:schemeClr val="tx1"/>
                </a:solidFill>
                <a:effectLst/>
                <a:latin typeface="Arial" panose="020B0604020202020204" pitchFamily="34" charset="0"/>
              </a:rPr>
              <a:t>检测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2000" b="0" i="0" u="none" strike="noStrike" cap="none" normalizeH="0" baseline="0" dirty="0">
              <a:ln>
                <a:noFill/>
              </a:ln>
              <a:solidFill>
                <a:schemeClr val="tx1"/>
              </a:solidFill>
              <a:effectLst/>
              <a:latin typeface="Arial" panose="020B0604020202020204" pitchFamily="34" charset="0"/>
            </a:endParaRPr>
          </a:p>
        </p:txBody>
      </p:sp>
      <p:sp>
        <p:nvSpPr>
          <p:cNvPr id="8" name="Rectangle 2">
            <a:extLst>
              <a:ext uri="{FF2B5EF4-FFF2-40B4-BE49-F238E27FC236}">
                <a16:creationId xmlns:a16="http://schemas.microsoft.com/office/drawing/2014/main" id="{346A7783-21B6-48E8-AD67-C03CC3CCD122}"/>
              </a:ext>
            </a:extLst>
          </p:cNvPr>
          <p:cNvSpPr>
            <a:spLocks noChangeArrowheads="1"/>
          </p:cNvSpPr>
          <p:nvPr/>
        </p:nvSpPr>
        <p:spPr bwMode="auto">
          <a:xfrm>
            <a:off x="1559838" y="2873096"/>
            <a:ext cx="6019487"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400" b="0" i="0" u="none" strike="noStrike" cap="none" normalizeH="0" baseline="0" dirty="0">
                <a:ln>
                  <a:noFill/>
                </a:ln>
                <a:solidFill>
                  <a:schemeClr val="tx1"/>
                </a:solidFill>
                <a:effectLst/>
                <a:latin typeface="Arial" panose="020B0604020202020204" pitchFamily="34" charset="0"/>
              </a:rPr>
              <a:t>该公司的硬木供应商本月只能供应</a:t>
            </a:r>
            <a:r>
              <a:rPr kumimoji="0" lang="zh-CN" altLang="zh-CN" sz="1400" b="1" i="0" u="none" strike="noStrike" cap="none" normalizeH="0" baseline="0" dirty="0">
                <a:ln>
                  <a:noFill/>
                </a:ln>
                <a:solidFill>
                  <a:schemeClr val="tx1"/>
                </a:solidFill>
                <a:effectLst/>
                <a:latin typeface="Arial" panose="020B0604020202020204" pitchFamily="34" charset="0"/>
              </a:rPr>
              <a:t>2,000板英尺</a:t>
            </a:r>
            <a:r>
              <a:rPr kumimoji="0" lang="zh-CN" altLang="zh-CN" sz="1400" b="0" i="0" u="none" strike="noStrike" cap="none" normalizeH="0" baseline="0" dirty="0">
                <a:ln>
                  <a:noFill/>
                </a:ln>
                <a:solidFill>
                  <a:schemeClr val="tx1"/>
                </a:solidFill>
                <a:effectLst/>
                <a:latin typeface="Arial" panose="020B0604020202020204" pitchFamily="34" charset="0"/>
              </a:rPr>
              <a:t>木材。哪种生产计划能使利润最大化？</a:t>
            </a: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400" b="0" i="0" u="none" strike="noStrike" cap="none" normalizeH="0" baseline="0" dirty="0">
                <a:ln>
                  <a:noFill/>
                </a:ln>
                <a:solidFill>
                  <a:schemeClr val="tx1"/>
                </a:solidFill>
                <a:effectLst/>
                <a:latin typeface="Arial" panose="020B0604020202020204" pitchFamily="34" charset="0"/>
              </a:rPr>
              <a:t>a. 500把椅子和100张桌子</a:t>
            </a:r>
            <a:br>
              <a:rPr kumimoji="0" lang="zh-CN" altLang="zh-CN" sz="1400" b="0" i="0" u="none" strike="noStrike" cap="none" normalizeH="0" baseline="0" dirty="0">
                <a:ln>
                  <a:noFill/>
                </a:ln>
                <a:solidFill>
                  <a:schemeClr val="tx1"/>
                </a:solidFill>
                <a:effectLst/>
                <a:latin typeface="Arial" panose="020B0604020202020204" pitchFamily="34" charset="0"/>
              </a:rPr>
            </a:br>
            <a:r>
              <a:rPr kumimoji="0" lang="zh-CN" altLang="zh-CN" sz="1400" b="0" i="0" u="none" strike="noStrike" cap="none" normalizeH="0" baseline="0" dirty="0">
                <a:ln>
                  <a:noFill/>
                </a:ln>
                <a:solidFill>
                  <a:schemeClr val="tx1"/>
                </a:solidFill>
                <a:effectLst/>
                <a:latin typeface="Arial" panose="020B0604020202020204" pitchFamily="34" charset="0"/>
              </a:rPr>
              <a:t>b. 600把椅子和80张桌子</a:t>
            </a:r>
            <a:br>
              <a:rPr kumimoji="0" lang="zh-CN" altLang="zh-CN" sz="1400" b="0" i="0" u="none" strike="noStrike" cap="none" normalizeH="0" baseline="0" dirty="0">
                <a:ln>
                  <a:noFill/>
                </a:ln>
                <a:solidFill>
                  <a:schemeClr val="tx1"/>
                </a:solidFill>
                <a:effectLst/>
                <a:latin typeface="Arial" panose="020B0604020202020204" pitchFamily="34" charset="0"/>
              </a:rPr>
            </a:br>
            <a:r>
              <a:rPr kumimoji="0" lang="zh-CN" altLang="zh-CN" sz="1400" b="0" i="0" u="none" strike="noStrike" cap="none" normalizeH="0" baseline="0" dirty="0">
                <a:ln>
                  <a:noFill/>
                </a:ln>
                <a:solidFill>
                  <a:schemeClr val="tx1"/>
                </a:solidFill>
                <a:effectLst/>
                <a:latin typeface="Arial" panose="020B0604020202020204" pitchFamily="34" charset="0"/>
              </a:rPr>
              <a:t>c. 500把椅子和80张桌子</a:t>
            </a:r>
            <a:br>
              <a:rPr kumimoji="0" lang="zh-CN" altLang="zh-CN" sz="1400" b="0" i="0" u="none" strike="noStrike" cap="none" normalizeH="0" baseline="0" dirty="0">
                <a:ln>
                  <a:noFill/>
                </a:ln>
                <a:solidFill>
                  <a:schemeClr val="tx1"/>
                </a:solidFill>
                <a:effectLst/>
                <a:latin typeface="Arial" panose="020B0604020202020204" pitchFamily="34" charset="0"/>
              </a:rPr>
            </a:br>
            <a:r>
              <a:rPr kumimoji="0" lang="zh-CN" altLang="zh-CN" sz="1400" b="0" i="0" u="none" strike="noStrike" cap="none" normalizeH="0" baseline="0" dirty="0">
                <a:ln>
                  <a:noFill/>
                </a:ln>
                <a:solidFill>
                  <a:schemeClr val="tx1"/>
                </a:solidFill>
                <a:effectLst/>
                <a:latin typeface="Arial" panose="020B0604020202020204" pitchFamily="34" charset="0"/>
              </a:rPr>
              <a:t>d. 600把椅子和100张桌子</a:t>
            </a:r>
          </a:p>
        </p:txBody>
      </p:sp>
    </p:spTree>
    <p:extLst>
      <p:ext uri="{BB962C8B-B14F-4D97-AF65-F5344CB8AC3E}">
        <p14:creationId xmlns:p14="http://schemas.microsoft.com/office/powerpoint/2010/main" val="312559091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img.tukuppt.com/aippt_uploads/34576449/25/07/03/6866a18678cda.png!/fwfh2/960x960"/>
          <p:cNvPicPr>
            <a:picLocks noChangeAspect="1"/>
          </p:cNvPicPr>
          <p:nvPr/>
        </p:nvPicPr>
        <p:blipFill>
          <a:blip r:embed="rId3"/>
          <a:stretch>
            <a:fillRect/>
          </a:stretch>
        </p:blipFill>
        <p:spPr>
          <a:xfrm>
            <a:off x="3821" y="11670"/>
            <a:ext cx="9140180" cy="5131830"/>
          </a:xfrm>
          <a:prstGeom prst="rect">
            <a:avLst/>
          </a:prstGeom>
        </p:spPr>
      </p:pic>
      <p:sp>
        <p:nvSpPr>
          <p:cNvPr id="4" name="Shape 1"/>
          <p:cNvSpPr/>
          <p:nvPr/>
        </p:nvSpPr>
        <p:spPr>
          <a:xfrm>
            <a:off x="1188456" y="329442"/>
            <a:ext cx="2735844" cy="339064"/>
          </a:xfrm>
          <a:custGeom>
            <a:avLst/>
            <a:gdLst/>
            <a:ahLst/>
            <a:cxnLst/>
            <a:rect l="l" t="t" r="r" b="b"/>
            <a:pathLst>
              <a:path w="2735844" h="339064">
                <a:moveTo>
                  <a:pt x="0" y="0"/>
                </a:moveTo>
                <a:lnTo>
                  <a:pt x="2735844" y="0"/>
                </a:lnTo>
                <a:lnTo>
                  <a:pt x="2735844" y="339064"/>
                </a:lnTo>
                <a:lnTo>
                  <a:pt x="0" y="339064"/>
                </a:lnTo>
                <a:close/>
              </a:path>
            </a:pathLst>
          </a:custGeom>
          <a:noFill/>
          <a:ln/>
        </p:spPr>
      </p:sp>
      <p:sp>
        <p:nvSpPr>
          <p:cNvPr id="6" name="Shape 3"/>
          <p:cNvSpPr/>
          <p:nvPr/>
        </p:nvSpPr>
        <p:spPr>
          <a:xfrm>
            <a:off x="471488" y="198466"/>
            <a:ext cx="461756" cy="542999"/>
          </a:xfrm>
          <a:custGeom>
            <a:avLst/>
            <a:gdLst/>
            <a:ahLst/>
            <a:cxnLst/>
            <a:rect l="l" t="t" r="r" b="b"/>
            <a:pathLst>
              <a:path w="461756" h="542999">
                <a:moveTo>
                  <a:pt x="77457" y="0"/>
                </a:moveTo>
                <a:lnTo>
                  <a:pt x="384743" y="0"/>
                </a:lnTo>
                <a:cubicBezTo>
                  <a:pt x="427521" y="0"/>
                  <a:pt x="462200" y="34678"/>
                  <a:pt x="462200" y="77457"/>
                </a:cubicBezTo>
                <a:lnTo>
                  <a:pt x="462200" y="466009"/>
                </a:lnTo>
                <a:cubicBezTo>
                  <a:pt x="462200" y="508787"/>
                  <a:pt x="427521" y="543466"/>
                  <a:pt x="384743" y="543466"/>
                </a:cubicBezTo>
                <a:lnTo>
                  <a:pt x="77457" y="543466"/>
                </a:lnTo>
                <a:cubicBezTo>
                  <a:pt x="34678" y="543466"/>
                  <a:pt x="0" y="508787"/>
                  <a:pt x="0" y="466009"/>
                </a:cubicBezTo>
                <a:lnTo>
                  <a:pt x="0" y="77457"/>
                </a:lnTo>
                <a:cubicBezTo>
                  <a:pt x="0" y="34678"/>
                  <a:pt x="34678" y="0"/>
                  <a:pt x="77457" y="0"/>
                </a:cubicBezTo>
                <a:close/>
              </a:path>
            </a:pathLst>
          </a:custGeom>
          <a:solidFill>
            <a:srgbClr val="0067B4"/>
          </a:solidFill>
          <a:ln/>
          <a:effectLst>
            <a:outerShdw dist="38093" dir="2700000" algn="bl" rotWithShape="0">
              <a:srgbClr val="000000">
                <a:alpha val="38824"/>
              </a:srgbClr>
            </a:outerShdw>
          </a:effectLst>
        </p:spPr>
      </p:sp>
      <p:sp>
        <p:nvSpPr>
          <p:cNvPr id="7" name="Shape 4"/>
          <p:cNvSpPr/>
          <p:nvPr/>
        </p:nvSpPr>
        <p:spPr>
          <a:xfrm>
            <a:off x="482166" y="206110"/>
            <a:ext cx="433263" cy="535355"/>
          </a:xfrm>
          <a:custGeom>
            <a:avLst/>
            <a:gdLst/>
            <a:ahLst/>
            <a:cxnLst/>
            <a:rect l="l" t="t" r="r" b="b"/>
            <a:pathLst>
              <a:path w="433263" h="535355">
                <a:moveTo>
                  <a:pt x="73647" y="0"/>
                </a:moveTo>
                <a:lnTo>
                  <a:pt x="366966" y="0"/>
                </a:lnTo>
                <a:cubicBezTo>
                  <a:pt x="396171" y="0"/>
                  <a:pt x="421567" y="15237"/>
                  <a:pt x="432995" y="35554"/>
                </a:cubicBezTo>
                <a:cubicBezTo>
                  <a:pt x="186658" y="119359"/>
                  <a:pt x="11428" y="311096"/>
                  <a:pt x="1270" y="535847"/>
                </a:cubicBezTo>
                <a:cubicBezTo>
                  <a:pt x="0" y="533307"/>
                  <a:pt x="0" y="532038"/>
                  <a:pt x="0" y="529498"/>
                </a:cubicBezTo>
                <a:lnTo>
                  <a:pt x="0" y="60949"/>
                </a:lnTo>
                <a:cubicBezTo>
                  <a:pt x="0" y="26665"/>
                  <a:pt x="33014" y="0"/>
                  <a:pt x="73647" y="0"/>
                </a:cubicBezTo>
                <a:close/>
              </a:path>
            </a:pathLst>
          </a:custGeom>
          <a:gradFill>
            <a:gsLst>
              <a:gs pos="0">
                <a:srgbClr val="64CBFF">
                  <a:alpha val="34902"/>
                </a:srgbClr>
              </a:gs>
              <a:gs pos="100000">
                <a:srgbClr val="2F5897">
                  <a:alpha val="100000"/>
                </a:srgbClr>
              </a:gs>
            </a:gsLst>
            <a:lin ang="1200000" scaled="1"/>
          </a:gradFill>
          <a:ln/>
        </p:spPr>
      </p:sp>
      <p:pic>
        <p:nvPicPr>
          <p:cNvPr id="10" name="Image 3" descr="//img.tukuppt.com/aippt_tpl_uploads/25/07/01/686397e7b8f81.png"/>
          <p:cNvPicPr>
            <a:picLocks noChangeAspect="1"/>
          </p:cNvPicPr>
          <p:nvPr/>
        </p:nvPicPr>
        <p:blipFill>
          <a:blip r:embed="rId4"/>
          <a:srcRect/>
          <a:stretch/>
        </p:blipFill>
        <p:spPr>
          <a:xfrm>
            <a:off x="539206" y="312920"/>
            <a:ext cx="321318" cy="321734"/>
          </a:xfrm>
          <a:prstGeom prst="rect">
            <a:avLst/>
          </a:prstGeom>
        </p:spPr>
      </p:pic>
      <p:pic>
        <p:nvPicPr>
          <p:cNvPr id="11" name="Image 4" descr="//img.tukuppt.com/aippt_tpl_uploads/25/07/01/686397e7af1a3.png!/fwfh2/960x960"/>
          <p:cNvPicPr>
            <a:picLocks noChangeAspect="1"/>
          </p:cNvPicPr>
          <p:nvPr/>
        </p:nvPicPr>
        <p:blipFill>
          <a:blip r:embed="rId5"/>
          <a:srcRect l="36452" t="56544" b="34700"/>
          <a:stretch/>
        </p:blipFill>
        <p:spPr>
          <a:xfrm>
            <a:off x="-4836" y="-812736"/>
            <a:ext cx="9148837" cy="1019042"/>
          </a:xfrm>
          <a:prstGeom prst="rect">
            <a:avLst/>
          </a:prstGeom>
        </p:spPr>
      </p:pic>
      <p:pic>
        <p:nvPicPr>
          <p:cNvPr id="12" name="Image 5" descr="//img.tukuppt.com/aippt_tpl_uploads/25/07/01/686397e7af1a3.png!/fwfh2/960x960"/>
          <p:cNvPicPr>
            <a:picLocks noChangeAspect="1"/>
          </p:cNvPicPr>
          <p:nvPr/>
        </p:nvPicPr>
        <p:blipFill>
          <a:blip r:embed="rId5"/>
          <a:srcRect l="36452" t="56544" b="34700"/>
          <a:stretch/>
        </p:blipFill>
        <p:spPr>
          <a:xfrm>
            <a:off x="-61352" y="4937888"/>
            <a:ext cx="9313872" cy="1019042"/>
          </a:xfrm>
          <a:prstGeom prst="rect">
            <a:avLst/>
          </a:prstGeom>
        </p:spPr>
      </p:pic>
      <p:sp>
        <p:nvSpPr>
          <p:cNvPr id="19" name="Shape 8"/>
          <p:cNvSpPr/>
          <p:nvPr/>
        </p:nvSpPr>
        <p:spPr>
          <a:xfrm>
            <a:off x="7697774" y="3737082"/>
            <a:ext cx="805079" cy="805079"/>
          </a:xfrm>
          <a:custGeom>
            <a:avLst/>
            <a:gdLst/>
            <a:ahLst/>
            <a:cxnLst/>
            <a:rect l="l" t="t" r="r" b="b"/>
            <a:pathLst>
              <a:path w="805079" h="805079">
                <a:moveTo>
                  <a:pt x="402539" y="0"/>
                </a:moveTo>
                <a:cubicBezTo>
                  <a:pt x="624707" y="0"/>
                  <a:pt x="805079" y="180372"/>
                  <a:pt x="805079" y="402539"/>
                </a:cubicBezTo>
                <a:cubicBezTo>
                  <a:pt x="805079" y="624707"/>
                  <a:pt x="624707" y="805079"/>
                  <a:pt x="402539" y="805079"/>
                </a:cubicBezTo>
                <a:cubicBezTo>
                  <a:pt x="180372" y="805079"/>
                  <a:pt x="0" y="624707"/>
                  <a:pt x="0" y="402539"/>
                </a:cubicBezTo>
                <a:cubicBezTo>
                  <a:pt x="0" y="180372"/>
                  <a:pt x="180372" y="0"/>
                  <a:pt x="402539" y="0"/>
                </a:cubicBezTo>
                <a:close/>
              </a:path>
            </a:pathLst>
          </a:custGeom>
          <a:solidFill>
            <a:srgbClr val="147BC8"/>
          </a:solidFill>
          <a:ln/>
        </p:spPr>
      </p:sp>
      <p:sp>
        <p:nvSpPr>
          <p:cNvPr id="20" name="Shape 9"/>
          <p:cNvSpPr/>
          <p:nvPr/>
        </p:nvSpPr>
        <p:spPr>
          <a:xfrm>
            <a:off x="8401159" y="3329606"/>
            <a:ext cx="305082" cy="305082"/>
          </a:xfrm>
          <a:custGeom>
            <a:avLst/>
            <a:gdLst/>
            <a:ahLst/>
            <a:cxnLst/>
            <a:rect l="l" t="t" r="r" b="b"/>
            <a:pathLst>
              <a:path w="305082" h="305082">
                <a:moveTo>
                  <a:pt x="152541" y="0"/>
                </a:moveTo>
                <a:cubicBezTo>
                  <a:pt x="236731" y="0"/>
                  <a:pt x="305082" y="68351"/>
                  <a:pt x="305082" y="152541"/>
                </a:cubicBezTo>
                <a:cubicBezTo>
                  <a:pt x="305082" y="236731"/>
                  <a:pt x="236731" y="305082"/>
                  <a:pt x="152541" y="305082"/>
                </a:cubicBezTo>
                <a:cubicBezTo>
                  <a:pt x="68351" y="305082"/>
                  <a:pt x="0" y="236731"/>
                  <a:pt x="0" y="152541"/>
                </a:cubicBezTo>
                <a:cubicBezTo>
                  <a:pt x="0" y="68351"/>
                  <a:pt x="68351" y="0"/>
                  <a:pt x="152541" y="0"/>
                </a:cubicBezTo>
                <a:close/>
              </a:path>
            </a:pathLst>
          </a:custGeom>
          <a:solidFill>
            <a:srgbClr val="0067B4"/>
          </a:solidFill>
          <a:ln/>
        </p:spPr>
      </p:sp>
      <p:graphicFrame>
        <p:nvGraphicFramePr>
          <p:cNvPr id="3" name="表格 2">
            <a:extLst>
              <a:ext uri="{FF2B5EF4-FFF2-40B4-BE49-F238E27FC236}">
                <a16:creationId xmlns:a16="http://schemas.microsoft.com/office/drawing/2014/main" id="{310BC008-F862-4719-8759-67AEE3F8C9B5}"/>
              </a:ext>
            </a:extLst>
          </p:cNvPr>
          <p:cNvGraphicFramePr>
            <a:graphicFrameLocks noGrp="1"/>
          </p:cNvGraphicFramePr>
          <p:nvPr>
            <p:extLst>
              <p:ext uri="{D42A27DB-BD31-4B8C-83A1-F6EECF244321}">
                <p14:modId xmlns:p14="http://schemas.microsoft.com/office/powerpoint/2010/main" val="791007574"/>
              </p:ext>
            </p:extLst>
          </p:nvPr>
        </p:nvGraphicFramePr>
        <p:xfrm>
          <a:off x="1724417" y="1479745"/>
          <a:ext cx="5742333" cy="3262310"/>
        </p:xfrm>
        <a:graphic>
          <a:graphicData uri="http://schemas.openxmlformats.org/drawingml/2006/table">
            <a:tbl>
              <a:tblPr>
                <a:tableStyleId>{69C7853C-536D-4A76-A0AE-DD22124D55A5}</a:tableStyleId>
              </a:tblPr>
              <a:tblGrid>
                <a:gridCol w="1756045">
                  <a:extLst>
                    <a:ext uri="{9D8B030D-6E8A-4147-A177-3AD203B41FA5}">
                      <a16:colId xmlns:a16="http://schemas.microsoft.com/office/drawing/2014/main" val="2682792765"/>
                    </a:ext>
                  </a:extLst>
                </a:gridCol>
                <a:gridCol w="2072177">
                  <a:extLst>
                    <a:ext uri="{9D8B030D-6E8A-4147-A177-3AD203B41FA5}">
                      <a16:colId xmlns:a16="http://schemas.microsoft.com/office/drawing/2014/main" val="155120077"/>
                    </a:ext>
                  </a:extLst>
                </a:gridCol>
                <a:gridCol w="1914111">
                  <a:extLst>
                    <a:ext uri="{9D8B030D-6E8A-4147-A177-3AD203B41FA5}">
                      <a16:colId xmlns:a16="http://schemas.microsoft.com/office/drawing/2014/main" val="3395717912"/>
                    </a:ext>
                  </a:extLst>
                </a:gridCol>
              </a:tblGrid>
              <a:tr h="266311">
                <a:tc>
                  <a:txBody>
                    <a:bodyPr/>
                    <a:lstStyle/>
                    <a:p>
                      <a:r>
                        <a:rPr lang="zh-CN" altLang="en-US" sz="1300"/>
                        <a:t>项目</a:t>
                      </a:r>
                    </a:p>
                  </a:txBody>
                  <a:tcPr marL="66578" marR="66578" marT="33289" marB="33289" anchor="ctr"/>
                </a:tc>
                <a:tc>
                  <a:txBody>
                    <a:bodyPr/>
                    <a:lstStyle/>
                    <a:p>
                      <a:r>
                        <a:rPr lang="zh-CN" altLang="en-US" sz="1300"/>
                        <a:t>椅子</a:t>
                      </a:r>
                    </a:p>
                  </a:txBody>
                  <a:tcPr marL="66578" marR="66578" marT="33289" marB="33289" anchor="ctr"/>
                </a:tc>
                <a:tc>
                  <a:txBody>
                    <a:bodyPr/>
                    <a:lstStyle/>
                    <a:p>
                      <a:r>
                        <a:rPr lang="zh-CN" altLang="en-US" sz="1300"/>
                        <a:t>桌子</a:t>
                      </a:r>
                    </a:p>
                  </a:txBody>
                  <a:tcPr marL="66578" marR="66578" marT="33289" marB="33289" anchor="ctr"/>
                </a:tc>
                <a:extLst>
                  <a:ext uri="{0D108BD9-81ED-4DB2-BD59-A6C34878D82A}">
                    <a16:rowId xmlns:a16="http://schemas.microsoft.com/office/drawing/2014/main" val="622230955"/>
                  </a:ext>
                </a:extLst>
              </a:tr>
              <a:tr h="266311">
                <a:tc>
                  <a:txBody>
                    <a:bodyPr/>
                    <a:lstStyle/>
                    <a:p>
                      <a:r>
                        <a:rPr lang="zh-CN" altLang="en-US" sz="1300"/>
                        <a:t>售价</a:t>
                      </a:r>
                    </a:p>
                  </a:txBody>
                  <a:tcPr marL="66578" marR="66578" marT="33289" marB="33289" anchor="ctr"/>
                </a:tc>
                <a:tc>
                  <a:txBody>
                    <a:bodyPr/>
                    <a:lstStyle/>
                    <a:p>
                      <a:r>
                        <a:rPr lang="en-US" altLang="zh-CN" sz="1300"/>
                        <a:t>$80</a:t>
                      </a:r>
                    </a:p>
                  </a:txBody>
                  <a:tcPr marL="66578" marR="66578" marT="33289" marB="33289" anchor="ctr"/>
                </a:tc>
                <a:tc>
                  <a:txBody>
                    <a:bodyPr/>
                    <a:lstStyle/>
                    <a:p>
                      <a:r>
                        <a:rPr lang="en-US" altLang="zh-CN" sz="1300"/>
                        <a:t>$400</a:t>
                      </a:r>
                    </a:p>
                  </a:txBody>
                  <a:tcPr marL="66578" marR="66578" marT="33289" marB="33289" anchor="ctr"/>
                </a:tc>
                <a:extLst>
                  <a:ext uri="{0D108BD9-81ED-4DB2-BD59-A6C34878D82A}">
                    <a16:rowId xmlns:a16="http://schemas.microsoft.com/office/drawing/2014/main" val="3433792727"/>
                  </a:ext>
                </a:extLst>
              </a:tr>
              <a:tr h="266311">
                <a:tc>
                  <a:txBody>
                    <a:bodyPr/>
                    <a:lstStyle/>
                    <a:p>
                      <a:r>
                        <a:rPr lang="zh-CN" altLang="en-US" sz="1300"/>
                        <a:t>变动成本</a:t>
                      </a:r>
                    </a:p>
                  </a:txBody>
                  <a:tcPr marL="66578" marR="66578" marT="33289" marB="33289" anchor="ctr"/>
                </a:tc>
                <a:tc>
                  <a:txBody>
                    <a:bodyPr/>
                    <a:lstStyle/>
                    <a:p>
                      <a:r>
                        <a:rPr lang="en-US" altLang="zh-CN" sz="1300"/>
                        <a:t>$30</a:t>
                      </a:r>
                    </a:p>
                  </a:txBody>
                  <a:tcPr marL="66578" marR="66578" marT="33289" marB="33289" anchor="ctr"/>
                </a:tc>
                <a:tc>
                  <a:txBody>
                    <a:bodyPr/>
                    <a:lstStyle/>
                    <a:p>
                      <a:r>
                        <a:rPr lang="en-US" altLang="zh-CN" sz="1300"/>
                        <a:t>$200</a:t>
                      </a:r>
                    </a:p>
                  </a:txBody>
                  <a:tcPr marL="66578" marR="66578" marT="33289" marB="33289" anchor="ctr"/>
                </a:tc>
                <a:extLst>
                  <a:ext uri="{0D108BD9-81ED-4DB2-BD59-A6C34878D82A}">
                    <a16:rowId xmlns:a16="http://schemas.microsoft.com/office/drawing/2014/main" val="1815950777"/>
                  </a:ext>
                </a:extLst>
              </a:tr>
              <a:tr h="266311">
                <a:tc>
                  <a:txBody>
                    <a:bodyPr/>
                    <a:lstStyle/>
                    <a:p>
                      <a:r>
                        <a:rPr lang="zh-CN" altLang="en-US" sz="1300" b="1"/>
                        <a:t>贡献毛益</a:t>
                      </a:r>
                      <a:endParaRPr lang="zh-CN" altLang="en-US" sz="1300"/>
                    </a:p>
                  </a:txBody>
                  <a:tcPr marL="66578" marR="66578" marT="33289" marB="33289" anchor="ctr"/>
                </a:tc>
                <a:tc>
                  <a:txBody>
                    <a:bodyPr/>
                    <a:lstStyle/>
                    <a:p>
                      <a:r>
                        <a:rPr lang="en-US" altLang="zh-CN" sz="1300" b="1"/>
                        <a:t>$50</a:t>
                      </a:r>
                      <a:endParaRPr lang="zh-CN" altLang="en-US" sz="1300"/>
                    </a:p>
                  </a:txBody>
                  <a:tcPr marL="66578" marR="66578" marT="33289" marB="33289" anchor="ctr"/>
                </a:tc>
                <a:tc>
                  <a:txBody>
                    <a:bodyPr/>
                    <a:lstStyle/>
                    <a:p>
                      <a:r>
                        <a:rPr lang="en-US" altLang="zh-CN" sz="1300" b="1"/>
                        <a:t>$200</a:t>
                      </a:r>
                      <a:endParaRPr lang="zh-CN" altLang="en-US" sz="1300"/>
                    </a:p>
                  </a:txBody>
                  <a:tcPr marL="66578" marR="66578" marT="33289" marB="33289" anchor="ctr"/>
                </a:tc>
                <a:extLst>
                  <a:ext uri="{0D108BD9-81ED-4DB2-BD59-A6C34878D82A}">
                    <a16:rowId xmlns:a16="http://schemas.microsoft.com/office/drawing/2014/main" val="4280942669"/>
                  </a:ext>
                </a:extLst>
              </a:tr>
              <a:tr h="266311">
                <a:tc>
                  <a:txBody>
                    <a:bodyPr/>
                    <a:lstStyle/>
                    <a:p>
                      <a:r>
                        <a:rPr lang="zh-CN" altLang="en-US" sz="1300"/>
                        <a:t>所需板英尺数</a:t>
                      </a:r>
                    </a:p>
                  </a:txBody>
                  <a:tcPr marL="66578" marR="66578" marT="33289" marB="33289" anchor="ctr"/>
                </a:tc>
                <a:tc>
                  <a:txBody>
                    <a:bodyPr/>
                    <a:lstStyle/>
                    <a:p>
                      <a:r>
                        <a:rPr lang="en-US" altLang="zh-CN" sz="1300"/>
                        <a:t>2</a:t>
                      </a:r>
                    </a:p>
                  </a:txBody>
                  <a:tcPr marL="66578" marR="66578" marT="33289" marB="33289" anchor="ctr"/>
                </a:tc>
                <a:tc>
                  <a:txBody>
                    <a:bodyPr/>
                    <a:lstStyle/>
                    <a:p>
                      <a:r>
                        <a:rPr lang="en-US" altLang="zh-CN" sz="1300"/>
                        <a:t>10</a:t>
                      </a:r>
                    </a:p>
                  </a:txBody>
                  <a:tcPr marL="66578" marR="66578" marT="33289" marB="33289" anchor="ctr"/>
                </a:tc>
                <a:extLst>
                  <a:ext uri="{0D108BD9-81ED-4DB2-BD59-A6C34878D82A}">
                    <a16:rowId xmlns:a16="http://schemas.microsoft.com/office/drawing/2014/main" val="3906753382"/>
                  </a:ext>
                </a:extLst>
              </a:tr>
              <a:tr h="266311">
                <a:tc>
                  <a:txBody>
                    <a:bodyPr/>
                    <a:lstStyle/>
                    <a:p>
                      <a:r>
                        <a:rPr lang="zh-CN" altLang="en-US" sz="1300" b="1"/>
                        <a:t>每板英尺贡献毛益</a:t>
                      </a:r>
                      <a:endParaRPr lang="zh-CN" altLang="en-US" sz="1300"/>
                    </a:p>
                  </a:txBody>
                  <a:tcPr marL="66578" marR="66578" marT="33289" marB="33289" anchor="ctr"/>
                </a:tc>
                <a:tc>
                  <a:txBody>
                    <a:bodyPr/>
                    <a:lstStyle/>
                    <a:p>
                      <a:r>
                        <a:rPr lang="en-US" altLang="zh-CN" sz="1300" b="1"/>
                        <a:t>$25</a:t>
                      </a:r>
                      <a:endParaRPr lang="zh-CN" altLang="en-US" sz="1300"/>
                    </a:p>
                  </a:txBody>
                  <a:tcPr marL="66578" marR="66578" marT="33289" marB="33289" anchor="ctr"/>
                </a:tc>
                <a:tc>
                  <a:txBody>
                    <a:bodyPr/>
                    <a:lstStyle/>
                    <a:p>
                      <a:r>
                        <a:rPr lang="en-US" altLang="zh-CN" sz="1300" b="1"/>
                        <a:t>$20</a:t>
                      </a:r>
                      <a:endParaRPr lang="zh-CN" altLang="en-US" sz="1300"/>
                    </a:p>
                  </a:txBody>
                  <a:tcPr marL="66578" marR="66578" marT="33289" marB="33289" anchor="ctr"/>
                </a:tc>
                <a:extLst>
                  <a:ext uri="{0D108BD9-81ED-4DB2-BD59-A6C34878D82A}">
                    <a16:rowId xmlns:a16="http://schemas.microsoft.com/office/drawing/2014/main" val="1685649398"/>
                  </a:ext>
                </a:extLst>
              </a:tr>
              <a:tr h="266311">
                <a:tc>
                  <a:txBody>
                    <a:bodyPr/>
                    <a:lstStyle/>
                    <a:p>
                      <a:r>
                        <a:rPr lang="zh-CN" altLang="en-US" sz="1300" b="1"/>
                        <a:t>生产数量</a:t>
                      </a:r>
                      <a:endParaRPr lang="zh-CN" altLang="en-US" sz="1300"/>
                    </a:p>
                  </a:txBody>
                  <a:tcPr marL="66578" marR="66578" marT="33289" marB="33289" anchor="ctr"/>
                </a:tc>
                <a:tc>
                  <a:txBody>
                    <a:bodyPr/>
                    <a:lstStyle/>
                    <a:p>
                      <a:r>
                        <a:rPr lang="en-US" altLang="zh-CN" sz="1300"/>
                        <a:t>600</a:t>
                      </a:r>
                    </a:p>
                  </a:txBody>
                  <a:tcPr marL="66578" marR="66578" marT="33289" marB="33289" anchor="ctr"/>
                </a:tc>
                <a:tc>
                  <a:txBody>
                    <a:bodyPr/>
                    <a:lstStyle/>
                    <a:p>
                      <a:r>
                        <a:rPr lang="en-US" altLang="zh-CN" sz="1300"/>
                        <a:t>80</a:t>
                      </a:r>
                    </a:p>
                  </a:txBody>
                  <a:tcPr marL="66578" marR="66578" marT="33289" marB="33289" anchor="ctr"/>
                </a:tc>
                <a:extLst>
                  <a:ext uri="{0D108BD9-81ED-4DB2-BD59-A6C34878D82A}">
                    <a16:rowId xmlns:a16="http://schemas.microsoft.com/office/drawing/2014/main" val="610253271"/>
                  </a:ext>
                </a:extLst>
              </a:tr>
              <a:tr h="266311">
                <a:tc>
                  <a:txBody>
                    <a:bodyPr/>
                    <a:lstStyle/>
                    <a:p>
                      <a:r>
                        <a:rPr lang="zh-CN" altLang="en-US" sz="1300" b="1"/>
                        <a:t>所需板英尺数</a:t>
                      </a:r>
                      <a:endParaRPr lang="zh-CN" altLang="en-US" sz="1300"/>
                    </a:p>
                  </a:txBody>
                  <a:tcPr marL="66578" marR="66578" marT="33289" marB="33289" anchor="ctr"/>
                </a:tc>
                <a:tc>
                  <a:txBody>
                    <a:bodyPr/>
                    <a:lstStyle/>
                    <a:p>
                      <a:r>
                        <a:rPr lang="en-US" altLang="zh-CN" sz="1300"/>
                        <a:t>1,200</a:t>
                      </a:r>
                    </a:p>
                  </a:txBody>
                  <a:tcPr marL="66578" marR="66578" marT="33289" marB="33289" anchor="ctr"/>
                </a:tc>
                <a:tc>
                  <a:txBody>
                    <a:bodyPr/>
                    <a:lstStyle/>
                    <a:p>
                      <a:r>
                        <a:rPr lang="en-US" altLang="zh-CN" sz="1300"/>
                        <a:t>800</a:t>
                      </a:r>
                    </a:p>
                  </a:txBody>
                  <a:tcPr marL="66578" marR="66578" marT="33289" marB="33289" anchor="ctr"/>
                </a:tc>
                <a:extLst>
                  <a:ext uri="{0D108BD9-81ED-4DB2-BD59-A6C34878D82A}">
                    <a16:rowId xmlns:a16="http://schemas.microsoft.com/office/drawing/2014/main" val="290125014"/>
                  </a:ext>
                </a:extLst>
              </a:tr>
              <a:tr h="266311">
                <a:tc>
                  <a:txBody>
                    <a:bodyPr/>
                    <a:lstStyle/>
                    <a:p>
                      <a:r>
                        <a:rPr lang="zh-CN" altLang="en-US" sz="1300" b="1"/>
                        <a:t>剩余板英尺数</a:t>
                      </a:r>
                      <a:endParaRPr lang="zh-CN" altLang="en-US" sz="1300"/>
                    </a:p>
                  </a:txBody>
                  <a:tcPr marL="66578" marR="66578" marT="33289" marB="33289" anchor="ctr"/>
                </a:tc>
                <a:tc>
                  <a:txBody>
                    <a:bodyPr/>
                    <a:lstStyle/>
                    <a:p>
                      <a:r>
                        <a:rPr lang="en-US" altLang="zh-CN" sz="1300"/>
                        <a:t>—</a:t>
                      </a:r>
                    </a:p>
                  </a:txBody>
                  <a:tcPr marL="66578" marR="66578" marT="33289" marB="33289" anchor="ctr"/>
                </a:tc>
                <a:tc>
                  <a:txBody>
                    <a:bodyPr/>
                    <a:lstStyle/>
                    <a:p>
                      <a:r>
                        <a:rPr lang="en-US" altLang="zh-CN" sz="1300"/>
                        <a:t>—</a:t>
                      </a:r>
                    </a:p>
                  </a:txBody>
                  <a:tcPr marL="66578" marR="66578" marT="33289" marB="33289" anchor="ctr"/>
                </a:tc>
                <a:extLst>
                  <a:ext uri="{0D108BD9-81ED-4DB2-BD59-A6C34878D82A}">
                    <a16:rowId xmlns:a16="http://schemas.microsoft.com/office/drawing/2014/main" val="3901897803"/>
                  </a:ext>
                </a:extLst>
              </a:tr>
              <a:tr h="865511">
                <a:tc>
                  <a:txBody>
                    <a:bodyPr/>
                    <a:lstStyle/>
                    <a:p>
                      <a:r>
                        <a:rPr lang="zh-CN" altLang="en-US" sz="1300" b="1"/>
                        <a:t>说明</a:t>
                      </a:r>
                      <a:endParaRPr lang="zh-CN" altLang="en-US" sz="1300"/>
                    </a:p>
                  </a:txBody>
                  <a:tcPr marL="66578" marR="66578" marT="33289" marB="33289" anchor="ctr"/>
                </a:tc>
                <a:tc>
                  <a:txBody>
                    <a:bodyPr/>
                    <a:lstStyle/>
                    <a:p>
                      <a:r>
                        <a:rPr lang="zh-CN" altLang="en-US" sz="1300" dirty="0"/>
                        <a:t>优先生产</a:t>
                      </a:r>
                      <a:r>
                        <a:rPr lang="zh-CN" altLang="en-US" sz="1300" b="1" dirty="0"/>
                        <a:t>椅子</a:t>
                      </a:r>
                      <a:r>
                        <a:rPr lang="zh-CN" altLang="en-US" sz="1300" dirty="0"/>
                        <a:t>（因单位板英尺贡献毛益更高），再生产剩余产能可支持的桌子数量。</a:t>
                      </a:r>
                    </a:p>
                  </a:txBody>
                  <a:tcPr marL="66578" marR="66578" marT="33289" marB="33289" anchor="ctr"/>
                </a:tc>
                <a:tc>
                  <a:txBody>
                    <a:bodyPr/>
                    <a:lstStyle/>
                    <a:p>
                      <a:r>
                        <a:rPr lang="zh-CN" altLang="en-US" sz="1300" dirty="0"/>
                        <a:t>用剩余的</a:t>
                      </a:r>
                      <a:r>
                        <a:rPr lang="en-US" altLang="zh-CN" sz="1300" dirty="0"/>
                        <a:t>800</a:t>
                      </a:r>
                      <a:r>
                        <a:rPr lang="zh-CN" altLang="en-US" sz="1300" dirty="0"/>
                        <a:t>板英尺生产</a:t>
                      </a:r>
                      <a:r>
                        <a:rPr lang="en-US" altLang="zh-CN" sz="1300" dirty="0"/>
                        <a:t>80</a:t>
                      </a:r>
                      <a:r>
                        <a:rPr lang="zh-CN" altLang="en-US" sz="1300" dirty="0"/>
                        <a:t>张桌子（</a:t>
                      </a:r>
                      <a:r>
                        <a:rPr lang="en-US" altLang="zh-CN" sz="1300" dirty="0"/>
                        <a:t>800 ÷ 10 = 80</a:t>
                      </a:r>
                      <a:r>
                        <a:rPr lang="zh-CN" altLang="en-US" sz="1300" dirty="0"/>
                        <a:t>张）。</a:t>
                      </a:r>
                    </a:p>
                  </a:txBody>
                  <a:tcPr marL="66578" marR="66578" marT="33289" marB="33289" anchor="ctr"/>
                </a:tc>
                <a:extLst>
                  <a:ext uri="{0D108BD9-81ED-4DB2-BD59-A6C34878D82A}">
                    <a16:rowId xmlns:a16="http://schemas.microsoft.com/office/drawing/2014/main" val="325692325"/>
                  </a:ext>
                </a:extLst>
              </a:tr>
            </a:tbl>
          </a:graphicData>
        </a:graphic>
      </p:graphicFrame>
      <p:sp>
        <p:nvSpPr>
          <p:cNvPr id="5" name="Rectangle 1">
            <a:extLst>
              <a:ext uri="{FF2B5EF4-FFF2-40B4-BE49-F238E27FC236}">
                <a16:creationId xmlns:a16="http://schemas.microsoft.com/office/drawing/2014/main" id="{83F193AF-AF6F-4D58-9802-902222F4AF41}"/>
              </a:ext>
            </a:extLst>
          </p:cNvPr>
          <p:cNvSpPr>
            <a:spLocks noChangeArrowheads="1"/>
          </p:cNvSpPr>
          <p:nvPr/>
        </p:nvSpPr>
        <p:spPr bwMode="auto">
          <a:xfrm>
            <a:off x="1421433" y="846046"/>
            <a:ext cx="680264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800" b="1" i="0" u="none" strike="noStrike" cap="none" normalizeH="0" baseline="0" dirty="0">
                <a:ln>
                  <a:noFill/>
                </a:ln>
                <a:solidFill>
                  <a:schemeClr val="tx1"/>
                </a:solidFill>
                <a:effectLst/>
                <a:latin typeface="Arial" panose="020B0604020202020204" pitchFamily="34" charset="0"/>
              </a:rPr>
              <a:t>结论：</a:t>
            </a:r>
            <a:r>
              <a:rPr kumimoji="0" lang="zh-CN" altLang="zh-CN" sz="1800" b="0" i="0" u="none" strike="noStrike" cap="none" normalizeH="0" baseline="0" dirty="0">
                <a:ln>
                  <a:noFill/>
                </a:ln>
                <a:solidFill>
                  <a:schemeClr val="tx1"/>
                </a:solidFill>
                <a:effectLst/>
                <a:latin typeface="Arial" panose="020B0604020202020204" pitchFamily="34" charset="0"/>
              </a:rPr>
              <a:t> 最佳生产计划为 </a:t>
            </a:r>
            <a:r>
              <a:rPr kumimoji="0" lang="zh-CN" altLang="zh-CN" sz="1800" b="1" i="0" u="none" strike="noStrike" cap="none" normalizeH="0" baseline="0" dirty="0">
                <a:ln>
                  <a:noFill/>
                </a:ln>
                <a:solidFill>
                  <a:schemeClr val="tx1"/>
                </a:solidFill>
                <a:effectLst/>
                <a:latin typeface="Arial" panose="020B0604020202020204" pitchFamily="34" charset="0"/>
              </a:rPr>
              <a:t>600把椅子 + 80张桌子</a:t>
            </a:r>
            <a:r>
              <a:rPr kumimoji="0" lang="zh-CN" altLang="zh-CN" sz="1800" b="0" i="0" u="none" strike="noStrike" cap="none" normalizeH="0" baseline="0" dirty="0">
                <a:ln>
                  <a:noFill/>
                </a:ln>
                <a:solidFill>
                  <a:schemeClr val="tx1"/>
                </a:solidFill>
                <a:effectLst/>
                <a:latin typeface="Arial" panose="020B0604020202020204" pitchFamily="34" charset="0"/>
              </a:rPr>
              <a:t>，对应选项 </a:t>
            </a:r>
            <a:r>
              <a:rPr kumimoji="0" lang="zh-CN" altLang="zh-CN" sz="1800" b="1" i="0" u="none" strike="noStrike" cap="none" normalizeH="0" baseline="0" dirty="0">
                <a:ln>
                  <a:noFill/>
                </a:ln>
                <a:solidFill>
                  <a:schemeClr val="tx1"/>
                </a:solidFill>
                <a:effectLst/>
                <a:latin typeface="Arial" panose="020B0604020202020204" pitchFamily="34" charset="0"/>
              </a:rPr>
              <a:t>b</a:t>
            </a:r>
            <a:r>
              <a:rPr kumimoji="0" lang="zh-CN" altLang="zh-CN" sz="18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139806077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img.tukuppt.com/aippt_uploads/34576449/25/07/03/6866a18678cda.png!/fwfh2/960x960"/>
          <p:cNvPicPr>
            <a:picLocks noChangeAspect="1"/>
          </p:cNvPicPr>
          <p:nvPr/>
        </p:nvPicPr>
        <p:blipFill>
          <a:blip r:embed="rId3"/>
          <a:stretch>
            <a:fillRect/>
          </a:stretch>
        </p:blipFill>
        <p:spPr>
          <a:xfrm>
            <a:off x="3821" y="11670"/>
            <a:ext cx="9140180" cy="5131830"/>
          </a:xfrm>
          <a:prstGeom prst="rect">
            <a:avLst/>
          </a:prstGeom>
        </p:spPr>
      </p:pic>
      <p:sp>
        <p:nvSpPr>
          <p:cNvPr id="4" name="Shape 1"/>
          <p:cNvSpPr/>
          <p:nvPr/>
        </p:nvSpPr>
        <p:spPr>
          <a:xfrm>
            <a:off x="1188456" y="329442"/>
            <a:ext cx="2735844" cy="339064"/>
          </a:xfrm>
          <a:custGeom>
            <a:avLst/>
            <a:gdLst/>
            <a:ahLst/>
            <a:cxnLst/>
            <a:rect l="l" t="t" r="r" b="b"/>
            <a:pathLst>
              <a:path w="2735844" h="339064">
                <a:moveTo>
                  <a:pt x="0" y="0"/>
                </a:moveTo>
                <a:lnTo>
                  <a:pt x="2735844" y="0"/>
                </a:lnTo>
                <a:lnTo>
                  <a:pt x="2735844" y="339064"/>
                </a:lnTo>
                <a:lnTo>
                  <a:pt x="0" y="339064"/>
                </a:lnTo>
                <a:close/>
              </a:path>
            </a:pathLst>
          </a:custGeom>
          <a:noFill/>
          <a:ln/>
        </p:spPr>
      </p:sp>
      <p:sp>
        <p:nvSpPr>
          <p:cNvPr id="6" name="Shape 3"/>
          <p:cNvSpPr/>
          <p:nvPr/>
        </p:nvSpPr>
        <p:spPr>
          <a:xfrm>
            <a:off x="471488" y="198466"/>
            <a:ext cx="461756" cy="542999"/>
          </a:xfrm>
          <a:custGeom>
            <a:avLst/>
            <a:gdLst/>
            <a:ahLst/>
            <a:cxnLst/>
            <a:rect l="l" t="t" r="r" b="b"/>
            <a:pathLst>
              <a:path w="461756" h="542999">
                <a:moveTo>
                  <a:pt x="77457" y="0"/>
                </a:moveTo>
                <a:lnTo>
                  <a:pt x="384743" y="0"/>
                </a:lnTo>
                <a:cubicBezTo>
                  <a:pt x="427521" y="0"/>
                  <a:pt x="462200" y="34678"/>
                  <a:pt x="462200" y="77457"/>
                </a:cubicBezTo>
                <a:lnTo>
                  <a:pt x="462200" y="466009"/>
                </a:lnTo>
                <a:cubicBezTo>
                  <a:pt x="462200" y="508787"/>
                  <a:pt x="427521" y="543466"/>
                  <a:pt x="384743" y="543466"/>
                </a:cubicBezTo>
                <a:lnTo>
                  <a:pt x="77457" y="543466"/>
                </a:lnTo>
                <a:cubicBezTo>
                  <a:pt x="34678" y="543466"/>
                  <a:pt x="0" y="508787"/>
                  <a:pt x="0" y="466009"/>
                </a:cubicBezTo>
                <a:lnTo>
                  <a:pt x="0" y="77457"/>
                </a:lnTo>
                <a:cubicBezTo>
                  <a:pt x="0" y="34678"/>
                  <a:pt x="34678" y="0"/>
                  <a:pt x="77457" y="0"/>
                </a:cubicBezTo>
                <a:close/>
              </a:path>
            </a:pathLst>
          </a:custGeom>
          <a:solidFill>
            <a:srgbClr val="0067B4"/>
          </a:solidFill>
          <a:ln/>
          <a:effectLst>
            <a:outerShdw dist="38093" dir="2700000" algn="bl" rotWithShape="0">
              <a:srgbClr val="000000">
                <a:alpha val="38824"/>
              </a:srgbClr>
            </a:outerShdw>
          </a:effectLst>
        </p:spPr>
      </p:sp>
      <p:sp>
        <p:nvSpPr>
          <p:cNvPr id="7" name="Shape 4"/>
          <p:cNvSpPr/>
          <p:nvPr/>
        </p:nvSpPr>
        <p:spPr>
          <a:xfrm>
            <a:off x="482166" y="206110"/>
            <a:ext cx="433263" cy="535355"/>
          </a:xfrm>
          <a:custGeom>
            <a:avLst/>
            <a:gdLst/>
            <a:ahLst/>
            <a:cxnLst/>
            <a:rect l="l" t="t" r="r" b="b"/>
            <a:pathLst>
              <a:path w="433263" h="535355">
                <a:moveTo>
                  <a:pt x="73647" y="0"/>
                </a:moveTo>
                <a:lnTo>
                  <a:pt x="366966" y="0"/>
                </a:lnTo>
                <a:cubicBezTo>
                  <a:pt x="396171" y="0"/>
                  <a:pt x="421567" y="15237"/>
                  <a:pt x="432995" y="35554"/>
                </a:cubicBezTo>
                <a:cubicBezTo>
                  <a:pt x="186658" y="119359"/>
                  <a:pt x="11428" y="311096"/>
                  <a:pt x="1270" y="535847"/>
                </a:cubicBezTo>
                <a:cubicBezTo>
                  <a:pt x="0" y="533307"/>
                  <a:pt x="0" y="532038"/>
                  <a:pt x="0" y="529498"/>
                </a:cubicBezTo>
                <a:lnTo>
                  <a:pt x="0" y="60949"/>
                </a:lnTo>
                <a:cubicBezTo>
                  <a:pt x="0" y="26665"/>
                  <a:pt x="33014" y="0"/>
                  <a:pt x="73647" y="0"/>
                </a:cubicBezTo>
                <a:close/>
              </a:path>
            </a:pathLst>
          </a:custGeom>
          <a:gradFill>
            <a:gsLst>
              <a:gs pos="0">
                <a:srgbClr val="64CBFF">
                  <a:alpha val="34902"/>
                </a:srgbClr>
              </a:gs>
              <a:gs pos="100000">
                <a:srgbClr val="2F5897">
                  <a:alpha val="100000"/>
                </a:srgbClr>
              </a:gs>
            </a:gsLst>
            <a:lin ang="1200000" scaled="1"/>
          </a:gradFill>
          <a:ln/>
        </p:spPr>
      </p:sp>
      <p:pic>
        <p:nvPicPr>
          <p:cNvPr id="10" name="Image 3" descr="//img.tukuppt.com/aippt_tpl_uploads/25/07/01/686397e7b8f81.png"/>
          <p:cNvPicPr>
            <a:picLocks noChangeAspect="1"/>
          </p:cNvPicPr>
          <p:nvPr/>
        </p:nvPicPr>
        <p:blipFill>
          <a:blip r:embed="rId4"/>
          <a:srcRect/>
          <a:stretch/>
        </p:blipFill>
        <p:spPr>
          <a:xfrm>
            <a:off x="539206" y="312920"/>
            <a:ext cx="321318" cy="321734"/>
          </a:xfrm>
          <a:prstGeom prst="rect">
            <a:avLst/>
          </a:prstGeom>
        </p:spPr>
      </p:pic>
      <p:pic>
        <p:nvPicPr>
          <p:cNvPr id="11" name="Image 4" descr="//img.tukuppt.com/aippt_tpl_uploads/25/07/01/686397e7af1a3.png!/fwfh2/960x960"/>
          <p:cNvPicPr>
            <a:picLocks noChangeAspect="1"/>
          </p:cNvPicPr>
          <p:nvPr/>
        </p:nvPicPr>
        <p:blipFill>
          <a:blip r:embed="rId5"/>
          <a:srcRect l="36452" t="56544" b="34700"/>
          <a:stretch/>
        </p:blipFill>
        <p:spPr>
          <a:xfrm>
            <a:off x="-4836" y="-812736"/>
            <a:ext cx="9148837" cy="1019042"/>
          </a:xfrm>
          <a:prstGeom prst="rect">
            <a:avLst/>
          </a:prstGeom>
        </p:spPr>
      </p:pic>
      <p:pic>
        <p:nvPicPr>
          <p:cNvPr id="12" name="Image 5" descr="//img.tukuppt.com/aippt_tpl_uploads/25/07/01/686397e7af1a3.png!/fwfh2/960x960"/>
          <p:cNvPicPr>
            <a:picLocks noChangeAspect="1"/>
          </p:cNvPicPr>
          <p:nvPr/>
        </p:nvPicPr>
        <p:blipFill>
          <a:blip r:embed="rId5"/>
          <a:srcRect l="36452" t="56544" b="34700"/>
          <a:stretch/>
        </p:blipFill>
        <p:spPr>
          <a:xfrm>
            <a:off x="-61352" y="4937888"/>
            <a:ext cx="9313872" cy="1019042"/>
          </a:xfrm>
          <a:prstGeom prst="rect">
            <a:avLst/>
          </a:prstGeom>
        </p:spPr>
      </p:pic>
      <p:sp>
        <p:nvSpPr>
          <p:cNvPr id="19" name="Shape 8"/>
          <p:cNvSpPr/>
          <p:nvPr/>
        </p:nvSpPr>
        <p:spPr>
          <a:xfrm>
            <a:off x="7697774" y="3737082"/>
            <a:ext cx="805079" cy="805079"/>
          </a:xfrm>
          <a:custGeom>
            <a:avLst/>
            <a:gdLst/>
            <a:ahLst/>
            <a:cxnLst/>
            <a:rect l="l" t="t" r="r" b="b"/>
            <a:pathLst>
              <a:path w="805079" h="805079">
                <a:moveTo>
                  <a:pt x="402539" y="0"/>
                </a:moveTo>
                <a:cubicBezTo>
                  <a:pt x="624707" y="0"/>
                  <a:pt x="805079" y="180372"/>
                  <a:pt x="805079" y="402539"/>
                </a:cubicBezTo>
                <a:cubicBezTo>
                  <a:pt x="805079" y="624707"/>
                  <a:pt x="624707" y="805079"/>
                  <a:pt x="402539" y="805079"/>
                </a:cubicBezTo>
                <a:cubicBezTo>
                  <a:pt x="180372" y="805079"/>
                  <a:pt x="0" y="624707"/>
                  <a:pt x="0" y="402539"/>
                </a:cubicBezTo>
                <a:cubicBezTo>
                  <a:pt x="0" y="180372"/>
                  <a:pt x="180372" y="0"/>
                  <a:pt x="402539" y="0"/>
                </a:cubicBezTo>
                <a:close/>
              </a:path>
            </a:pathLst>
          </a:custGeom>
          <a:solidFill>
            <a:srgbClr val="147BC8"/>
          </a:solidFill>
          <a:ln/>
        </p:spPr>
      </p:sp>
      <p:sp>
        <p:nvSpPr>
          <p:cNvPr id="20" name="Shape 9"/>
          <p:cNvSpPr/>
          <p:nvPr/>
        </p:nvSpPr>
        <p:spPr>
          <a:xfrm>
            <a:off x="8401159" y="3329606"/>
            <a:ext cx="305082" cy="305082"/>
          </a:xfrm>
          <a:custGeom>
            <a:avLst/>
            <a:gdLst/>
            <a:ahLst/>
            <a:cxnLst/>
            <a:rect l="l" t="t" r="r" b="b"/>
            <a:pathLst>
              <a:path w="305082" h="305082">
                <a:moveTo>
                  <a:pt x="152541" y="0"/>
                </a:moveTo>
                <a:cubicBezTo>
                  <a:pt x="236731" y="0"/>
                  <a:pt x="305082" y="68351"/>
                  <a:pt x="305082" y="152541"/>
                </a:cubicBezTo>
                <a:cubicBezTo>
                  <a:pt x="305082" y="236731"/>
                  <a:pt x="236731" y="305082"/>
                  <a:pt x="152541" y="305082"/>
                </a:cubicBezTo>
                <a:cubicBezTo>
                  <a:pt x="68351" y="305082"/>
                  <a:pt x="0" y="236731"/>
                  <a:pt x="0" y="152541"/>
                </a:cubicBezTo>
                <a:cubicBezTo>
                  <a:pt x="0" y="68351"/>
                  <a:pt x="68351" y="0"/>
                  <a:pt x="152541" y="0"/>
                </a:cubicBezTo>
                <a:close/>
              </a:path>
            </a:pathLst>
          </a:custGeom>
          <a:solidFill>
            <a:srgbClr val="0067B4"/>
          </a:solidFill>
          <a:ln/>
        </p:spPr>
      </p:sp>
      <p:sp>
        <p:nvSpPr>
          <p:cNvPr id="13" name="文本框 12">
            <a:extLst>
              <a:ext uri="{FF2B5EF4-FFF2-40B4-BE49-F238E27FC236}">
                <a16:creationId xmlns:a16="http://schemas.microsoft.com/office/drawing/2014/main" id="{AAE5DA39-2D0A-48E7-BB1E-2690DF6E9265}"/>
              </a:ext>
            </a:extLst>
          </p:cNvPr>
          <p:cNvSpPr txBox="1"/>
          <p:nvPr/>
        </p:nvSpPr>
        <p:spPr>
          <a:xfrm>
            <a:off x="1605039" y="1030712"/>
            <a:ext cx="5929085" cy="2893100"/>
          </a:xfrm>
          <a:prstGeom prst="rect">
            <a:avLst/>
          </a:prstGeom>
          <a:solidFill>
            <a:schemeClr val="accent5">
              <a:lumMod val="20000"/>
              <a:lumOff val="80000"/>
            </a:schemeClr>
          </a:solidFill>
        </p:spPr>
        <p:txBody>
          <a:bodyPr wrap="square">
            <a:spAutoFit/>
          </a:bodyPr>
          <a:lstStyle/>
          <a:p>
            <a:pPr>
              <a:spcBef>
                <a:spcPts val="600"/>
              </a:spcBef>
              <a:spcAft>
                <a:spcPts val="600"/>
              </a:spcAft>
            </a:pPr>
            <a:r>
              <a:rPr lang="zh-CN" altLang="en-US" b="1" dirty="0"/>
              <a:t>检测 ✓</a:t>
            </a:r>
          </a:p>
          <a:p>
            <a:pPr>
              <a:spcBef>
                <a:spcPts val="600"/>
              </a:spcBef>
              <a:spcAft>
                <a:spcPts val="600"/>
              </a:spcAft>
            </a:pPr>
            <a:r>
              <a:rPr lang="zh-CN" altLang="en-US" dirty="0"/>
              <a:t>同前所述，</a:t>
            </a:r>
            <a:r>
              <a:rPr lang="en-GB" altLang="zh-CN" dirty="0"/>
              <a:t>Colonial Heritage</a:t>
            </a:r>
            <a:r>
              <a:rPr lang="zh-CN" altLang="en-US" dirty="0"/>
              <a:t>公司的硬木供应商本月只能供应</a:t>
            </a:r>
            <a:r>
              <a:rPr lang="en-US" altLang="zh-CN" dirty="0"/>
              <a:t>2,000</a:t>
            </a:r>
            <a:r>
              <a:rPr lang="zh-CN" altLang="en-US" dirty="0"/>
              <a:t>板英尺木材。假设公司遵循我们建议的生产计划（即</a:t>
            </a:r>
            <a:r>
              <a:rPr lang="en-US" altLang="zh-CN" dirty="0"/>
              <a:t>600</a:t>
            </a:r>
            <a:r>
              <a:rPr lang="zh-CN" altLang="en-US" dirty="0"/>
              <a:t>把椅子和</a:t>
            </a:r>
            <a:r>
              <a:rPr lang="en-US" altLang="zh-CN" dirty="0"/>
              <a:t>80</a:t>
            </a:r>
            <a:r>
              <a:rPr lang="zh-CN" altLang="en-US" dirty="0"/>
              <a:t>张桌子）。</a:t>
            </a:r>
            <a:r>
              <a:rPr lang="en-GB" altLang="zh-CN" dirty="0"/>
              <a:t>Colonial Heritage</a:t>
            </a:r>
            <a:r>
              <a:rPr lang="zh-CN" altLang="en-US" dirty="0"/>
              <a:t>公司最高愿意在常规价格之上支付多少额外费用来获取更多硬木？</a:t>
            </a:r>
          </a:p>
          <a:p>
            <a:pPr>
              <a:spcBef>
                <a:spcPts val="600"/>
              </a:spcBef>
              <a:spcAft>
                <a:spcPts val="600"/>
              </a:spcAft>
            </a:pPr>
            <a:r>
              <a:rPr lang="en-GB" altLang="zh-CN" dirty="0"/>
              <a:t>a. </a:t>
            </a:r>
            <a:r>
              <a:rPr lang="zh-CN" altLang="en-US" dirty="0"/>
              <a:t>每板英尺 </a:t>
            </a:r>
            <a:r>
              <a:rPr lang="en-US" altLang="zh-CN" dirty="0"/>
              <a:t>$40</a:t>
            </a:r>
            <a:br>
              <a:rPr lang="en-US" altLang="zh-CN" dirty="0"/>
            </a:br>
            <a:r>
              <a:rPr lang="en-GB" altLang="zh-CN" dirty="0"/>
              <a:t>b. </a:t>
            </a:r>
            <a:r>
              <a:rPr lang="zh-CN" altLang="en-US" dirty="0"/>
              <a:t>每板英尺 </a:t>
            </a:r>
            <a:r>
              <a:rPr lang="en-US" altLang="zh-CN" dirty="0"/>
              <a:t>$25</a:t>
            </a:r>
            <a:br>
              <a:rPr lang="en-US" altLang="zh-CN" dirty="0"/>
            </a:br>
            <a:r>
              <a:rPr lang="en-GB" altLang="zh-CN" dirty="0"/>
              <a:t>c. </a:t>
            </a:r>
            <a:r>
              <a:rPr lang="zh-CN" altLang="en-US" dirty="0"/>
              <a:t>每板英尺 </a:t>
            </a:r>
            <a:r>
              <a:rPr lang="en-US" altLang="zh-CN" dirty="0"/>
              <a:t>$20</a:t>
            </a:r>
            <a:br>
              <a:rPr lang="en-US" altLang="zh-CN" dirty="0"/>
            </a:br>
            <a:r>
              <a:rPr lang="en-GB" altLang="zh-CN" dirty="0"/>
              <a:t>d. </a:t>
            </a:r>
            <a:r>
              <a:rPr lang="zh-CN" altLang="en-US" dirty="0"/>
              <a:t>零</a:t>
            </a:r>
          </a:p>
        </p:txBody>
      </p:sp>
      <p:sp>
        <p:nvSpPr>
          <p:cNvPr id="14" name="文本框 13">
            <a:extLst>
              <a:ext uri="{FF2B5EF4-FFF2-40B4-BE49-F238E27FC236}">
                <a16:creationId xmlns:a16="http://schemas.microsoft.com/office/drawing/2014/main" id="{ED6FBCC8-4E59-4767-A0F0-8AA1A959D708}"/>
              </a:ext>
            </a:extLst>
          </p:cNvPr>
          <p:cNvSpPr txBox="1"/>
          <p:nvPr/>
        </p:nvSpPr>
        <p:spPr>
          <a:xfrm>
            <a:off x="2021286" y="4165220"/>
            <a:ext cx="4784650" cy="923330"/>
          </a:xfrm>
          <a:prstGeom prst="rect">
            <a:avLst/>
          </a:prstGeom>
          <a:solidFill>
            <a:schemeClr val="accent2">
              <a:lumMod val="20000"/>
              <a:lumOff val="80000"/>
            </a:schemeClr>
          </a:solidFill>
        </p:spPr>
        <p:txBody>
          <a:bodyPr wrap="square">
            <a:spAutoFit/>
          </a:bodyPr>
          <a:lstStyle/>
          <a:p>
            <a:r>
              <a:rPr lang="zh-CN" altLang="en-US" dirty="0"/>
              <a:t>额外的木材将用于制作桌子。在此用途下，每增加一板英尺木材，公司将能够额外获得</a:t>
            </a:r>
            <a:r>
              <a:rPr lang="en-US" altLang="zh-CN" dirty="0"/>
              <a:t>20</a:t>
            </a:r>
            <a:r>
              <a:rPr lang="zh-CN" altLang="en-US" dirty="0"/>
              <a:t>美元的贡献毛益和利润。</a:t>
            </a:r>
          </a:p>
        </p:txBody>
      </p:sp>
    </p:spTree>
    <p:extLst>
      <p:ext uri="{BB962C8B-B14F-4D97-AF65-F5344CB8AC3E}">
        <p14:creationId xmlns:p14="http://schemas.microsoft.com/office/powerpoint/2010/main" val="218248039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3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img.tukuppt.com/aippt_tpl_uploads/25/07/01/686397e7a6107.png"/>
          <p:cNvPicPr>
            <a:picLocks noChangeAspect="1"/>
          </p:cNvPicPr>
          <p:nvPr/>
        </p:nvPicPr>
        <p:blipFill>
          <a:blip r:embed="rId4"/>
          <a:srcRect/>
          <a:stretch/>
        </p:blipFill>
        <p:spPr>
          <a:xfrm flipH="1">
            <a:off x="-1744075" y="-312485"/>
            <a:ext cx="6071588" cy="5942568"/>
          </a:xfrm>
          <a:prstGeom prst="rect">
            <a:avLst/>
          </a:prstGeom>
        </p:spPr>
      </p:pic>
      <p:sp>
        <p:nvSpPr>
          <p:cNvPr id="3" name="Text 0"/>
          <p:cNvSpPr txBox="1"/>
          <p:nvPr/>
        </p:nvSpPr>
        <p:spPr>
          <a:xfrm>
            <a:off x="4118077" y="1908001"/>
            <a:ext cx="4105275" cy="1371600"/>
          </a:xfrm>
          <a:prstGeom prst="rect">
            <a:avLst/>
          </a:prstGeom>
          <a:noFill/>
          <a:ln/>
        </p:spPr>
        <p:txBody>
          <a:bodyPr wrap="square" lIns="0" tIns="0" rIns="0" bIns="0" rtlCol="0" anchor="t">
            <a:spAutoFit/>
          </a:bodyPr>
          <a:lstStyle/>
          <a:p>
            <a:pPr marL="0" indent="0" algn="l">
              <a:lnSpc>
                <a:spcPct val="96000"/>
              </a:lnSpc>
              <a:buNone/>
            </a:pPr>
            <a:r>
              <a:rPr lang="zh-CN" altLang="en-US" sz="4500" dirty="0">
                <a:solidFill>
                  <a:srgbClr val="0067B4"/>
                </a:solidFill>
                <a:latin typeface="SourceHanSansSC-Heavy"/>
                <a:ea typeface="SourceHanSansSC-Heavy"/>
                <a:cs typeface="SourceHanSansSC-Heavy"/>
              </a:rPr>
              <a:t>联产品决策</a:t>
            </a:r>
            <a:endParaRPr lang="en-US" sz="4500" dirty="0"/>
          </a:p>
        </p:txBody>
      </p:sp>
      <p:sp>
        <p:nvSpPr>
          <p:cNvPr id="4" name="Text 1"/>
          <p:cNvSpPr txBox="1"/>
          <p:nvPr/>
        </p:nvSpPr>
        <p:spPr>
          <a:xfrm>
            <a:off x="4118077" y="1357413"/>
            <a:ext cx="1038225" cy="409575"/>
          </a:xfrm>
          <a:prstGeom prst="rect">
            <a:avLst/>
          </a:prstGeom>
          <a:noFill/>
          <a:ln/>
        </p:spPr>
        <p:txBody>
          <a:bodyPr wrap="square" lIns="0" tIns="0" rIns="0" bIns="0" rtlCol="0" anchor="t">
            <a:spAutoFit/>
          </a:bodyPr>
          <a:lstStyle/>
          <a:p>
            <a:pPr marL="0" indent="0" algn="ctr">
              <a:lnSpc>
                <a:spcPct val="96000"/>
              </a:lnSpc>
              <a:buNone/>
            </a:pPr>
            <a:r>
              <a:rPr lang="en" altLang="en-US" sz="2700" dirty="0">
                <a:solidFill>
                  <a:srgbClr val="000000"/>
                </a:solidFill>
                <a:latin typeface="SourceHanSansSC-Heavy"/>
                <a:ea typeface="SourceHanSansSC-Heavy"/>
                <a:cs typeface="SourceHanSansSC-Heavy"/>
              </a:rPr>
              <a:t>PART-</a:t>
            </a:r>
            <a:endParaRPr lang="en-US" sz="2700" dirty="0"/>
          </a:p>
        </p:txBody>
      </p:sp>
      <p:sp>
        <p:nvSpPr>
          <p:cNvPr id="5" name="Text 2"/>
          <p:cNvSpPr txBox="1"/>
          <p:nvPr/>
        </p:nvSpPr>
        <p:spPr>
          <a:xfrm>
            <a:off x="5156302" y="1357413"/>
            <a:ext cx="1038225" cy="409575"/>
          </a:xfrm>
          <a:prstGeom prst="rect">
            <a:avLst/>
          </a:prstGeom>
          <a:noFill/>
          <a:ln/>
        </p:spPr>
        <p:txBody>
          <a:bodyPr wrap="square" lIns="0" tIns="0" rIns="0" bIns="0" rtlCol="0" anchor="t">
            <a:spAutoFit/>
          </a:bodyPr>
          <a:lstStyle/>
          <a:p>
            <a:pPr marL="0" indent="0" algn="l">
              <a:lnSpc>
                <a:spcPct val="96000"/>
              </a:lnSpc>
              <a:buNone/>
            </a:pPr>
            <a:r>
              <a:rPr lang="en-US" sz="2700" dirty="0">
                <a:solidFill>
                  <a:srgbClr val="000000"/>
                </a:solidFill>
                <a:latin typeface="SourceHanSansSC-Heavy"/>
                <a:ea typeface="SourceHanSansSC-Heavy"/>
                <a:cs typeface="SourceHanSansSC-Heavy"/>
              </a:rPr>
              <a:t>09</a:t>
            </a:r>
            <a:endParaRPr lang="en-US" sz="27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pic>
        <p:nvPicPr>
          <p:cNvPr id="2" name="Image 0" descr="//img.tukuppt.com/aippt_uploads/34576449/25/07/03/6866a18678cda.png!/fwfh2/960x960"/>
          <p:cNvPicPr>
            <a:picLocks noChangeAspect="1"/>
          </p:cNvPicPr>
          <p:nvPr/>
        </p:nvPicPr>
        <p:blipFill>
          <a:blip r:embed="rId3"/>
          <a:stretch>
            <a:fillRect/>
          </a:stretch>
        </p:blipFill>
        <p:spPr>
          <a:xfrm>
            <a:off x="0" y="0"/>
            <a:ext cx="9140180" cy="5131830"/>
          </a:xfrm>
          <a:prstGeom prst="rect">
            <a:avLst/>
          </a:prstGeom>
        </p:spPr>
      </p:pic>
      <p:sp>
        <p:nvSpPr>
          <p:cNvPr id="3" name="Shape 0"/>
          <p:cNvSpPr/>
          <p:nvPr/>
        </p:nvSpPr>
        <p:spPr>
          <a:xfrm>
            <a:off x="979384" y="287863"/>
            <a:ext cx="2872893" cy="412023"/>
          </a:xfrm>
          <a:custGeom>
            <a:avLst/>
            <a:gdLst/>
            <a:ahLst/>
            <a:cxnLst/>
            <a:rect l="l" t="t" r="r" b="b"/>
            <a:pathLst>
              <a:path w="2872893" h="412023">
                <a:moveTo>
                  <a:pt x="68568" y="0"/>
                </a:moveTo>
                <a:lnTo>
                  <a:pt x="2803673" y="0"/>
                </a:lnTo>
                <a:cubicBezTo>
                  <a:pt x="2841542" y="0"/>
                  <a:pt x="2872241" y="30699"/>
                  <a:pt x="2872241" y="68568"/>
                </a:cubicBezTo>
                <a:lnTo>
                  <a:pt x="2872241" y="342840"/>
                </a:lnTo>
                <a:cubicBezTo>
                  <a:pt x="2872241" y="380710"/>
                  <a:pt x="2841542" y="411409"/>
                  <a:pt x="2803673" y="411409"/>
                </a:cubicBezTo>
                <a:lnTo>
                  <a:pt x="68568" y="411409"/>
                </a:lnTo>
                <a:cubicBezTo>
                  <a:pt x="30699" y="411409"/>
                  <a:pt x="0" y="380710"/>
                  <a:pt x="0" y="342840"/>
                </a:cubicBezTo>
                <a:lnTo>
                  <a:pt x="0" y="68568"/>
                </a:lnTo>
                <a:cubicBezTo>
                  <a:pt x="0" y="30724"/>
                  <a:pt x="30724" y="0"/>
                  <a:pt x="68568" y="0"/>
                </a:cubicBezTo>
                <a:close/>
              </a:path>
            </a:pathLst>
          </a:custGeom>
          <a:solidFill>
            <a:srgbClr val="0067B4"/>
          </a:solidFill>
          <a:ln/>
          <a:effectLst>
            <a:outerShdw dist="38093" dir="2700000" algn="bl" rotWithShape="0">
              <a:srgbClr val="000000">
                <a:alpha val="38824"/>
              </a:srgbClr>
            </a:outerShdw>
          </a:effectLst>
        </p:spPr>
      </p:sp>
      <p:sp>
        <p:nvSpPr>
          <p:cNvPr id="4" name="Shape 1"/>
          <p:cNvSpPr/>
          <p:nvPr/>
        </p:nvSpPr>
        <p:spPr>
          <a:xfrm>
            <a:off x="1188456" y="329442"/>
            <a:ext cx="2735844" cy="339064"/>
          </a:xfrm>
          <a:custGeom>
            <a:avLst/>
            <a:gdLst/>
            <a:ahLst/>
            <a:cxnLst/>
            <a:rect l="l" t="t" r="r" b="b"/>
            <a:pathLst>
              <a:path w="2735844" h="339064">
                <a:moveTo>
                  <a:pt x="0" y="0"/>
                </a:moveTo>
                <a:lnTo>
                  <a:pt x="2735844" y="0"/>
                </a:lnTo>
                <a:lnTo>
                  <a:pt x="2735844" y="339064"/>
                </a:lnTo>
                <a:lnTo>
                  <a:pt x="0" y="339064"/>
                </a:lnTo>
                <a:close/>
              </a:path>
            </a:pathLst>
          </a:custGeom>
          <a:noFill/>
          <a:ln/>
        </p:spPr>
      </p:sp>
      <p:sp>
        <p:nvSpPr>
          <p:cNvPr id="5" name="Text 2"/>
          <p:cNvSpPr txBox="1"/>
          <p:nvPr/>
        </p:nvSpPr>
        <p:spPr>
          <a:xfrm>
            <a:off x="1188456" y="329442"/>
            <a:ext cx="2735844" cy="339064"/>
          </a:xfrm>
          <a:prstGeom prst="rect">
            <a:avLst/>
          </a:prstGeom>
          <a:noFill/>
          <a:ln/>
        </p:spPr>
        <p:txBody>
          <a:bodyPr wrap="square" lIns="1252" tIns="653" rIns="1252" bIns="653" rtlCol="0" anchor="t">
            <a:spAutoFit/>
          </a:bodyPr>
          <a:lstStyle/>
          <a:p>
            <a:pPr marL="0" indent="0" algn="l">
              <a:buNone/>
            </a:pPr>
            <a:r>
              <a:rPr lang="zh-CN" altLang="en-US" sz="1601" dirty="0">
                <a:solidFill>
                  <a:srgbClr val="64CBFF"/>
                </a:solidFill>
                <a:latin typeface="SourceHanSansSC-Medium"/>
                <a:ea typeface="SourceHanSansSC-Medium"/>
                <a:cs typeface="SourceHanSansSC-Medium"/>
              </a:rPr>
              <a:t>联产品概念</a:t>
            </a:r>
            <a:endParaRPr lang="en-US" sz="1601" dirty="0"/>
          </a:p>
        </p:txBody>
      </p:sp>
      <p:sp>
        <p:nvSpPr>
          <p:cNvPr id="6" name="Shape 3"/>
          <p:cNvSpPr/>
          <p:nvPr/>
        </p:nvSpPr>
        <p:spPr>
          <a:xfrm>
            <a:off x="471488" y="198466"/>
            <a:ext cx="461756" cy="542999"/>
          </a:xfrm>
          <a:custGeom>
            <a:avLst/>
            <a:gdLst/>
            <a:ahLst/>
            <a:cxnLst/>
            <a:rect l="l" t="t" r="r" b="b"/>
            <a:pathLst>
              <a:path w="461756" h="542999">
                <a:moveTo>
                  <a:pt x="77457" y="0"/>
                </a:moveTo>
                <a:lnTo>
                  <a:pt x="384743" y="0"/>
                </a:lnTo>
                <a:cubicBezTo>
                  <a:pt x="427521" y="0"/>
                  <a:pt x="462200" y="34678"/>
                  <a:pt x="462200" y="77457"/>
                </a:cubicBezTo>
                <a:lnTo>
                  <a:pt x="462200" y="466009"/>
                </a:lnTo>
                <a:cubicBezTo>
                  <a:pt x="462200" y="508787"/>
                  <a:pt x="427521" y="543466"/>
                  <a:pt x="384743" y="543466"/>
                </a:cubicBezTo>
                <a:lnTo>
                  <a:pt x="77457" y="543466"/>
                </a:lnTo>
                <a:cubicBezTo>
                  <a:pt x="34678" y="543466"/>
                  <a:pt x="0" y="508787"/>
                  <a:pt x="0" y="466009"/>
                </a:cubicBezTo>
                <a:lnTo>
                  <a:pt x="0" y="77457"/>
                </a:lnTo>
                <a:cubicBezTo>
                  <a:pt x="0" y="34678"/>
                  <a:pt x="34678" y="0"/>
                  <a:pt x="77457" y="0"/>
                </a:cubicBezTo>
                <a:close/>
              </a:path>
            </a:pathLst>
          </a:custGeom>
          <a:solidFill>
            <a:srgbClr val="0067B4"/>
          </a:solidFill>
          <a:ln/>
          <a:effectLst>
            <a:outerShdw dist="38093" dir="2700000" algn="bl" rotWithShape="0">
              <a:srgbClr val="000000">
                <a:alpha val="38824"/>
              </a:srgbClr>
            </a:outerShdw>
          </a:effectLst>
        </p:spPr>
      </p:sp>
      <p:sp>
        <p:nvSpPr>
          <p:cNvPr id="7" name="Shape 4"/>
          <p:cNvSpPr/>
          <p:nvPr/>
        </p:nvSpPr>
        <p:spPr>
          <a:xfrm>
            <a:off x="482166" y="206110"/>
            <a:ext cx="433263" cy="535355"/>
          </a:xfrm>
          <a:custGeom>
            <a:avLst/>
            <a:gdLst/>
            <a:ahLst/>
            <a:cxnLst/>
            <a:rect l="l" t="t" r="r" b="b"/>
            <a:pathLst>
              <a:path w="433263" h="535355">
                <a:moveTo>
                  <a:pt x="73647" y="0"/>
                </a:moveTo>
                <a:lnTo>
                  <a:pt x="366966" y="0"/>
                </a:lnTo>
                <a:cubicBezTo>
                  <a:pt x="396171" y="0"/>
                  <a:pt x="421567" y="15237"/>
                  <a:pt x="432995" y="35554"/>
                </a:cubicBezTo>
                <a:cubicBezTo>
                  <a:pt x="186658" y="119359"/>
                  <a:pt x="11428" y="311096"/>
                  <a:pt x="1270" y="535847"/>
                </a:cubicBezTo>
                <a:cubicBezTo>
                  <a:pt x="0" y="533307"/>
                  <a:pt x="0" y="532038"/>
                  <a:pt x="0" y="529498"/>
                </a:cubicBezTo>
                <a:lnTo>
                  <a:pt x="0" y="60949"/>
                </a:lnTo>
                <a:cubicBezTo>
                  <a:pt x="0" y="26665"/>
                  <a:pt x="33014" y="0"/>
                  <a:pt x="73647" y="0"/>
                </a:cubicBezTo>
                <a:close/>
              </a:path>
            </a:pathLst>
          </a:custGeom>
          <a:gradFill>
            <a:gsLst>
              <a:gs pos="0">
                <a:srgbClr val="64CBFF">
                  <a:alpha val="34902"/>
                </a:srgbClr>
              </a:gs>
              <a:gs pos="100000">
                <a:srgbClr val="2F5897">
                  <a:alpha val="100000"/>
                </a:srgbClr>
              </a:gs>
            </a:gsLst>
            <a:lin ang="1200000" scaled="1"/>
          </a:gradFill>
          <a:ln/>
        </p:spPr>
      </p:sp>
      <p:pic>
        <p:nvPicPr>
          <p:cNvPr id="8" name="Image 1" descr="//img.tukuppt.com/aippt_tpl_uploads/25/07/01/686397e7ae4cf.png"/>
          <p:cNvPicPr>
            <a:picLocks noChangeAspect="1"/>
          </p:cNvPicPr>
          <p:nvPr/>
        </p:nvPicPr>
        <p:blipFill>
          <a:blip r:embed="rId4"/>
          <a:srcRect/>
          <a:stretch/>
        </p:blipFill>
        <p:spPr>
          <a:xfrm flipH="1">
            <a:off x="787710" y="346921"/>
            <a:ext cx="255659" cy="98905"/>
          </a:xfrm>
          <a:prstGeom prst="rect">
            <a:avLst/>
          </a:prstGeom>
        </p:spPr>
      </p:pic>
      <p:pic>
        <p:nvPicPr>
          <p:cNvPr id="9" name="Image 2" descr="//img.tukuppt.com/aippt_tpl_uploads/25/07/01/686397e7ae4cf.png"/>
          <p:cNvPicPr>
            <a:picLocks noChangeAspect="1"/>
          </p:cNvPicPr>
          <p:nvPr/>
        </p:nvPicPr>
        <p:blipFill>
          <a:blip r:embed="rId4"/>
          <a:srcRect/>
          <a:stretch/>
        </p:blipFill>
        <p:spPr>
          <a:xfrm flipH="1">
            <a:off x="787710" y="549201"/>
            <a:ext cx="255659" cy="98905"/>
          </a:xfrm>
          <a:prstGeom prst="rect">
            <a:avLst/>
          </a:prstGeom>
        </p:spPr>
      </p:pic>
      <p:pic>
        <p:nvPicPr>
          <p:cNvPr id="10" name="Image 3" descr="//img.tukuppt.com/aippt_tpl_uploads/25/07/01/686397e7b8f81.png"/>
          <p:cNvPicPr>
            <a:picLocks noChangeAspect="1"/>
          </p:cNvPicPr>
          <p:nvPr/>
        </p:nvPicPr>
        <p:blipFill>
          <a:blip r:embed="rId5"/>
          <a:srcRect/>
          <a:stretch/>
        </p:blipFill>
        <p:spPr>
          <a:xfrm>
            <a:off x="539206" y="312920"/>
            <a:ext cx="321318" cy="321734"/>
          </a:xfrm>
          <a:prstGeom prst="rect">
            <a:avLst/>
          </a:prstGeom>
        </p:spPr>
      </p:pic>
      <p:pic>
        <p:nvPicPr>
          <p:cNvPr id="11" name="Image 4" descr="//img.tukuppt.com/aippt_tpl_uploads/25/07/01/686397e7af1a3.png!/fwfh2/960x960"/>
          <p:cNvPicPr>
            <a:picLocks noChangeAspect="1"/>
          </p:cNvPicPr>
          <p:nvPr/>
        </p:nvPicPr>
        <p:blipFill>
          <a:blip r:embed="rId6"/>
          <a:srcRect l="36452" t="56544" b="34700"/>
          <a:stretch/>
        </p:blipFill>
        <p:spPr>
          <a:xfrm>
            <a:off x="-4836" y="-812736"/>
            <a:ext cx="9148837" cy="1019042"/>
          </a:xfrm>
          <a:prstGeom prst="rect">
            <a:avLst/>
          </a:prstGeom>
        </p:spPr>
      </p:pic>
      <p:pic>
        <p:nvPicPr>
          <p:cNvPr id="12" name="Image 5" descr="//img.tukuppt.com/aippt_tpl_uploads/25/07/01/686397e7af1a3.png!/fwfh2/960x960"/>
          <p:cNvPicPr>
            <a:picLocks noChangeAspect="1"/>
          </p:cNvPicPr>
          <p:nvPr/>
        </p:nvPicPr>
        <p:blipFill>
          <a:blip r:embed="rId6"/>
          <a:srcRect l="36452" t="56544" b="34700"/>
          <a:stretch/>
        </p:blipFill>
        <p:spPr>
          <a:xfrm>
            <a:off x="-61352" y="4937888"/>
            <a:ext cx="9313872" cy="1019042"/>
          </a:xfrm>
          <a:prstGeom prst="rect">
            <a:avLst/>
          </a:prstGeom>
        </p:spPr>
      </p:pic>
      <p:sp>
        <p:nvSpPr>
          <p:cNvPr id="13" name="Shape 5"/>
          <p:cNvSpPr/>
          <p:nvPr/>
        </p:nvSpPr>
        <p:spPr>
          <a:xfrm>
            <a:off x="5476376" y="1430671"/>
            <a:ext cx="2723029" cy="2723029"/>
          </a:xfrm>
          <a:custGeom>
            <a:avLst/>
            <a:gdLst/>
            <a:ahLst/>
            <a:cxnLst/>
            <a:rect l="l" t="t" r="r" b="b"/>
            <a:pathLst>
              <a:path w="2723029" h="2723029">
                <a:moveTo>
                  <a:pt x="1361515" y="0"/>
                </a:moveTo>
                <a:cubicBezTo>
                  <a:pt x="2112955" y="0"/>
                  <a:pt x="2723029" y="610074"/>
                  <a:pt x="2723029" y="1361515"/>
                </a:cubicBezTo>
                <a:cubicBezTo>
                  <a:pt x="2723029" y="2112955"/>
                  <a:pt x="2112955" y="2723029"/>
                  <a:pt x="1361515" y="2723029"/>
                </a:cubicBezTo>
                <a:cubicBezTo>
                  <a:pt x="610074" y="2723029"/>
                  <a:pt x="0" y="2112955"/>
                  <a:pt x="0" y="1361515"/>
                </a:cubicBezTo>
                <a:cubicBezTo>
                  <a:pt x="0" y="610074"/>
                  <a:pt x="610074" y="0"/>
                  <a:pt x="1361515" y="0"/>
                </a:cubicBezTo>
                <a:close/>
              </a:path>
            </a:pathLst>
          </a:custGeom>
          <a:blipFill rotWithShape="0">
            <a:blip r:embed="rId7">
              <a:alphaModFix/>
            </a:blip>
            <a:stretch>
              <a:fillRect/>
            </a:stretch>
          </a:blipFill>
          <a:ln/>
        </p:spPr>
      </p:sp>
      <p:sp>
        <p:nvSpPr>
          <p:cNvPr id="14" name="Text 6"/>
          <p:cNvSpPr txBox="1"/>
          <p:nvPr/>
        </p:nvSpPr>
        <p:spPr>
          <a:xfrm>
            <a:off x="1011515" y="1961048"/>
            <a:ext cx="3681413" cy="473546"/>
          </a:xfrm>
          <a:prstGeom prst="rect">
            <a:avLst/>
          </a:prstGeom>
          <a:noFill/>
          <a:ln/>
        </p:spPr>
        <p:txBody>
          <a:bodyPr wrap="square" lIns="0" tIns="0" rIns="0" bIns="0" rtlCol="0" anchor="ctr">
            <a:spAutoFit/>
          </a:bodyPr>
          <a:lstStyle/>
          <a:p>
            <a:pPr marL="0" indent="0" algn="l">
              <a:buNone/>
            </a:pPr>
            <a:r>
              <a:rPr lang="zh-CN" altLang="en-US" sz="1650" dirty="0">
                <a:solidFill>
                  <a:srgbClr val="000000"/>
                </a:solidFill>
                <a:latin typeface="SourceHanSansSC-Regular"/>
                <a:ea typeface="SourceHanSansSC-Regular"/>
                <a:cs typeface="SourceHanSansSC-Regular"/>
              </a:rPr>
              <a:t>生产模式</a:t>
            </a:r>
            <a:endParaRPr lang="en-US" sz="1800" dirty="0"/>
          </a:p>
        </p:txBody>
      </p:sp>
      <p:sp>
        <p:nvSpPr>
          <p:cNvPr id="15" name="Shape 7"/>
          <p:cNvSpPr/>
          <p:nvPr/>
        </p:nvSpPr>
        <p:spPr>
          <a:xfrm>
            <a:off x="1025802" y="2627135"/>
            <a:ext cx="387075" cy="0"/>
          </a:xfrm>
          <a:custGeom>
            <a:avLst/>
            <a:gdLst/>
            <a:ahLst/>
            <a:cxnLst/>
            <a:rect l="l" t="t" r="r" b="b"/>
            <a:pathLst>
              <a:path w="387075">
                <a:moveTo>
                  <a:pt x="0" y="0"/>
                </a:moveTo>
                <a:lnTo>
                  <a:pt x="387075" y="0"/>
                </a:lnTo>
              </a:path>
            </a:pathLst>
          </a:custGeom>
          <a:noFill/>
          <a:ln w="14288">
            <a:solidFill>
              <a:srgbClr val="CDCDCD"/>
            </a:solidFill>
            <a:prstDash val="solid"/>
            <a:headEnd type="none"/>
            <a:tailEnd type="none"/>
          </a:ln>
        </p:spPr>
      </p:sp>
      <p:sp>
        <p:nvSpPr>
          <p:cNvPr id="16" name="Text 8"/>
          <p:cNvSpPr txBox="1"/>
          <p:nvPr/>
        </p:nvSpPr>
        <p:spPr>
          <a:xfrm>
            <a:off x="1011515" y="2799411"/>
            <a:ext cx="3648075" cy="823913"/>
          </a:xfrm>
          <a:prstGeom prst="rect">
            <a:avLst/>
          </a:prstGeom>
          <a:noFill/>
          <a:ln/>
        </p:spPr>
        <p:txBody>
          <a:bodyPr wrap="square" lIns="0" tIns="0" rIns="0" bIns="0" rtlCol="0" anchor="t">
            <a:spAutoFit/>
          </a:bodyPr>
          <a:lstStyle/>
          <a:p>
            <a:pPr marL="0" indent="0" algn="l">
              <a:lnSpc>
                <a:spcPct val="96000"/>
              </a:lnSpc>
              <a:buNone/>
            </a:pPr>
            <a:r>
              <a:rPr lang="zh-CN" altLang="en-US" sz="900" dirty="0">
                <a:solidFill>
                  <a:srgbClr val="2A2A2A"/>
                </a:solidFill>
                <a:latin typeface="SourceHanSansSC-Regular"/>
                <a:ea typeface="SourceHanSansSC-Regular"/>
                <a:cs typeface="SourceHanSansSC-Regular"/>
              </a:rPr>
              <a:t>在某些行业，从单一原材料投入中生产出多种最终产品，这些产品称为联产品。制造过程中每种联产品可以被识别为单独产品的点称为分离点。</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pic>
        <p:nvPicPr>
          <p:cNvPr id="2" name="Image 0" descr="//img.tukuppt.com/aippt_uploads/34576449/25/07/03/6866a18678cda.png!/fwfh2/960x960"/>
          <p:cNvPicPr>
            <a:picLocks noChangeAspect="1"/>
          </p:cNvPicPr>
          <p:nvPr/>
        </p:nvPicPr>
        <p:blipFill>
          <a:blip r:embed="rId3"/>
          <a:stretch>
            <a:fillRect/>
          </a:stretch>
        </p:blipFill>
        <p:spPr>
          <a:xfrm>
            <a:off x="0" y="0"/>
            <a:ext cx="9140180" cy="5131830"/>
          </a:xfrm>
          <a:prstGeom prst="rect">
            <a:avLst/>
          </a:prstGeom>
        </p:spPr>
      </p:pic>
      <p:sp>
        <p:nvSpPr>
          <p:cNvPr id="3" name="Shape 0"/>
          <p:cNvSpPr/>
          <p:nvPr/>
        </p:nvSpPr>
        <p:spPr>
          <a:xfrm>
            <a:off x="979384" y="287863"/>
            <a:ext cx="2872893" cy="412023"/>
          </a:xfrm>
          <a:custGeom>
            <a:avLst/>
            <a:gdLst/>
            <a:ahLst/>
            <a:cxnLst/>
            <a:rect l="l" t="t" r="r" b="b"/>
            <a:pathLst>
              <a:path w="2872893" h="412023">
                <a:moveTo>
                  <a:pt x="68568" y="0"/>
                </a:moveTo>
                <a:lnTo>
                  <a:pt x="2803673" y="0"/>
                </a:lnTo>
                <a:cubicBezTo>
                  <a:pt x="2841542" y="0"/>
                  <a:pt x="2872241" y="30699"/>
                  <a:pt x="2872241" y="68568"/>
                </a:cubicBezTo>
                <a:lnTo>
                  <a:pt x="2872241" y="342840"/>
                </a:lnTo>
                <a:cubicBezTo>
                  <a:pt x="2872241" y="380710"/>
                  <a:pt x="2841542" y="411409"/>
                  <a:pt x="2803673" y="411409"/>
                </a:cubicBezTo>
                <a:lnTo>
                  <a:pt x="68568" y="411409"/>
                </a:lnTo>
                <a:cubicBezTo>
                  <a:pt x="30699" y="411409"/>
                  <a:pt x="0" y="380710"/>
                  <a:pt x="0" y="342840"/>
                </a:cubicBezTo>
                <a:lnTo>
                  <a:pt x="0" y="68568"/>
                </a:lnTo>
                <a:cubicBezTo>
                  <a:pt x="0" y="30724"/>
                  <a:pt x="30724" y="0"/>
                  <a:pt x="68568" y="0"/>
                </a:cubicBezTo>
                <a:close/>
              </a:path>
            </a:pathLst>
          </a:custGeom>
          <a:solidFill>
            <a:srgbClr val="0067B4"/>
          </a:solidFill>
          <a:ln/>
          <a:effectLst>
            <a:outerShdw dist="38093" dir="2700000" algn="bl" rotWithShape="0">
              <a:srgbClr val="000000">
                <a:alpha val="38824"/>
              </a:srgbClr>
            </a:outerShdw>
          </a:effectLst>
        </p:spPr>
      </p:sp>
      <p:sp>
        <p:nvSpPr>
          <p:cNvPr id="4" name="Shape 1"/>
          <p:cNvSpPr/>
          <p:nvPr/>
        </p:nvSpPr>
        <p:spPr>
          <a:xfrm>
            <a:off x="1188456" y="329442"/>
            <a:ext cx="2735844" cy="339064"/>
          </a:xfrm>
          <a:custGeom>
            <a:avLst/>
            <a:gdLst/>
            <a:ahLst/>
            <a:cxnLst/>
            <a:rect l="l" t="t" r="r" b="b"/>
            <a:pathLst>
              <a:path w="2735844" h="339064">
                <a:moveTo>
                  <a:pt x="0" y="0"/>
                </a:moveTo>
                <a:lnTo>
                  <a:pt x="2735844" y="0"/>
                </a:lnTo>
                <a:lnTo>
                  <a:pt x="2735844" y="339064"/>
                </a:lnTo>
                <a:lnTo>
                  <a:pt x="0" y="339064"/>
                </a:lnTo>
                <a:close/>
              </a:path>
            </a:pathLst>
          </a:custGeom>
          <a:noFill/>
          <a:ln/>
        </p:spPr>
      </p:sp>
      <p:sp>
        <p:nvSpPr>
          <p:cNvPr id="5" name="Text 2"/>
          <p:cNvSpPr txBox="1"/>
          <p:nvPr/>
        </p:nvSpPr>
        <p:spPr>
          <a:xfrm>
            <a:off x="1188456" y="329442"/>
            <a:ext cx="2735844" cy="339064"/>
          </a:xfrm>
          <a:prstGeom prst="rect">
            <a:avLst/>
          </a:prstGeom>
          <a:noFill/>
          <a:ln/>
        </p:spPr>
        <p:txBody>
          <a:bodyPr wrap="square" lIns="1252" tIns="653" rIns="1252" bIns="653" rtlCol="0" anchor="t">
            <a:spAutoFit/>
          </a:bodyPr>
          <a:lstStyle/>
          <a:p>
            <a:pPr marL="0" indent="0" algn="l">
              <a:buNone/>
            </a:pPr>
            <a:r>
              <a:rPr lang="zh-CN" altLang="en-US" sz="1601" dirty="0">
                <a:solidFill>
                  <a:srgbClr val="64CBFF"/>
                </a:solidFill>
                <a:latin typeface="SourceHanSansSC-Medium"/>
                <a:ea typeface="SourceHanSansSC-Medium"/>
                <a:cs typeface="SourceHanSansSC-Medium"/>
              </a:rPr>
              <a:t>联合成本分配的陷阱</a:t>
            </a:r>
            <a:endParaRPr lang="en-US" sz="1601" dirty="0"/>
          </a:p>
        </p:txBody>
      </p:sp>
      <p:sp>
        <p:nvSpPr>
          <p:cNvPr id="6" name="Shape 3"/>
          <p:cNvSpPr/>
          <p:nvPr/>
        </p:nvSpPr>
        <p:spPr>
          <a:xfrm>
            <a:off x="471488" y="198466"/>
            <a:ext cx="461756" cy="542999"/>
          </a:xfrm>
          <a:custGeom>
            <a:avLst/>
            <a:gdLst/>
            <a:ahLst/>
            <a:cxnLst/>
            <a:rect l="l" t="t" r="r" b="b"/>
            <a:pathLst>
              <a:path w="461756" h="542999">
                <a:moveTo>
                  <a:pt x="77457" y="0"/>
                </a:moveTo>
                <a:lnTo>
                  <a:pt x="384743" y="0"/>
                </a:lnTo>
                <a:cubicBezTo>
                  <a:pt x="427521" y="0"/>
                  <a:pt x="462200" y="34678"/>
                  <a:pt x="462200" y="77457"/>
                </a:cubicBezTo>
                <a:lnTo>
                  <a:pt x="462200" y="466009"/>
                </a:lnTo>
                <a:cubicBezTo>
                  <a:pt x="462200" y="508787"/>
                  <a:pt x="427521" y="543466"/>
                  <a:pt x="384743" y="543466"/>
                </a:cubicBezTo>
                <a:lnTo>
                  <a:pt x="77457" y="543466"/>
                </a:lnTo>
                <a:cubicBezTo>
                  <a:pt x="34678" y="543466"/>
                  <a:pt x="0" y="508787"/>
                  <a:pt x="0" y="466009"/>
                </a:cubicBezTo>
                <a:lnTo>
                  <a:pt x="0" y="77457"/>
                </a:lnTo>
                <a:cubicBezTo>
                  <a:pt x="0" y="34678"/>
                  <a:pt x="34678" y="0"/>
                  <a:pt x="77457" y="0"/>
                </a:cubicBezTo>
                <a:close/>
              </a:path>
            </a:pathLst>
          </a:custGeom>
          <a:solidFill>
            <a:srgbClr val="0067B4"/>
          </a:solidFill>
          <a:ln/>
          <a:effectLst>
            <a:outerShdw dist="38093" dir="2700000" algn="bl" rotWithShape="0">
              <a:srgbClr val="000000">
                <a:alpha val="38824"/>
              </a:srgbClr>
            </a:outerShdw>
          </a:effectLst>
        </p:spPr>
      </p:sp>
      <p:sp>
        <p:nvSpPr>
          <p:cNvPr id="7" name="Shape 4"/>
          <p:cNvSpPr/>
          <p:nvPr/>
        </p:nvSpPr>
        <p:spPr>
          <a:xfrm>
            <a:off x="482166" y="206110"/>
            <a:ext cx="433263" cy="535355"/>
          </a:xfrm>
          <a:custGeom>
            <a:avLst/>
            <a:gdLst/>
            <a:ahLst/>
            <a:cxnLst/>
            <a:rect l="l" t="t" r="r" b="b"/>
            <a:pathLst>
              <a:path w="433263" h="535355">
                <a:moveTo>
                  <a:pt x="73647" y="0"/>
                </a:moveTo>
                <a:lnTo>
                  <a:pt x="366966" y="0"/>
                </a:lnTo>
                <a:cubicBezTo>
                  <a:pt x="396171" y="0"/>
                  <a:pt x="421567" y="15237"/>
                  <a:pt x="432995" y="35554"/>
                </a:cubicBezTo>
                <a:cubicBezTo>
                  <a:pt x="186658" y="119359"/>
                  <a:pt x="11428" y="311096"/>
                  <a:pt x="1270" y="535847"/>
                </a:cubicBezTo>
                <a:cubicBezTo>
                  <a:pt x="0" y="533307"/>
                  <a:pt x="0" y="532038"/>
                  <a:pt x="0" y="529498"/>
                </a:cubicBezTo>
                <a:lnTo>
                  <a:pt x="0" y="60949"/>
                </a:lnTo>
                <a:cubicBezTo>
                  <a:pt x="0" y="26665"/>
                  <a:pt x="33014" y="0"/>
                  <a:pt x="73647" y="0"/>
                </a:cubicBezTo>
                <a:close/>
              </a:path>
            </a:pathLst>
          </a:custGeom>
          <a:gradFill>
            <a:gsLst>
              <a:gs pos="0">
                <a:srgbClr val="64CBFF">
                  <a:alpha val="34902"/>
                </a:srgbClr>
              </a:gs>
              <a:gs pos="100000">
                <a:srgbClr val="2F5897">
                  <a:alpha val="100000"/>
                </a:srgbClr>
              </a:gs>
            </a:gsLst>
            <a:lin ang="1200000" scaled="1"/>
          </a:gradFill>
          <a:ln/>
        </p:spPr>
      </p:sp>
      <p:pic>
        <p:nvPicPr>
          <p:cNvPr id="8" name="Image 1" descr="//img.tukuppt.com/aippt_tpl_uploads/25/07/01/686397e7ae4cf.png"/>
          <p:cNvPicPr>
            <a:picLocks noChangeAspect="1"/>
          </p:cNvPicPr>
          <p:nvPr/>
        </p:nvPicPr>
        <p:blipFill>
          <a:blip r:embed="rId4"/>
          <a:srcRect/>
          <a:stretch/>
        </p:blipFill>
        <p:spPr>
          <a:xfrm flipH="1">
            <a:off x="787710" y="346921"/>
            <a:ext cx="255659" cy="98905"/>
          </a:xfrm>
          <a:prstGeom prst="rect">
            <a:avLst/>
          </a:prstGeom>
        </p:spPr>
      </p:pic>
      <p:pic>
        <p:nvPicPr>
          <p:cNvPr id="9" name="Image 2" descr="//img.tukuppt.com/aippt_tpl_uploads/25/07/01/686397e7ae4cf.png"/>
          <p:cNvPicPr>
            <a:picLocks noChangeAspect="1"/>
          </p:cNvPicPr>
          <p:nvPr/>
        </p:nvPicPr>
        <p:blipFill>
          <a:blip r:embed="rId4"/>
          <a:srcRect/>
          <a:stretch/>
        </p:blipFill>
        <p:spPr>
          <a:xfrm flipH="1">
            <a:off x="787710" y="549201"/>
            <a:ext cx="255659" cy="98905"/>
          </a:xfrm>
          <a:prstGeom prst="rect">
            <a:avLst/>
          </a:prstGeom>
        </p:spPr>
      </p:pic>
      <p:pic>
        <p:nvPicPr>
          <p:cNvPr id="10" name="Image 3" descr="//img.tukuppt.com/aippt_tpl_uploads/25/07/01/686397e7b8f81.png"/>
          <p:cNvPicPr>
            <a:picLocks noChangeAspect="1"/>
          </p:cNvPicPr>
          <p:nvPr/>
        </p:nvPicPr>
        <p:blipFill>
          <a:blip r:embed="rId5"/>
          <a:srcRect/>
          <a:stretch/>
        </p:blipFill>
        <p:spPr>
          <a:xfrm>
            <a:off x="539206" y="312920"/>
            <a:ext cx="321318" cy="321734"/>
          </a:xfrm>
          <a:prstGeom prst="rect">
            <a:avLst/>
          </a:prstGeom>
        </p:spPr>
      </p:pic>
      <p:pic>
        <p:nvPicPr>
          <p:cNvPr id="11" name="Image 4" descr="//img.tukuppt.com/aippt_tpl_uploads/25/07/01/686397e7af1a3.png!/fwfh2/960x960"/>
          <p:cNvPicPr>
            <a:picLocks noChangeAspect="1"/>
          </p:cNvPicPr>
          <p:nvPr/>
        </p:nvPicPr>
        <p:blipFill>
          <a:blip r:embed="rId6"/>
          <a:srcRect l="36452" t="56544" b="34700"/>
          <a:stretch/>
        </p:blipFill>
        <p:spPr>
          <a:xfrm>
            <a:off x="-4836" y="-812736"/>
            <a:ext cx="9148837" cy="1019042"/>
          </a:xfrm>
          <a:prstGeom prst="rect">
            <a:avLst/>
          </a:prstGeom>
        </p:spPr>
      </p:pic>
      <p:pic>
        <p:nvPicPr>
          <p:cNvPr id="12" name="Image 5" descr="//img.tukuppt.com/aippt_tpl_uploads/25/07/01/686397e7af1a3.png!/fwfh2/960x960"/>
          <p:cNvPicPr>
            <a:picLocks noChangeAspect="1"/>
          </p:cNvPicPr>
          <p:nvPr/>
        </p:nvPicPr>
        <p:blipFill>
          <a:blip r:embed="rId6"/>
          <a:srcRect l="36452" t="56544" b="34700"/>
          <a:stretch/>
        </p:blipFill>
        <p:spPr>
          <a:xfrm>
            <a:off x="-61352" y="4937888"/>
            <a:ext cx="9313872" cy="1019042"/>
          </a:xfrm>
          <a:prstGeom prst="rect">
            <a:avLst/>
          </a:prstGeom>
        </p:spPr>
      </p:pic>
      <p:sp>
        <p:nvSpPr>
          <p:cNvPr id="13" name="Shape 5"/>
          <p:cNvSpPr/>
          <p:nvPr/>
        </p:nvSpPr>
        <p:spPr>
          <a:xfrm>
            <a:off x="812789" y="1515496"/>
            <a:ext cx="5182864" cy="2840734"/>
          </a:xfrm>
          <a:custGeom>
            <a:avLst/>
            <a:gdLst/>
            <a:ahLst/>
            <a:cxnLst/>
            <a:rect l="l" t="t" r="r" b="b"/>
            <a:pathLst>
              <a:path w="5182864" h="2840734">
                <a:moveTo>
                  <a:pt x="0" y="0"/>
                </a:moveTo>
                <a:lnTo>
                  <a:pt x="5182864" y="0"/>
                </a:lnTo>
                <a:lnTo>
                  <a:pt x="5182864" y="2840734"/>
                </a:lnTo>
                <a:lnTo>
                  <a:pt x="0" y="2840734"/>
                </a:lnTo>
                <a:close/>
              </a:path>
            </a:pathLst>
          </a:custGeom>
          <a:blipFill rotWithShape="0">
            <a:blip r:embed="rId7">
              <a:alphaModFix/>
            </a:blip>
            <a:stretch>
              <a:fillRect t="-10593" b="-10593"/>
            </a:stretch>
          </a:blipFill>
          <a:ln/>
        </p:spPr>
      </p:sp>
      <p:sp>
        <p:nvSpPr>
          <p:cNvPr id="14" name="Shape 6"/>
          <p:cNvSpPr/>
          <p:nvPr/>
        </p:nvSpPr>
        <p:spPr>
          <a:xfrm>
            <a:off x="5329742" y="736414"/>
            <a:ext cx="3142521" cy="4087246"/>
          </a:xfrm>
          <a:custGeom>
            <a:avLst/>
            <a:gdLst/>
            <a:ahLst/>
            <a:cxnLst/>
            <a:rect l="l" t="t" r="r" b="b"/>
            <a:pathLst>
              <a:path w="3142521" h="4087246">
                <a:moveTo>
                  <a:pt x="0" y="0"/>
                </a:moveTo>
                <a:lnTo>
                  <a:pt x="3142521" y="0"/>
                </a:lnTo>
                <a:lnTo>
                  <a:pt x="3142521" y="4087246"/>
                </a:lnTo>
                <a:lnTo>
                  <a:pt x="0" y="4087246"/>
                </a:lnTo>
                <a:close/>
              </a:path>
            </a:pathLst>
          </a:custGeom>
          <a:solidFill>
            <a:srgbClr val="3F3F3F"/>
          </a:solidFill>
          <a:ln/>
        </p:spPr>
      </p:sp>
      <p:sp>
        <p:nvSpPr>
          <p:cNvPr id="15" name="Shape 7"/>
          <p:cNvSpPr/>
          <p:nvPr/>
        </p:nvSpPr>
        <p:spPr>
          <a:xfrm>
            <a:off x="409313" y="2532386"/>
            <a:ext cx="806952" cy="806952"/>
          </a:xfrm>
          <a:custGeom>
            <a:avLst/>
            <a:gdLst/>
            <a:ahLst/>
            <a:cxnLst/>
            <a:rect l="l" t="t" r="r" b="b"/>
            <a:pathLst>
              <a:path w="806952" h="806952">
                <a:moveTo>
                  <a:pt x="403476" y="0"/>
                </a:moveTo>
                <a:cubicBezTo>
                  <a:pt x="626161" y="0"/>
                  <a:pt x="806952" y="180792"/>
                  <a:pt x="806952" y="403476"/>
                </a:cubicBezTo>
                <a:cubicBezTo>
                  <a:pt x="806952" y="626161"/>
                  <a:pt x="626161" y="806952"/>
                  <a:pt x="403476" y="806952"/>
                </a:cubicBezTo>
                <a:cubicBezTo>
                  <a:pt x="180792" y="806952"/>
                  <a:pt x="0" y="626161"/>
                  <a:pt x="0" y="403476"/>
                </a:cubicBezTo>
                <a:cubicBezTo>
                  <a:pt x="0" y="180792"/>
                  <a:pt x="180792" y="0"/>
                  <a:pt x="403476" y="0"/>
                </a:cubicBezTo>
                <a:close/>
              </a:path>
            </a:pathLst>
          </a:custGeom>
          <a:solidFill>
            <a:srgbClr val="0067B4"/>
          </a:solidFill>
          <a:ln/>
        </p:spPr>
      </p:sp>
      <p:pic>
        <p:nvPicPr>
          <p:cNvPr id="16" name="Image 6"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97141" y="2720214"/>
            <a:ext cx="431298" cy="431298"/>
          </a:xfrm>
          <a:prstGeom prst="rect">
            <a:avLst/>
          </a:prstGeom>
        </p:spPr>
      </p:pic>
      <p:sp>
        <p:nvSpPr>
          <p:cNvPr id="17" name="Text 8"/>
          <p:cNvSpPr txBox="1"/>
          <p:nvPr/>
        </p:nvSpPr>
        <p:spPr>
          <a:xfrm>
            <a:off x="5859935" y="1554810"/>
            <a:ext cx="2082136" cy="611544"/>
          </a:xfrm>
          <a:prstGeom prst="rect">
            <a:avLst/>
          </a:prstGeom>
          <a:noFill/>
          <a:ln/>
        </p:spPr>
        <p:txBody>
          <a:bodyPr wrap="square" lIns="0" tIns="0" rIns="0" bIns="0" rtlCol="0" anchor="ctr">
            <a:spAutoFit/>
          </a:bodyPr>
          <a:lstStyle/>
          <a:p>
            <a:pPr marL="0" indent="0" algn="l">
              <a:buNone/>
            </a:pPr>
            <a:r>
              <a:rPr lang="zh-CN" altLang="en-US" sz="1350" b="1" dirty="0">
                <a:solidFill>
                  <a:srgbClr val="FFFFFF"/>
                </a:solidFill>
                <a:latin typeface="SourceHanSansSC-Regular"/>
                <a:ea typeface="SourceHanSansSC-Regular"/>
                <a:cs typeface="SourceHanSansSC-Regular"/>
              </a:rPr>
              <a:t>成本分配</a:t>
            </a:r>
            <a:endParaRPr lang="en-US" sz="1350" dirty="0"/>
          </a:p>
        </p:txBody>
      </p:sp>
      <p:sp>
        <p:nvSpPr>
          <p:cNvPr id="18" name="Text 9"/>
          <p:cNvSpPr txBox="1"/>
          <p:nvPr/>
        </p:nvSpPr>
        <p:spPr>
          <a:xfrm>
            <a:off x="5859935" y="2217818"/>
            <a:ext cx="2062065" cy="1504027"/>
          </a:xfrm>
          <a:prstGeom prst="rect">
            <a:avLst/>
          </a:prstGeom>
          <a:noFill/>
          <a:ln/>
        </p:spPr>
        <p:txBody>
          <a:bodyPr wrap="square" lIns="0" tIns="0" rIns="0" bIns="0" rtlCol="0" anchor="t">
            <a:spAutoFit/>
          </a:bodyPr>
          <a:lstStyle/>
          <a:p>
            <a:pPr marL="0" indent="0" algn="l">
              <a:buNone/>
            </a:pPr>
            <a:r>
              <a:rPr lang="zh-CN" altLang="en-US" sz="900" dirty="0">
                <a:solidFill>
                  <a:srgbClr val="FFFFFF"/>
                </a:solidFill>
                <a:latin typeface="SourceHanSansSC-Regular"/>
                <a:ea typeface="SourceHanSansSC-Regular"/>
                <a:cs typeface="SourceHanSansSC-Regular"/>
              </a:rPr>
              <a:t>联合成本通常根据每种产品的相对销售价值或其他基础分配给最终产品，但这种分配对于决策制定是危险的。在决定从分离点开始如何处理产品时，联合成本是无关的。</a:t>
            </a:r>
            <a:endParaRPr lang="en-US" sz="900" dirty="0"/>
          </a:p>
        </p:txBody>
      </p:sp>
      <p:sp>
        <p:nvSpPr>
          <p:cNvPr id="19" name="Shape 10"/>
          <p:cNvSpPr/>
          <p:nvPr/>
        </p:nvSpPr>
        <p:spPr>
          <a:xfrm>
            <a:off x="6487697" y="4005238"/>
            <a:ext cx="1043133" cy="701983"/>
          </a:xfrm>
          <a:custGeom>
            <a:avLst/>
            <a:gdLst/>
            <a:ahLst/>
            <a:cxnLst/>
            <a:rect l="l" t="t" r="r" b="b"/>
            <a:pathLst>
              <a:path w="1043133" h="701983">
                <a:moveTo>
                  <a:pt x="87630" y="0"/>
                </a:moveTo>
                <a:lnTo>
                  <a:pt x="955357" y="0"/>
                </a:lnTo>
                <a:quadBezTo>
                  <a:pt x="1042988" y="0"/>
                  <a:pt x="1042988" y="87630"/>
                </a:quadBezTo>
                <a:lnTo>
                  <a:pt x="1042988" y="614363"/>
                </a:lnTo>
                <a:quadBezTo>
                  <a:pt x="1042988" y="701993"/>
                  <a:pt x="955357" y="701993"/>
                </a:quadBezTo>
                <a:lnTo>
                  <a:pt x="87630" y="701993"/>
                </a:lnTo>
                <a:quadBezTo>
                  <a:pt x="0" y="701993"/>
                  <a:pt x="0" y="614363"/>
                </a:quadBezTo>
                <a:lnTo>
                  <a:pt x="0" y="87630"/>
                </a:lnTo>
                <a:quadBezTo>
                  <a:pt x="0" y="0"/>
                  <a:pt x="87630" y="0"/>
                </a:quadBezTo>
                <a:close/>
              </a:path>
            </a:pathLst>
          </a:custGeom>
          <a:solidFill>
            <a:srgbClr val="FFFFFF"/>
          </a:solidFill>
          <a:ln/>
        </p:spPr>
      </p:sp>
      <p:sp>
        <p:nvSpPr>
          <p:cNvPr id="20" name="Shape 11"/>
          <p:cNvSpPr/>
          <p:nvPr/>
        </p:nvSpPr>
        <p:spPr>
          <a:xfrm>
            <a:off x="7691553" y="4005238"/>
            <a:ext cx="1043133" cy="701983"/>
          </a:xfrm>
          <a:custGeom>
            <a:avLst/>
            <a:gdLst/>
            <a:ahLst/>
            <a:cxnLst/>
            <a:rect l="l" t="t" r="r" b="b"/>
            <a:pathLst>
              <a:path w="1043133" h="701983">
                <a:moveTo>
                  <a:pt x="87630" y="0"/>
                </a:moveTo>
                <a:lnTo>
                  <a:pt x="955357" y="0"/>
                </a:lnTo>
                <a:quadBezTo>
                  <a:pt x="1042988" y="0"/>
                  <a:pt x="1042988" y="87630"/>
                </a:quadBezTo>
                <a:lnTo>
                  <a:pt x="1042988" y="614363"/>
                </a:lnTo>
                <a:quadBezTo>
                  <a:pt x="1042988" y="701993"/>
                  <a:pt x="955357" y="701993"/>
                </a:quadBezTo>
                <a:lnTo>
                  <a:pt x="87630" y="701993"/>
                </a:lnTo>
                <a:quadBezTo>
                  <a:pt x="0" y="701993"/>
                  <a:pt x="0" y="614363"/>
                </a:quadBezTo>
                <a:lnTo>
                  <a:pt x="0" y="87630"/>
                </a:lnTo>
                <a:quadBezTo>
                  <a:pt x="0" y="0"/>
                  <a:pt x="87630" y="0"/>
                </a:quadBezTo>
                <a:close/>
              </a:path>
            </a:pathLst>
          </a:custGeom>
          <a:solidFill>
            <a:srgbClr val="FFFFFF"/>
          </a:solidFill>
          <a:ln/>
          <a:effectLst>
            <a:outerShdw blurRad="38100" dist="21299" dir="3806097" algn="bl" rotWithShape="0">
              <a:srgbClr val="555555">
                <a:alpha val="100000"/>
              </a:srgbClr>
            </a:outerShdw>
          </a:effectLst>
        </p:spPr>
      </p:sp>
      <p:pic>
        <p:nvPicPr>
          <p:cNvPr id="21" name="Image 7" descr="preencoded.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731289" y="4078255"/>
            <a:ext cx="588752" cy="588752"/>
          </a:xfrm>
          <a:prstGeom prst="rect">
            <a:avLst/>
          </a:prstGeom>
        </p:spPr>
      </p:pic>
      <p:pic>
        <p:nvPicPr>
          <p:cNvPr id="22" name="Image 8" descr="preencoded.png"/>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7974509" y="4117619"/>
            <a:ext cx="477222" cy="477222"/>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pic>
        <p:nvPicPr>
          <p:cNvPr id="2" name="Image 0" descr="//img.tukuppt.com/aippt_uploads/34576449/25/07/03/6866a18678cda.png!/fwfh2/960x960"/>
          <p:cNvPicPr>
            <a:picLocks noChangeAspect="1"/>
          </p:cNvPicPr>
          <p:nvPr/>
        </p:nvPicPr>
        <p:blipFill>
          <a:blip r:embed="rId3"/>
          <a:stretch>
            <a:fillRect/>
          </a:stretch>
        </p:blipFill>
        <p:spPr>
          <a:xfrm>
            <a:off x="0" y="0"/>
            <a:ext cx="9140180" cy="5131830"/>
          </a:xfrm>
          <a:prstGeom prst="rect">
            <a:avLst/>
          </a:prstGeom>
        </p:spPr>
      </p:pic>
      <p:sp>
        <p:nvSpPr>
          <p:cNvPr id="3" name="Shape 0"/>
          <p:cNvSpPr/>
          <p:nvPr/>
        </p:nvSpPr>
        <p:spPr>
          <a:xfrm>
            <a:off x="979384" y="287863"/>
            <a:ext cx="2872893" cy="412023"/>
          </a:xfrm>
          <a:custGeom>
            <a:avLst/>
            <a:gdLst/>
            <a:ahLst/>
            <a:cxnLst/>
            <a:rect l="l" t="t" r="r" b="b"/>
            <a:pathLst>
              <a:path w="2872893" h="412023">
                <a:moveTo>
                  <a:pt x="68568" y="0"/>
                </a:moveTo>
                <a:lnTo>
                  <a:pt x="2803673" y="0"/>
                </a:lnTo>
                <a:cubicBezTo>
                  <a:pt x="2841542" y="0"/>
                  <a:pt x="2872241" y="30699"/>
                  <a:pt x="2872241" y="68568"/>
                </a:cubicBezTo>
                <a:lnTo>
                  <a:pt x="2872241" y="342840"/>
                </a:lnTo>
                <a:cubicBezTo>
                  <a:pt x="2872241" y="380710"/>
                  <a:pt x="2841542" y="411409"/>
                  <a:pt x="2803673" y="411409"/>
                </a:cubicBezTo>
                <a:lnTo>
                  <a:pt x="68568" y="411409"/>
                </a:lnTo>
                <a:cubicBezTo>
                  <a:pt x="30699" y="411409"/>
                  <a:pt x="0" y="380710"/>
                  <a:pt x="0" y="342840"/>
                </a:cubicBezTo>
                <a:lnTo>
                  <a:pt x="0" y="68568"/>
                </a:lnTo>
                <a:cubicBezTo>
                  <a:pt x="0" y="30724"/>
                  <a:pt x="30724" y="0"/>
                  <a:pt x="68568" y="0"/>
                </a:cubicBezTo>
                <a:close/>
              </a:path>
            </a:pathLst>
          </a:custGeom>
          <a:solidFill>
            <a:srgbClr val="0067B4"/>
          </a:solidFill>
          <a:ln/>
          <a:effectLst>
            <a:outerShdw dist="38093" dir="2700000" algn="bl" rotWithShape="0">
              <a:srgbClr val="000000">
                <a:alpha val="38824"/>
              </a:srgbClr>
            </a:outerShdw>
          </a:effectLst>
        </p:spPr>
      </p:sp>
      <p:sp>
        <p:nvSpPr>
          <p:cNvPr id="4" name="Shape 1"/>
          <p:cNvSpPr/>
          <p:nvPr/>
        </p:nvSpPr>
        <p:spPr>
          <a:xfrm>
            <a:off x="1188456" y="329442"/>
            <a:ext cx="2735844" cy="339064"/>
          </a:xfrm>
          <a:custGeom>
            <a:avLst/>
            <a:gdLst/>
            <a:ahLst/>
            <a:cxnLst/>
            <a:rect l="l" t="t" r="r" b="b"/>
            <a:pathLst>
              <a:path w="2735844" h="339064">
                <a:moveTo>
                  <a:pt x="0" y="0"/>
                </a:moveTo>
                <a:lnTo>
                  <a:pt x="2735844" y="0"/>
                </a:lnTo>
                <a:lnTo>
                  <a:pt x="2735844" y="339064"/>
                </a:lnTo>
                <a:lnTo>
                  <a:pt x="0" y="339064"/>
                </a:lnTo>
                <a:close/>
              </a:path>
            </a:pathLst>
          </a:custGeom>
          <a:noFill/>
          <a:ln/>
        </p:spPr>
      </p:sp>
      <p:sp>
        <p:nvSpPr>
          <p:cNvPr id="5" name="Text 2"/>
          <p:cNvSpPr txBox="1"/>
          <p:nvPr/>
        </p:nvSpPr>
        <p:spPr>
          <a:xfrm>
            <a:off x="1188456" y="329442"/>
            <a:ext cx="2735844" cy="339064"/>
          </a:xfrm>
          <a:prstGeom prst="rect">
            <a:avLst/>
          </a:prstGeom>
          <a:noFill/>
          <a:ln/>
        </p:spPr>
        <p:txBody>
          <a:bodyPr wrap="square" lIns="1252" tIns="653" rIns="1252" bIns="653" rtlCol="0" anchor="t">
            <a:spAutoFit/>
          </a:bodyPr>
          <a:lstStyle/>
          <a:p>
            <a:pPr marL="0" indent="0" algn="l">
              <a:buNone/>
            </a:pPr>
            <a:r>
              <a:rPr lang="zh-CN" altLang="en-US" sz="1601" dirty="0">
                <a:solidFill>
                  <a:srgbClr val="64CBFF"/>
                </a:solidFill>
                <a:latin typeface="SourceHanSansSC-Medium"/>
                <a:ea typeface="SourceHanSansSC-Medium"/>
                <a:cs typeface="SourceHanSansSC-Medium"/>
              </a:rPr>
              <a:t>出售或进一步加工决策</a:t>
            </a:r>
            <a:endParaRPr lang="en-US" sz="1601" dirty="0"/>
          </a:p>
        </p:txBody>
      </p:sp>
      <p:sp>
        <p:nvSpPr>
          <p:cNvPr id="6" name="Shape 3"/>
          <p:cNvSpPr/>
          <p:nvPr/>
        </p:nvSpPr>
        <p:spPr>
          <a:xfrm>
            <a:off x="471488" y="198466"/>
            <a:ext cx="461756" cy="542999"/>
          </a:xfrm>
          <a:custGeom>
            <a:avLst/>
            <a:gdLst/>
            <a:ahLst/>
            <a:cxnLst/>
            <a:rect l="l" t="t" r="r" b="b"/>
            <a:pathLst>
              <a:path w="461756" h="542999">
                <a:moveTo>
                  <a:pt x="77457" y="0"/>
                </a:moveTo>
                <a:lnTo>
                  <a:pt x="384743" y="0"/>
                </a:lnTo>
                <a:cubicBezTo>
                  <a:pt x="427521" y="0"/>
                  <a:pt x="462200" y="34678"/>
                  <a:pt x="462200" y="77457"/>
                </a:cubicBezTo>
                <a:lnTo>
                  <a:pt x="462200" y="466009"/>
                </a:lnTo>
                <a:cubicBezTo>
                  <a:pt x="462200" y="508787"/>
                  <a:pt x="427521" y="543466"/>
                  <a:pt x="384743" y="543466"/>
                </a:cubicBezTo>
                <a:lnTo>
                  <a:pt x="77457" y="543466"/>
                </a:lnTo>
                <a:cubicBezTo>
                  <a:pt x="34678" y="543466"/>
                  <a:pt x="0" y="508787"/>
                  <a:pt x="0" y="466009"/>
                </a:cubicBezTo>
                <a:lnTo>
                  <a:pt x="0" y="77457"/>
                </a:lnTo>
                <a:cubicBezTo>
                  <a:pt x="0" y="34678"/>
                  <a:pt x="34678" y="0"/>
                  <a:pt x="77457" y="0"/>
                </a:cubicBezTo>
                <a:close/>
              </a:path>
            </a:pathLst>
          </a:custGeom>
          <a:solidFill>
            <a:srgbClr val="0067B4"/>
          </a:solidFill>
          <a:ln/>
          <a:effectLst>
            <a:outerShdw dist="38093" dir="2700000" algn="bl" rotWithShape="0">
              <a:srgbClr val="000000">
                <a:alpha val="38824"/>
              </a:srgbClr>
            </a:outerShdw>
          </a:effectLst>
        </p:spPr>
      </p:sp>
      <p:sp>
        <p:nvSpPr>
          <p:cNvPr id="7" name="Shape 4"/>
          <p:cNvSpPr/>
          <p:nvPr/>
        </p:nvSpPr>
        <p:spPr>
          <a:xfrm>
            <a:off x="482166" y="206110"/>
            <a:ext cx="433263" cy="535355"/>
          </a:xfrm>
          <a:custGeom>
            <a:avLst/>
            <a:gdLst/>
            <a:ahLst/>
            <a:cxnLst/>
            <a:rect l="l" t="t" r="r" b="b"/>
            <a:pathLst>
              <a:path w="433263" h="535355">
                <a:moveTo>
                  <a:pt x="73647" y="0"/>
                </a:moveTo>
                <a:lnTo>
                  <a:pt x="366966" y="0"/>
                </a:lnTo>
                <a:cubicBezTo>
                  <a:pt x="396171" y="0"/>
                  <a:pt x="421567" y="15237"/>
                  <a:pt x="432995" y="35554"/>
                </a:cubicBezTo>
                <a:cubicBezTo>
                  <a:pt x="186658" y="119359"/>
                  <a:pt x="11428" y="311096"/>
                  <a:pt x="1270" y="535847"/>
                </a:cubicBezTo>
                <a:cubicBezTo>
                  <a:pt x="0" y="533307"/>
                  <a:pt x="0" y="532038"/>
                  <a:pt x="0" y="529498"/>
                </a:cubicBezTo>
                <a:lnTo>
                  <a:pt x="0" y="60949"/>
                </a:lnTo>
                <a:cubicBezTo>
                  <a:pt x="0" y="26665"/>
                  <a:pt x="33014" y="0"/>
                  <a:pt x="73647" y="0"/>
                </a:cubicBezTo>
                <a:close/>
              </a:path>
            </a:pathLst>
          </a:custGeom>
          <a:gradFill>
            <a:gsLst>
              <a:gs pos="0">
                <a:srgbClr val="64CBFF">
                  <a:alpha val="34902"/>
                </a:srgbClr>
              </a:gs>
              <a:gs pos="100000">
                <a:srgbClr val="2F5897">
                  <a:alpha val="100000"/>
                </a:srgbClr>
              </a:gs>
            </a:gsLst>
            <a:lin ang="1200000" scaled="1"/>
          </a:gradFill>
          <a:ln/>
        </p:spPr>
      </p:sp>
      <p:pic>
        <p:nvPicPr>
          <p:cNvPr id="8" name="Image 1" descr="//img.tukuppt.com/aippt_tpl_uploads/25/07/01/686397e7ae4cf.png"/>
          <p:cNvPicPr>
            <a:picLocks noChangeAspect="1"/>
          </p:cNvPicPr>
          <p:nvPr/>
        </p:nvPicPr>
        <p:blipFill>
          <a:blip r:embed="rId4"/>
          <a:srcRect/>
          <a:stretch/>
        </p:blipFill>
        <p:spPr>
          <a:xfrm flipH="1">
            <a:off x="787710" y="346921"/>
            <a:ext cx="255659" cy="98905"/>
          </a:xfrm>
          <a:prstGeom prst="rect">
            <a:avLst/>
          </a:prstGeom>
        </p:spPr>
      </p:pic>
      <p:pic>
        <p:nvPicPr>
          <p:cNvPr id="9" name="Image 2" descr="//img.tukuppt.com/aippt_tpl_uploads/25/07/01/686397e7ae4cf.png"/>
          <p:cNvPicPr>
            <a:picLocks noChangeAspect="1"/>
          </p:cNvPicPr>
          <p:nvPr/>
        </p:nvPicPr>
        <p:blipFill>
          <a:blip r:embed="rId4"/>
          <a:srcRect/>
          <a:stretch/>
        </p:blipFill>
        <p:spPr>
          <a:xfrm flipH="1">
            <a:off x="787710" y="549201"/>
            <a:ext cx="255659" cy="98905"/>
          </a:xfrm>
          <a:prstGeom prst="rect">
            <a:avLst/>
          </a:prstGeom>
        </p:spPr>
      </p:pic>
      <p:pic>
        <p:nvPicPr>
          <p:cNvPr id="10" name="Image 3" descr="//img.tukuppt.com/aippt_tpl_uploads/25/07/01/686397e7b8f81.png"/>
          <p:cNvPicPr>
            <a:picLocks noChangeAspect="1"/>
          </p:cNvPicPr>
          <p:nvPr/>
        </p:nvPicPr>
        <p:blipFill>
          <a:blip r:embed="rId5"/>
          <a:srcRect/>
          <a:stretch/>
        </p:blipFill>
        <p:spPr>
          <a:xfrm>
            <a:off x="539206" y="312920"/>
            <a:ext cx="321318" cy="321734"/>
          </a:xfrm>
          <a:prstGeom prst="rect">
            <a:avLst/>
          </a:prstGeom>
        </p:spPr>
      </p:pic>
      <p:pic>
        <p:nvPicPr>
          <p:cNvPr id="11" name="Image 4" descr="//img.tukuppt.com/aippt_tpl_uploads/25/07/01/686397e7af1a3.png!/fwfh2/960x960"/>
          <p:cNvPicPr>
            <a:picLocks noChangeAspect="1"/>
          </p:cNvPicPr>
          <p:nvPr/>
        </p:nvPicPr>
        <p:blipFill>
          <a:blip r:embed="rId6"/>
          <a:srcRect l="36452" t="56544" b="34700"/>
          <a:stretch/>
        </p:blipFill>
        <p:spPr>
          <a:xfrm>
            <a:off x="-4836" y="-812736"/>
            <a:ext cx="9148837" cy="1019042"/>
          </a:xfrm>
          <a:prstGeom prst="rect">
            <a:avLst/>
          </a:prstGeom>
        </p:spPr>
      </p:pic>
      <p:pic>
        <p:nvPicPr>
          <p:cNvPr id="12" name="Image 5" descr="//img.tukuppt.com/aippt_tpl_uploads/25/07/01/686397e7af1a3.png!/fwfh2/960x960"/>
          <p:cNvPicPr>
            <a:picLocks noChangeAspect="1"/>
          </p:cNvPicPr>
          <p:nvPr/>
        </p:nvPicPr>
        <p:blipFill>
          <a:blip r:embed="rId6"/>
          <a:srcRect l="36452" t="56544" b="34700"/>
          <a:stretch/>
        </p:blipFill>
        <p:spPr>
          <a:xfrm>
            <a:off x="-61352" y="4937888"/>
            <a:ext cx="9313872" cy="1019042"/>
          </a:xfrm>
          <a:prstGeom prst="rect">
            <a:avLst/>
          </a:prstGeom>
        </p:spPr>
      </p:pic>
      <p:sp>
        <p:nvSpPr>
          <p:cNvPr id="13" name="Shape 5"/>
          <p:cNvSpPr/>
          <p:nvPr/>
        </p:nvSpPr>
        <p:spPr>
          <a:xfrm>
            <a:off x="659303" y="1712313"/>
            <a:ext cx="5255030" cy="2519265"/>
          </a:xfrm>
          <a:custGeom>
            <a:avLst/>
            <a:gdLst/>
            <a:ahLst/>
            <a:cxnLst/>
            <a:rect l="l" t="t" r="r" b="b"/>
            <a:pathLst>
              <a:path w="5255030" h="2519265">
                <a:moveTo>
                  <a:pt x="0" y="0"/>
                </a:moveTo>
                <a:lnTo>
                  <a:pt x="5255030" y="0"/>
                </a:lnTo>
                <a:lnTo>
                  <a:pt x="5255030" y="2519265"/>
                </a:lnTo>
                <a:lnTo>
                  <a:pt x="0" y="2519265"/>
                </a:lnTo>
                <a:close/>
              </a:path>
            </a:pathLst>
          </a:custGeom>
          <a:solidFill>
            <a:srgbClr val="0067B4">
              <a:alpha val="15000"/>
            </a:srgbClr>
          </a:solidFill>
          <a:ln/>
        </p:spPr>
      </p:sp>
      <p:sp>
        <p:nvSpPr>
          <p:cNvPr id="14" name="Shape 6"/>
          <p:cNvSpPr/>
          <p:nvPr/>
        </p:nvSpPr>
        <p:spPr>
          <a:xfrm>
            <a:off x="5762054" y="1712313"/>
            <a:ext cx="2722643" cy="2519265"/>
          </a:xfrm>
          <a:custGeom>
            <a:avLst/>
            <a:gdLst/>
            <a:ahLst/>
            <a:cxnLst/>
            <a:rect l="l" t="t" r="r" b="b"/>
            <a:pathLst>
              <a:path w="2722643" h="2519265">
                <a:moveTo>
                  <a:pt x="0" y="0"/>
                </a:moveTo>
                <a:lnTo>
                  <a:pt x="2722643" y="0"/>
                </a:lnTo>
                <a:lnTo>
                  <a:pt x="2722643" y="2519265"/>
                </a:lnTo>
                <a:lnTo>
                  <a:pt x="0" y="2519265"/>
                </a:lnTo>
                <a:close/>
              </a:path>
            </a:pathLst>
          </a:custGeom>
          <a:blipFill rotWithShape="0">
            <a:blip r:embed="rId7">
              <a:alphaModFix/>
            </a:blip>
            <a:stretch>
              <a:fillRect l="-19389" r="-19389"/>
            </a:stretch>
          </a:blipFill>
          <a:ln/>
        </p:spPr>
      </p:sp>
      <p:sp>
        <p:nvSpPr>
          <p:cNvPr id="15" name="Shape 7"/>
          <p:cNvSpPr/>
          <p:nvPr/>
        </p:nvSpPr>
        <p:spPr>
          <a:xfrm>
            <a:off x="659303" y="1587662"/>
            <a:ext cx="2433978" cy="124651"/>
          </a:xfrm>
          <a:custGeom>
            <a:avLst/>
            <a:gdLst/>
            <a:ahLst/>
            <a:cxnLst/>
            <a:rect l="l" t="t" r="r" b="b"/>
            <a:pathLst>
              <a:path w="2433978" h="124651">
                <a:moveTo>
                  <a:pt x="0" y="0"/>
                </a:moveTo>
                <a:lnTo>
                  <a:pt x="2433978" y="0"/>
                </a:lnTo>
                <a:lnTo>
                  <a:pt x="2433978" y="124651"/>
                </a:lnTo>
                <a:lnTo>
                  <a:pt x="0" y="124651"/>
                </a:lnTo>
                <a:close/>
              </a:path>
            </a:pathLst>
          </a:custGeom>
          <a:gradFill>
            <a:gsLst>
              <a:gs pos="0">
                <a:srgbClr val="147BC8">
                  <a:alpha val="100000"/>
                </a:srgbClr>
              </a:gs>
              <a:gs pos="100000">
                <a:srgbClr val="0067B4">
                  <a:alpha val="100000"/>
                </a:srgbClr>
              </a:gs>
            </a:gsLst>
            <a:lin ang="960000" scaled="1"/>
          </a:gradFill>
          <a:ln/>
        </p:spPr>
      </p:sp>
      <p:sp>
        <p:nvSpPr>
          <p:cNvPr id="16" name="Text 8"/>
          <p:cNvSpPr txBox="1"/>
          <p:nvPr/>
        </p:nvSpPr>
        <p:spPr>
          <a:xfrm>
            <a:off x="1144167" y="2319775"/>
            <a:ext cx="4146631" cy="335999"/>
          </a:xfrm>
          <a:prstGeom prst="rect">
            <a:avLst/>
          </a:prstGeom>
          <a:noFill/>
          <a:ln/>
        </p:spPr>
        <p:txBody>
          <a:bodyPr wrap="square" lIns="0" tIns="0" rIns="0" bIns="0" rtlCol="0" anchor="ctr">
            <a:spAutoFit/>
          </a:bodyPr>
          <a:lstStyle/>
          <a:p>
            <a:pPr marL="0" indent="0" algn="l">
              <a:buNone/>
            </a:pPr>
            <a:r>
              <a:rPr lang="zh-CN" altLang="en-US" sz="1350" b="1" dirty="0">
                <a:solidFill>
                  <a:srgbClr val="000000"/>
                </a:solidFill>
                <a:latin typeface="SourceHanSansSC-Regular"/>
                <a:ea typeface="SourceHanSansSC-Regular"/>
                <a:cs typeface="SourceHanSansSC-Regular"/>
              </a:rPr>
              <a:t>决策依据</a:t>
            </a:r>
            <a:endParaRPr lang="en-US" sz="1350" dirty="0"/>
          </a:p>
        </p:txBody>
      </p:sp>
      <p:sp>
        <p:nvSpPr>
          <p:cNvPr id="17" name="Text 9"/>
          <p:cNvSpPr txBox="1"/>
          <p:nvPr/>
        </p:nvSpPr>
        <p:spPr>
          <a:xfrm>
            <a:off x="1144167" y="2757342"/>
            <a:ext cx="4052888" cy="742950"/>
          </a:xfrm>
          <a:prstGeom prst="rect">
            <a:avLst/>
          </a:prstGeom>
          <a:noFill/>
          <a:ln/>
        </p:spPr>
        <p:txBody>
          <a:bodyPr wrap="square" lIns="0" tIns="0" rIns="0" bIns="0" rtlCol="0" anchor="t">
            <a:spAutoFit/>
          </a:bodyPr>
          <a:lstStyle/>
          <a:p>
            <a:pPr marL="0" indent="0" algn="l">
              <a:lnSpc>
                <a:spcPct val="104000"/>
              </a:lnSpc>
              <a:buNone/>
            </a:pPr>
            <a:r>
              <a:rPr lang="zh-CN" altLang="en-US" sz="900" dirty="0">
                <a:solidFill>
                  <a:srgbClr val="3F3F3F"/>
                </a:solidFill>
                <a:latin typeface="SourceHanSansSC-Regular"/>
                <a:ea typeface="SourceHanSansSC-Regular"/>
                <a:cs typeface="SourceHanSansSC-Regular"/>
              </a:rPr>
              <a:t>只要增量收入超过分离点后发生的增量加工成本，在分离点后继续加工联产品总是有利可图的。以锯木厂公司为例，需要分析未完成木材和锯屑在分离点销售和进一步加工后的相关收入和成本，确定是否进一步加工。</a:t>
            </a:r>
            <a:endParaRPr lang="en-US" sz="9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img.tukuppt.com/aippt_uploads/34576449/25/07/03/6866a18678cda.png!/fwfh2/960x960"/>
          <p:cNvPicPr>
            <a:picLocks noChangeAspect="1"/>
          </p:cNvPicPr>
          <p:nvPr/>
        </p:nvPicPr>
        <p:blipFill>
          <a:blip r:embed="rId3"/>
          <a:stretch>
            <a:fillRect/>
          </a:stretch>
        </p:blipFill>
        <p:spPr>
          <a:xfrm>
            <a:off x="0" y="0"/>
            <a:ext cx="9140180" cy="5131830"/>
          </a:xfrm>
          <a:prstGeom prst="rect">
            <a:avLst/>
          </a:prstGeom>
        </p:spPr>
      </p:pic>
      <p:sp>
        <p:nvSpPr>
          <p:cNvPr id="3" name="Shape 0"/>
          <p:cNvSpPr/>
          <p:nvPr/>
        </p:nvSpPr>
        <p:spPr>
          <a:xfrm>
            <a:off x="979384" y="287863"/>
            <a:ext cx="2872893" cy="412023"/>
          </a:xfrm>
          <a:custGeom>
            <a:avLst/>
            <a:gdLst/>
            <a:ahLst/>
            <a:cxnLst/>
            <a:rect l="l" t="t" r="r" b="b"/>
            <a:pathLst>
              <a:path w="2872893" h="412023">
                <a:moveTo>
                  <a:pt x="68568" y="0"/>
                </a:moveTo>
                <a:lnTo>
                  <a:pt x="2803673" y="0"/>
                </a:lnTo>
                <a:cubicBezTo>
                  <a:pt x="2841542" y="0"/>
                  <a:pt x="2872241" y="30699"/>
                  <a:pt x="2872241" y="68568"/>
                </a:cubicBezTo>
                <a:lnTo>
                  <a:pt x="2872241" y="342840"/>
                </a:lnTo>
                <a:cubicBezTo>
                  <a:pt x="2872241" y="380710"/>
                  <a:pt x="2841542" y="411409"/>
                  <a:pt x="2803673" y="411409"/>
                </a:cubicBezTo>
                <a:lnTo>
                  <a:pt x="68568" y="411409"/>
                </a:lnTo>
                <a:cubicBezTo>
                  <a:pt x="30699" y="411409"/>
                  <a:pt x="0" y="380710"/>
                  <a:pt x="0" y="342840"/>
                </a:cubicBezTo>
                <a:lnTo>
                  <a:pt x="0" y="68568"/>
                </a:lnTo>
                <a:cubicBezTo>
                  <a:pt x="0" y="30724"/>
                  <a:pt x="30724" y="0"/>
                  <a:pt x="68568" y="0"/>
                </a:cubicBezTo>
                <a:close/>
              </a:path>
            </a:pathLst>
          </a:custGeom>
          <a:solidFill>
            <a:srgbClr val="0067B4"/>
          </a:solidFill>
          <a:ln/>
          <a:effectLst>
            <a:outerShdw dist="38093" dir="2700000" algn="bl" rotWithShape="0">
              <a:srgbClr val="000000">
                <a:alpha val="38824"/>
              </a:srgbClr>
            </a:outerShdw>
          </a:effectLst>
        </p:spPr>
      </p:sp>
      <p:sp>
        <p:nvSpPr>
          <p:cNvPr id="4" name="Shape 1"/>
          <p:cNvSpPr/>
          <p:nvPr/>
        </p:nvSpPr>
        <p:spPr>
          <a:xfrm>
            <a:off x="1188456" y="329442"/>
            <a:ext cx="2735844" cy="339064"/>
          </a:xfrm>
          <a:custGeom>
            <a:avLst/>
            <a:gdLst/>
            <a:ahLst/>
            <a:cxnLst/>
            <a:rect l="l" t="t" r="r" b="b"/>
            <a:pathLst>
              <a:path w="2735844" h="339064">
                <a:moveTo>
                  <a:pt x="0" y="0"/>
                </a:moveTo>
                <a:lnTo>
                  <a:pt x="2735844" y="0"/>
                </a:lnTo>
                <a:lnTo>
                  <a:pt x="2735844" y="339064"/>
                </a:lnTo>
                <a:lnTo>
                  <a:pt x="0" y="339064"/>
                </a:lnTo>
                <a:close/>
              </a:path>
            </a:pathLst>
          </a:custGeom>
          <a:noFill/>
          <a:ln/>
        </p:spPr>
      </p:sp>
      <p:sp>
        <p:nvSpPr>
          <p:cNvPr id="5" name="Text 2"/>
          <p:cNvSpPr txBox="1"/>
          <p:nvPr/>
        </p:nvSpPr>
        <p:spPr>
          <a:xfrm>
            <a:off x="1188456" y="329442"/>
            <a:ext cx="2735844" cy="339064"/>
          </a:xfrm>
          <a:prstGeom prst="rect">
            <a:avLst/>
          </a:prstGeom>
          <a:noFill/>
          <a:ln/>
        </p:spPr>
        <p:txBody>
          <a:bodyPr wrap="square" lIns="1252" tIns="653" rIns="1252" bIns="653" rtlCol="0" anchor="t">
            <a:spAutoFit/>
          </a:bodyPr>
          <a:lstStyle/>
          <a:p>
            <a:pPr marL="0" indent="0" algn="l">
              <a:buNone/>
            </a:pPr>
            <a:r>
              <a:rPr lang="zh-CN" altLang="en-US" sz="1601" dirty="0">
                <a:solidFill>
                  <a:srgbClr val="64CBFF"/>
                </a:solidFill>
                <a:latin typeface="SourceHanSansSC-Medium"/>
                <a:ea typeface="SourceHanSansSC-Medium"/>
                <a:cs typeface="SourceHanSansSC-Medium"/>
              </a:rPr>
              <a:t>出售或进一步加工决策</a:t>
            </a:r>
            <a:endParaRPr lang="en-US" sz="1601" dirty="0"/>
          </a:p>
        </p:txBody>
      </p:sp>
      <p:sp>
        <p:nvSpPr>
          <p:cNvPr id="6" name="Shape 3"/>
          <p:cNvSpPr/>
          <p:nvPr/>
        </p:nvSpPr>
        <p:spPr>
          <a:xfrm>
            <a:off x="471488" y="198466"/>
            <a:ext cx="461756" cy="542999"/>
          </a:xfrm>
          <a:custGeom>
            <a:avLst/>
            <a:gdLst/>
            <a:ahLst/>
            <a:cxnLst/>
            <a:rect l="l" t="t" r="r" b="b"/>
            <a:pathLst>
              <a:path w="461756" h="542999">
                <a:moveTo>
                  <a:pt x="77457" y="0"/>
                </a:moveTo>
                <a:lnTo>
                  <a:pt x="384743" y="0"/>
                </a:lnTo>
                <a:cubicBezTo>
                  <a:pt x="427521" y="0"/>
                  <a:pt x="462200" y="34678"/>
                  <a:pt x="462200" y="77457"/>
                </a:cubicBezTo>
                <a:lnTo>
                  <a:pt x="462200" y="466009"/>
                </a:lnTo>
                <a:cubicBezTo>
                  <a:pt x="462200" y="508787"/>
                  <a:pt x="427521" y="543466"/>
                  <a:pt x="384743" y="543466"/>
                </a:cubicBezTo>
                <a:lnTo>
                  <a:pt x="77457" y="543466"/>
                </a:lnTo>
                <a:cubicBezTo>
                  <a:pt x="34678" y="543466"/>
                  <a:pt x="0" y="508787"/>
                  <a:pt x="0" y="466009"/>
                </a:cubicBezTo>
                <a:lnTo>
                  <a:pt x="0" y="77457"/>
                </a:lnTo>
                <a:cubicBezTo>
                  <a:pt x="0" y="34678"/>
                  <a:pt x="34678" y="0"/>
                  <a:pt x="77457" y="0"/>
                </a:cubicBezTo>
                <a:close/>
              </a:path>
            </a:pathLst>
          </a:custGeom>
          <a:solidFill>
            <a:srgbClr val="0067B4"/>
          </a:solidFill>
          <a:ln/>
          <a:effectLst>
            <a:outerShdw dist="38093" dir="2700000" algn="bl" rotWithShape="0">
              <a:srgbClr val="000000">
                <a:alpha val="38824"/>
              </a:srgbClr>
            </a:outerShdw>
          </a:effectLst>
        </p:spPr>
      </p:sp>
      <p:sp>
        <p:nvSpPr>
          <p:cNvPr id="7" name="Shape 4"/>
          <p:cNvSpPr/>
          <p:nvPr/>
        </p:nvSpPr>
        <p:spPr>
          <a:xfrm>
            <a:off x="482166" y="206110"/>
            <a:ext cx="433263" cy="535355"/>
          </a:xfrm>
          <a:custGeom>
            <a:avLst/>
            <a:gdLst/>
            <a:ahLst/>
            <a:cxnLst/>
            <a:rect l="l" t="t" r="r" b="b"/>
            <a:pathLst>
              <a:path w="433263" h="535355">
                <a:moveTo>
                  <a:pt x="73647" y="0"/>
                </a:moveTo>
                <a:lnTo>
                  <a:pt x="366966" y="0"/>
                </a:lnTo>
                <a:cubicBezTo>
                  <a:pt x="396171" y="0"/>
                  <a:pt x="421567" y="15237"/>
                  <a:pt x="432995" y="35554"/>
                </a:cubicBezTo>
                <a:cubicBezTo>
                  <a:pt x="186658" y="119359"/>
                  <a:pt x="11428" y="311096"/>
                  <a:pt x="1270" y="535847"/>
                </a:cubicBezTo>
                <a:cubicBezTo>
                  <a:pt x="0" y="533307"/>
                  <a:pt x="0" y="532038"/>
                  <a:pt x="0" y="529498"/>
                </a:cubicBezTo>
                <a:lnTo>
                  <a:pt x="0" y="60949"/>
                </a:lnTo>
                <a:cubicBezTo>
                  <a:pt x="0" y="26665"/>
                  <a:pt x="33014" y="0"/>
                  <a:pt x="73647" y="0"/>
                </a:cubicBezTo>
                <a:close/>
              </a:path>
            </a:pathLst>
          </a:custGeom>
          <a:gradFill>
            <a:gsLst>
              <a:gs pos="0">
                <a:srgbClr val="64CBFF">
                  <a:alpha val="34902"/>
                </a:srgbClr>
              </a:gs>
              <a:gs pos="100000">
                <a:srgbClr val="2F5897">
                  <a:alpha val="100000"/>
                </a:srgbClr>
              </a:gs>
            </a:gsLst>
            <a:lin ang="1200000" scaled="1"/>
          </a:gradFill>
          <a:ln/>
        </p:spPr>
      </p:sp>
      <p:pic>
        <p:nvPicPr>
          <p:cNvPr id="8" name="Image 1" descr="//img.tukuppt.com/aippt_tpl_uploads/25/07/01/686397e7ae4cf.png"/>
          <p:cNvPicPr>
            <a:picLocks noChangeAspect="1"/>
          </p:cNvPicPr>
          <p:nvPr/>
        </p:nvPicPr>
        <p:blipFill>
          <a:blip r:embed="rId4"/>
          <a:srcRect/>
          <a:stretch/>
        </p:blipFill>
        <p:spPr>
          <a:xfrm flipH="1">
            <a:off x="787710" y="346921"/>
            <a:ext cx="255659" cy="98905"/>
          </a:xfrm>
          <a:prstGeom prst="rect">
            <a:avLst/>
          </a:prstGeom>
        </p:spPr>
      </p:pic>
      <p:pic>
        <p:nvPicPr>
          <p:cNvPr id="9" name="Image 2" descr="//img.tukuppt.com/aippt_tpl_uploads/25/07/01/686397e7ae4cf.png"/>
          <p:cNvPicPr>
            <a:picLocks noChangeAspect="1"/>
          </p:cNvPicPr>
          <p:nvPr/>
        </p:nvPicPr>
        <p:blipFill>
          <a:blip r:embed="rId4"/>
          <a:srcRect/>
          <a:stretch/>
        </p:blipFill>
        <p:spPr>
          <a:xfrm flipH="1">
            <a:off x="787710" y="549201"/>
            <a:ext cx="255659" cy="98905"/>
          </a:xfrm>
          <a:prstGeom prst="rect">
            <a:avLst/>
          </a:prstGeom>
        </p:spPr>
      </p:pic>
      <p:pic>
        <p:nvPicPr>
          <p:cNvPr id="10" name="Image 3" descr="//img.tukuppt.com/aippt_tpl_uploads/25/07/01/686397e7b8f81.png"/>
          <p:cNvPicPr>
            <a:picLocks noChangeAspect="1"/>
          </p:cNvPicPr>
          <p:nvPr/>
        </p:nvPicPr>
        <p:blipFill>
          <a:blip r:embed="rId5"/>
          <a:srcRect/>
          <a:stretch/>
        </p:blipFill>
        <p:spPr>
          <a:xfrm>
            <a:off x="539206" y="312920"/>
            <a:ext cx="321318" cy="321734"/>
          </a:xfrm>
          <a:prstGeom prst="rect">
            <a:avLst/>
          </a:prstGeom>
        </p:spPr>
      </p:pic>
      <p:pic>
        <p:nvPicPr>
          <p:cNvPr id="11" name="Image 4" descr="//img.tukuppt.com/aippt_tpl_uploads/25/07/01/686397e7af1a3.png!/fwfh2/960x960"/>
          <p:cNvPicPr>
            <a:picLocks noChangeAspect="1"/>
          </p:cNvPicPr>
          <p:nvPr/>
        </p:nvPicPr>
        <p:blipFill>
          <a:blip r:embed="rId6"/>
          <a:srcRect l="36452" t="56544" b="34700"/>
          <a:stretch/>
        </p:blipFill>
        <p:spPr>
          <a:xfrm>
            <a:off x="-4836" y="-812736"/>
            <a:ext cx="9148837" cy="1019042"/>
          </a:xfrm>
          <a:prstGeom prst="rect">
            <a:avLst/>
          </a:prstGeom>
        </p:spPr>
      </p:pic>
      <p:pic>
        <p:nvPicPr>
          <p:cNvPr id="12" name="Image 5" descr="//img.tukuppt.com/aippt_tpl_uploads/25/07/01/686397e7af1a3.png!/fwfh2/960x960"/>
          <p:cNvPicPr>
            <a:picLocks noChangeAspect="1"/>
          </p:cNvPicPr>
          <p:nvPr/>
        </p:nvPicPr>
        <p:blipFill>
          <a:blip r:embed="rId6"/>
          <a:srcRect l="36452" t="56544" b="34700"/>
          <a:stretch/>
        </p:blipFill>
        <p:spPr>
          <a:xfrm>
            <a:off x="-61352" y="4937888"/>
            <a:ext cx="9313872" cy="1019042"/>
          </a:xfrm>
          <a:prstGeom prst="rect">
            <a:avLst/>
          </a:prstGeom>
        </p:spPr>
      </p:pic>
      <p:sp>
        <p:nvSpPr>
          <p:cNvPr id="19" name="文本框 18">
            <a:extLst>
              <a:ext uri="{FF2B5EF4-FFF2-40B4-BE49-F238E27FC236}">
                <a16:creationId xmlns:a16="http://schemas.microsoft.com/office/drawing/2014/main" id="{594186EE-01B1-45FE-AEE7-85AF78B5979D}"/>
              </a:ext>
            </a:extLst>
          </p:cNvPr>
          <p:cNvSpPr txBox="1"/>
          <p:nvPr/>
        </p:nvSpPr>
        <p:spPr>
          <a:xfrm>
            <a:off x="1090401" y="873869"/>
            <a:ext cx="6958361" cy="738664"/>
          </a:xfrm>
          <a:prstGeom prst="rect">
            <a:avLst/>
          </a:prstGeom>
          <a:noFill/>
        </p:spPr>
        <p:txBody>
          <a:bodyPr wrap="square">
            <a:spAutoFit/>
          </a:bodyPr>
          <a:lstStyle/>
          <a:p>
            <a:pPr>
              <a:buFont typeface="Arial" panose="020B0604020202020204" pitchFamily="34" charset="0"/>
              <a:buChar char="•"/>
            </a:pPr>
            <a:r>
              <a:rPr lang="en-US" altLang="zh-CN" sz="1400" dirty="0">
                <a:effectLst/>
              </a:rPr>
              <a:t>Sawmill</a:t>
            </a:r>
            <a:r>
              <a:rPr lang="zh-CN" altLang="en-US" sz="1400" dirty="0">
                <a:effectLst/>
              </a:rPr>
              <a:t>公司通过切割原木生产未加工木材和锯屑，这两种是即时产生的联产品。</a:t>
            </a:r>
          </a:p>
          <a:p>
            <a:pPr>
              <a:buFont typeface="Arial" panose="020B0604020202020204" pitchFamily="34" charset="0"/>
              <a:buChar char="•"/>
            </a:pPr>
            <a:r>
              <a:rPr lang="zh-CN" altLang="en-US" sz="1400" dirty="0">
                <a:effectLst/>
              </a:rPr>
              <a:t>未加工木材可以“按现状”出售，也可以进一步加工成成品木材。</a:t>
            </a:r>
          </a:p>
          <a:p>
            <a:pPr>
              <a:buFont typeface="Arial" panose="020B0604020202020204" pitchFamily="34" charset="0"/>
              <a:buChar char="•"/>
            </a:pPr>
            <a:r>
              <a:rPr lang="zh-CN" altLang="en-US" sz="1400" dirty="0">
                <a:effectLst/>
              </a:rPr>
              <a:t>锯屑也可以“按现状”出售给园艺批发商，或者进一步加工成“速燃木柴”。</a:t>
            </a:r>
          </a:p>
        </p:txBody>
      </p:sp>
      <p:graphicFrame>
        <p:nvGraphicFramePr>
          <p:cNvPr id="20" name="表格 19">
            <a:extLst>
              <a:ext uri="{FF2B5EF4-FFF2-40B4-BE49-F238E27FC236}">
                <a16:creationId xmlns:a16="http://schemas.microsoft.com/office/drawing/2014/main" id="{28BE8E60-309E-471B-B5D8-B2D60FC17BBA}"/>
              </a:ext>
            </a:extLst>
          </p:cNvPr>
          <p:cNvGraphicFramePr>
            <a:graphicFrameLocks noGrp="1"/>
          </p:cNvGraphicFramePr>
          <p:nvPr>
            <p:extLst>
              <p:ext uri="{D42A27DB-BD31-4B8C-83A1-F6EECF244321}">
                <p14:modId xmlns:p14="http://schemas.microsoft.com/office/powerpoint/2010/main" val="3248304106"/>
              </p:ext>
            </p:extLst>
          </p:nvPr>
        </p:nvGraphicFramePr>
        <p:xfrm>
          <a:off x="1949260" y="2437154"/>
          <a:ext cx="4607657" cy="1645920"/>
        </p:xfrm>
        <a:graphic>
          <a:graphicData uri="http://schemas.openxmlformats.org/drawingml/2006/table">
            <a:tbl>
              <a:tblPr>
                <a:tableStyleId>{775DCB02-9BB8-47FD-8907-85C794F793BA}</a:tableStyleId>
              </a:tblPr>
              <a:tblGrid>
                <a:gridCol w="2628900">
                  <a:extLst>
                    <a:ext uri="{9D8B030D-6E8A-4147-A177-3AD203B41FA5}">
                      <a16:colId xmlns:a16="http://schemas.microsoft.com/office/drawing/2014/main" val="1303267590"/>
                    </a:ext>
                  </a:extLst>
                </a:gridCol>
                <a:gridCol w="1258694">
                  <a:extLst>
                    <a:ext uri="{9D8B030D-6E8A-4147-A177-3AD203B41FA5}">
                      <a16:colId xmlns:a16="http://schemas.microsoft.com/office/drawing/2014/main" val="912883889"/>
                    </a:ext>
                  </a:extLst>
                </a:gridCol>
                <a:gridCol w="720063">
                  <a:extLst>
                    <a:ext uri="{9D8B030D-6E8A-4147-A177-3AD203B41FA5}">
                      <a16:colId xmlns:a16="http://schemas.microsoft.com/office/drawing/2014/main" val="3974563889"/>
                    </a:ext>
                  </a:extLst>
                </a:gridCol>
              </a:tblGrid>
              <a:tr h="0">
                <a:tc>
                  <a:txBody>
                    <a:bodyPr/>
                    <a:lstStyle/>
                    <a:p>
                      <a:r>
                        <a:rPr lang="zh-CN" altLang="en-US" sz="1200"/>
                        <a:t>项目</a:t>
                      </a:r>
                    </a:p>
                  </a:txBody>
                  <a:tcPr anchor="ctr"/>
                </a:tc>
                <a:tc>
                  <a:txBody>
                    <a:bodyPr/>
                    <a:lstStyle/>
                    <a:p>
                      <a:r>
                        <a:rPr lang="zh-CN" altLang="en-US" sz="1200"/>
                        <a:t>每根原木</a:t>
                      </a:r>
                    </a:p>
                  </a:txBody>
                  <a:tcPr anchor="ctr"/>
                </a:tc>
                <a:tc>
                  <a:txBody>
                    <a:bodyPr/>
                    <a:lstStyle/>
                    <a:p>
                      <a:endParaRPr lang="zh-CN" altLang="en-US" sz="1200"/>
                    </a:p>
                  </a:txBody>
                  <a:tcPr/>
                </a:tc>
                <a:extLst>
                  <a:ext uri="{0D108BD9-81ED-4DB2-BD59-A6C34878D82A}">
                    <a16:rowId xmlns:a16="http://schemas.microsoft.com/office/drawing/2014/main" val="3987045773"/>
                  </a:ext>
                </a:extLst>
              </a:tr>
              <a:tr h="0">
                <a:tc>
                  <a:txBody>
                    <a:bodyPr/>
                    <a:lstStyle/>
                    <a:p>
                      <a:endParaRPr lang="zh-CN" altLang="en-US" sz="1200"/>
                    </a:p>
                  </a:txBody>
                  <a:tcPr anchor="ctr"/>
                </a:tc>
                <a:tc>
                  <a:txBody>
                    <a:bodyPr/>
                    <a:lstStyle/>
                    <a:p>
                      <a:r>
                        <a:rPr lang="zh-CN" altLang="en-US" sz="1200"/>
                        <a:t>木材</a:t>
                      </a:r>
                    </a:p>
                  </a:txBody>
                  <a:tcPr anchor="ctr"/>
                </a:tc>
                <a:tc>
                  <a:txBody>
                    <a:bodyPr/>
                    <a:lstStyle/>
                    <a:p>
                      <a:r>
                        <a:rPr lang="zh-CN" altLang="en-US" sz="1200"/>
                        <a:t>锯屑</a:t>
                      </a:r>
                    </a:p>
                  </a:txBody>
                  <a:tcPr anchor="ctr"/>
                </a:tc>
                <a:extLst>
                  <a:ext uri="{0D108BD9-81ED-4DB2-BD59-A6C34878D82A}">
                    <a16:rowId xmlns:a16="http://schemas.microsoft.com/office/drawing/2014/main" val="3269385888"/>
                  </a:ext>
                </a:extLst>
              </a:tr>
              <a:tr h="0">
                <a:tc>
                  <a:txBody>
                    <a:bodyPr/>
                    <a:lstStyle/>
                    <a:p>
                      <a:r>
                        <a:rPr lang="zh-CN" altLang="en-US" sz="1200"/>
                        <a:t>分离点销售价值</a:t>
                      </a:r>
                    </a:p>
                  </a:txBody>
                  <a:tcPr anchor="ctr"/>
                </a:tc>
                <a:tc>
                  <a:txBody>
                    <a:bodyPr/>
                    <a:lstStyle/>
                    <a:p>
                      <a:r>
                        <a:rPr lang="en-US" altLang="zh-CN" sz="1200"/>
                        <a:t>$140</a:t>
                      </a:r>
                    </a:p>
                  </a:txBody>
                  <a:tcPr anchor="ctr"/>
                </a:tc>
                <a:tc>
                  <a:txBody>
                    <a:bodyPr/>
                    <a:lstStyle/>
                    <a:p>
                      <a:r>
                        <a:rPr lang="en-US" altLang="zh-CN" sz="1200" dirty="0"/>
                        <a:t>$40</a:t>
                      </a:r>
                    </a:p>
                  </a:txBody>
                  <a:tcPr anchor="ctr"/>
                </a:tc>
                <a:extLst>
                  <a:ext uri="{0D108BD9-81ED-4DB2-BD59-A6C34878D82A}">
                    <a16:rowId xmlns:a16="http://schemas.microsoft.com/office/drawing/2014/main" val="530567446"/>
                  </a:ext>
                </a:extLst>
              </a:tr>
              <a:tr h="0">
                <a:tc>
                  <a:txBody>
                    <a:bodyPr/>
                    <a:lstStyle/>
                    <a:p>
                      <a:r>
                        <a:rPr lang="zh-CN" altLang="en-US" sz="1200"/>
                        <a:t>进一步加工后销售价值</a:t>
                      </a:r>
                    </a:p>
                  </a:txBody>
                  <a:tcPr anchor="ctr"/>
                </a:tc>
                <a:tc>
                  <a:txBody>
                    <a:bodyPr/>
                    <a:lstStyle/>
                    <a:p>
                      <a:r>
                        <a:rPr lang="en-US" altLang="zh-CN" sz="1200"/>
                        <a:t>$270</a:t>
                      </a:r>
                    </a:p>
                  </a:txBody>
                  <a:tcPr anchor="ctr"/>
                </a:tc>
                <a:tc>
                  <a:txBody>
                    <a:bodyPr/>
                    <a:lstStyle/>
                    <a:p>
                      <a:r>
                        <a:rPr lang="en-US" altLang="zh-CN" sz="1200"/>
                        <a:t>$50</a:t>
                      </a:r>
                    </a:p>
                  </a:txBody>
                  <a:tcPr anchor="ctr"/>
                </a:tc>
                <a:extLst>
                  <a:ext uri="{0D108BD9-81ED-4DB2-BD59-A6C34878D82A}">
                    <a16:rowId xmlns:a16="http://schemas.microsoft.com/office/drawing/2014/main" val="294166554"/>
                  </a:ext>
                </a:extLst>
              </a:tr>
              <a:tr h="0">
                <a:tc>
                  <a:txBody>
                    <a:bodyPr/>
                    <a:lstStyle/>
                    <a:p>
                      <a:r>
                        <a:rPr lang="zh-CN" altLang="en-US" sz="1200"/>
                        <a:t>分配的联产品成本</a:t>
                      </a:r>
                    </a:p>
                  </a:txBody>
                  <a:tcPr anchor="ctr"/>
                </a:tc>
                <a:tc>
                  <a:txBody>
                    <a:bodyPr/>
                    <a:lstStyle/>
                    <a:p>
                      <a:r>
                        <a:rPr lang="en-US" altLang="zh-CN" sz="1200"/>
                        <a:t>$176</a:t>
                      </a:r>
                    </a:p>
                  </a:txBody>
                  <a:tcPr anchor="ctr"/>
                </a:tc>
                <a:tc>
                  <a:txBody>
                    <a:bodyPr/>
                    <a:lstStyle/>
                    <a:p>
                      <a:r>
                        <a:rPr lang="en-US" altLang="zh-CN" sz="1200"/>
                        <a:t>$24</a:t>
                      </a:r>
                    </a:p>
                  </a:txBody>
                  <a:tcPr anchor="ctr"/>
                </a:tc>
                <a:extLst>
                  <a:ext uri="{0D108BD9-81ED-4DB2-BD59-A6C34878D82A}">
                    <a16:rowId xmlns:a16="http://schemas.microsoft.com/office/drawing/2014/main" val="2827252064"/>
                  </a:ext>
                </a:extLst>
              </a:tr>
              <a:tr h="0">
                <a:tc>
                  <a:txBody>
                    <a:bodyPr/>
                    <a:lstStyle/>
                    <a:p>
                      <a:r>
                        <a:rPr lang="zh-CN" altLang="en-US" sz="1200"/>
                        <a:t>进一步加工成本</a:t>
                      </a:r>
                    </a:p>
                  </a:txBody>
                  <a:tcPr anchor="ctr"/>
                </a:tc>
                <a:tc>
                  <a:txBody>
                    <a:bodyPr/>
                    <a:lstStyle/>
                    <a:p>
                      <a:r>
                        <a:rPr lang="en-US" altLang="zh-CN" sz="1200"/>
                        <a:t>$50</a:t>
                      </a:r>
                    </a:p>
                  </a:txBody>
                  <a:tcPr anchor="ctr"/>
                </a:tc>
                <a:tc>
                  <a:txBody>
                    <a:bodyPr/>
                    <a:lstStyle/>
                    <a:p>
                      <a:r>
                        <a:rPr lang="en-US" altLang="zh-CN" sz="1200" dirty="0"/>
                        <a:t>$20</a:t>
                      </a:r>
                    </a:p>
                  </a:txBody>
                  <a:tcPr anchor="ctr"/>
                </a:tc>
                <a:extLst>
                  <a:ext uri="{0D108BD9-81ED-4DB2-BD59-A6C34878D82A}">
                    <a16:rowId xmlns:a16="http://schemas.microsoft.com/office/drawing/2014/main" val="4012341012"/>
                  </a:ext>
                </a:extLst>
              </a:tr>
            </a:tbl>
          </a:graphicData>
        </a:graphic>
      </p:graphicFrame>
      <p:sp>
        <p:nvSpPr>
          <p:cNvPr id="21" name="Rectangle 1">
            <a:extLst>
              <a:ext uri="{FF2B5EF4-FFF2-40B4-BE49-F238E27FC236}">
                <a16:creationId xmlns:a16="http://schemas.microsoft.com/office/drawing/2014/main" id="{A1B65CDF-25EE-4831-8135-B70A73137AEC}"/>
              </a:ext>
            </a:extLst>
          </p:cNvPr>
          <p:cNvSpPr>
            <a:spLocks noChangeArrowheads="1"/>
          </p:cNvSpPr>
          <p:nvPr/>
        </p:nvSpPr>
        <p:spPr bwMode="auto">
          <a:xfrm>
            <a:off x="1188456" y="1778329"/>
            <a:ext cx="377014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400" b="1" i="0" u="none" strike="noStrike" cap="none" normalizeH="0" baseline="0" dirty="0">
                <a:ln>
                  <a:noFill/>
                </a:ln>
                <a:solidFill>
                  <a:schemeClr val="tx1"/>
                </a:solidFill>
                <a:effectLst/>
                <a:latin typeface="Arial" panose="020B0604020202020204" pitchFamily="34" charset="0"/>
              </a:rPr>
              <a:t>关于锯木厂联产品的数据如下：</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400" b="1"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82190079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img.tukuppt.com/aippt_uploads/34576449/25/07/03/6866a18678cda.png!/fwfh2/960x960"/>
          <p:cNvPicPr>
            <a:picLocks noChangeAspect="1"/>
          </p:cNvPicPr>
          <p:nvPr/>
        </p:nvPicPr>
        <p:blipFill>
          <a:blip r:embed="rId3"/>
          <a:stretch>
            <a:fillRect/>
          </a:stretch>
        </p:blipFill>
        <p:spPr>
          <a:xfrm>
            <a:off x="0" y="0"/>
            <a:ext cx="9140180" cy="5131830"/>
          </a:xfrm>
          <a:prstGeom prst="rect">
            <a:avLst/>
          </a:prstGeom>
        </p:spPr>
      </p:pic>
      <p:sp>
        <p:nvSpPr>
          <p:cNvPr id="3" name="Shape 0"/>
          <p:cNvSpPr/>
          <p:nvPr/>
        </p:nvSpPr>
        <p:spPr>
          <a:xfrm>
            <a:off x="979384" y="287863"/>
            <a:ext cx="2872893" cy="412023"/>
          </a:xfrm>
          <a:custGeom>
            <a:avLst/>
            <a:gdLst/>
            <a:ahLst/>
            <a:cxnLst/>
            <a:rect l="l" t="t" r="r" b="b"/>
            <a:pathLst>
              <a:path w="2872893" h="412023">
                <a:moveTo>
                  <a:pt x="68568" y="0"/>
                </a:moveTo>
                <a:lnTo>
                  <a:pt x="2803673" y="0"/>
                </a:lnTo>
                <a:cubicBezTo>
                  <a:pt x="2841542" y="0"/>
                  <a:pt x="2872241" y="30699"/>
                  <a:pt x="2872241" y="68568"/>
                </a:cubicBezTo>
                <a:lnTo>
                  <a:pt x="2872241" y="342840"/>
                </a:lnTo>
                <a:cubicBezTo>
                  <a:pt x="2872241" y="380710"/>
                  <a:pt x="2841542" y="411409"/>
                  <a:pt x="2803673" y="411409"/>
                </a:cubicBezTo>
                <a:lnTo>
                  <a:pt x="68568" y="411409"/>
                </a:lnTo>
                <a:cubicBezTo>
                  <a:pt x="30699" y="411409"/>
                  <a:pt x="0" y="380710"/>
                  <a:pt x="0" y="342840"/>
                </a:cubicBezTo>
                <a:lnTo>
                  <a:pt x="0" y="68568"/>
                </a:lnTo>
                <a:cubicBezTo>
                  <a:pt x="0" y="30724"/>
                  <a:pt x="30724" y="0"/>
                  <a:pt x="68568" y="0"/>
                </a:cubicBezTo>
                <a:close/>
              </a:path>
            </a:pathLst>
          </a:custGeom>
          <a:solidFill>
            <a:srgbClr val="0067B4"/>
          </a:solidFill>
          <a:ln/>
          <a:effectLst>
            <a:outerShdw dist="38093" dir="2700000" algn="bl" rotWithShape="0">
              <a:srgbClr val="000000">
                <a:alpha val="38824"/>
              </a:srgbClr>
            </a:outerShdw>
          </a:effectLst>
        </p:spPr>
      </p:sp>
      <p:sp>
        <p:nvSpPr>
          <p:cNvPr id="4" name="Shape 1"/>
          <p:cNvSpPr/>
          <p:nvPr/>
        </p:nvSpPr>
        <p:spPr>
          <a:xfrm>
            <a:off x="1188456" y="329442"/>
            <a:ext cx="2735844" cy="339064"/>
          </a:xfrm>
          <a:custGeom>
            <a:avLst/>
            <a:gdLst/>
            <a:ahLst/>
            <a:cxnLst/>
            <a:rect l="l" t="t" r="r" b="b"/>
            <a:pathLst>
              <a:path w="2735844" h="339064">
                <a:moveTo>
                  <a:pt x="0" y="0"/>
                </a:moveTo>
                <a:lnTo>
                  <a:pt x="2735844" y="0"/>
                </a:lnTo>
                <a:lnTo>
                  <a:pt x="2735844" y="339064"/>
                </a:lnTo>
                <a:lnTo>
                  <a:pt x="0" y="339064"/>
                </a:lnTo>
                <a:close/>
              </a:path>
            </a:pathLst>
          </a:custGeom>
          <a:noFill/>
          <a:ln/>
        </p:spPr>
      </p:sp>
      <p:sp>
        <p:nvSpPr>
          <p:cNvPr id="5" name="Text 2"/>
          <p:cNvSpPr txBox="1"/>
          <p:nvPr/>
        </p:nvSpPr>
        <p:spPr>
          <a:xfrm>
            <a:off x="1188456" y="329442"/>
            <a:ext cx="2735844" cy="339064"/>
          </a:xfrm>
          <a:prstGeom prst="rect">
            <a:avLst/>
          </a:prstGeom>
          <a:noFill/>
          <a:ln/>
        </p:spPr>
        <p:txBody>
          <a:bodyPr wrap="square" lIns="1252" tIns="653" rIns="1252" bIns="653" rtlCol="0" anchor="t">
            <a:spAutoFit/>
          </a:bodyPr>
          <a:lstStyle/>
          <a:p>
            <a:pPr marL="0" indent="0" algn="l">
              <a:buNone/>
            </a:pPr>
            <a:r>
              <a:rPr lang="zh-CN" altLang="en-US" sz="1601" dirty="0">
                <a:solidFill>
                  <a:srgbClr val="64CBFF"/>
                </a:solidFill>
                <a:latin typeface="SourceHanSansSC-Medium"/>
                <a:ea typeface="SourceHanSansSC-Medium"/>
                <a:cs typeface="SourceHanSansSC-Medium"/>
              </a:rPr>
              <a:t>出售或进一步加工决策</a:t>
            </a:r>
            <a:endParaRPr lang="en-US" sz="1601" dirty="0"/>
          </a:p>
        </p:txBody>
      </p:sp>
      <p:sp>
        <p:nvSpPr>
          <p:cNvPr id="6" name="Shape 3"/>
          <p:cNvSpPr/>
          <p:nvPr/>
        </p:nvSpPr>
        <p:spPr>
          <a:xfrm>
            <a:off x="471488" y="198466"/>
            <a:ext cx="461756" cy="542999"/>
          </a:xfrm>
          <a:custGeom>
            <a:avLst/>
            <a:gdLst/>
            <a:ahLst/>
            <a:cxnLst/>
            <a:rect l="l" t="t" r="r" b="b"/>
            <a:pathLst>
              <a:path w="461756" h="542999">
                <a:moveTo>
                  <a:pt x="77457" y="0"/>
                </a:moveTo>
                <a:lnTo>
                  <a:pt x="384743" y="0"/>
                </a:lnTo>
                <a:cubicBezTo>
                  <a:pt x="427521" y="0"/>
                  <a:pt x="462200" y="34678"/>
                  <a:pt x="462200" y="77457"/>
                </a:cubicBezTo>
                <a:lnTo>
                  <a:pt x="462200" y="466009"/>
                </a:lnTo>
                <a:cubicBezTo>
                  <a:pt x="462200" y="508787"/>
                  <a:pt x="427521" y="543466"/>
                  <a:pt x="384743" y="543466"/>
                </a:cubicBezTo>
                <a:lnTo>
                  <a:pt x="77457" y="543466"/>
                </a:lnTo>
                <a:cubicBezTo>
                  <a:pt x="34678" y="543466"/>
                  <a:pt x="0" y="508787"/>
                  <a:pt x="0" y="466009"/>
                </a:cubicBezTo>
                <a:lnTo>
                  <a:pt x="0" y="77457"/>
                </a:lnTo>
                <a:cubicBezTo>
                  <a:pt x="0" y="34678"/>
                  <a:pt x="34678" y="0"/>
                  <a:pt x="77457" y="0"/>
                </a:cubicBezTo>
                <a:close/>
              </a:path>
            </a:pathLst>
          </a:custGeom>
          <a:solidFill>
            <a:srgbClr val="0067B4"/>
          </a:solidFill>
          <a:ln/>
          <a:effectLst>
            <a:outerShdw dist="38093" dir="2700000" algn="bl" rotWithShape="0">
              <a:srgbClr val="000000">
                <a:alpha val="38824"/>
              </a:srgbClr>
            </a:outerShdw>
          </a:effectLst>
        </p:spPr>
      </p:sp>
      <p:sp>
        <p:nvSpPr>
          <p:cNvPr id="7" name="Shape 4"/>
          <p:cNvSpPr/>
          <p:nvPr/>
        </p:nvSpPr>
        <p:spPr>
          <a:xfrm>
            <a:off x="482166" y="206110"/>
            <a:ext cx="433263" cy="535355"/>
          </a:xfrm>
          <a:custGeom>
            <a:avLst/>
            <a:gdLst/>
            <a:ahLst/>
            <a:cxnLst/>
            <a:rect l="l" t="t" r="r" b="b"/>
            <a:pathLst>
              <a:path w="433263" h="535355">
                <a:moveTo>
                  <a:pt x="73647" y="0"/>
                </a:moveTo>
                <a:lnTo>
                  <a:pt x="366966" y="0"/>
                </a:lnTo>
                <a:cubicBezTo>
                  <a:pt x="396171" y="0"/>
                  <a:pt x="421567" y="15237"/>
                  <a:pt x="432995" y="35554"/>
                </a:cubicBezTo>
                <a:cubicBezTo>
                  <a:pt x="186658" y="119359"/>
                  <a:pt x="11428" y="311096"/>
                  <a:pt x="1270" y="535847"/>
                </a:cubicBezTo>
                <a:cubicBezTo>
                  <a:pt x="0" y="533307"/>
                  <a:pt x="0" y="532038"/>
                  <a:pt x="0" y="529498"/>
                </a:cubicBezTo>
                <a:lnTo>
                  <a:pt x="0" y="60949"/>
                </a:lnTo>
                <a:cubicBezTo>
                  <a:pt x="0" y="26665"/>
                  <a:pt x="33014" y="0"/>
                  <a:pt x="73647" y="0"/>
                </a:cubicBezTo>
                <a:close/>
              </a:path>
            </a:pathLst>
          </a:custGeom>
          <a:gradFill>
            <a:gsLst>
              <a:gs pos="0">
                <a:srgbClr val="64CBFF">
                  <a:alpha val="34902"/>
                </a:srgbClr>
              </a:gs>
              <a:gs pos="100000">
                <a:srgbClr val="2F5897">
                  <a:alpha val="100000"/>
                </a:srgbClr>
              </a:gs>
            </a:gsLst>
            <a:lin ang="1200000" scaled="1"/>
          </a:gradFill>
          <a:ln/>
        </p:spPr>
      </p:sp>
      <p:pic>
        <p:nvPicPr>
          <p:cNvPr id="8" name="Image 1" descr="//img.tukuppt.com/aippt_tpl_uploads/25/07/01/686397e7ae4cf.png"/>
          <p:cNvPicPr>
            <a:picLocks noChangeAspect="1"/>
          </p:cNvPicPr>
          <p:nvPr/>
        </p:nvPicPr>
        <p:blipFill>
          <a:blip r:embed="rId4"/>
          <a:srcRect/>
          <a:stretch/>
        </p:blipFill>
        <p:spPr>
          <a:xfrm flipH="1">
            <a:off x="787710" y="346921"/>
            <a:ext cx="255659" cy="98905"/>
          </a:xfrm>
          <a:prstGeom prst="rect">
            <a:avLst/>
          </a:prstGeom>
        </p:spPr>
      </p:pic>
      <p:pic>
        <p:nvPicPr>
          <p:cNvPr id="9" name="Image 2" descr="//img.tukuppt.com/aippt_tpl_uploads/25/07/01/686397e7ae4cf.png"/>
          <p:cNvPicPr>
            <a:picLocks noChangeAspect="1"/>
          </p:cNvPicPr>
          <p:nvPr/>
        </p:nvPicPr>
        <p:blipFill>
          <a:blip r:embed="rId4"/>
          <a:srcRect/>
          <a:stretch/>
        </p:blipFill>
        <p:spPr>
          <a:xfrm flipH="1">
            <a:off x="787710" y="549201"/>
            <a:ext cx="255659" cy="98905"/>
          </a:xfrm>
          <a:prstGeom prst="rect">
            <a:avLst/>
          </a:prstGeom>
        </p:spPr>
      </p:pic>
      <p:pic>
        <p:nvPicPr>
          <p:cNvPr id="10" name="Image 3" descr="//img.tukuppt.com/aippt_tpl_uploads/25/07/01/686397e7b8f81.png"/>
          <p:cNvPicPr>
            <a:picLocks noChangeAspect="1"/>
          </p:cNvPicPr>
          <p:nvPr/>
        </p:nvPicPr>
        <p:blipFill>
          <a:blip r:embed="rId5"/>
          <a:srcRect/>
          <a:stretch/>
        </p:blipFill>
        <p:spPr>
          <a:xfrm>
            <a:off x="539206" y="312920"/>
            <a:ext cx="321318" cy="321734"/>
          </a:xfrm>
          <a:prstGeom prst="rect">
            <a:avLst/>
          </a:prstGeom>
        </p:spPr>
      </p:pic>
      <p:pic>
        <p:nvPicPr>
          <p:cNvPr id="11" name="Image 4" descr="//img.tukuppt.com/aippt_tpl_uploads/25/07/01/686397e7af1a3.png!/fwfh2/960x960"/>
          <p:cNvPicPr>
            <a:picLocks noChangeAspect="1"/>
          </p:cNvPicPr>
          <p:nvPr/>
        </p:nvPicPr>
        <p:blipFill>
          <a:blip r:embed="rId6"/>
          <a:srcRect l="36452" t="56544" b="34700"/>
          <a:stretch/>
        </p:blipFill>
        <p:spPr>
          <a:xfrm>
            <a:off x="-4836" y="-812736"/>
            <a:ext cx="9148837" cy="1019042"/>
          </a:xfrm>
          <a:prstGeom prst="rect">
            <a:avLst/>
          </a:prstGeom>
        </p:spPr>
      </p:pic>
      <p:pic>
        <p:nvPicPr>
          <p:cNvPr id="12" name="Image 5" descr="//img.tukuppt.com/aippt_tpl_uploads/25/07/01/686397e7af1a3.png!/fwfh2/960x960"/>
          <p:cNvPicPr>
            <a:picLocks noChangeAspect="1"/>
          </p:cNvPicPr>
          <p:nvPr/>
        </p:nvPicPr>
        <p:blipFill>
          <a:blip r:embed="rId6"/>
          <a:srcRect l="36452" t="56544" b="34700"/>
          <a:stretch/>
        </p:blipFill>
        <p:spPr>
          <a:xfrm>
            <a:off x="-61352" y="4937888"/>
            <a:ext cx="9313872" cy="1019042"/>
          </a:xfrm>
          <a:prstGeom prst="rect">
            <a:avLst/>
          </a:prstGeom>
        </p:spPr>
      </p:pic>
      <p:graphicFrame>
        <p:nvGraphicFramePr>
          <p:cNvPr id="13" name="表格 12">
            <a:extLst>
              <a:ext uri="{FF2B5EF4-FFF2-40B4-BE49-F238E27FC236}">
                <a16:creationId xmlns:a16="http://schemas.microsoft.com/office/drawing/2014/main" id="{B5E43E81-26E8-4BB3-BF31-0C19DBC0E703}"/>
              </a:ext>
            </a:extLst>
          </p:cNvPr>
          <p:cNvGraphicFramePr>
            <a:graphicFrameLocks noGrp="1"/>
          </p:cNvGraphicFramePr>
          <p:nvPr>
            <p:extLst>
              <p:ext uri="{D42A27DB-BD31-4B8C-83A1-F6EECF244321}">
                <p14:modId xmlns:p14="http://schemas.microsoft.com/office/powerpoint/2010/main" val="3755463208"/>
              </p:ext>
            </p:extLst>
          </p:nvPr>
        </p:nvGraphicFramePr>
        <p:xfrm>
          <a:off x="2223527" y="1337657"/>
          <a:ext cx="4744114" cy="1828800"/>
        </p:xfrm>
        <a:graphic>
          <a:graphicData uri="http://schemas.openxmlformats.org/drawingml/2006/table">
            <a:tbl>
              <a:tblPr>
                <a:tableStyleId>{284E427A-3D55-4303-BF80-6455036E1DE7}</a:tableStyleId>
              </a:tblPr>
              <a:tblGrid>
                <a:gridCol w="2628900">
                  <a:extLst>
                    <a:ext uri="{9D8B030D-6E8A-4147-A177-3AD203B41FA5}">
                      <a16:colId xmlns:a16="http://schemas.microsoft.com/office/drawing/2014/main" val="2908815086"/>
                    </a:ext>
                  </a:extLst>
                </a:gridCol>
                <a:gridCol w="1089302">
                  <a:extLst>
                    <a:ext uri="{9D8B030D-6E8A-4147-A177-3AD203B41FA5}">
                      <a16:colId xmlns:a16="http://schemas.microsoft.com/office/drawing/2014/main" val="4095755312"/>
                    </a:ext>
                  </a:extLst>
                </a:gridCol>
                <a:gridCol w="1025912">
                  <a:extLst>
                    <a:ext uri="{9D8B030D-6E8A-4147-A177-3AD203B41FA5}">
                      <a16:colId xmlns:a16="http://schemas.microsoft.com/office/drawing/2014/main" val="4282275330"/>
                    </a:ext>
                  </a:extLst>
                </a:gridCol>
              </a:tblGrid>
              <a:tr h="0">
                <a:tc>
                  <a:txBody>
                    <a:bodyPr/>
                    <a:lstStyle/>
                    <a:p>
                      <a:pPr algn="ctr"/>
                      <a:r>
                        <a:rPr lang="zh-CN" altLang="en-US" sz="1400" b="1" dirty="0"/>
                        <a:t>项目（每根原木）</a:t>
                      </a:r>
                    </a:p>
                  </a:txBody>
                  <a:tcPr anchor="ctr"/>
                </a:tc>
                <a:tc>
                  <a:txBody>
                    <a:bodyPr/>
                    <a:lstStyle/>
                    <a:p>
                      <a:pPr algn="ctr"/>
                      <a:r>
                        <a:rPr lang="zh-CN" altLang="en-US" sz="1400" b="1"/>
                        <a:t>木材</a:t>
                      </a:r>
                    </a:p>
                  </a:txBody>
                  <a:tcPr anchor="ctr"/>
                </a:tc>
                <a:tc>
                  <a:txBody>
                    <a:bodyPr/>
                    <a:lstStyle/>
                    <a:p>
                      <a:pPr algn="ctr"/>
                      <a:r>
                        <a:rPr lang="zh-CN" altLang="en-US" sz="1400" b="1" dirty="0"/>
                        <a:t>锯屑</a:t>
                      </a:r>
                    </a:p>
                  </a:txBody>
                  <a:tcPr anchor="ctr"/>
                </a:tc>
                <a:extLst>
                  <a:ext uri="{0D108BD9-81ED-4DB2-BD59-A6C34878D82A}">
                    <a16:rowId xmlns:a16="http://schemas.microsoft.com/office/drawing/2014/main" val="3780130795"/>
                  </a:ext>
                </a:extLst>
              </a:tr>
              <a:tr h="0">
                <a:tc>
                  <a:txBody>
                    <a:bodyPr/>
                    <a:lstStyle/>
                    <a:p>
                      <a:r>
                        <a:rPr lang="zh-CN" altLang="en-US" sz="1400" dirty="0"/>
                        <a:t>进一步加工后销售价值</a:t>
                      </a:r>
                    </a:p>
                  </a:txBody>
                  <a:tcPr anchor="ctr"/>
                </a:tc>
                <a:tc>
                  <a:txBody>
                    <a:bodyPr/>
                    <a:lstStyle/>
                    <a:p>
                      <a:r>
                        <a:rPr lang="en-US" altLang="zh-CN" sz="1400"/>
                        <a:t>$270</a:t>
                      </a:r>
                    </a:p>
                  </a:txBody>
                  <a:tcPr anchor="ctr"/>
                </a:tc>
                <a:tc>
                  <a:txBody>
                    <a:bodyPr/>
                    <a:lstStyle/>
                    <a:p>
                      <a:r>
                        <a:rPr lang="en-US" altLang="zh-CN" sz="1400"/>
                        <a:t>$50</a:t>
                      </a:r>
                    </a:p>
                  </a:txBody>
                  <a:tcPr anchor="ctr"/>
                </a:tc>
                <a:extLst>
                  <a:ext uri="{0D108BD9-81ED-4DB2-BD59-A6C34878D82A}">
                    <a16:rowId xmlns:a16="http://schemas.microsoft.com/office/drawing/2014/main" val="490691313"/>
                  </a:ext>
                </a:extLst>
              </a:tr>
              <a:tr h="0">
                <a:tc>
                  <a:txBody>
                    <a:bodyPr/>
                    <a:lstStyle/>
                    <a:p>
                      <a:r>
                        <a:rPr lang="zh-CN" altLang="en-US" sz="1400"/>
                        <a:t>分离点销售价值</a:t>
                      </a:r>
                    </a:p>
                  </a:txBody>
                  <a:tcPr anchor="ctr"/>
                </a:tc>
                <a:tc>
                  <a:txBody>
                    <a:bodyPr/>
                    <a:lstStyle/>
                    <a:p>
                      <a:r>
                        <a:rPr lang="en-US" altLang="zh-CN" sz="1400"/>
                        <a:t>$140</a:t>
                      </a:r>
                    </a:p>
                  </a:txBody>
                  <a:tcPr anchor="ctr"/>
                </a:tc>
                <a:tc>
                  <a:txBody>
                    <a:bodyPr/>
                    <a:lstStyle/>
                    <a:p>
                      <a:r>
                        <a:rPr lang="en-US" altLang="zh-CN" sz="1400"/>
                        <a:t>$40</a:t>
                      </a:r>
                    </a:p>
                  </a:txBody>
                  <a:tcPr anchor="ctr"/>
                </a:tc>
                <a:extLst>
                  <a:ext uri="{0D108BD9-81ED-4DB2-BD59-A6C34878D82A}">
                    <a16:rowId xmlns:a16="http://schemas.microsoft.com/office/drawing/2014/main" val="1456616460"/>
                  </a:ext>
                </a:extLst>
              </a:tr>
              <a:tr h="0">
                <a:tc>
                  <a:txBody>
                    <a:bodyPr/>
                    <a:lstStyle/>
                    <a:p>
                      <a:r>
                        <a:rPr lang="zh-CN" altLang="en-US" sz="1400" b="1"/>
                        <a:t>增量收入</a:t>
                      </a:r>
                      <a:endParaRPr lang="zh-CN" altLang="en-US" sz="1400"/>
                    </a:p>
                  </a:txBody>
                  <a:tcPr anchor="ctr"/>
                </a:tc>
                <a:tc>
                  <a:txBody>
                    <a:bodyPr/>
                    <a:lstStyle/>
                    <a:p>
                      <a:r>
                        <a:rPr lang="en-US" altLang="zh-CN" sz="1400" b="1"/>
                        <a:t>$130</a:t>
                      </a:r>
                      <a:endParaRPr lang="zh-CN" altLang="en-US" sz="1400"/>
                    </a:p>
                  </a:txBody>
                  <a:tcPr anchor="ctr"/>
                </a:tc>
                <a:tc>
                  <a:txBody>
                    <a:bodyPr/>
                    <a:lstStyle/>
                    <a:p>
                      <a:r>
                        <a:rPr lang="en-US" altLang="zh-CN" sz="1400" b="1"/>
                        <a:t>$10</a:t>
                      </a:r>
                      <a:endParaRPr lang="zh-CN" altLang="en-US" sz="1400"/>
                    </a:p>
                  </a:txBody>
                  <a:tcPr anchor="ctr"/>
                </a:tc>
                <a:extLst>
                  <a:ext uri="{0D108BD9-81ED-4DB2-BD59-A6C34878D82A}">
                    <a16:rowId xmlns:a16="http://schemas.microsoft.com/office/drawing/2014/main" val="3717746883"/>
                  </a:ext>
                </a:extLst>
              </a:tr>
              <a:tr h="0">
                <a:tc>
                  <a:txBody>
                    <a:bodyPr/>
                    <a:lstStyle/>
                    <a:p>
                      <a:r>
                        <a:rPr lang="zh-CN" altLang="en-US" sz="1400"/>
                        <a:t>进一步加工成本</a:t>
                      </a:r>
                    </a:p>
                  </a:txBody>
                  <a:tcPr anchor="ctr"/>
                </a:tc>
                <a:tc>
                  <a:txBody>
                    <a:bodyPr/>
                    <a:lstStyle/>
                    <a:p>
                      <a:r>
                        <a:rPr lang="en-US" altLang="zh-CN" sz="1400"/>
                        <a:t>$50</a:t>
                      </a:r>
                    </a:p>
                  </a:txBody>
                  <a:tcPr anchor="ctr"/>
                </a:tc>
                <a:tc>
                  <a:txBody>
                    <a:bodyPr/>
                    <a:lstStyle/>
                    <a:p>
                      <a:r>
                        <a:rPr lang="en-US" altLang="zh-CN" sz="1400"/>
                        <a:t>$20</a:t>
                      </a:r>
                    </a:p>
                  </a:txBody>
                  <a:tcPr anchor="ctr"/>
                </a:tc>
                <a:extLst>
                  <a:ext uri="{0D108BD9-81ED-4DB2-BD59-A6C34878D82A}">
                    <a16:rowId xmlns:a16="http://schemas.microsoft.com/office/drawing/2014/main" val="4241902658"/>
                  </a:ext>
                </a:extLst>
              </a:tr>
              <a:tr h="0">
                <a:tc>
                  <a:txBody>
                    <a:bodyPr/>
                    <a:lstStyle/>
                    <a:p>
                      <a:r>
                        <a:rPr lang="zh-CN" altLang="en-US" sz="1400" b="1"/>
                        <a:t>进一步加工的利润（亏损）</a:t>
                      </a:r>
                      <a:endParaRPr lang="zh-CN" altLang="en-US" sz="1400"/>
                    </a:p>
                  </a:txBody>
                  <a:tcPr anchor="ctr"/>
                </a:tc>
                <a:tc>
                  <a:txBody>
                    <a:bodyPr/>
                    <a:lstStyle/>
                    <a:p>
                      <a:r>
                        <a:rPr lang="en-US" altLang="zh-CN" sz="1400" b="1"/>
                        <a:t>$80</a:t>
                      </a:r>
                      <a:endParaRPr lang="zh-CN" altLang="en-US" sz="1400"/>
                    </a:p>
                  </a:txBody>
                  <a:tcPr anchor="ctr"/>
                </a:tc>
                <a:tc>
                  <a:txBody>
                    <a:bodyPr/>
                    <a:lstStyle/>
                    <a:p>
                      <a:r>
                        <a:rPr lang="en-US" altLang="zh-CN" sz="1400" b="1" dirty="0"/>
                        <a:t>$</a:t>
                      </a:r>
                      <a:r>
                        <a:rPr lang="zh-CN" altLang="en-US" sz="1400" b="1" dirty="0"/>
                        <a:t>（</a:t>
                      </a:r>
                      <a:r>
                        <a:rPr lang="en-US" altLang="zh-CN" sz="1400" b="1" dirty="0"/>
                        <a:t>10</a:t>
                      </a:r>
                      <a:r>
                        <a:rPr lang="zh-CN" altLang="en-US" sz="1400" b="1" dirty="0"/>
                        <a:t>）</a:t>
                      </a:r>
                      <a:endParaRPr lang="zh-CN" altLang="en-US" sz="1400" dirty="0"/>
                    </a:p>
                  </a:txBody>
                  <a:tcPr anchor="ctr"/>
                </a:tc>
                <a:extLst>
                  <a:ext uri="{0D108BD9-81ED-4DB2-BD59-A6C34878D82A}">
                    <a16:rowId xmlns:a16="http://schemas.microsoft.com/office/drawing/2014/main" val="1129967524"/>
                  </a:ext>
                </a:extLst>
              </a:tr>
            </a:tbl>
          </a:graphicData>
        </a:graphic>
      </p:graphicFrame>
      <p:sp>
        <p:nvSpPr>
          <p:cNvPr id="16" name="Rectangle 3">
            <a:extLst>
              <a:ext uri="{FF2B5EF4-FFF2-40B4-BE49-F238E27FC236}">
                <a16:creationId xmlns:a16="http://schemas.microsoft.com/office/drawing/2014/main" id="{23404C59-225E-415C-A41E-976A8FAE1220}"/>
              </a:ext>
            </a:extLst>
          </p:cNvPr>
          <p:cNvSpPr>
            <a:spLocks noChangeArrowheads="1"/>
          </p:cNvSpPr>
          <p:nvPr/>
        </p:nvSpPr>
        <p:spPr bwMode="auto">
          <a:xfrm>
            <a:off x="1188456" y="3979193"/>
            <a:ext cx="6240336"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1" i="0" u="none" strike="noStrike" cap="none" normalizeH="0" baseline="0" dirty="0">
                <a:ln>
                  <a:noFill/>
                </a:ln>
                <a:solidFill>
                  <a:schemeClr val="tx1"/>
                </a:solidFill>
                <a:effectLst/>
                <a:latin typeface="Arial" panose="020B0604020202020204" pitchFamily="34" charset="0"/>
              </a:rPr>
              <a:t>我们是否应该将木材进一步加工，并将锯屑“按现状”出售？</a:t>
            </a:r>
            <a:endParaRPr kumimoji="0" lang="zh-CN" altLang="zh-CN"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8147615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316</TotalTime>
  <Words>4134</Words>
  <Application>Microsoft Office PowerPoint</Application>
  <PresentationFormat>全屏显示(16:9)</PresentationFormat>
  <Paragraphs>759</Paragraphs>
  <Slides>57</Slides>
  <Notes>57</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57</vt:i4>
      </vt:variant>
    </vt:vector>
  </HeadingPairs>
  <TitlesOfParts>
    <vt:vector size="65" baseType="lpstr">
      <vt:lpstr>SourceHanSansSC-Medium</vt:lpstr>
      <vt:lpstr>SourceHanSansSC-Bold</vt:lpstr>
      <vt:lpstr>Arial</vt:lpstr>
      <vt:lpstr>Calibri</vt:lpstr>
      <vt:lpstr>等线</vt:lpstr>
      <vt:lpstr>SourceHanSansSC-Regular</vt:lpstr>
      <vt:lpstr>SourceHanSansSC-Heavy</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杨洋</dc:creator>
  <cp:lastModifiedBy>洋 杨</cp:lastModifiedBy>
  <cp:revision>18</cp:revision>
  <dcterms:modified xsi:type="dcterms:W3CDTF">2025-12-25T00:24:29Z</dcterms:modified>
</cp:coreProperties>
</file>